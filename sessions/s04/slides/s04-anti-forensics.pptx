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closes Day 2. The page on the portal is the content master: every slide points to a section of it. The session ends with the end-of-day quiz for Sessions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and LO2. The lab checkpoint, a findings memo, feeds the phase test and the coursework. Day-closing session: the quiz is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hook from the page. Anti-forensics: actions to hide, change or destroy evidence. Students met three simple forms already: renamed files and a quick format in Session 2, a removed partition in Session 3. Session 2 promised that wiping and encryption have their own session. The practice material was built by the unit; the names in the case belong to the NIST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and demo S04-D1. Start from the case: Eraser overwrote each of nine files seven times, renamed each seven times with random names, then deleted it. Wiping produces state 3 of Session 2 on purpose. Do not restate the deleted-versus-wiped line: build on it. One complete pass ends recovery on a modern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Be clear: the suspect in the client's evidence did not use encryption. The unit drills it because many suspects do. A third form, the encrypted container, is one file that holds a whole volume: next slide but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This reverses the Session 1 habit of switching off first. The tension with 'never change the original' is real: a small recorded change is defensible, an unreadable image is useless. Memory capture is Session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and demo S04-D2. The link to Session 3: carving needs a signature, and an encrypted container has none. The figures were measured with the lab's helper script. Compressed files are also near 8, but they announce themselves with a signature and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and demo S04-D3. Cover file, payload, least significant bit. In the lab: stegseek with the unit's wordlist for JPEG files, zsteg for PNG files, and a comparison with a known original. The wordlist is the unit's own: never a list of leaked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for this session. Give the gist for anyone who has not seen the painting. A payload in the last bits is the skull: nothing covers it, and you see it only from the right place. An alternate data stream is a pentimento: a second content under the one everybody sees. End on the last sentence: it sets up the key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and demo S04-D4. An MFT record is made of attributes; a second, named $DATA attribute is an alternate data stream. The hash point matters: two files with the same hash value can differ in their streams. fls, istat, icat and Autopsy all read the record and list every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and demo S04-D5. Only the two timestamp sets are needed today: no timeline building, which is Session 5. The control file meeting-notes.txt shows two created times that agree. The answer key of the case shows the same for the suspect's resignation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Read the last column aloud. In every row the act that removed one piece of evidence created another. Pause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of the session. One sentence: let the room read it. Then the arms race in one breath: a person changes one set of times, examiners compare it with the other; a person makes the two agree, examiners turn to the journal. Recall the smear on Holbein's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Keep this at: the tool was present and used, and here is the trace. How Windows records that a program ran, and how to read the times, is Session 5: say so in one line. Wiping and cleaning tools are legal and common; the meaning here comes from the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about one hour and forty minutes. Kali first, then Windows, so that low-spec hosts run one VM at a time. Checkpoint: the findings memo and the custody record, judged against the expected findings. Every row has a Limit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a result is a statement about the tools and lists that were used. 'No finding with these tools' can be defended; 'clean' cannot. The same discipline applies to 'the dates agree' and to 'high 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ten minutes. The questions are on the session page, under End-of-day quiz. They are marked on the points made, not on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slide with formal references. NIST SP 800-88 on media sanitisation is named on the page, in the deeper layer of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next, from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Data Protection and Anti-Forensics</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4 - Day 2: Advanced Data Recovery and Anti-Forensics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S04 Data Protection and Anti-Forensics</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4F6356"/>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10" name="Text 8"/>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PT, CW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754880" cy="960120"/>
          </a:xfrm>
          <a:prstGeom prst="rect">
            <a:avLst/>
          </a:prstGeom>
          <a:solidFill>
            <a:srgbClr val="F1E8F2"/>
          </a:solidFill>
          <a:ln/>
        </p:spPr>
      </p:sp>
      <p:sp>
        <p:nvSpPr>
          <p:cNvPr id="7" name="Text 5"/>
          <p:cNvSpPr/>
          <p:nvPr/>
        </p:nvSpPr>
        <p:spPr>
          <a:xfrm>
            <a:off x="521208" y="1417320"/>
            <a:ext cx="4535424" cy="96012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On his last morning the suspect searched for anti-forensic tools, installed two and ran both. What did the hiding leave behind?</a:t>
            </a:r>
            <a:endParaRPr lang="en-US" sz="1500" dirty="0"/>
          </a:p>
        </p:txBody>
      </p:sp>
      <p:sp>
        <p:nvSpPr>
          <p:cNvPr id="8" name="Shape 6"/>
          <p:cNvSpPr/>
          <p:nvPr/>
        </p:nvSpPr>
        <p:spPr>
          <a:xfrm>
            <a:off x="411480" y="2468880"/>
            <a:ext cx="4754880" cy="2194560"/>
          </a:xfrm>
          <a:prstGeom prst="rect">
            <a:avLst/>
          </a:prstGeom>
          <a:solidFill>
            <a:srgbClr val="DCE6DE"/>
          </a:solidFill>
          <a:ln/>
        </p:spPr>
      </p:sp>
      <p:sp>
        <p:nvSpPr>
          <p:cNvPr id="9" name="Text 7"/>
          <p:cNvSpPr/>
          <p:nvPr/>
        </p:nvSpPr>
        <p:spPr>
          <a:xfrm>
            <a:off x="502920" y="2468880"/>
            <a:ext cx="4572000" cy="2194560"/>
          </a:xfrm>
          <a:prstGeom prst="rect">
            <a:avLst/>
          </a:prstGeom>
          <a:noFill/>
          <a:ln/>
        </p:spPr>
        <p:txBody>
          <a:bodyPr wrap="square"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Tell a wiped file from a deleted one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Decide what to do at an unlocked, encrypted computer</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Recognise encrypted data that has no signature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Detect steganography, a second stream and a false date</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Report each finding with its limit</a:t>
            </a:r>
            <a:endParaRPr lang="en-US" sz="1500" dirty="0"/>
          </a:p>
        </p:txBody>
      </p:sp>
      <p:pic>
        <p:nvPicPr>
          <p:cNvPr id="10" name="Image 0" descr="preencoded.png">    </p:cNvPr>
          <p:cNvPicPr>
            <a:picLocks noChangeAspect="1"/>
          </p:cNvPicPr>
          <p:nvPr/>
        </p:nvPicPr>
        <p:blipFill>
          <a:blip r:embed="rId1"/>
          <a:stretch>
            <a:fillRect/>
          </a:stretch>
        </p:blipFill>
        <p:spPr>
          <a:xfrm>
            <a:off x="5989320" y="1920240"/>
            <a:ext cx="2103120" cy="2103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Wiped is not deleted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651760"/>
                <a:gridCol w="2743200"/>
                <a:gridCol w="2926080"/>
              </a:tblGrid>
              <a:tr h="365760">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Deleted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Wiped, then deleted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MFT 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Marked not in use. Everything stays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Marked not in use. Everything stays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name in the 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real name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last random name the tool gave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clusters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Still hold the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Random bytes, zeros or a pattern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hash value of what is recovered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Matches the original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Does not match</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01568"/>
            <a:ext cx="8321040" cy="1280160"/>
          </a:xfrm>
          <a:prstGeom prst="rect">
            <a:avLst/>
          </a:prstGeom>
          <a:solidFill>
            <a:srgbClr val="E8F0EA"/>
          </a:solidFill>
          <a:ln/>
        </p:spPr>
      </p:sp>
      <p:sp>
        <p:nvSpPr>
          <p:cNvPr id="8" name="Shape 5"/>
          <p:cNvSpPr/>
          <p:nvPr/>
        </p:nvSpPr>
        <p:spPr>
          <a:xfrm>
            <a:off x="411480" y="3401568"/>
            <a:ext cx="82296" cy="1280160"/>
          </a:xfrm>
          <a:prstGeom prst="rect">
            <a:avLst/>
          </a:prstGeom>
          <a:solidFill>
            <a:srgbClr val="6E8472"/>
          </a:solidFill>
          <a:ln/>
        </p:spPr>
      </p:sp>
      <p:sp>
        <p:nvSpPr>
          <p:cNvPr id="9" name="Text 6"/>
          <p:cNvSpPr/>
          <p:nvPr/>
        </p:nvSpPr>
        <p:spPr>
          <a:xfrm>
            <a:off x="621792" y="3474720"/>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730752"/>
            <a:ext cx="7955280" cy="87782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library from Session 2. Deleting removes the card. Wiping paints over every page, writes a nonsense title on the card, then removes it.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paint can be seen. Random bytes look the same as encrypted data.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never write "wiped" from the content alone. Report the record, and the evidence that a wiping tool ran.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Encryption: readable only with the key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p:nvPr/>
        </p:nvSpPr>
        <p:spPr>
          <a:xfrm>
            <a:off x="521208"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Full-disk encryption</a:t>
            </a:r>
            <a:endParaRPr lang="en-US" sz="1500" dirty="0"/>
          </a:p>
        </p:txBody>
      </p:sp>
      <p:sp>
        <p:nvSpPr>
          <p:cNvPr id="8" name="Shape 6"/>
          <p:cNvSpPr/>
          <p:nvPr/>
        </p:nvSpPr>
        <p:spPr>
          <a:xfrm>
            <a:off x="411480" y="1819656"/>
            <a:ext cx="4133088" cy="2834640"/>
          </a:xfrm>
          <a:prstGeom prst="rect">
            <a:avLst/>
          </a:prstGeom>
          <a:solidFill>
            <a:srgbClr val="FFFFFF"/>
          </a:solidFill>
          <a:ln w="9525">
            <a:solidFill>
              <a:srgbClr val="CBD6CE"/>
            </a:solidFill>
            <a:prstDash val="solid"/>
          </a:ln>
        </p:spPr>
      </p:sp>
      <p:sp>
        <p:nvSpPr>
          <p:cNvPr id="9" name="Text 7"/>
          <p:cNvSpPr/>
          <p:nvPr/>
        </p:nvSpPr>
        <p:spPr>
          <a:xfrm>
            <a:off x="539496" y="1874520"/>
            <a:ext cx="3877056" cy="27249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What is encrypted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whole volume: every file, the index, the free space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Examples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BitLocker, FileVault, LUKS, VeraCrypt</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The image without the key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partition, a small area that names the product, then random bytes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Deleted files and slack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All unreadable</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p:nvPr/>
        </p:nvSpPr>
        <p:spPr>
          <a:xfrm>
            <a:off x="4754880"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File-level encryption</a:t>
            </a:r>
            <a:endParaRPr lang="en-US" sz="1500" dirty="0"/>
          </a:p>
        </p:txBody>
      </p:sp>
      <p:sp>
        <p:nvSpPr>
          <p:cNvPr id="12" name="Shape 10"/>
          <p:cNvSpPr/>
          <p:nvPr/>
        </p:nvSpPr>
        <p:spPr>
          <a:xfrm>
            <a:off x="4645152" y="1819656"/>
            <a:ext cx="4133088" cy="2834640"/>
          </a:xfrm>
          <a:prstGeom prst="rect">
            <a:avLst/>
          </a:prstGeom>
          <a:solidFill>
            <a:srgbClr val="FFFFFF"/>
          </a:solidFill>
          <a:ln w="9525">
            <a:solidFill>
              <a:srgbClr val="CBD6CE"/>
            </a:solidFill>
            <a:prstDash val="solid"/>
          </a:ln>
        </p:spPr>
      </p:sp>
      <p:sp>
        <p:nvSpPr>
          <p:cNvPr id="13" name="Text 11"/>
          <p:cNvSpPr/>
          <p:nvPr/>
        </p:nvSpPr>
        <p:spPr>
          <a:xfrm>
            <a:off x="4773168" y="1874520"/>
            <a:ext cx="3877056" cy="27249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What is encrypted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Chosen files or folders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Examples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Encrypting File System, a ZIP or Office file with a password</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image without the key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normal file system: names, sizes and dates are readable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Deleted files and slack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Readable, and may hold an earlier copy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Where the key is, and what that means at the scene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3840480"/>
                <a:gridCol w="4480560"/>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key is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How an examiner reaches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 a person's head, as a passphrase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Ask. Look for it written down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 a chip on the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Work on that computer while it runs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 a recovery key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Search: printed, saved to a file, on a USB stick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 key escrow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Ask the employer's IT department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 memory, while the volume is unlocked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Capture the memory before switching off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401568"/>
            <a:ext cx="8321040" cy="566928"/>
          </a:xfrm>
          <a:prstGeom prst="rect">
            <a:avLst/>
          </a:prstGeom>
          <a:solidFill>
            <a:srgbClr val="F1E8F2"/>
          </a:solidFill>
          <a:ln/>
        </p:spPr>
      </p:sp>
      <p:sp>
        <p:nvSpPr>
          <p:cNvPr id="8" name="Text 5"/>
          <p:cNvSpPr/>
          <p:nvPr/>
        </p:nvSpPr>
        <p:spPr>
          <a:xfrm>
            <a:off x="521208" y="3401568"/>
            <a:ext cx="8101584" cy="566928"/>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Running and unlocked? Do not switch off. Capture memory, image the unlocked volume, record every action. Image while it is unlocked, or lose the content.</a:t>
            </a:r>
            <a:endParaRPr lang="en-US" sz="1300" dirty="0"/>
          </a:p>
        </p:txBody>
      </p:sp>
      <p:sp>
        <p:nvSpPr>
          <p:cNvPr id="9" name="Shape 6"/>
          <p:cNvSpPr/>
          <p:nvPr/>
        </p:nvSpPr>
        <p:spPr>
          <a:xfrm>
            <a:off x="411480" y="4041648"/>
            <a:ext cx="8321040" cy="658368"/>
          </a:xfrm>
          <a:prstGeom prst="rect">
            <a:avLst/>
          </a:prstGeom>
          <a:solidFill>
            <a:srgbClr val="E8F0EA"/>
          </a:solidFill>
          <a:ln/>
        </p:spPr>
      </p:sp>
      <p:sp>
        <p:nvSpPr>
          <p:cNvPr id="10" name="Shape 7"/>
          <p:cNvSpPr/>
          <p:nvPr/>
        </p:nvSpPr>
        <p:spPr>
          <a:xfrm>
            <a:off x="411480" y="4041648"/>
            <a:ext cx="82296" cy="658368"/>
          </a:xfrm>
          <a:prstGeom prst="rect">
            <a:avLst/>
          </a:prstGeom>
          <a:solidFill>
            <a:srgbClr val="6E8472"/>
          </a:solidFill>
          <a:ln/>
        </p:spPr>
      </p:sp>
      <p:sp>
        <p:nvSpPr>
          <p:cNvPr id="11" name="Text 8"/>
          <p:cNvSpPr/>
          <p:nvPr/>
        </p:nvSpPr>
        <p:spPr>
          <a:xfrm>
            <a:off x="621792" y="4114800"/>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9"/>
          <p:cNvSpPr/>
          <p:nvPr/>
        </p:nvSpPr>
        <p:spPr>
          <a:xfrm>
            <a:off x="621792" y="4370832"/>
            <a:ext cx="7955280" cy="256032"/>
          </a:xfrm>
          <a:prstGeom prst="rect">
            <a:avLst/>
          </a:prstGeom>
          <a:noFill/>
          <a:ln/>
        </p:spPr>
        <p:txBody>
          <a:bodyPr wrap="square" lIns="0" tIns="0" rIns="0" bIns="0" rtlCol="0" anchor="t"/>
          <a:lstStyle/>
          <a:p>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A safe with its door open while the owner works. </a:t>
            </a:r>
            <a:pPr indent="0" marL="0">
              <a:spcAft>
                <a:spcPts val="400"/>
              </a:spcAft>
              <a:buNone/>
            </a:pPr>
            <a:r>
              <a:rPr lang="en-US" sz="12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a safe can be drilled, and you can see its door. A locked screen is not a locked volume.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No signature, but not nothing: entropy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3566160"/>
                <a:gridCol w="2377440"/>
                <a:gridCol w="2377440"/>
              </a:tblGrid>
              <a:tr h="32918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Entropy, bits per byte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File signature?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letter in plain text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4.38</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but readable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JPEG picture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7.90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 FF D8 FF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same letter after wiping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7.99</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archive.dat, 8 MB</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8.00</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154680"/>
            <a:ext cx="8321040" cy="548640"/>
          </a:xfrm>
          <a:prstGeom prst="rect">
            <a:avLst/>
          </a:prstGeom>
          <a:solidFill>
            <a:srgbClr val="DCE6DE"/>
          </a:solidFill>
          <a:ln/>
        </p:spPr>
      </p:sp>
      <p:sp>
        <p:nvSpPr>
          <p:cNvPr id="8" name="Text 5"/>
          <p:cNvSpPr/>
          <p:nvPr/>
        </p:nvSpPr>
        <p:spPr>
          <a:xfrm>
            <a:off x="521208" y="3154680"/>
            <a:ext cx="8101584" cy="5486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High entropy and no signature and no structure anywhere: consistent with encryption. Entropy shows that data has no pattern, never what the data is.</a:t>
            </a:r>
            <a:endParaRPr lang="en-US" sz="1300" dirty="0"/>
          </a:p>
        </p:txBody>
      </p:sp>
      <p:sp>
        <p:nvSpPr>
          <p:cNvPr id="9" name="Shape 6"/>
          <p:cNvSpPr/>
          <p:nvPr/>
        </p:nvSpPr>
        <p:spPr>
          <a:xfrm>
            <a:off x="411480" y="3794760"/>
            <a:ext cx="8321040" cy="886968"/>
          </a:xfrm>
          <a:prstGeom prst="rect">
            <a:avLst/>
          </a:prstGeom>
          <a:solidFill>
            <a:srgbClr val="E8F0EA"/>
          </a:solidFill>
          <a:ln/>
        </p:spPr>
      </p:sp>
      <p:sp>
        <p:nvSpPr>
          <p:cNvPr id="10" name="Shape 7"/>
          <p:cNvSpPr/>
          <p:nvPr/>
        </p:nvSpPr>
        <p:spPr>
          <a:xfrm>
            <a:off x="411480" y="3794760"/>
            <a:ext cx="82296" cy="886968"/>
          </a:xfrm>
          <a:prstGeom prst="rect">
            <a:avLst/>
          </a:prstGeom>
          <a:solidFill>
            <a:srgbClr val="6E8472"/>
          </a:solidFill>
          <a:ln/>
        </p:spPr>
      </p:sp>
      <p:sp>
        <p:nvSpPr>
          <p:cNvPr id="11" name="Text 8"/>
          <p:cNvSpPr/>
          <p:nvPr/>
        </p:nvSpPr>
        <p:spPr>
          <a:xfrm>
            <a:off x="621792" y="386791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9"/>
          <p:cNvSpPr/>
          <p:nvPr/>
        </p:nvSpPr>
        <p:spPr>
          <a:xfrm>
            <a:off x="621792" y="4123944"/>
            <a:ext cx="7955280" cy="484632"/>
          </a:xfrm>
          <a:prstGeom prst="rect">
            <a:avLst/>
          </a:prstGeom>
          <a:noFill/>
          <a:ln/>
        </p:spPr>
        <p:txBody>
          <a:bodyPr wrap="square" lIns="0" tIns="0" rIns="0" bIns="0" rtlCol="0" anchor="t"/>
          <a:lstStyle/>
          <a:p>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A page on which every letter appears equally often is not written in any language. </a:t>
            </a:r>
            <a:pPr indent="0" marL="0">
              <a:spcAft>
                <a:spcPts val="400"/>
              </a:spcAft>
              <a:buNone/>
            </a:pPr>
            <a:r>
              <a:rPr lang="en-US" sz="12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compressed text looks the same, and so does wiped data. </a:t>
            </a:r>
            <a:pPr indent="0" marL="0">
              <a:spcAft>
                <a:spcPts val="400"/>
              </a:spcAft>
              <a:buNone/>
            </a:pPr>
            <a:r>
              <a:rPr lang="en-US" sz="12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state the measurement, then look for the program that could open the file.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Steganography: hidden in plain sight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8321040" cy="566928"/>
          </a:xfrm>
          <a:prstGeom prst="rect">
            <a:avLst/>
          </a:prstGeom>
          <a:solidFill>
            <a:srgbClr val="DCE6DE"/>
          </a:solidFill>
          <a:ln/>
        </p:spPr>
      </p:sp>
      <p:sp>
        <p:nvSpPr>
          <p:cNvPr id="7" name="Text 5"/>
          <p:cNvSpPr/>
          <p:nvPr/>
        </p:nvSpPr>
        <p:spPr>
          <a:xfrm>
            <a:off x="521208" y="1417320"/>
            <a:ext cx="8101584" cy="566928"/>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Red 200 is 1100 1000. Change the last bit: 1100 1001, which is 201. No eye sees it. Three bits per pixel carry a message.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2103120"/>
          <a:ext cx="8321040" cy="914400"/>
        </p:xfrm>
        <a:graphic>
          <a:graphicData uri="http://schemas.openxmlformats.org/drawingml/2006/table">
            <a:tbl>
              <a:tblPr/>
              <a:tblGrid>
                <a:gridCol w="2834640"/>
                <a:gridCol w="2560320"/>
                <a:gridCol w="292608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Route to detection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needs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Its limit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Comparison with the original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known clean copy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original, nothing to compare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Statistical tests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Only the suspect picture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short payload changes too little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Tool signatures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guess at the tool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 unknown method matches nothing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3767328"/>
            <a:ext cx="8321040" cy="914400"/>
          </a:xfrm>
          <a:prstGeom prst="rect">
            <a:avLst/>
          </a:prstGeom>
          <a:solidFill>
            <a:srgbClr val="DCE6DE"/>
          </a:solidFill>
          <a:ln/>
        </p:spPr>
      </p:sp>
      <p:sp>
        <p:nvSpPr>
          <p:cNvPr id="10" name="Text 7"/>
          <p:cNvSpPr/>
          <p:nvPr/>
        </p:nvSpPr>
        <p:spPr>
          <a:xfrm>
            <a:off x="502920" y="3767328"/>
            <a:ext cx="8138160" cy="91440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 tool that finds nothing has not shown that nothing is there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A tool that finds something may be wrong: false positives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skull on the floor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pic>
        <p:nvPicPr>
          <p:cNvPr id="6" name="Image 0" descr="/tmp/claude-0/-home-claude/f4840a70-41ec-5248-be40-02be65690920/scratchpad/deck/lens.png">    </p:cNvPr>
          <p:cNvPicPr>
            <a:picLocks noChangeAspect="1"/>
          </p:cNvPicPr>
          <p:nvPr/>
        </p:nvPicPr>
        <p:blipFill>
          <a:blip r:embed="rId1"/>
          <a:stretch>
            <a:fillRect/>
          </a:stretch>
        </p:blipFill>
        <p:spPr>
          <a:xfrm>
            <a:off x="411480" y="1371600"/>
            <a:ext cx="4343400" cy="1810512"/>
          </a:xfrm>
          <a:prstGeom prst="rect">
            <a:avLst/>
          </a:prstGeom>
        </p:spPr>
      </p:pic>
      <p:sp>
        <p:nvSpPr>
          <p:cNvPr id="7" name="Text 4"/>
          <p:cNvSpPr/>
          <p:nvPr/>
        </p:nvSpPr>
        <p:spPr>
          <a:xfrm>
            <a:off x="411480" y="3200400"/>
            <a:ext cx="4343400" cy="365760"/>
          </a:xfrm>
          <a:prstGeom prst="rect">
            <a:avLst/>
          </a:prstGeom>
          <a:noFill/>
          <a:ln/>
        </p:spPr>
        <p:txBody>
          <a:bodyPr wrap="square" lIns="0" tIns="0" rIns="0" bIns="0" rtlCol="0" anchor="ctr"/>
          <a:lstStyle/>
          <a:p>
            <a:pPr indent="0" marL="0">
              <a:buNone/>
            </a:pPr>
            <a:r>
              <a:rPr lang="en-US" sz="1000" i="1" dirty="0">
                <a:solidFill>
                  <a:srgbClr val="5C6B63"/>
                </a:solidFill>
                <a:latin typeface="Open Sans" pitchFamily="34" charset="0"/>
                <a:ea typeface="Open Sans" pitchFamily="34" charset="-122"/>
                <a:cs typeface="Open Sans" pitchFamily="34" charset="-120"/>
              </a:rPr>
              <a:t>The principle, in the unit's own drawing. The painting hangs in the National Gallery, London.</a:t>
            </a:r>
            <a:endParaRPr lang="en-US" sz="1000" dirty="0"/>
          </a:p>
        </p:txBody>
      </p:sp>
      <p:sp>
        <p:nvSpPr>
          <p:cNvPr id="8" name="Shape 5"/>
          <p:cNvSpPr/>
          <p:nvPr/>
        </p:nvSpPr>
        <p:spPr>
          <a:xfrm>
            <a:off x="4892040" y="1371600"/>
            <a:ext cx="3840480" cy="3310128"/>
          </a:xfrm>
          <a:prstGeom prst="rect">
            <a:avLst/>
          </a:prstGeom>
          <a:solidFill>
            <a:srgbClr val="F1E8F2"/>
          </a:solidFill>
          <a:ln/>
        </p:spPr>
      </p:sp>
      <p:sp>
        <p:nvSpPr>
          <p:cNvPr id="9" name="Shape 6"/>
          <p:cNvSpPr/>
          <p:nvPr/>
        </p:nvSpPr>
        <p:spPr>
          <a:xfrm>
            <a:off x="4892040" y="1371600"/>
            <a:ext cx="82296" cy="3310128"/>
          </a:xfrm>
          <a:prstGeom prst="rect">
            <a:avLst/>
          </a:prstGeom>
          <a:solidFill>
            <a:srgbClr val="8A4E8F"/>
          </a:solidFill>
          <a:ln/>
        </p:spPr>
      </p:sp>
      <p:sp>
        <p:nvSpPr>
          <p:cNvPr id="10" name="Text 7"/>
          <p:cNvSpPr/>
          <p:nvPr/>
        </p:nvSpPr>
        <p:spPr>
          <a:xfrm>
            <a:off x="5102352" y="1444752"/>
            <a:ext cx="347472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11" name="Text 8"/>
          <p:cNvSpPr/>
          <p:nvPr/>
        </p:nvSpPr>
        <p:spPr>
          <a:xfrm>
            <a:off x="5102352" y="1700784"/>
            <a:ext cx="3474720" cy="2907792"/>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Holbein, The Ambassadors, 1533. Two rich young men, a table of instruments, and a grey smear across the floor. From the right-hand edge the smear closes up into a skull.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message is in plain sight and is read from one place only. Earlier versions under the paint, called pentimenti, wait for an X-ray.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Holbein wanted the skull found. But note: the smear looked wrong. The hiding was the oddest mark on the canvas.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Alternate data streams: a second content in one record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8321040" cy="658368"/>
          </a:xfrm>
          <a:prstGeom prst="rect">
            <a:avLst/>
          </a:prstGeom>
          <a:solidFill>
            <a:srgbClr val="FFFFFF"/>
          </a:solidFill>
          <a:ln w="9525">
            <a:solidFill>
              <a:srgbClr val="CBD6CE"/>
            </a:solidFill>
            <a:prstDash val="solid"/>
          </a:ln>
        </p:spPr>
      </p:sp>
      <p:sp>
        <p:nvSpPr>
          <p:cNvPr id="7" name="Text 5"/>
          <p:cNvSpPr/>
          <p:nvPr/>
        </p:nvSpPr>
        <p:spPr>
          <a:xfrm>
            <a:off x="548640" y="1417320"/>
            <a:ext cx="8046720" cy="658368"/>
          </a:xfrm>
          <a:prstGeom prst="rect">
            <a:avLst/>
          </a:prstGeom>
          <a:noFill/>
          <a:ln/>
        </p:spPr>
        <p:txBody>
          <a:bodyPr wrap="square" lIns="0" tIns="0" rIns="0" bIns="0" rtlCol="0" anchor="ctr"/>
          <a:lstStyle/>
          <a:p>
            <a:pPr indent="0" marL="0">
              <a:buNone/>
            </a:pPr>
            <a:r>
              <a:rPr lang="en-US" sz="1300" dirty="0">
                <a:solidFill>
                  <a:srgbClr val="31423B"/>
                </a:solidFill>
                <a:latin typeface="Consolas" pitchFamily="34" charset="0"/>
                <a:ea typeface="Consolas" pitchFamily="34" charset="-122"/>
                <a:cs typeface="Consolas" pitchFamily="34" charset="-120"/>
              </a:rPr>
              <a:t>$DATA (128-2)   Name: N/A                size: 6000</a:t>
            </a:r>
            <a:endParaRPr lang="en-US" sz="1300" dirty="0"/>
          </a:p>
          <a:p>
            <a:pPr indent="0" marL="0">
              <a:buNone/>
            </a:pPr>
            <a:r>
              <a:rPr lang="en-US" sz="1300" dirty="0">
                <a:solidFill>
                  <a:srgbClr val="31423B"/>
                </a:solidFill>
                <a:latin typeface="Consolas" pitchFamily="34" charset="0"/>
                <a:ea typeface="Consolas" pitchFamily="34" charset="-122"/>
                <a:cs typeface="Consolas" pitchFamily="34" charset="-120"/>
              </a:rPr>
              <a:t>$DATA (128-4)   Name: hidden-notes.txt   size: 1800</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2176272"/>
          <a:ext cx="8321040" cy="914400"/>
        </p:xfrm>
        <a:graphic>
          <a:graphicData uri="http://schemas.openxmlformats.org/drawingml/2006/table">
            <a:tbl>
              <a:tblPr/>
              <a:tblGrid>
                <a:gridCol w="3931920"/>
                <a:gridCol w="2011680"/>
                <a:gridCol w="2377440"/>
              </a:tblGrid>
              <a:tr h="329184">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normal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An alternate data stream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Shown and counted by Explorer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Included in the file's hash value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2918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Kept on a copy to a FAT stick, or by email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only NTFS stores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3584448"/>
            <a:ext cx="8321040" cy="1097280"/>
          </a:xfrm>
          <a:prstGeom prst="rect">
            <a:avLst/>
          </a:prstGeom>
          <a:solidFill>
            <a:srgbClr val="E8F0EA"/>
          </a:solidFill>
          <a:ln/>
        </p:spPr>
      </p:sp>
      <p:sp>
        <p:nvSpPr>
          <p:cNvPr id="10" name="Shape 7"/>
          <p:cNvSpPr/>
          <p:nvPr/>
        </p:nvSpPr>
        <p:spPr>
          <a:xfrm>
            <a:off x="411480" y="3584448"/>
            <a:ext cx="82296" cy="1097280"/>
          </a:xfrm>
          <a:prstGeom prst="rect">
            <a:avLst/>
          </a:prstGeom>
          <a:solidFill>
            <a:srgbClr val="6E8472"/>
          </a:solidFill>
          <a:ln/>
        </p:spPr>
      </p:sp>
      <p:sp>
        <p:nvSpPr>
          <p:cNvPr id="11" name="Text 8"/>
          <p:cNvSpPr/>
          <p:nvPr/>
        </p:nvSpPr>
        <p:spPr>
          <a:xfrm>
            <a:off x="621792" y="3657600"/>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2" name="Text 9"/>
          <p:cNvSpPr/>
          <p:nvPr/>
        </p:nvSpPr>
        <p:spPr>
          <a:xfrm>
            <a:off x="621792" y="3913632"/>
            <a:ext cx="7955280" cy="694944"/>
          </a:xfrm>
          <a:prstGeom prst="rect">
            <a:avLst/>
          </a:prstGeom>
          <a:noFill/>
          <a:ln/>
        </p:spPr>
        <p:txBody>
          <a:bodyPr wrap="square" lIns="0" tIns="0" rIns="0" bIns="0" rtlCol="0" anchor="t"/>
          <a:lstStyle/>
          <a:p>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A cardboard folder whose label names one document, with a second sheet clipped inside the back cover. </a:t>
            </a:r>
            <a:pPr indent="0" marL="0">
              <a:spcAft>
                <a:spcPts val="400"/>
              </a:spcAft>
              <a:buNone/>
            </a:pPr>
            <a:r>
              <a:rPr lang="en-US" sz="12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opening a real folder shows the sheet. Opening the file never does. And many Windows files carry a stream by design: Zone.Identifier. </a:t>
            </a:r>
            <a:pPr indent="0" marL="0">
              <a:spcAft>
                <a:spcPts val="400"/>
              </a:spcAft>
              <a:buNone/>
            </a:pPr>
            <a:r>
              <a:rPr lang="en-US" sz="12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200" dirty="0">
                <a:solidFill>
                  <a:srgbClr val="31423B"/>
                </a:solidFill>
                <a:latin typeface="Open Sans" pitchFamily="34" charset="0"/>
                <a:ea typeface="Open Sans" pitchFamily="34" charset="-122"/>
                <a:cs typeface="Open Sans" pitchFamily="34" charset="-120"/>
              </a:rPr>
              <a:t>list streams as routine, and judge each by name, size and content.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Timestomping: two sets of dates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p:nvPr/>
        </p:nvSpPr>
        <p:spPr>
          <a:xfrm>
            <a:off x="521208"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$STANDARD_INFORMATION</a:t>
            </a:r>
            <a:endParaRPr lang="en-US" sz="1500" dirty="0"/>
          </a:p>
        </p:txBody>
      </p:sp>
      <p:sp>
        <p:nvSpPr>
          <p:cNvPr id="8" name="Shape 6"/>
          <p:cNvSpPr/>
          <p:nvPr/>
        </p:nvSpPr>
        <p:spPr>
          <a:xfrm>
            <a:off x="411480" y="1819656"/>
            <a:ext cx="4133088" cy="1691640"/>
          </a:xfrm>
          <a:prstGeom prst="rect">
            <a:avLst/>
          </a:prstGeom>
          <a:solidFill>
            <a:srgbClr val="FFFFFF"/>
          </a:solidFill>
          <a:ln w="9525">
            <a:solidFill>
              <a:srgbClr val="CBD6CE"/>
            </a:solidFill>
            <a:prstDash val="solid"/>
          </a:ln>
        </p:spPr>
      </p:sp>
      <p:sp>
        <p:nvSpPr>
          <p:cNvPr id="9" name="Text 7"/>
          <p:cNvSpPr/>
          <p:nvPr/>
        </p:nvSpPr>
        <p:spPr>
          <a:xfrm>
            <a:off x="539496" y="1874520"/>
            <a:ext cx="3877056" cy="15819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Who sees it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Windows shows these four times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Who can set it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Any program, through a normal Windows function</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price-list.csv, created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2019-01-15 09:00:00.000000000</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p:nvPr/>
        </p:nvSpPr>
        <p:spPr>
          <a:xfrm>
            <a:off x="4754880" y="141732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$FILE_NAME</a:t>
            </a:r>
            <a:endParaRPr lang="en-US" sz="1500" dirty="0"/>
          </a:p>
        </p:txBody>
      </p:sp>
      <p:sp>
        <p:nvSpPr>
          <p:cNvPr id="12" name="Shape 10"/>
          <p:cNvSpPr/>
          <p:nvPr/>
        </p:nvSpPr>
        <p:spPr>
          <a:xfrm>
            <a:off x="4645152" y="1819656"/>
            <a:ext cx="4133088" cy="1691640"/>
          </a:xfrm>
          <a:prstGeom prst="rect">
            <a:avLst/>
          </a:prstGeom>
          <a:solidFill>
            <a:srgbClr val="FFFFFF"/>
          </a:solidFill>
          <a:ln w="9525">
            <a:solidFill>
              <a:srgbClr val="CBD6CE"/>
            </a:solidFill>
            <a:prstDash val="solid"/>
          </a:ln>
        </p:spPr>
      </p:sp>
      <p:sp>
        <p:nvSpPr>
          <p:cNvPr id="13" name="Text 11"/>
          <p:cNvSpPr/>
          <p:nvPr/>
        </p:nvSpPr>
        <p:spPr>
          <a:xfrm>
            <a:off x="4773168" y="1874520"/>
            <a:ext cx="3877056" cy="15819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Who sees it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Only forensic tools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Who can set it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Only the file system, when the name is made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price-list.csv, created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day the volume was built</a:t>
            </a:r>
            <a:endParaRPr lang="en-US" sz="1300" dirty="0"/>
          </a:p>
        </p:txBody>
      </p:sp>
      <p:sp>
        <p:nvSpPr>
          <p:cNvPr id="14" name="Shape 12"/>
          <p:cNvSpPr/>
          <p:nvPr/>
        </p:nvSpPr>
        <p:spPr>
          <a:xfrm>
            <a:off x="411480" y="3611880"/>
            <a:ext cx="8321040" cy="457200"/>
          </a:xfrm>
          <a:prstGeom prst="rect">
            <a:avLst/>
          </a:prstGeom>
          <a:solidFill>
            <a:srgbClr val="DCE6DE"/>
          </a:solidFill>
          <a:ln/>
        </p:spPr>
      </p:sp>
      <p:sp>
        <p:nvSpPr>
          <p:cNvPr id="15" name="Text 13"/>
          <p:cNvSpPr/>
          <p:nvPr/>
        </p:nvSpPr>
        <p:spPr>
          <a:xfrm>
            <a:off x="521208" y="3611880"/>
            <a:ext cx="8101584" cy="45720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Three signs: the two created times disagree; the changed time falls on an exact second; MFT modified is still recent.</a:t>
            </a:r>
            <a:endParaRPr lang="en-US" sz="1300" dirty="0"/>
          </a:p>
        </p:txBody>
      </p:sp>
      <p:sp>
        <p:nvSpPr>
          <p:cNvPr id="16" name="Shape 14"/>
          <p:cNvSpPr/>
          <p:nvPr/>
        </p:nvSpPr>
        <p:spPr>
          <a:xfrm>
            <a:off x="411480" y="4133088"/>
            <a:ext cx="8321040" cy="566928"/>
          </a:xfrm>
          <a:prstGeom prst="rect">
            <a:avLst/>
          </a:prstGeom>
          <a:solidFill>
            <a:srgbClr val="E8F0EA"/>
          </a:solidFill>
          <a:ln/>
        </p:spPr>
      </p:sp>
      <p:sp>
        <p:nvSpPr>
          <p:cNvPr id="17" name="Shape 15"/>
          <p:cNvSpPr/>
          <p:nvPr/>
        </p:nvSpPr>
        <p:spPr>
          <a:xfrm>
            <a:off x="411480" y="4133088"/>
            <a:ext cx="82296" cy="566928"/>
          </a:xfrm>
          <a:prstGeom prst="rect">
            <a:avLst/>
          </a:prstGeom>
          <a:solidFill>
            <a:srgbClr val="6E8472"/>
          </a:solidFill>
          <a:ln/>
        </p:spPr>
      </p:sp>
      <p:sp>
        <p:nvSpPr>
          <p:cNvPr id="18" name="Text 16"/>
          <p:cNvSpPr/>
          <p:nvPr/>
        </p:nvSpPr>
        <p:spPr>
          <a:xfrm>
            <a:off x="621792" y="4206240"/>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9" name="Text 17"/>
          <p:cNvSpPr/>
          <p:nvPr/>
        </p:nvSpPr>
        <p:spPr>
          <a:xfrm>
            <a:off x="621792" y="4462272"/>
            <a:ext cx="7955280" cy="164592"/>
          </a:xfrm>
          <a:prstGeom prst="rect">
            <a:avLst/>
          </a:prstGeom>
          <a:noFill/>
          <a:ln/>
        </p:spPr>
        <p:txBody>
          <a:bodyPr wrap="square" lIns="0" tIns="0" rIns="0" bIns="0" rtlCol="0" anchor="t"/>
          <a:lstStyle/>
          <a:p>
            <a:pPr indent="0" marL="0">
              <a:spcAft>
                <a:spcPts val="400"/>
              </a:spcAft>
              <a:buNone/>
            </a:pPr>
            <a:r>
              <a:rPr lang="en-US" sz="1100" dirty="0">
                <a:solidFill>
                  <a:srgbClr val="31423B"/>
                </a:solidFill>
                <a:latin typeface="Open Sans" pitchFamily="34" charset="0"/>
                <a:ea typeface="Open Sans" pitchFamily="34" charset="-122"/>
                <a:cs typeface="Open Sans" pitchFamily="34" charset="-120"/>
              </a:rPr>
              <a:t>A stamp in a passport, and the border office's own ledger. </a:t>
            </a:r>
            <a:pPr indent="0" marL="0">
              <a:spcAft>
                <a:spcPts val="400"/>
              </a:spcAft>
              <a:buNone/>
            </a:pPr>
            <a:r>
              <a:rPr lang="en-US" sz="11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100" dirty="0">
                <a:solidFill>
                  <a:srgbClr val="31423B"/>
                </a:solidFill>
                <a:latin typeface="Open Sans" pitchFamily="34" charset="0"/>
                <a:ea typeface="Open Sans" pitchFamily="34" charset="-122"/>
                <a:cs typeface="Open Sans" pitchFamily="34" charset="-120"/>
              </a:rPr>
              <a:t>a rename rewrites the ledger from the passport, and honest programs also set old dates. A mismatch is a lead.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each method takes, and what it leaves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2194560"/>
                <a:gridCol w="2468880"/>
                <a:gridCol w="3657600"/>
              </a:tblGrid>
              <a:tr h="512064">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method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takes away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leaves behind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Wiping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record with a random name; the tool's own traces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Encryption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meaning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High entropy, no signature; a key in memory or in escrow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Steganography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knowledge that data exists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changed hash value; last bits that are too random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An alternate data stream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sight of a second content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second $DATA attribute that every forensic tool lists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1206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Timestomping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true date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Two sets of times that disagree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Concealment and detection are an arms race, and hiding leaves its own signature.</a:t>
            </a:r>
            <a:endParaRPr lang="en-US" sz="3200" dirty="0"/>
          </a:p>
        </p:txBody>
      </p:sp>
      <p:sp>
        <p:nvSpPr>
          <p:cNvPr id="6" name="Text 4"/>
          <p:cNvSpPr/>
          <p:nvPr/>
        </p:nvSpPr>
        <p:spPr>
          <a:xfrm>
            <a:off x="731520" y="3703320"/>
            <a:ext cx="7680960" cy="100584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You do not need to win every round. You need to know which signature each method leaves.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suspect's last morning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8321040" cy="914400"/>
        </p:xfrm>
        <a:graphic>
          <a:graphicData uri="http://schemas.openxmlformats.org/drawingml/2006/table">
            <a:tbl>
              <a:tblPr/>
              <a:tblGrid>
                <a:gridCol w="3931920"/>
                <a:gridCol w="438912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he did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left on his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Searched for anti-forensic tools, eraser, ccleaner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search words in the browser's history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Downloaded and installed both programs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Download records; an installed program; a program folder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Ran Eraser on the folder temp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Records that it ran; deleted records with random names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Ran CCleaner, then removed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Records that it ran, and that its uninstall program ran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93008"/>
            <a:ext cx="8321040" cy="566928"/>
          </a:xfrm>
          <a:prstGeom prst="rect">
            <a:avLst/>
          </a:prstGeom>
          <a:solidFill>
            <a:srgbClr val="F1E8F2"/>
          </a:solidFill>
          <a:ln/>
        </p:spPr>
      </p:sp>
      <p:sp>
        <p:nvSpPr>
          <p:cNvPr id="8" name="Text 5"/>
          <p:cNvSpPr/>
          <p:nvPr/>
        </p:nvSpPr>
        <p:spPr>
          <a:xfrm>
            <a:off x="521208" y="3493008"/>
            <a:ext cx="8101584" cy="566928"/>
          </a:xfrm>
          <a:prstGeom prst="rect">
            <a:avLst/>
          </a:prstGeom>
          <a:noFill/>
          <a:ln/>
        </p:spPr>
        <p:txBody>
          <a:bodyPr wrap="square" rtlCol="0" anchor="ctr"/>
          <a:lstStyle/>
          <a:p>
            <a:pPr indent="0" marL="0">
              <a:buNone/>
            </a:pPr>
            <a:r>
              <a:rPr lang="en-US" sz="1200" b="1" dirty="0">
                <a:solidFill>
                  <a:srgbClr val="31423B"/>
                </a:solidFill>
                <a:latin typeface="Open Sans" pitchFamily="34" charset="0"/>
                <a:ea typeface="Open Sans" pitchFamily="34" charset="-122"/>
                <a:cs typeface="Open Sans" pitchFamily="34" charset="-120"/>
              </a:rPr>
              <a:t>The nine files he wiped so carefully were harmless pictures and an installer. The confidential documents he had only deleted, and you recovered them in Session 2.</a:t>
            </a:r>
            <a:endParaRPr lang="en-US" sz="1200" dirty="0"/>
          </a:p>
        </p:txBody>
      </p:sp>
      <p:sp>
        <p:nvSpPr>
          <p:cNvPr id="9" name="Shape 6"/>
          <p:cNvSpPr/>
          <p:nvPr/>
        </p:nvSpPr>
        <p:spPr>
          <a:xfrm>
            <a:off x="411480" y="4133088"/>
            <a:ext cx="8321040" cy="548640"/>
          </a:xfrm>
          <a:prstGeom prst="rect">
            <a:avLst/>
          </a:prstGeom>
          <a:solidFill>
            <a:srgbClr val="DCE6DE"/>
          </a:solidFill>
          <a:ln/>
        </p:spPr>
      </p:sp>
      <p:sp>
        <p:nvSpPr>
          <p:cNvPr id="10" name="Text 7"/>
          <p:cNvSpPr/>
          <p:nvPr/>
        </p:nvSpPr>
        <p:spPr>
          <a:xfrm>
            <a:off x="521208" y="4133088"/>
            <a:ext cx="8101584" cy="548640"/>
          </a:xfrm>
          <a:prstGeom prst="rect">
            <a:avLst/>
          </a:prstGeom>
          <a:noFill/>
          <a:ln/>
        </p:spPr>
        <p:txBody>
          <a:bodyPr wrap="square" rtlCol="0" anchor="ctr"/>
          <a:lstStyle/>
          <a:p>
            <a:pPr indent="0" marL="0">
              <a:buNone/>
            </a:pPr>
            <a:r>
              <a:rPr lang="en-US" sz="1200" b="1" dirty="0">
                <a:solidFill>
                  <a:srgbClr val="31423B"/>
                </a:solidFill>
                <a:latin typeface="Open Sans" pitchFamily="34" charset="0"/>
                <a:ea typeface="Open Sans" pitchFamily="34" charset="-122"/>
                <a:cs typeface="Open Sans" pitchFamily="34" charset="-120"/>
              </a:rPr>
              <a:t>The traces show that the tools were present and used. They do not show what was removed, or who sat at the keyboard.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4389120" cy="1097280"/>
          </a:xfrm>
          <a:prstGeom prst="rect">
            <a:avLst/>
          </a:prstGeom>
          <a:noFill/>
          <a:ln/>
        </p:spPr>
        <p:txBody>
          <a:bodyPr wrap="square" lIns="0" tIns="0" rIns="0" bIns="0" rtlCol="0" anchor="t"/>
          <a:lstStyle/>
          <a:p>
            <a:pPr indent="0" marL="0">
              <a:buNone/>
            </a:pPr>
            <a:r>
              <a:rPr lang="en-US" sz="3400" b="1" dirty="0">
                <a:solidFill>
                  <a:srgbClr val="FFFFFF"/>
                </a:solidFill>
                <a:latin typeface="Open Sans" pitchFamily="34" charset="0"/>
                <a:ea typeface="Open Sans" pitchFamily="34" charset="-122"/>
                <a:cs typeface="Open Sans" pitchFamily="34" charset="-120"/>
              </a:rPr>
              <a:t>Lab: find what was hidden</a:t>
            </a:r>
            <a:endParaRPr lang="en-US" sz="3400" dirty="0"/>
          </a:p>
        </p:txBody>
      </p:sp>
      <p:sp>
        <p:nvSpPr>
          <p:cNvPr id="5" name="Shape 3"/>
          <p:cNvSpPr/>
          <p:nvPr/>
        </p:nvSpPr>
        <p:spPr>
          <a:xfrm>
            <a:off x="731520" y="1920240"/>
            <a:ext cx="4206240" cy="2651760"/>
          </a:xfrm>
          <a:prstGeom prst="rect">
            <a:avLst/>
          </a:prstGeom>
          <a:solidFill>
            <a:srgbClr val="31423B"/>
          </a:solidFill>
          <a:ln/>
        </p:spPr>
      </p:sp>
      <p:sp>
        <p:nvSpPr>
          <p:cNvPr id="6" name="Text 4"/>
          <p:cNvSpPr/>
          <p:nvPr/>
        </p:nvSpPr>
        <p:spPr>
          <a:xfrm>
            <a:off x="868680" y="1920240"/>
            <a:ext cx="3931920" cy="2651760"/>
          </a:xfrm>
          <a:prstGeom prst="rect">
            <a:avLst/>
          </a:prstGeom>
          <a:noFill/>
          <a:ln/>
        </p:spPr>
        <p:txBody>
          <a:bodyPr wrap="square" lIns="0" tIns="0" rIns="0" bIns="0" rtlCol="0" anchor="ctr"/>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1.  Receive and verify</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2.  Eight pictures: three routes</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3.  The practice volume, with the Sleuth Kit</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4.  The same volume in Autopsy</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5.  The suspect's tools in the case</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6.  The findings memo</a:t>
            </a:r>
            <a:endParaRPr lang="en-US" sz="1600" dirty="0"/>
          </a:p>
        </p:txBody>
      </p:sp>
      <p:pic>
        <p:nvPicPr>
          <p:cNvPr id="7" name="Image 0" descr="preencoded.png">    </p:cNvPr>
          <p:cNvPicPr>
            <a:picLocks noChangeAspect="1"/>
          </p:cNvPicPr>
          <p:nvPr/>
        </p:nvPicPr>
        <p:blipFill>
          <a:blip r:embed="rId1"/>
          <a:stretch>
            <a:fillRect/>
          </a:stretch>
        </p:blipFill>
        <p:spPr>
          <a:xfrm>
            <a:off x="5943600" y="1554480"/>
            <a:ext cx="2103120" cy="21031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1920240"/>
            <a:ext cx="6400800" cy="1737360"/>
          </a:xfrm>
          <a:prstGeom prst="rect">
            <a:avLst/>
          </a:prstGeom>
          <a:solidFill>
            <a:srgbClr val="FFFFFF"/>
          </a:solidFill>
          <a:ln/>
        </p:spPr>
      </p:sp>
      <p:sp>
        <p:nvSpPr>
          <p:cNvPr id="6" name="Text 4"/>
          <p:cNvSpPr/>
          <p:nvPr/>
        </p:nvSpPr>
        <p:spPr>
          <a:xfrm>
            <a:off x="1508760" y="1920240"/>
            <a:ext cx="6126480" cy="173736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Your tools found nothing in two of the pictures. A manager asks you to write that those pictures are clean. What do you write instead, and why does the difference matter in court?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80960" cy="1097280"/>
          </a:xfrm>
          <a:prstGeom prst="rect">
            <a:avLst/>
          </a:prstGeom>
          <a:noFill/>
          <a:ln/>
        </p:spPr>
        <p:txBody>
          <a:bodyPr wrap="square" lIns="0" tIns="0" rIns="0" bIns="0" rtlCol="0" anchor="t"/>
          <a:lstStyle/>
          <a:p>
            <a:pPr indent="0" marL="0">
              <a:buNone/>
            </a:pPr>
            <a:r>
              <a:rPr lang="en-US" sz="3400" b="1" dirty="0">
                <a:solidFill>
                  <a:srgbClr val="FFFFFF"/>
                </a:solidFill>
                <a:latin typeface="Open Sans" pitchFamily="34" charset="0"/>
                <a:ea typeface="Open Sans" pitchFamily="34" charset="-122"/>
                <a:cs typeface="Open Sans" pitchFamily="34" charset="-120"/>
              </a:rPr>
              <a:t>Day-closing micro-quiz</a:t>
            </a:r>
            <a:endParaRPr lang="en-US" sz="3400" dirty="0"/>
          </a:p>
        </p:txBody>
      </p:sp>
      <p:sp>
        <p:nvSpPr>
          <p:cNvPr id="5" name="Shape 3"/>
          <p:cNvSpPr/>
          <p:nvPr/>
        </p:nvSpPr>
        <p:spPr>
          <a:xfrm>
            <a:off x="731520" y="1920240"/>
            <a:ext cx="7680960" cy="2011680"/>
          </a:xfrm>
          <a:prstGeom prst="rect">
            <a:avLst/>
          </a:prstGeom>
          <a:solidFill>
            <a:srgbClr val="31423B"/>
          </a:solidFill>
          <a:ln/>
        </p:spPr>
      </p:sp>
      <p:sp>
        <p:nvSpPr>
          <p:cNvPr id="6" name="Text 4"/>
          <p:cNvSpPr/>
          <p:nvPr/>
        </p:nvSpPr>
        <p:spPr>
          <a:xfrm>
            <a:off x="868680" y="1920240"/>
            <a:ext cx="7406640" cy="2011680"/>
          </a:xfrm>
          <a:prstGeom prst="rect">
            <a:avLst/>
          </a:prstGeom>
          <a:noFill/>
          <a:ln/>
        </p:spPr>
        <p:txBody>
          <a:bodyPr wrap="square" lIns="0" tIns="0" rIns="0" bIns="0" rtlCol="0" anchor="ctr"/>
          <a:lstStyle/>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Five short answers, on Sessions 3 and 4</a:t>
            </a:r>
            <a:endParaRPr lang="en-US" sz="1800" dirty="0"/>
          </a:p>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About two sentences each, in ten minutes</a:t>
            </a:r>
            <a:endParaRPr lang="en-US" sz="1800" dirty="0"/>
          </a:p>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Mark yourself against the model answers on the session page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sources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1737360" cy="1554480"/>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822960" y="1737360"/>
            <a:ext cx="914400" cy="914400"/>
          </a:xfrm>
          <a:prstGeom prst="rect">
            <a:avLst/>
          </a:prstGeom>
        </p:spPr>
      </p:pic>
      <p:sp>
        <p:nvSpPr>
          <p:cNvPr id="8" name="Shape 5"/>
          <p:cNvSpPr/>
          <p:nvPr/>
        </p:nvSpPr>
        <p:spPr>
          <a:xfrm>
            <a:off x="2148840" y="1417320"/>
            <a:ext cx="6583680" cy="1554480"/>
          </a:xfrm>
          <a:prstGeom prst="rect">
            <a:avLst/>
          </a:prstGeom>
          <a:solidFill>
            <a:srgbClr val="FFFFFF"/>
          </a:solidFill>
          <a:ln w="9525">
            <a:solidFill>
              <a:srgbClr val="CBD6CE"/>
            </a:solidFill>
            <a:prstDash val="solid"/>
          </a:ln>
        </p:spPr>
      </p:sp>
      <p:sp>
        <p:nvSpPr>
          <p:cNvPr id="9" name="Text 6"/>
          <p:cNvSpPr/>
          <p:nvPr/>
        </p:nvSpPr>
        <p:spPr>
          <a:xfrm>
            <a:off x="2286000" y="1490472"/>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Data Leakage Case</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Computer Forensic Reference Data Sets (CFReDS)</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National Institute of Standards and Technology</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Today's case evidence, with the published answer key that the checkpoint is judged against</a:t>
            </a:r>
            <a:endParaRPr lang="en-US" sz="1800" dirty="0"/>
          </a:p>
        </p:txBody>
      </p:sp>
      <p:sp>
        <p:nvSpPr>
          <p:cNvPr id="10" name="Shape 7"/>
          <p:cNvSpPr/>
          <p:nvPr/>
        </p:nvSpPr>
        <p:spPr>
          <a:xfrm>
            <a:off x="411480" y="3099816"/>
            <a:ext cx="1737360" cy="1554480"/>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822960" y="3419856"/>
            <a:ext cx="914400" cy="914400"/>
          </a:xfrm>
          <a:prstGeom prst="rect">
            <a:avLst/>
          </a:prstGeom>
        </p:spPr>
      </p:pic>
      <p:sp>
        <p:nvSpPr>
          <p:cNvPr id="12" name="Shape 8"/>
          <p:cNvSpPr/>
          <p:nvPr/>
        </p:nvSpPr>
        <p:spPr>
          <a:xfrm>
            <a:off x="2148840" y="3099816"/>
            <a:ext cx="6583680" cy="1554480"/>
          </a:xfrm>
          <a:prstGeom prst="rect">
            <a:avLst/>
          </a:prstGeom>
          <a:solidFill>
            <a:srgbClr val="FFFFFF"/>
          </a:solidFill>
          <a:ln w="9525">
            <a:solidFill>
              <a:srgbClr val="CBD6CE"/>
            </a:solidFill>
            <a:prstDash val="solid"/>
          </a:ln>
        </p:spPr>
      </p:sp>
      <p:sp>
        <p:nvSpPr>
          <p:cNvPr id="13" name="Text 9"/>
          <p:cNvSpPr/>
          <p:nvPr/>
        </p:nvSpPr>
        <p:spPr>
          <a:xfrm>
            <a:off x="2286000" y="3172968"/>
            <a:ext cx="6309360" cy="1408176"/>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Attacks on steganographic systems</a:t>
            </a:r>
            <a:endParaRPr lang="en-US" sz="1800" dirty="0"/>
          </a:p>
          <a:p>
            <a:pPr indent="0" marL="0">
              <a:buNone/>
            </a:pPr>
            <a:r>
              <a:rPr lang="en-US" sz="1300" i="1" dirty="0">
                <a:solidFill>
                  <a:srgbClr val="4F6356"/>
                </a:solidFill>
                <a:latin typeface="Open Sans" pitchFamily="34" charset="0"/>
                <a:ea typeface="Open Sans" pitchFamily="34" charset="-122"/>
                <a:cs typeface="Open Sans" pitchFamily="34" charset="-120"/>
              </a:rPr>
              <a:t>Information Hiding, Lecture Notes in Computer Science 1768, 2000</a:t>
            </a:r>
            <a:endParaRPr lang="en-US" sz="1800" dirty="0"/>
          </a:p>
          <a:p>
            <a:pPr indent="0" marL="0">
              <a:buNone/>
            </a:pPr>
            <a:r>
              <a:rPr lang="en-US" sz="1300" dirty="0">
                <a:solidFill>
                  <a:srgbClr val="31423B"/>
                </a:solidFill>
                <a:latin typeface="Open Sans" pitchFamily="34" charset="0"/>
                <a:ea typeface="Open Sans" pitchFamily="34" charset="-122"/>
                <a:cs typeface="Open Sans" pitchFamily="34" charset="-120"/>
              </a:rPr>
              <a:t>Andreas Westfeld and Andreas Pfitzmann</a:t>
            </a:r>
            <a:endParaRPr lang="en-US" sz="1800" dirty="0"/>
          </a:p>
          <a:p>
            <a:pPr indent="0" marL="0">
              <a:buNone/>
            </a:pPr>
            <a:r>
              <a:rPr lang="en-US" sz="1200" i="1" dirty="0">
                <a:solidFill>
                  <a:srgbClr val="4F6356"/>
                </a:solidFill>
                <a:latin typeface="Open Sans" pitchFamily="34" charset="0"/>
                <a:ea typeface="Open Sans" pitchFamily="34" charset="-122"/>
                <a:cs typeface="Open Sans" pitchFamily="34" charset="-120"/>
              </a:rPr>
              <a:t>The statistical test behind the detection of data in the last bits of a picture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03520" cy="822960"/>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5 - Windows artefacts and timelining. Today you took the records of a tool on trust. Next, you open them.</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S04 - Data Protection and Anti-Forensics</dc:title>
  <dc:subject>PptxGenJS Presentation</dc:subject>
  <dc:creator>Niranga Dharmaratna</dc:creator>
  <cp:lastModifiedBy>Niranga Dharmaratna</cp:lastModifiedBy>
  <cp:revision>1</cp:revision>
  <dcterms:created xsi:type="dcterms:W3CDTF">2026-10-10T12:10:03Z</dcterms:created>
  <dcterms:modified xsi:type="dcterms:W3CDTF">2026-10-10T12:10:03Z</dcterms:modified>
</cp:coreProperties>
</file>