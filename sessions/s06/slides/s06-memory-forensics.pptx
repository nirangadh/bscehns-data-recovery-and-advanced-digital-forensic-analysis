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6 closes Day 3. The page on the portal is the content master: every slide points to a section of it. The session ends with the end-of-day quiz for Sessions 5 and 6. Before the concept part, ask students to check the free space on the host drive that holds their shared folder: the lab needs about 9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LO2 and LO5. The lab checkpoint, a sheet of ten process and network findings judged against the unit's key, feeds the coursework and the phase test. Day-closing session: the quiz is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hook from the page. Then the correction, said plainly and once: Session 5 said the unit captured the suspect's memory at the seizure. The case evidence holds no memory capture, so the unit rebuilt his last-morning actions on a current test machine and captured that. Its Windows version and dates are its own. It shows what such actions leave in memory, and it is not the suspect's memory. Students also capture their own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Start from the prefetch file of the wiping tool in Session 5: it ran twice. Which files was it told to wipe? Was it still running? The disk cannot say. Volatile evidence exists only while the computer runs. Link back to Session 4: the key of an unlocked volume. Misconception to remove: 'the disk image has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and demo S06-D1. The name 'order of volatility' and the document RFC 3227 are taught by name: students must be able to state the principle and give an example from each end. Most volatile: registers and cache, then network state, processes and memory. Least volatile: the disk, then backups. The page's table also lists remote logs and the physical set-up. In practice memory is the first thing an examiner can collect. Run the demo here: waiting, pulling the plug and a normal shut-down each destroy a different layer. The order is a guide for a decision: record the choice and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and demo S06-D2. Session 1 said it in one sentence: sometimes the original must change, and then the examiner makes the smallest possible change and records it. Today students do it. Never write the capture to the computer's own disk: it overwrites unallocated space, and it stores evidence on the evidence. In the deeper layer: a VM can be captured from outside by its hypervisor, with no footprint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the point students most often get wrong. For the memory card of Session 1 the hash value linked the original, the image and each working copy. For memory there is nothing to compare with. Two captures a minute apart have two values and both are correct. In the lab, students who do Part B see this with their own two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A memory image is one file of bytes with no folders. The layout of the kernel's records differs from build to build of Windows, so the tool needs the description for the exact build. A plugin is one command of Volatility. This is also why the module does not use older public images: Volatility 3 does not support Windows XP or 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and demo S06-D3. windows.pslist walks the kernel's chain of process records, as Task Manager does. windows.psscan searches every byte for the shape of a record. Volatility prints times in UTC, so they go straight into the timeline of Session 5. The reference image holds no hidden process: the lab finds an ended one. The hidden case is shown in the demo only, on a made-up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This is the gain over Session 5. Memory is the only place in the case where a remote address is tied directly to a process: a network capture in Session 7 shows that the computer talked, memory shows which program did. Cautions from the page: the command line shows how a process was started, not what a user typed; it lives in the process's own memory, so it can be changed and is often unreadable for an ended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and demo S06-D4. Teach what the finding means and stop: Sessions 9 and 10 own malware analysis, under isolation. windows.malware.malfind reports a state of memory, not an attack. Browsers, PowerShell and .NET create such memory in normal work. The reference image holds the unit's control sample: a harmless program that asks for such a region in its own memory, writes MZ and a label, and waits. Say openly that it is not part of the suspect's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of the session, at the end of page section 7. Give the gist of the film in two sentences: never assume that everyone has seen it. Name and paraphrase only. Then the two ideas, then where the parallel breaks. The second idea is also the honest status of the reconstruction, and the limit of a malfind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of the session. One sentence: let the room read it. It answers the hook: what would be lost if someone simply switched the computer off. The second line carries the caution of sections 5 to 7 into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about two hours. Windows first, then Kali, so that low-spec hosts run one VM at a time. The capture is 4 to 5 GB: check 9 GB free on the host drive before anyone clicks. FTK Imager's Capture Memory first; winpmem is the command-line alternative, and if Windows blocks its driver that is recorded as a fact and the lab continues. The reference image is the unit's reconstruction, about 2 GB. Checkpoint: eight of ten findings agree with the key, the connection among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map of the lab for the room, not a replacement for the steps on the page. Each plugin reads one kind of record. The pairs matter: list against scan for processes, netstat against netscan for connections. Every finding on the sheet names the plugin that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both statements are true and the conclusion does not follow. Forensically sound means that someone else can check the work. The examiner made the smallest change possible, recorded the tool, its version, the times and each action, and hashed the file at once. The alternative was to lose the evidence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ten minutes. The questions are on the session page, under End-of-day quiz. They are marked on the points made, not on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slide with formal references. The tools of the lab, FTK Imager, winpmem and Volatility 3, are named on the page with their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next, from the page. Remind students to delete their own memory captures from the shared folder: they are large, and they can hold personal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4000" b="1" dirty="0">
                <a:solidFill>
                  <a:srgbClr val="31423B"/>
                </a:solidFill>
                <a:latin typeface="Open Sans" pitchFamily="34" charset="0"/>
                <a:ea typeface="Open Sans" pitchFamily="34" charset="-122"/>
                <a:cs typeface="Open Sans" pitchFamily="34" charset="-120"/>
              </a:rPr>
              <a:t>Memory Forensics</a:t>
            </a:r>
            <a:endParaRPr lang="en-US" sz="40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6 - Day 3: Host Depth: Windows and Memory</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S06 Memory Forensics</a:t>
            </a:r>
            <a:endParaRPr lang="en-US" sz="36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E8472"/>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4F6356"/>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10" name="Shape 8"/>
          <p:cNvSpPr/>
          <p:nvPr/>
        </p:nvSpPr>
        <p:spPr>
          <a:xfrm>
            <a:off x="2194560" y="3108960"/>
            <a:ext cx="640080" cy="347472"/>
          </a:xfrm>
          <a:prstGeom prst="rect">
            <a:avLst/>
          </a:prstGeom>
          <a:solidFill>
            <a:srgbClr val="6E3D72"/>
          </a:solidFill>
          <a:ln/>
        </p:spPr>
      </p:sp>
      <p:sp>
        <p:nvSpPr>
          <p:cNvPr id="11" name="Text 9"/>
          <p:cNvSpPr/>
          <p:nvPr/>
        </p:nvSpPr>
        <p:spPr>
          <a:xfrm>
            <a:off x="219456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2" name="Text 10"/>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CW, PT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754880" cy="1143000"/>
          </a:xfrm>
          <a:prstGeom prst="rect">
            <a:avLst/>
          </a:prstGeom>
          <a:solidFill>
            <a:srgbClr val="F1E8F2"/>
          </a:solidFill>
          <a:ln/>
        </p:spPr>
      </p:sp>
      <p:sp>
        <p:nvSpPr>
          <p:cNvPr id="7" name="Text 5"/>
          <p:cNvSpPr/>
          <p:nvPr/>
        </p:nvSpPr>
        <p:spPr>
          <a:xfrm>
            <a:off x="521208" y="1417320"/>
            <a:ext cx="4535424" cy="114300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The suspect's disk told us what he did on his last morning. What was a computer like his doing at the moment it was seized, and what would be lost for ever if someone simply switched it off?</a:t>
            </a:r>
            <a:endParaRPr lang="en-US" sz="1400" dirty="0"/>
          </a:p>
        </p:txBody>
      </p:sp>
      <p:sp>
        <p:nvSpPr>
          <p:cNvPr id="8" name="Shape 6"/>
          <p:cNvSpPr/>
          <p:nvPr/>
        </p:nvSpPr>
        <p:spPr>
          <a:xfrm>
            <a:off x="411480" y="2651760"/>
            <a:ext cx="4754880" cy="2057400"/>
          </a:xfrm>
          <a:prstGeom prst="rect">
            <a:avLst/>
          </a:prstGeom>
          <a:solidFill>
            <a:srgbClr val="DCE6DE"/>
          </a:solidFill>
          <a:ln/>
        </p:spPr>
      </p:sp>
      <p:sp>
        <p:nvSpPr>
          <p:cNvPr id="9" name="Text 7"/>
          <p:cNvSpPr/>
          <p:nvPr/>
        </p:nvSpPr>
        <p:spPr>
          <a:xfrm>
            <a:off x="502920" y="2651760"/>
            <a:ext cx="4572000" cy="205740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Say what memory holds that the disk does not</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Apply the order of volatility</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Capture your own memory, and count the cost</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Read processes, command lines and connections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Judge a sign of injected code</a:t>
            </a:r>
            <a:endParaRPr lang="en-US" sz="1300" dirty="0"/>
          </a:p>
        </p:txBody>
      </p:sp>
      <p:pic>
        <p:nvPicPr>
          <p:cNvPr id="10" name="Image 0" descr="preencoded.png">    </p:cNvPr>
          <p:cNvPicPr>
            <a:picLocks noChangeAspect="1"/>
          </p:cNvPicPr>
          <p:nvPr/>
        </p:nvPicPr>
        <p:blipFill>
          <a:blip r:embed="rId1"/>
          <a:stretch>
            <a:fillRect/>
          </a:stretch>
        </p:blipFill>
        <p:spPr>
          <a:xfrm>
            <a:off x="6126480" y="1463040"/>
            <a:ext cx="1737360" cy="1737360"/>
          </a:xfrm>
          <a:prstGeom prst="rect">
            <a:avLst/>
          </a:prstGeom>
        </p:spPr>
      </p:pic>
      <p:sp>
        <p:nvSpPr>
          <p:cNvPr id="11" name="Text 8"/>
          <p:cNvSpPr/>
          <p:nvPr/>
        </p:nvSpPr>
        <p:spPr>
          <a:xfrm>
            <a:off x="5349240" y="3429000"/>
            <a:ext cx="3383280" cy="1097280"/>
          </a:xfrm>
          <a:prstGeom prst="rect">
            <a:avLst/>
          </a:prstGeom>
          <a:noFill/>
          <a:ln/>
        </p:spPr>
        <p:txBody>
          <a:bodyPr wrap="square" lIns="0" tIns="0" rIns="0" bIns="0" rtlCol="0" anchor="t"/>
          <a:lstStyle/>
          <a:p>
            <a:pPr indent="0" marL="0">
              <a:buNone/>
            </a:pPr>
            <a:r>
              <a:rPr lang="en-US" sz="1300" i="1" dirty="0">
                <a:solidFill>
                  <a:srgbClr val="5C6B63"/>
                </a:solidFill>
                <a:latin typeface="Open Sans" pitchFamily="34" charset="0"/>
                <a:ea typeface="Open Sans" pitchFamily="34" charset="-122"/>
                <a:cs typeface="Open Sans" pitchFamily="34" charset="-120"/>
              </a:rPr>
              <a:t>Today's exhibit is the unit's reconstruction: a Windows 10 test machine, with its own version and dates.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the computer never wrote down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651760"/>
                <a:gridCol w="3291840"/>
                <a:gridCol w="2377440"/>
              </a:tblGrid>
              <a:tr h="34747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In memory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tells you</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disk has instead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Processes and command lines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 runs now, with which options and files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Prefetch: that it ran, and when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Open network connections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process talks to which address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Sometimes a 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Loaded modules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code a process brought in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program file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Keys of unlocked volumes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way to read the volume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Encrypted data</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Text never saved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note that exists nowhere else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Nothing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611880"/>
            <a:ext cx="8321040" cy="1051560"/>
          </a:xfrm>
          <a:prstGeom prst="rect">
            <a:avLst/>
          </a:prstGeom>
          <a:solidFill>
            <a:srgbClr val="F1E8F2"/>
          </a:solidFill>
          <a:ln/>
        </p:spPr>
      </p:sp>
      <p:sp>
        <p:nvSpPr>
          <p:cNvPr id="8" name="Text 5"/>
          <p:cNvSpPr/>
          <p:nvPr/>
        </p:nvSpPr>
        <p:spPr>
          <a:xfrm>
            <a:off x="521208" y="3611880"/>
            <a:ext cx="8101584" cy="105156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The disk holds what the computer decided to keep. Memory holds what it is doing now. Incident response asks about now: is it attacked, is it sending, and where to?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order of volatility (RFC 3227)</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1005840"/>
                <a:gridCol w="3840480"/>
                <a:gridCol w="3474720"/>
              </a:tblGrid>
              <a:tr h="30175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Order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Evidence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Lost when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0175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First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Processor: registers and cache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next piece of work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01752">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Network state, processes, memory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Connections close, the power goes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01752">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Temporary files, then the disk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restart, or something overwrites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0175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Last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Archive media: backups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media is destroyed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017520"/>
            <a:ext cx="8321040" cy="1645920"/>
          </a:xfrm>
          <a:prstGeom prst="rect">
            <a:avLst/>
          </a:prstGeom>
          <a:solidFill>
            <a:srgbClr val="E8F0EA"/>
          </a:solidFill>
          <a:ln/>
        </p:spPr>
      </p:sp>
      <p:sp>
        <p:nvSpPr>
          <p:cNvPr id="8" name="Shape 5"/>
          <p:cNvSpPr/>
          <p:nvPr/>
        </p:nvSpPr>
        <p:spPr>
          <a:xfrm>
            <a:off x="411480" y="3017520"/>
            <a:ext cx="82296" cy="1645920"/>
          </a:xfrm>
          <a:prstGeom prst="rect">
            <a:avLst/>
          </a:prstGeom>
          <a:solidFill>
            <a:srgbClr val="6E8472"/>
          </a:solidFill>
          <a:ln/>
        </p:spPr>
      </p:sp>
      <p:sp>
        <p:nvSpPr>
          <p:cNvPr id="9" name="Text 6"/>
          <p:cNvSpPr/>
          <p:nvPr/>
        </p:nvSpPr>
        <p:spPr>
          <a:xfrm>
            <a:off x="621792" y="309067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0" name="Text 7"/>
          <p:cNvSpPr/>
          <p:nvPr/>
        </p:nvSpPr>
        <p:spPr>
          <a:xfrm>
            <a:off x="621792" y="3346704"/>
            <a:ext cx="7955280" cy="1243584"/>
          </a:xfrm>
          <a:prstGeom prst="rect">
            <a:avLst/>
          </a:prstGeom>
          <a:noFill/>
          <a:ln/>
        </p:spPr>
        <p:txBody>
          <a:bodyPr wrap="square" lIns="0" tIns="0" rIns="0" bIns="0" rtlCol="0" anchor="t"/>
          <a:lstStyle/>
          <a:p>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Collect from the most volatile to the least.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Footprints on a beach while the tide comes in: you record the ones nearest the water first, although the marks on the rocks may be clearer.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tide follows a timetable. A computer gives no warning. And collecting is itself a step on the sand.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disk can wait. Memory cannot. Do not switch off until collection is finished.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Live acquisition and its cost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33088" cy="402336"/>
          </a:xfrm>
          <a:prstGeom prst="rect">
            <a:avLst/>
          </a:prstGeom>
          <a:solidFill>
            <a:srgbClr val="6E8472"/>
          </a:solidFill>
          <a:ln/>
        </p:spPr>
      </p:sp>
      <p:sp>
        <p:nvSpPr>
          <p:cNvPr id="7" name="Text 5"/>
          <p:cNvSpPr/>
          <p:nvPr/>
        </p:nvSpPr>
        <p:spPr>
          <a:xfrm>
            <a:off x="521208"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The footprint</a:t>
            </a:r>
            <a:endParaRPr lang="en-US" sz="1500" dirty="0"/>
          </a:p>
        </p:txBody>
      </p:sp>
      <p:sp>
        <p:nvSpPr>
          <p:cNvPr id="8" name="Shape 6"/>
          <p:cNvSpPr/>
          <p:nvPr/>
        </p:nvSpPr>
        <p:spPr>
          <a:xfrm>
            <a:off x="411480" y="1773936"/>
            <a:ext cx="4133088" cy="1234440"/>
          </a:xfrm>
          <a:prstGeom prst="rect">
            <a:avLst/>
          </a:prstGeom>
          <a:solidFill>
            <a:srgbClr val="FFFFFF"/>
          </a:solidFill>
          <a:ln w="9525">
            <a:solidFill>
              <a:srgbClr val="CBD6CE"/>
            </a:solidFill>
            <a:prstDash val="solid"/>
          </a:ln>
        </p:spPr>
      </p:sp>
      <p:sp>
        <p:nvSpPr>
          <p:cNvPr id="9" name="Text 7"/>
          <p:cNvSpPr/>
          <p:nvPr/>
        </p:nvSpPr>
        <p:spPr>
          <a:xfrm>
            <a:off x="539496" y="1828800"/>
            <a:ext cx="3877056" cy="112471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What it is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changes your own tool makes: a new process, a helper in the kernel</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Cost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Old data in the pages they take is overwritten</a:t>
            </a:r>
            <a:endParaRPr lang="en-US" sz="1300" dirty="0"/>
          </a:p>
        </p:txBody>
      </p:sp>
      <p:sp>
        <p:nvSpPr>
          <p:cNvPr id="10" name="Shape 8"/>
          <p:cNvSpPr/>
          <p:nvPr/>
        </p:nvSpPr>
        <p:spPr>
          <a:xfrm>
            <a:off x="4645152" y="1371600"/>
            <a:ext cx="4133088" cy="402336"/>
          </a:xfrm>
          <a:prstGeom prst="rect">
            <a:avLst/>
          </a:prstGeom>
          <a:solidFill>
            <a:srgbClr val="8A4E8F"/>
          </a:solidFill>
          <a:ln/>
        </p:spPr>
      </p:sp>
      <p:sp>
        <p:nvSpPr>
          <p:cNvPr id="11" name="Text 9"/>
          <p:cNvSpPr/>
          <p:nvPr/>
        </p:nvSpPr>
        <p:spPr>
          <a:xfrm>
            <a:off x="4754880"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The smear</a:t>
            </a:r>
            <a:endParaRPr lang="en-US" sz="1500" dirty="0"/>
          </a:p>
        </p:txBody>
      </p:sp>
      <p:sp>
        <p:nvSpPr>
          <p:cNvPr id="12" name="Shape 10"/>
          <p:cNvSpPr/>
          <p:nvPr/>
        </p:nvSpPr>
        <p:spPr>
          <a:xfrm>
            <a:off x="4645152" y="1773936"/>
            <a:ext cx="4133088" cy="1234440"/>
          </a:xfrm>
          <a:prstGeom prst="rect">
            <a:avLst/>
          </a:prstGeom>
          <a:solidFill>
            <a:srgbClr val="FFFFFF"/>
          </a:solidFill>
          <a:ln w="9525">
            <a:solidFill>
              <a:srgbClr val="CBD6CE"/>
            </a:solidFill>
            <a:prstDash val="solid"/>
          </a:ln>
        </p:spPr>
      </p:sp>
      <p:sp>
        <p:nvSpPr>
          <p:cNvPr id="13" name="Text 11"/>
          <p:cNvSpPr/>
          <p:nvPr/>
        </p:nvSpPr>
        <p:spPr>
          <a:xfrm>
            <a:off x="4773168" y="1828800"/>
            <a:ext cx="3877056" cy="112471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What it is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Pages copied at different moments, while the computer keeps working</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Cost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image can disagree with itself</a:t>
            </a:r>
            <a:endParaRPr lang="en-US" sz="1300" dirty="0"/>
          </a:p>
        </p:txBody>
      </p:sp>
      <p:sp>
        <p:nvSpPr>
          <p:cNvPr id="14" name="Shape 12"/>
          <p:cNvSpPr/>
          <p:nvPr/>
        </p:nvSpPr>
        <p:spPr>
          <a:xfrm>
            <a:off x="411480" y="3154680"/>
            <a:ext cx="8321040" cy="1508760"/>
          </a:xfrm>
          <a:prstGeom prst="rect">
            <a:avLst/>
          </a:prstGeom>
          <a:solidFill>
            <a:srgbClr val="E8F0EA"/>
          </a:solidFill>
          <a:ln/>
        </p:spPr>
      </p:sp>
      <p:sp>
        <p:nvSpPr>
          <p:cNvPr id="15" name="Shape 13"/>
          <p:cNvSpPr/>
          <p:nvPr/>
        </p:nvSpPr>
        <p:spPr>
          <a:xfrm>
            <a:off x="411480" y="3154680"/>
            <a:ext cx="82296" cy="1508760"/>
          </a:xfrm>
          <a:prstGeom prst="rect">
            <a:avLst/>
          </a:prstGeom>
          <a:solidFill>
            <a:srgbClr val="6E8472"/>
          </a:solidFill>
          <a:ln/>
        </p:spPr>
      </p:sp>
      <p:sp>
        <p:nvSpPr>
          <p:cNvPr id="16" name="Text 14"/>
          <p:cNvSpPr/>
          <p:nvPr/>
        </p:nvSpPr>
        <p:spPr>
          <a:xfrm>
            <a:off x="621792" y="322783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7" name="Text 15"/>
          <p:cNvSpPr/>
          <p:nvPr/>
        </p:nvSpPr>
        <p:spPr>
          <a:xfrm>
            <a:off x="621792" y="3483864"/>
            <a:ext cx="7955280" cy="110642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slow photograph of a busy street, taken by a photographer who stands in it. Walkers blur: the smear. His shadow is in the picture: the footprint.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photographer does not change the street. A capture tool takes memory that held something else.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small tool, own media, image written outside the computer, every action recorded.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the hash value of a memory image proves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377440"/>
                <a:gridCol w="2743200"/>
                <a:gridCol w="3200400"/>
              </a:tblGrid>
              <a:tr h="438912">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Image of a disk that is switched off</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Memory image of a running computer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Read the original again?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 unchanged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That state no longer exists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 second acquisition gives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same hash value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different hash value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hash value proves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image matches the original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Only that the file has not changed since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content rests 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match with the original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Your record: tool, version, time, actions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703320"/>
            <a:ext cx="8321040" cy="960120"/>
          </a:xfrm>
          <a:prstGeom prst="rect">
            <a:avLst/>
          </a:prstGeom>
          <a:solidFill>
            <a:srgbClr val="F1E8F2"/>
          </a:solidFill>
          <a:ln/>
        </p:spPr>
      </p:sp>
      <p:sp>
        <p:nvSpPr>
          <p:cNvPr id="8" name="Text 5"/>
          <p:cNvSpPr/>
          <p:nvPr/>
        </p:nvSpPr>
        <p:spPr>
          <a:xfrm>
            <a:off x="521208" y="3703320"/>
            <a:ext cx="8101584" cy="96012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Hash the capture at once. The value protects the file from that moment on. Everything before that moment rests on your custody record.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From bytes to structures: symbols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480560" cy="1463040"/>
          </a:xfrm>
          <a:prstGeom prst="rect">
            <a:avLst/>
          </a:prstGeom>
          <a:solidFill>
            <a:srgbClr val="DCE6DE"/>
          </a:solidFill>
          <a:ln/>
        </p:spPr>
      </p:sp>
      <p:sp>
        <p:nvSpPr>
          <p:cNvPr id="7" name="Text 5"/>
          <p:cNvSpPr/>
          <p:nvPr/>
        </p:nvSpPr>
        <p:spPr>
          <a:xfrm>
            <a:off x="502920" y="1371600"/>
            <a:ext cx="4297680" cy="146304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Find the kernel, and the identifier of its build</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Get the symbol table for that identifier</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Read the kernel's lists and records</a:t>
            </a:r>
            <a:endParaRPr lang="en-US" sz="1400" dirty="0"/>
          </a:p>
        </p:txBody>
      </p:sp>
      <p:sp>
        <p:nvSpPr>
          <p:cNvPr id="8" name="Shape 6"/>
          <p:cNvSpPr/>
          <p:nvPr/>
        </p:nvSpPr>
        <p:spPr>
          <a:xfrm>
            <a:off x="5029200" y="1371600"/>
            <a:ext cx="3703320" cy="1463040"/>
          </a:xfrm>
          <a:prstGeom prst="rect">
            <a:avLst/>
          </a:prstGeom>
          <a:solidFill>
            <a:srgbClr val="F1E8F2"/>
          </a:solidFill>
          <a:ln/>
        </p:spPr>
      </p:sp>
      <p:sp>
        <p:nvSpPr>
          <p:cNvPr id="9" name="Text 7"/>
          <p:cNvSpPr/>
          <p:nvPr/>
        </p:nvSpPr>
        <p:spPr>
          <a:xfrm>
            <a:off x="5138928" y="1371600"/>
            <a:ext cx="3483864" cy="146304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second step needs the internet. The unit did it once and staged the cache on the lab share. You run Volatility 3 with --offline.</a:t>
            </a:r>
            <a:endParaRPr lang="en-US" sz="1300" dirty="0"/>
          </a:p>
        </p:txBody>
      </p:sp>
      <p:sp>
        <p:nvSpPr>
          <p:cNvPr id="10" name="Shape 8"/>
          <p:cNvSpPr/>
          <p:nvPr/>
        </p:nvSpPr>
        <p:spPr>
          <a:xfrm>
            <a:off x="411480" y="2971800"/>
            <a:ext cx="8321040" cy="1691640"/>
          </a:xfrm>
          <a:prstGeom prst="rect">
            <a:avLst/>
          </a:prstGeom>
          <a:solidFill>
            <a:srgbClr val="E8F0EA"/>
          </a:solidFill>
          <a:ln/>
        </p:spPr>
      </p:sp>
      <p:sp>
        <p:nvSpPr>
          <p:cNvPr id="11" name="Shape 9"/>
          <p:cNvSpPr/>
          <p:nvPr/>
        </p:nvSpPr>
        <p:spPr>
          <a:xfrm>
            <a:off x="411480" y="2971800"/>
            <a:ext cx="82296" cy="1691640"/>
          </a:xfrm>
          <a:prstGeom prst="rect">
            <a:avLst/>
          </a:prstGeom>
          <a:solidFill>
            <a:srgbClr val="6E8472"/>
          </a:solidFill>
          <a:ln/>
        </p:spPr>
      </p:sp>
      <p:sp>
        <p:nvSpPr>
          <p:cNvPr id="12" name="Text 10"/>
          <p:cNvSpPr/>
          <p:nvPr/>
        </p:nvSpPr>
        <p:spPr>
          <a:xfrm>
            <a:off x="621792" y="30449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3" name="Text 11"/>
          <p:cNvSpPr/>
          <p:nvPr/>
        </p:nvSpPr>
        <p:spPr>
          <a:xfrm>
            <a:off x="621792" y="3300984"/>
            <a:ext cx="7955280" cy="128930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legend of a map. The bytes are the signs. The symbol table says which bytes are a process name and which point to the next record.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with the wrong legend a river runs uphill, and you notice. A memory tool with wrong symbols can print a tidy, false table and give no warning.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record the version of the tool and the symbols. When a result looks strange, check the symbols first.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Two ways to find a process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3931920"/>
                <a:gridCol w="4389120"/>
              </a:tblGrid>
              <a:tr h="329184">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Found by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Most likely meaning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list and the scan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Running at capture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scan only, with an exit time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Ended. Its record was not yet overwritten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scan only, no exit time, live threads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Perhaps hidden from the list. Examine further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scan only, nonsense in the fields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false positive: old bytes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154680"/>
            <a:ext cx="8321040" cy="1508760"/>
          </a:xfrm>
          <a:prstGeom prst="rect">
            <a:avLst/>
          </a:prstGeom>
          <a:solidFill>
            <a:srgbClr val="E8F0EA"/>
          </a:solidFill>
          <a:ln/>
        </p:spPr>
      </p:sp>
      <p:sp>
        <p:nvSpPr>
          <p:cNvPr id="8" name="Shape 5"/>
          <p:cNvSpPr/>
          <p:nvPr/>
        </p:nvSpPr>
        <p:spPr>
          <a:xfrm>
            <a:off x="411480" y="3154680"/>
            <a:ext cx="82296" cy="1508760"/>
          </a:xfrm>
          <a:prstGeom prst="rect">
            <a:avLst/>
          </a:prstGeom>
          <a:solidFill>
            <a:srgbClr val="6E8472"/>
          </a:solidFill>
          <a:ln/>
        </p:spPr>
      </p:sp>
      <p:sp>
        <p:nvSpPr>
          <p:cNvPr id="9" name="Text 6"/>
          <p:cNvSpPr/>
          <p:nvPr/>
        </p:nvSpPr>
        <p:spPr>
          <a:xfrm>
            <a:off x="621792" y="322783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0" name="Text 7"/>
          <p:cNvSpPr/>
          <p:nvPr/>
        </p:nvSpPr>
        <p:spPr>
          <a:xfrm>
            <a:off x="621792" y="3483864"/>
            <a:ext cx="7955280" cy="110642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list is the hotel's register. The scan is knocking on every door. A guest removed from the register is still in the room. A guest who left an hour ago left a label behind.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scan finds patterns of bytes, and some are only the remains of a record. Memory is reused all the time.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run both. A difference is a question to answer. It is not yet a finding.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a running process carries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377440"/>
                <a:gridCol w="594360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Source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says about one copy tool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Prefetch file (disk)</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ROBOCOPY.EXE ran 3 times, the last time at 09:41:07 UTC</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Command line (memory)</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robocopy.exe D:\Projects\Tender E:\out /E /R:0, running now</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2743200"/>
            <a:ext cx="4133088" cy="402336"/>
          </a:xfrm>
          <a:prstGeom prst="rect">
            <a:avLst/>
          </a:prstGeom>
          <a:solidFill>
            <a:srgbClr val="6E8472"/>
          </a:solidFill>
          <a:ln/>
        </p:spPr>
      </p:sp>
      <p:sp>
        <p:nvSpPr>
          <p:cNvPr id="8" name="Text 5"/>
          <p:cNvSpPr/>
          <p:nvPr/>
        </p:nvSpPr>
        <p:spPr>
          <a:xfrm>
            <a:off x="521208" y="27432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From the process record</a:t>
            </a:r>
            <a:endParaRPr lang="en-US" sz="1500" dirty="0"/>
          </a:p>
        </p:txBody>
      </p:sp>
      <p:sp>
        <p:nvSpPr>
          <p:cNvPr id="9" name="Shape 6"/>
          <p:cNvSpPr/>
          <p:nvPr/>
        </p:nvSpPr>
        <p:spPr>
          <a:xfrm>
            <a:off x="411480" y="3145536"/>
            <a:ext cx="4133088" cy="1188720"/>
          </a:xfrm>
          <a:prstGeom prst="rect">
            <a:avLst/>
          </a:prstGeom>
          <a:solidFill>
            <a:srgbClr val="FFFFFF"/>
          </a:solidFill>
          <a:ln w="9525">
            <a:solidFill>
              <a:srgbClr val="CBD6CE"/>
            </a:solidFill>
            <a:prstDash val="solid"/>
          </a:ln>
        </p:spPr>
      </p:sp>
      <p:sp>
        <p:nvSpPr>
          <p:cNvPr id="10" name="Text 7"/>
          <p:cNvSpPr/>
          <p:nvPr/>
        </p:nvSpPr>
        <p:spPr>
          <a:xfrm>
            <a:off x="539496" y="3200400"/>
            <a:ext cx="3877056" cy="10789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Parent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Which process started it: windows.pstree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Command line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How it was started: windows.cmdline</a:t>
            </a:r>
            <a:endParaRPr lang="en-US" sz="1300" dirty="0"/>
          </a:p>
        </p:txBody>
      </p:sp>
      <p:sp>
        <p:nvSpPr>
          <p:cNvPr id="11" name="Shape 8"/>
          <p:cNvSpPr/>
          <p:nvPr/>
        </p:nvSpPr>
        <p:spPr>
          <a:xfrm>
            <a:off x="4645152" y="2743200"/>
            <a:ext cx="4133088" cy="402336"/>
          </a:xfrm>
          <a:prstGeom prst="rect">
            <a:avLst/>
          </a:prstGeom>
          <a:solidFill>
            <a:srgbClr val="8A4E8F"/>
          </a:solidFill>
          <a:ln/>
        </p:spPr>
      </p:sp>
      <p:sp>
        <p:nvSpPr>
          <p:cNvPr id="12" name="Text 9"/>
          <p:cNvSpPr/>
          <p:nvPr/>
        </p:nvSpPr>
        <p:spPr>
          <a:xfrm>
            <a:off x="4754880" y="27432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And further</a:t>
            </a:r>
            <a:endParaRPr lang="en-US" sz="1500" dirty="0"/>
          </a:p>
        </p:txBody>
      </p:sp>
      <p:sp>
        <p:nvSpPr>
          <p:cNvPr id="13" name="Shape 10"/>
          <p:cNvSpPr/>
          <p:nvPr/>
        </p:nvSpPr>
        <p:spPr>
          <a:xfrm>
            <a:off x="4645152" y="3145536"/>
            <a:ext cx="4133088" cy="1188720"/>
          </a:xfrm>
          <a:prstGeom prst="rect">
            <a:avLst/>
          </a:prstGeom>
          <a:solidFill>
            <a:srgbClr val="FFFFFF"/>
          </a:solidFill>
          <a:ln w="9525">
            <a:solidFill>
              <a:srgbClr val="CBD6CE"/>
            </a:solidFill>
            <a:prstDash val="solid"/>
          </a:ln>
        </p:spPr>
      </p:sp>
      <p:sp>
        <p:nvSpPr>
          <p:cNvPr id="14" name="Text 11"/>
          <p:cNvSpPr/>
          <p:nvPr/>
        </p:nvSpPr>
        <p:spPr>
          <a:xfrm>
            <a:off x="4773168" y="3200400"/>
            <a:ext cx="3877056" cy="10789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Loaded modules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code it brought in: windows.dlllist</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Connections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Address, port and owner: windows.netscan</a:t>
            </a:r>
            <a:endParaRPr lang="en-US" sz="1300" dirty="0"/>
          </a:p>
        </p:txBody>
      </p:sp>
      <p:sp>
        <p:nvSpPr>
          <p:cNvPr id="15" name="Text 12"/>
          <p:cNvSpPr/>
          <p:nvPr/>
        </p:nvSpPr>
        <p:spPr>
          <a:xfrm>
            <a:off x="411480" y="4407408"/>
            <a:ext cx="8321040" cy="329184"/>
          </a:xfrm>
          <a:prstGeom prst="rect">
            <a:avLst/>
          </a:prstGeom>
          <a:noFill/>
          <a:ln/>
        </p:spPr>
        <p:txBody>
          <a:bodyPr wrap="square" lIns="0" tIns="0" rIns="0" bIns="0" rtlCol="0" anchor="ctr"/>
          <a:lstStyle/>
          <a:p>
            <a:pPr indent="0" marL="0">
              <a:buNone/>
            </a:pPr>
            <a:r>
              <a:rPr lang="en-US" sz="1300" i="1" dirty="0">
                <a:solidFill>
                  <a:srgbClr val="5C6B63"/>
                </a:solidFill>
                <a:latin typeface="Open Sans" pitchFamily="34" charset="0"/>
                <a:ea typeface="Open Sans" pitchFamily="34" charset="-122"/>
                <a:cs typeface="Open Sans" pitchFamily="34" charset="-120"/>
              </a:rPr>
              <a:t>A practice example. Prefetch says that a program ran. Memory says what it is doing.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Signs of injected code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14800" cy="1600200"/>
          </a:xfrm>
          <a:prstGeom prst="rect">
            <a:avLst/>
          </a:prstGeom>
          <a:solidFill>
            <a:srgbClr val="DCE6DE"/>
          </a:solidFill>
          <a:ln/>
        </p:spPr>
      </p:sp>
      <p:sp>
        <p:nvSpPr>
          <p:cNvPr id="7" name="Text 5"/>
          <p:cNvSpPr/>
          <p:nvPr/>
        </p:nvSpPr>
        <p:spPr>
          <a:xfrm>
            <a:off x="502920" y="1371600"/>
            <a:ext cx="3931920" cy="160020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Writable and executable at once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Private: no file on the disk behind it</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Sometimes: first bytes 4d 5a, the header MZ</a:t>
            </a:r>
            <a:endParaRPr lang="en-US" sz="1400" dirty="0"/>
          </a:p>
        </p:txBody>
      </p:sp>
      <p:sp>
        <p:nvSpPr>
          <p:cNvPr id="8" name="Text 6"/>
          <p:cNvSpPr/>
          <p:nvPr/>
        </p:nvSpPr>
        <p:spPr>
          <a:xfrm>
            <a:off x="4663440" y="1371600"/>
            <a:ext cx="4069080" cy="1600200"/>
          </a:xfrm>
          <a:prstGeom prst="rect">
            <a:avLst/>
          </a:prstGeom>
          <a:solidFill>
            <a:srgbClr val="FFFFFF"/>
          </a:solidFill>
          <a:ln w="9525">
            <a:solidFill>
              <a:srgbClr val="CBD6CE"/>
            </a:solidFill>
          </a:ln>
        </p:spPr>
        <p:txBody>
          <a:bodyPr wrap="square" lIns="101600" tIns="101600" rIns="101600" bIns="101600" rtlCol="0" anchor="ctr"/>
          <a:lstStyle/>
          <a:p>
            <a:pPr indent="0" marL="0">
              <a:buNone/>
            </a:pPr>
            <a:r>
              <a:rPr lang="en-US" sz="1100" b="1" dirty="0">
                <a:solidFill>
                  <a:srgbClr val="31423B"/>
                </a:solidFill>
                <a:latin typeface="Consolas" pitchFamily="34" charset="0"/>
                <a:ea typeface="Consolas" pitchFamily="34" charset="-122"/>
                <a:cs typeface="Consolas" pitchFamily="34" charset="-120"/>
              </a:rPr>
              <a:t>PID   Process       Protection</a:t>
            </a:r>
            <a:endParaRPr lang="en-US" sz="1100" dirty="0"/>
          </a:p>
          <a:p>
            <a:pPr indent="0" marL="0">
              <a:buNone/>
            </a:pPr>
            <a:r>
              <a:rPr lang="en-US" sz="1100" dirty="0">
                <a:solidFill>
                  <a:srgbClr val="31423B"/>
                </a:solidFill>
                <a:latin typeface="Consolas" pitchFamily="34" charset="0"/>
                <a:ea typeface="Consolas" pitchFamily="34" charset="-122"/>
                <a:cs typeface="Consolas" pitchFamily="34" charset="-120"/>
              </a:rPr>
              <a:t>4120  practice.exe  PAGE_EXECUTE_READWRITE</a:t>
            </a:r>
            <a:endParaRPr lang="en-US" sz="1100" dirty="0"/>
          </a:p>
          <a:p>
            <a:pPr indent="0" marL="0">
              <a:buNone/>
            </a:pPr>
            <a:r>
              <a:rPr lang="en-US" sz="1100" dirty="0">
                <a:solidFill>
                  <a:srgbClr val="31423B"/>
                </a:solidFill>
                <a:latin typeface="Consolas" pitchFamily="34" charset="0"/>
                <a:ea typeface="Consolas" pitchFamily="34" charset="-122"/>
                <a:cs typeface="Consolas" pitchFamily="34" charset="-120"/>
              </a:rPr>
              <a:t>Notes: MZ header</a:t>
            </a:r>
            <a:endParaRPr lang="en-US" sz="1100" dirty="0"/>
          </a:p>
          <a:p>
            <a:pPr indent="0" marL="0">
              <a:buNone/>
            </a:pPr>
            <a:r>
              <a:rPr lang="en-US" sz="1100" dirty="0">
                <a:solidFill>
                  <a:srgbClr val="31423B"/>
                </a:solidFill>
                <a:latin typeface="Consolas" pitchFamily="34" charset="0"/>
                <a:ea typeface="Consolas" pitchFamily="34" charset="-122"/>
                <a:cs typeface="Consolas" pitchFamily="34" charset="-120"/>
              </a:rPr>
              <a:t>4d 5a 90 00 03 00 00 00   MZ......</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3108960"/>
          <a:ext cx="8321040" cy="914400"/>
        </p:xfrm>
        <a:graphic>
          <a:graphicData uri="http://schemas.openxmlformats.org/drawingml/2006/table">
            <a:tbl>
              <a:tblPr/>
              <a:tblGrid>
                <a:gridCol w="3291840"/>
                <a:gridCol w="5029200"/>
              </a:tblGrid>
              <a:tr h="47548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People say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Better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75488">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"malfind found malware in PowerShell."</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process holds private writable and executable memory. Normal for that program</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"An MZ header, so a program was injected."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region begins with 4d 5a and has no file behind it. The content needs examination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75488">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"Nothing found, so the computer is clean."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No private region with that protection was found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is real in a fleeting state?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331720"/>
          </a:xfrm>
          <a:prstGeom prst="rect">
            <a:avLst/>
          </a:prstGeom>
          <a:solidFill>
            <a:srgbClr val="F1E8F2"/>
          </a:solidFill>
          <a:ln/>
        </p:spPr>
      </p:sp>
      <p:sp>
        <p:nvSpPr>
          <p:cNvPr id="7" name="Shape 5"/>
          <p:cNvSpPr/>
          <p:nvPr/>
        </p:nvSpPr>
        <p:spPr>
          <a:xfrm>
            <a:off x="411480" y="1371600"/>
            <a:ext cx="82296" cy="233172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192938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Blade Runner. Artificial people, made as adults, live four years. One of them, dying, tells of the things he has seen and says all of it will be lost with him. Another learns that her childhood memories were placed in her by her makers: vivid, and not her own.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First idea: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what exists only in a living memory ends with its holder.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Second idea: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memory can be really there and still not show where it came from. Our exhibit is such a machine: built to carry a morning that it never lived.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person forgets slowly and can be reminded. A computer's memory goes almost at once.</a:t>
            </a:r>
            <a:endParaRPr lang="en-US" sz="1300" dirty="0"/>
          </a:p>
        </p:txBody>
      </p:sp>
      <p:sp>
        <p:nvSpPr>
          <p:cNvPr id="10" name="Shape 8"/>
          <p:cNvSpPr/>
          <p:nvPr/>
        </p:nvSpPr>
        <p:spPr>
          <a:xfrm>
            <a:off x="411480" y="3840480"/>
            <a:ext cx="8321040" cy="841248"/>
          </a:xfrm>
          <a:prstGeom prst="rect">
            <a:avLst/>
          </a:prstGeom>
          <a:solidFill>
            <a:srgbClr val="F1E8F2"/>
          </a:solidFill>
          <a:ln/>
        </p:spPr>
      </p:sp>
      <p:sp>
        <p:nvSpPr>
          <p:cNvPr id="11" name="Text 9"/>
          <p:cNvSpPr/>
          <p:nvPr/>
        </p:nvSpPr>
        <p:spPr>
          <a:xfrm>
            <a:off x="521208" y="3840480"/>
            <a:ext cx="8101584" cy="841248"/>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Working memory is to long-term memory as RAM is to the disk. When you find something in memory, what do you know about how it got there?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192024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Volatile evidence exists only while the power is on. Observe it now or lose it.</a:t>
            </a:r>
            <a:endParaRPr lang="en-US" sz="3200" dirty="0"/>
          </a:p>
        </p:txBody>
      </p:sp>
      <p:sp>
        <p:nvSpPr>
          <p:cNvPr id="6" name="Text 4"/>
          <p:cNvSpPr/>
          <p:nvPr/>
        </p:nvSpPr>
        <p:spPr>
          <a:xfrm>
            <a:off x="731520" y="3703320"/>
            <a:ext cx="7680960" cy="1005840"/>
          </a:xfrm>
          <a:prstGeom prst="rect">
            <a:avLst/>
          </a:prstGeom>
          <a:noFill/>
          <a:ln/>
        </p:spPr>
        <p:txBody>
          <a:bodyPr wrap="square" lIns="0" tIns="0" rIns="0" bIns="0" rtlCol="0" anchor="t"/>
          <a:lstStyle/>
          <a:p>
            <a:pPr indent="0" marL="0">
              <a:buNone/>
            </a:pPr>
            <a:r>
              <a:rPr lang="en-US" sz="1600" i="1" dirty="0">
                <a:solidFill>
                  <a:srgbClr val="E8F0EA"/>
                </a:solidFill>
                <a:latin typeface="Open Sans" pitchFamily="34" charset="0"/>
                <a:ea typeface="Open Sans" pitchFamily="34" charset="-122"/>
                <a:cs typeface="Open Sans" pitchFamily="34" charset="-120"/>
              </a:rPr>
              <a:t>And what you observe is a state. It shows what is present, not how it came to be there.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4937760" cy="109728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Lab: capture, then read</a:t>
            </a:r>
            <a:endParaRPr lang="en-US" sz="3200" dirty="0"/>
          </a:p>
        </p:txBody>
      </p:sp>
      <p:sp>
        <p:nvSpPr>
          <p:cNvPr id="5" name="Shape 3"/>
          <p:cNvSpPr/>
          <p:nvPr/>
        </p:nvSpPr>
        <p:spPr>
          <a:xfrm>
            <a:off x="731520" y="1920240"/>
            <a:ext cx="4572000" cy="2651760"/>
          </a:xfrm>
          <a:prstGeom prst="rect">
            <a:avLst/>
          </a:prstGeom>
          <a:solidFill>
            <a:srgbClr val="31423B"/>
          </a:solidFill>
          <a:ln/>
        </p:spPr>
      </p:sp>
      <p:sp>
        <p:nvSpPr>
          <p:cNvPr id="6" name="Text 4"/>
          <p:cNvSpPr/>
          <p:nvPr/>
        </p:nvSpPr>
        <p:spPr>
          <a:xfrm>
            <a:off x="868680" y="1920240"/>
            <a:ext cx="4297680" cy="2651760"/>
          </a:xfrm>
          <a:prstGeom prst="rect">
            <a:avLst/>
          </a:prstGeom>
          <a:noFill/>
          <a:ln/>
        </p:spPr>
        <p:txBody>
          <a:bodyPr wrap="square" lIns="0" tIns="0" rIns="0" bIns="0" rtlCol="0" anchor="ctr"/>
          <a:lstStyle/>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1.  Windows: capture your own memory, to the shared folder</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2.  Hash it at once. What did you change?</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3.  Kali: verify the unit's image, stage the symbols</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4.  Processes, tree, list against scan</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5.  Command lines, connections, malfind</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6.  The unsaved note, and ten findings</a:t>
            </a:r>
            <a:endParaRPr lang="en-US" sz="1600" dirty="0"/>
          </a:p>
        </p:txBody>
      </p:sp>
      <p:pic>
        <p:nvPicPr>
          <p:cNvPr id="7" name="Image 0" descr="preencoded.png">    </p:cNvPr>
          <p:cNvPicPr>
            <a:picLocks noChangeAspect="1"/>
          </p:cNvPicPr>
          <p:nvPr/>
        </p:nvPicPr>
        <p:blipFill>
          <a:blip r:embed="rId1"/>
          <a:stretch>
            <a:fillRect/>
          </a:stretch>
        </p:blipFill>
        <p:spPr>
          <a:xfrm>
            <a:off x="6126480" y="1554480"/>
            <a:ext cx="2103120" cy="21031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plugins of the lab</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3657600"/>
                <a:gridCol w="4663440"/>
              </a:tblGrid>
              <a:tr h="329184">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Plugin or command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question it answers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windows.info</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Windows, which symbols, which time?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windows.pslist / windows.pstree</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 does the kernel's list hold, and who started what?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windows.psscan</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process records still exist in memory?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windows.cmdline</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How was each process started?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windows.netscan / windows.netstat</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process talks to which address and port?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windows.malware.malfind</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private regions are writable and executable?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strings -e l, windows.memmap</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Where is the text that was never saved?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windows.dumpfiles</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file content does memory still hold?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370832"/>
            <a:ext cx="8321040" cy="292608"/>
          </a:xfrm>
          <a:prstGeom prst="rect">
            <a:avLst/>
          </a:prstGeom>
          <a:noFill/>
          <a:ln/>
        </p:spPr>
        <p:txBody>
          <a:bodyPr wrap="square" lIns="0" tIns="0" rIns="0" bIns="0" rtlCol="0" anchor="ctr"/>
          <a:lstStyle/>
          <a:p>
            <a:pPr indent="0" marL="0">
              <a:buNone/>
            </a:pPr>
            <a:r>
              <a:rPr lang="en-US" sz="1300" b="1" dirty="0">
                <a:solidFill>
                  <a:srgbClr val="6E3D72"/>
                </a:solidFill>
                <a:latin typeface="Consolas" pitchFamily="34" charset="0"/>
                <a:ea typeface="Consolas" pitchFamily="34" charset="-122"/>
                <a:cs typeface="Consolas" pitchFamily="34" charset="-120"/>
              </a:rPr>
              <a:t>vol -q --offline -f $IMG &lt;plugin&gt;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371600" y="1920240"/>
            <a:ext cx="6400800" cy="1737360"/>
          </a:xfrm>
          <a:prstGeom prst="rect">
            <a:avLst/>
          </a:prstGeom>
          <a:solidFill>
            <a:srgbClr val="FFFFFF"/>
          </a:solidFill>
          <a:ln/>
        </p:spPr>
      </p:sp>
      <p:sp>
        <p:nvSpPr>
          <p:cNvPr id="6" name="Text 4"/>
          <p:cNvSpPr/>
          <p:nvPr/>
        </p:nvSpPr>
        <p:spPr>
          <a:xfrm>
            <a:off x="1508760" y="1920240"/>
            <a:ext cx="6126480" cy="173736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A lawyer says: "Your tool changed the computer, and your hash value cannot show that the image matches it. So your memory image is worthless." What do you answer?</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80960" cy="1097280"/>
          </a:xfrm>
          <a:prstGeom prst="rect">
            <a:avLst/>
          </a:prstGeom>
          <a:noFill/>
          <a:ln/>
        </p:spPr>
        <p:txBody>
          <a:bodyPr wrap="square" lIns="0" tIns="0" rIns="0" bIns="0" rtlCol="0" anchor="t"/>
          <a:lstStyle/>
          <a:p>
            <a:pPr indent="0" marL="0">
              <a:buNone/>
            </a:pPr>
            <a:r>
              <a:rPr lang="en-US" sz="3400" b="1" dirty="0">
                <a:solidFill>
                  <a:srgbClr val="FFFFFF"/>
                </a:solidFill>
                <a:latin typeface="Open Sans" pitchFamily="34" charset="0"/>
                <a:ea typeface="Open Sans" pitchFamily="34" charset="-122"/>
                <a:cs typeface="Open Sans" pitchFamily="34" charset="-120"/>
              </a:rPr>
              <a:t>Day-closing micro-quiz</a:t>
            </a:r>
            <a:endParaRPr lang="en-US" sz="3400" dirty="0"/>
          </a:p>
        </p:txBody>
      </p:sp>
      <p:sp>
        <p:nvSpPr>
          <p:cNvPr id="5" name="Shape 3"/>
          <p:cNvSpPr/>
          <p:nvPr/>
        </p:nvSpPr>
        <p:spPr>
          <a:xfrm>
            <a:off x="731520" y="1920240"/>
            <a:ext cx="7680960" cy="2011680"/>
          </a:xfrm>
          <a:prstGeom prst="rect">
            <a:avLst/>
          </a:prstGeom>
          <a:solidFill>
            <a:srgbClr val="31423B"/>
          </a:solidFill>
          <a:ln/>
        </p:spPr>
      </p:sp>
      <p:sp>
        <p:nvSpPr>
          <p:cNvPr id="6" name="Text 4"/>
          <p:cNvSpPr/>
          <p:nvPr/>
        </p:nvSpPr>
        <p:spPr>
          <a:xfrm>
            <a:off x="868680" y="1920240"/>
            <a:ext cx="7406640" cy="2011680"/>
          </a:xfrm>
          <a:prstGeom prst="rect">
            <a:avLst/>
          </a:prstGeom>
          <a:noFill/>
          <a:ln/>
        </p:spPr>
        <p:txBody>
          <a:bodyPr wrap="square" lIns="0" tIns="0" rIns="0" bIns="0" rtlCol="0" anchor="ctr"/>
          <a:lstStyle/>
          <a:p>
            <a:pPr marL="342900" indent="-342900">
              <a:spcAft>
                <a:spcPts val="600"/>
              </a:spcAft>
              <a:buSzPct val="100000"/>
              <a:buChar char="•"/>
            </a:pPr>
            <a:r>
              <a:rPr lang="en-US" sz="1800" b="1" dirty="0">
                <a:solidFill>
                  <a:srgbClr val="FFFFFF"/>
                </a:solidFill>
                <a:latin typeface="Open Sans" pitchFamily="34" charset="0"/>
                <a:ea typeface="Open Sans" pitchFamily="34" charset="-122"/>
                <a:cs typeface="Open Sans" pitchFamily="34" charset="-120"/>
              </a:rPr>
              <a:t>Five short answers, on Sessions 5 and 6</a:t>
            </a:r>
            <a:endParaRPr lang="en-US" sz="1800" dirty="0"/>
          </a:p>
          <a:p>
            <a:pPr marL="342900" indent="-342900">
              <a:spcAft>
                <a:spcPts val="600"/>
              </a:spcAft>
              <a:buSzPct val="100000"/>
              <a:buChar char="•"/>
            </a:pPr>
            <a:r>
              <a:rPr lang="en-US" sz="1800" b="1" dirty="0">
                <a:solidFill>
                  <a:srgbClr val="FFFFFF"/>
                </a:solidFill>
                <a:latin typeface="Open Sans" pitchFamily="34" charset="0"/>
                <a:ea typeface="Open Sans" pitchFamily="34" charset="-122"/>
                <a:cs typeface="Open Sans" pitchFamily="34" charset="-120"/>
              </a:rPr>
              <a:t>About two sentences each, in ten minutes</a:t>
            </a:r>
            <a:endParaRPr lang="en-US" sz="1800" dirty="0"/>
          </a:p>
          <a:p>
            <a:pPr marL="342900" indent="-342900">
              <a:spcAft>
                <a:spcPts val="600"/>
              </a:spcAft>
              <a:buSzPct val="100000"/>
              <a:buChar char="•"/>
            </a:pPr>
            <a:r>
              <a:rPr lang="en-US" sz="1800" b="1" dirty="0">
                <a:solidFill>
                  <a:srgbClr val="FFFFFF"/>
                </a:solidFill>
                <a:latin typeface="Open Sans" pitchFamily="34" charset="0"/>
                <a:ea typeface="Open Sans" pitchFamily="34" charset="-122"/>
                <a:cs typeface="Open Sans" pitchFamily="34" charset="-120"/>
              </a:rPr>
              <a:t>Mark yourself against the model answers on the session page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sources behind this session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1737360" cy="1554480"/>
          </a:xfrm>
          <a:prstGeom prst="rect">
            <a:avLst/>
          </a:prstGeom>
          <a:solidFill>
            <a:srgbClr val="4F6356"/>
          </a:solidFill>
          <a:ln/>
        </p:spPr>
      </p:sp>
      <p:pic>
        <p:nvPicPr>
          <p:cNvPr id="7" name="Image 0" descr="preencoded.png">    </p:cNvPr>
          <p:cNvPicPr>
            <a:picLocks noChangeAspect="1"/>
          </p:cNvPicPr>
          <p:nvPr/>
        </p:nvPicPr>
        <p:blipFill>
          <a:blip r:embed="rId1"/>
          <a:stretch>
            <a:fillRect/>
          </a:stretch>
        </p:blipFill>
        <p:spPr>
          <a:xfrm>
            <a:off x="822960" y="1737360"/>
            <a:ext cx="914400" cy="914400"/>
          </a:xfrm>
          <a:prstGeom prst="rect">
            <a:avLst/>
          </a:prstGeom>
        </p:spPr>
      </p:pic>
      <p:sp>
        <p:nvSpPr>
          <p:cNvPr id="8" name="Shape 5"/>
          <p:cNvSpPr/>
          <p:nvPr/>
        </p:nvSpPr>
        <p:spPr>
          <a:xfrm>
            <a:off x="2148840" y="1417320"/>
            <a:ext cx="6583680" cy="1554480"/>
          </a:xfrm>
          <a:prstGeom prst="rect">
            <a:avLst/>
          </a:prstGeom>
          <a:solidFill>
            <a:srgbClr val="FFFFFF"/>
          </a:solidFill>
          <a:ln w="9525">
            <a:solidFill>
              <a:srgbClr val="CBD6CE"/>
            </a:solidFill>
            <a:prstDash val="solid"/>
          </a:ln>
        </p:spPr>
      </p:sp>
      <p:sp>
        <p:nvSpPr>
          <p:cNvPr id="9" name="Text 6"/>
          <p:cNvSpPr/>
          <p:nvPr/>
        </p:nvSpPr>
        <p:spPr>
          <a:xfrm>
            <a:off x="2286000" y="1490472"/>
            <a:ext cx="6309360" cy="1408176"/>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Guidelines for Evidence Collection and Archiving</a:t>
            </a:r>
            <a:endParaRPr lang="en-US" sz="1800" dirty="0"/>
          </a:p>
          <a:p>
            <a:pPr indent="0" marL="0">
              <a:buNone/>
            </a:pPr>
            <a:r>
              <a:rPr lang="en-US" sz="1300" i="1" dirty="0">
                <a:solidFill>
                  <a:srgbClr val="4F6356"/>
                </a:solidFill>
                <a:latin typeface="Open Sans" pitchFamily="34" charset="0"/>
                <a:ea typeface="Open Sans" pitchFamily="34" charset="-122"/>
                <a:cs typeface="Open Sans" pitchFamily="34" charset="-120"/>
              </a:rPr>
              <a:t>RFC 3227, Best Current Practice 55, 2002</a:t>
            </a:r>
            <a:endParaRPr lang="en-US" sz="1800" dirty="0"/>
          </a:p>
          <a:p>
            <a:pPr indent="0" marL="0">
              <a:buNone/>
            </a:pPr>
            <a:r>
              <a:rPr lang="en-US" sz="1300" dirty="0">
                <a:solidFill>
                  <a:srgbClr val="31423B"/>
                </a:solidFill>
                <a:latin typeface="Open Sans" pitchFamily="34" charset="0"/>
                <a:ea typeface="Open Sans" pitchFamily="34" charset="-122"/>
                <a:cs typeface="Open Sans" pitchFamily="34" charset="-120"/>
              </a:rPr>
              <a:t>Dominique Brezinski and Tom Killalea</a:t>
            </a:r>
            <a:endParaRPr lang="en-US" sz="1800" dirty="0"/>
          </a:p>
          <a:p>
            <a:pPr indent="0" marL="0">
              <a:buNone/>
            </a:pPr>
            <a:r>
              <a:rPr lang="en-US" sz="1200" i="1" dirty="0">
                <a:solidFill>
                  <a:srgbClr val="4F6356"/>
                </a:solidFill>
                <a:latin typeface="Open Sans" pitchFamily="34" charset="0"/>
                <a:ea typeface="Open Sans" pitchFamily="34" charset="-122"/>
                <a:cs typeface="Open Sans" pitchFamily="34" charset="-120"/>
              </a:rPr>
              <a:t>The order of volatility, and the rule not to switch off before collection is finished</a:t>
            </a:r>
            <a:endParaRPr lang="en-US" sz="1800" dirty="0"/>
          </a:p>
        </p:txBody>
      </p:sp>
      <p:sp>
        <p:nvSpPr>
          <p:cNvPr id="10" name="Shape 7"/>
          <p:cNvSpPr/>
          <p:nvPr/>
        </p:nvSpPr>
        <p:spPr>
          <a:xfrm>
            <a:off x="411480" y="3099816"/>
            <a:ext cx="1737360" cy="1554480"/>
          </a:xfrm>
          <a:prstGeom prst="rect">
            <a:avLst/>
          </a:prstGeom>
          <a:solidFill>
            <a:srgbClr val="6E8472"/>
          </a:solidFill>
          <a:ln/>
        </p:spPr>
      </p:sp>
      <p:pic>
        <p:nvPicPr>
          <p:cNvPr id="11" name="Image 1" descr="preencoded.png">    </p:cNvPr>
          <p:cNvPicPr>
            <a:picLocks noChangeAspect="1"/>
          </p:cNvPicPr>
          <p:nvPr/>
        </p:nvPicPr>
        <p:blipFill>
          <a:blip r:embed="rId2"/>
          <a:stretch>
            <a:fillRect/>
          </a:stretch>
        </p:blipFill>
        <p:spPr>
          <a:xfrm>
            <a:off x="822960" y="3419856"/>
            <a:ext cx="914400" cy="914400"/>
          </a:xfrm>
          <a:prstGeom prst="rect">
            <a:avLst/>
          </a:prstGeom>
        </p:spPr>
      </p:pic>
      <p:sp>
        <p:nvSpPr>
          <p:cNvPr id="12" name="Shape 8"/>
          <p:cNvSpPr/>
          <p:nvPr/>
        </p:nvSpPr>
        <p:spPr>
          <a:xfrm>
            <a:off x="2148840" y="3099816"/>
            <a:ext cx="6583680" cy="1554480"/>
          </a:xfrm>
          <a:prstGeom prst="rect">
            <a:avLst/>
          </a:prstGeom>
          <a:solidFill>
            <a:srgbClr val="FFFFFF"/>
          </a:solidFill>
          <a:ln w="9525">
            <a:solidFill>
              <a:srgbClr val="CBD6CE"/>
            </a:solidFill>
            <a:prstDash val="solid"/>
          </a:ln>
        </p:spPr>
      </p:sp>
      <p:sp>
        <p:nvSpPr>
          <p:cNvPr id="13" name="Text 9"/>
          <p:cNvSpPr/>
          <p:nvPr/>
        </p:nvSpPr>
        <p:spPr>
          <a:xfrm>
            <a:off x="2286000" y="3172968"/>
            <a:ext cx="6309360" cy="1408176"/>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Blade Runner</a:t>
            </a:r>
            <a:endParaRPr lang="en-US" sz="1800" dirty="0"/>
          </a:p>
          <a:p>
            <a:pPr indent="0" marL="0">
              <a:buNone/>
            </a:pPr>
            <a:r>
              <a:rPr lang="en-US" sz="1300" i="1" dirty="0">
                <a:solidFill>
                  <a:srgbClr val="4F6356"/>
                </a:solidFill>
                <a:latin typeface="Open Sans" pitchFamily="34" charset="0"/>
                <a:ea typeface="Open Sans" pitchFamily="34" charset="-122"/>
                <a:cs typeface="Open Sans" pitchFamily="34" charset="-120"/>
              </a:rPr>
              <a:t>Film, 1982</a:t>
            </a:r>
            <a:endParaRPr lang="en-US" sz="1800" dirty="0"/>
          </a:p>
          <a:p>
            <a:pPr indent="0" marL="0">
              <a:buNone/>
            </a:pPr>
            <a:r>
              <a:rPr lang="en-US" sz="1300" dirty="0">
                <a:solidFill>
                  <a:srgbClr val="31423B"/>
                </a:solidFill>
                <a:latin typeface="Open Sans" pitchFamily="34" charset="0"/>
                <a:ea typeface="Open Sans" pitchFamily="34" charset="-122"/>
                <a:cs typeface="Open Sans" pitchFamily="34" charset="-120"/>
              </a:rPr>
              <a:t>Directed by Ridley Scott</a:t>
            </a:r>
            <a:endParaRPr lang="en-US" sz="1800" dirty="0"/>
          </a:p>
          <a:p>
            <a:pPr indent="0" marL="0">
              <a:buNone/>
            </a:pPr>
            <a:r>
              <a:rPr lang="en-US" sz="1200" i="1" dirty="0">
                <a:solidFill>
                  <a:srgbClr val="4F6356"/>
                </a:solidFill>
                <a:latin typeface="Open Sans" pitchFamily="34" charset="0"/>
                <a:ea typeface="Open Sans" pitchFamily="34" charset="-122"/>
                <a:cs typeface="Open Sans" pitchFamily="34" charset="-120"/>
              </a:rPr>
              <a:t>Today's lens: what exists only in a living memory, and memories that do not show where they came from</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03520" cy="1005840"/>
          </a:xfrm>
          <a:prstGeom prst="rect">
            <a:avLst/>
          </a:prstGeom>
          <a:noFill/>
          <a:ln/>
        </p:spPr>
        <p:txBody>
          <a:bodyPr wrap="square" lIns="0" tIns="0" rIns="0" bIns="0" rtlCol="0" anchor="t"/>
          <a:lstStyle/>
          <a:p>
            <a:pPr indent="0" marL="0">
              <a:buNone/>
            </a:pPr>
            <a:r>
              <a:rPr lang="en-US" sz="1600" i="1" dirty="0">
                <a:solidFill>
                  <a:srgbClr val="5C6B63"/>
                </a:solidFill>
                <a:latin typeface="Open Sans" pitchFamily="34" charset="0"/>
                <a:ea typeface="Open Sans" pitchFamily="34" charset="-122"/>
                <a:cs typeface="Open Sans" pitchFamily="34" charset="-120"/>
              </a:rPr>
              <a:t>Next: Session 7 - Network evidence and exfiltration. Memory showed which program was talking. Next, what was said on the wire.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S06 - Memory Forensics</dc:title>
  <dc:subject>PptxGenJS Presentation</dc:subject>
  <dc:creator>Niranga Dharmaratna</dc:creator>
  <cp:lastModifiedBy>Niranga Dharmaratna</cp:lastModifiedBy>
  <cp:revision>1</cp:revision>
  <dcterms:created xsi:type="dcterms:W3CDTF">2026-10-10T15:06:23Z</dcterms:created>
  <dcterms:modified xsi:type="dcterms:W3CDTF">2026-10-10T15:06:23Z</dcterms:modified>
</cp:coreProperties>
</file>