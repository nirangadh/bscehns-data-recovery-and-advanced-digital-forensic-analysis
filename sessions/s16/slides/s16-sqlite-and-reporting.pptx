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16 closes Day 8 with two assessed halves: SQLite record recovery (LO2's data recovery in a mobile environment, examined) and the report's second pass (D22, LO4, coursework). Keep both honest in the time: about 50 minutes of concepts on each side of the break is too much; see the companion's timing. The portal page is the content master; every slide points to a section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LO2 through data recovery in a mobile environment; LO3 through mobile artefacts; LO4 through technical writing (D26). Name every examined idea on the page: database page, B-tree, cell, freeblock, freelist, rollback journal, WAL, checkpoint, vacuum, auto-vacuum, secure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S15's Coming next promised this case example. The test phone is still the researcher's documented test phone (D49), never the suspect's. Keep its persona's phone numbers and e-mail addresses off the screen (D50).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Keep 'page' qualified as database page: Session 6's memory page is a different thing. The Hide table's root page on the test phone is page 8; its one row is the picture 0_DiwGeKS.jpeg.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and demo S16-D1. The point students miss: secure delete leaves no flag; the only evidence is zeros in the free space. Quick check: auto-vacuum off and zero-filled freeblocks.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boxes of sections 1 and 2, in four parts. Spend the time on where it breaks: the setting is not in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'What the test phone shows'. Verified by the build on the dataset's own files (ALEAPP's test slices of this extraction) and on AOSP's Android.bp. Apps with their own SQLite (SQLCipher, Chromium-based) set their own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and demo S16-D2. Test phone: ppv.db is one page; the whole database lives in its WAL (41 frames, 10 commits). Replaying it commit by commit shows a CircularLog row present after commit 4 and gone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The shm change is expected: readers write read marks there. Lab step 6 repeats the first row on students' own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No tool is right everywhere: that is the lesson of the table. Threema's WAL: 158 readable frame headers, every page close to 8 bits per byte. Decryption is a separate step with its own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Answer key questions 48 and 49. File recovery from the current volume (S16-003) is reported to open empty or not at all; the register records the unit's result. Session 5's change journal links the two names to the client's pricing spreadsheet and meeting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The news-lead comparison: where it breaks, a forensic summary must state confidence and may be tested in court. Quick check: which sentence belongs in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Define the confidence phrases in the method section and use them the same way throughout. Verbal scales and the ISO/IEC 27037 and 27042 standards are in the page's going-deeper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page section 8. Name and paraphrase only; no images of the shuttle or charts. Give the one-line gist. About three minutes. The break is the point, and it leads straight to demo S16-D5.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(S16/S18 row of Teaching Plan Section 7). Let the room read it. Then demo S16-D5: the same finding, clean and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9. Shown, not lectured: the page gives the same three sources in both styles. Cite the tool with its version, as the method names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10, about 90 minutes: A 10, B 15, C 15, D 25, E 20, F 5. Walk the room at step 6 (the wrong way, on scratch copies only), step 9 (a WAL row the tool did not flag) and step 13 (checking each recovered field). The report section is from mobile findings only, never coursework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Signpost only (D34, D37): the questions are on the portal page, never on the slide. The last ten minutes of the day. Day 8 does not recycle earlier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Collect s16-recovered.csv and the report section for the formative checkpoint; judge them against the page's checklist and the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Test-phone and CFReDS names, accounts and times are the datasets' own, shown as recorded; the demo values in S16-D1, D2 and D5 are invented teaching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3200" b="1" dirty="0">
                <a:solidFill>
                  <a:srgbClr val="31423B"/>
                </a:solidFill>
                <a:latin typeface="Open Sans" pitchFamily="34" charset="0"/>
                <a:ea typeface="Open Sans" pitchFamily="34" charset="-122"/>
                <a:cs typeface="Open Sans" pitchFamily="34" charset="-120"/>
              </a:rPr>
              <a:t>Mobile app data and professional reporting</a:t>
            </a:r>
            <a:endParaRPr lang="en-US" sz="32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16 - Day 8: Mobile forensics and reporting</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000" b="1" dirty="0">
                <a:solidFill>
                  <a:srgbClr val="31423B"/>
                </a:solidFill>
                <a:latin typeface="Open Sans" pitchFamily="34" charset="0"/>
                <a:ea typeface="Open Sans" pitchFamily="34" charset="-122"/>
                <a:cs typeface="Open Sans" pitchFamily="34" charset="-120"/>
              </a:rPr>
              <a:t>S16 Mobile app data and professional reporting</a:t>
            </a:r>
            <a:endParaRPr lang="en-US" sz="30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4F6356"/>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8" name="Shape 6"/>
          <p:cNvSpPr/>
          <p:nvPr/>
        </p:nvSpPr>
        <p:spPr>
          <a:xfrm>
            <a:off x="1463040" y="3108960"/>
            <a:ext cx="640080" cy="347472"/>
          </a:xfrm>
          <a:prstGeom prst="rect">
            <a:avLst/>
          </a:prstGeom>
          <a:solidFill>
            <a:srgbClr val="31423B"/>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LO3</a:t>
            </a:r>
            <a:endParaRPr lang="en-US" sz="1400" dirty="0"/>
          </a:p>
        </p:txBody>
      </p:sp>
      <p:sp>
        <p:nvSpPr>
          <p:cNvPr id="10" name="Shape 8"/>
          <p:cNvSpPr/>
          <p:nvPr/>
        </p:nvSpPr>
        <p:spPr>
          <a:xfrm>
            <a:off x="2194560" y="3108960"/>
            <a:ext cx="640080" cy="347472"/>
          </a:xfrm>
          <a:prstGeom prst="rect">
            <a:avLst/>
          </a:prstGeom>
          <a:solidFill>
            <a:srgbClr val="8A4E8F"/>
          </a:solidFill>
          <a:ln/>
        </p:spPr>
      </p:sp>
      <p:sp>
        <p:nvSpPr>
          <p:cNvPr id="11" name="Text 9"/>
          <p:cNvSpPr/>
          <p:nvPr/>
        </p:nvSpPr>
        <p:spPr>
          <a:xfrm>
            <a:off x="219456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LO4</a:t>
            </a:r>
            <a:endParaRPr lang="en-US" sz="1400" dirty="0"/>
          </a:p>
        </p:txBody>
      </p:sp>
      <p:sp>
        <p:nvSpPr>
          <p:cNvPr id="12" name="Text 10"/>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Phase test (record recovery, mobile)  |  Coursework (the report)  |  Closes Day 8 with the quiz</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554480"/>
          </a:xfrm>
          <a:prstGeom prst="rect">
            <a:avLst/>
          </a:prstGeom>
          <a:solidFill>
            <a:srgbClr val="F1E8F2"/>
          </a:solidFill>
          <a:ln/>
        </p:spPr>
      </p:sp>
      <p:sp>
        <p:nvSpPr>
          <p:cNvPr id="7" name="Text 5"/>
          <p:cNvSpPr/>
          <p:nvPr/>
        </p:nvSpPr>
        <p:spPr>
          <a:xfrm>
            <a:off x="521208" y="1371600"/>
            <a:ext cx="4535424" cy="155448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suspect's Google Drive program deleted its two small databases when it signed out. Can the unit still read them, and recover the records of the two files that left for the cloud? Then: how do you write what you found so that someone who was not in the room can trust it?</a:t>
            </a:r>
            <a:endParaRPr lang="en-US" sz="1300" dirty="0"/>
          </a:p>
        </p:txBody>
      </p:sp>
      <p:sp>
        <p:nvSpPr>
          <p:cNvPr id="8" name="Shape 6"/>
          <p:cNvSpPr/>
          <p:nvPr/>
        </p:nvSpPr>
        <p:spPr>
          <a:xfrm>
            <a:off x="411480" y="3017520"/>
            <a:ext cx="4754880" cy="1783080"/>
          </a:xfrm>
          <a:prstGeom prst="rect">
            <a:avLst/>
          </a:prstGeom>
          <a:solidFill>
            <a:srgbClr val="DCE6DE"/>
          </a:solidFill>
          <a:ln/>
        </p:spPr>
      </p:sp>
      <p:sp>
        <p:nvSpPr>
          <p:cNvPr id="9" name="Text 7"/>
          <p:cNvSpPr/>
          <p:nvPr/>
        </p:nvSpPr>
        <p:spPr>
          <a:xfrm>
            <a:off x="502920" y="3017520"/>
            <a:ext cx="4572000" cy="1783080"/>
          </a:xfrm>
          <a:prstGeom prst="rect">
            <a:avLst/>
          </a:prstGeom>
          <a:noFill/>
          <a:ln/>
        </p:spPr>
        <p:txBody>
          <a:bodyPr wrap="square" rtlCol="0" anchor="ctr"/>
          <a:lstStyle/>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Inside a SQLite database</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What deletion does, and what destroys it</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journals: old and new pages</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Handling without changing</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Recovering and checking</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case: the Drive databases</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The report: readers and the summary</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Evidence a reader can trust</a:t>
            </a:r>
            <a:endParaRPr lang="en-US" sz="1200" dirty="0"/>
          </a:p>
          <a:p>
            <a:pPr marL="342900" indent="-342900">
              <a:spcAft>
                <a:spcPts val="100"/>
              </a:spcAft>
              <a:buSzPct val="100000"/>
              <a:buChar char="•"/>
            </a:pPr>
            <a:r>
              <a:rPr lang="en-US" sz="1200" b="1" dirty="0">
                <a:solidFill>
                  <a:srgbClr val="31423B"/>
                </a:solidFill>
                <a:latin typeface="Open Sans" pitchFamily="34" charset="0"/>
                <a:ea typeface="Open Sans" pitchFamily="34" charset="-122"/>
                <a:cs typeface="Open Sans" pitchFamily="34" charset="-120"/>
              </a:rPr>
              <a:t>Reproducible method, one citation style</a:t>
            </a:r>
            <a:endParaRPr lang="en-US" sz="1200" dirty="0"/>
          </a:p>
        </p:txBody>
      </p:sp>
      <p:pic>
        <p:nvPicPr>
          <p:cNvPr id="10" name="Image 0" descr="preencoded.png">    </p:cNvPr>
          <p:cNvPicPr>
            <a:picLocks noChangeAspect="1"/>
          </p:cNvPicPr>
          <p:nvPr/>
        </p:nvPicPr>
        <p:blipFill>
          <a:blip r:embed="rId1"/>
          <a:stretch>
            <a:fillRect/>
          </a:stretch>
        </p:blipFill>
        <p:spPr>
          <a:xfrm>
            <a:off x="6126480" y="1371600"/>
            <a:ext cx="1737360" cy="1737360"/>
          </a:xfrm>
          <a:prstGeom prst="rect">
            <a:avLst/>
          </a:prstGeom>
        </p:spPr>
      </p:pic>
      <p:sp>
        <p:nvSpPr>
          <p:cNvPr id="11" name="Text 8"/>
          <p:cNvSpPr/>
          <p:nvPr/>
        </p:nvSpPr>
        <p:spPr>
          <a:xfrm>
            <a:off x="5349240" y="3337560"/>
            <a:ext cx="3383280" cy="1280160"/>
          </a:xfrm>
          <a:prstGeom prst="rect">
            <a:avLst/>
          </a:prstGeom>
          <a:noFill/>
          <a:ln/>
        </p:spPr>
        <p:txBody>
          <a:bodyPr wrap="square" lIns="0" tIns="0" rIns="0" bIns="0" rtlCol="0" anchor="t"/>
          <a:lstStyle/>
          <a:p>
            <a:pPr indent="0" marL="0">
              <a:buNone/>
            </a:pPr>
            <a:r>
              <a:rPr lang="en-US" sz="1400" i="1" dirty="0">
                <a:solidFill>
                  <a:srgbClr val="5C6B63"/>
                </a:solidFill>
                <a:latin typeface="Open Sans" pitchFamily="34" charset="0"/>
                <a:ea typeface="Open Sans" pitchFamily="34" charset="-122"/>
                <a:cs typeface="Open Sans" pitchFamily="34" charset="-120"/>
              </a:rPr>
              <a:t>Two sources: the suspect's computer, and the unit's documented test phone from Session 15.</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Inside a SQLite database: pages, trees, cells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377440"/>
                <a:gridCol w="594360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Part of a leaf page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holds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Page header (8 bytes)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Type, number of cells, where cell content starts, first freeblock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Cell pointer list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Two bytes per cell: where each live cell is. The only record of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Free space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Nothing in use; pointers and cells grow into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Cell content area</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cells, written from the bottom up: rowid and record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493008"/>
            <a:ext cx="8321040" cy="841248"/>
          </a:xfrm>
          <a:prstGeom prst="rect">
            <a:avLst/>
          </a:prstGeom>
          <a:solidFill>
            <a:srgbClr val="F1E8F2"/>
          </a:solidFill>
          <a:ln/>
        </p:spPr>
      </p:sp>
      <p:sp>
        <p:nvSpPr>
          <p:cNvPr id="8" name="Text 5"/>
          <p:cNvSpPr/>
          <p:nvPr/>
        </p:nvSpPr>
        <p:spPr>
          <a:xfrm>
            <a:off x="521208" y="3493008"/>
            <a:ext cx="8101584" cy="841248"/>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Database pages are numbered from 1; most are 4,096 bytes. The calculator vault's note_contact.db is 49,152 bytes: 12 pages. Each table is a B-tree of pages; each row is a cell. To read a row, SQLite follows the tree to a leaf, reads the pointer, jumps to the cell.</a:t>
            </a:r>
            <a:endParaRPr lang="en-US" sz="13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The header is the file's first 100 bytes: Session 3's header, with the page size, page count and freelist.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deletion does, and what destroys it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Where deleted bytes go</a:t>
            </a:r>
            <a:endParaRPr lang="en-US" sz="1500" dirty="0"/>
          </a:p>
        </p:txBody>
      </p:sp>
      <p:sp>
        <p:nvSpPr>
          <p:cNvPr id="8" name="Shape 6"/>
          <p:cNvSpPr/>
          <p:nvPr/>
        </p:nvSpPr>
        <p:spPr>
          <a:xfrm>
            <a:off x="411480" y="1728216"/>
            <a:ext cx="4133088" cy="2560320"/>
          </a:xfrm>
          <a:prstGeom prst="rect">
            <a:avLst/>
          </a:prstGeom>
          <a:solidFill>
            <a:srgbClr val="FFFFFF"/>
          </a:solidFill>
          <a:ln w="9525">
            <a:solidFill>
              <a:srgbClr val="CBD6CE"/>
            </a:solidFill>
            <a:prstDash val="solid"/>
          </a:ln>
        </p:spPr>
      </p:sp>
      <p:sp>
        <p:nvSpPr>
          <p:cNvPr id="9" name="Text 7"/>
          <p:cNvSpPr/>
          <p:nvPr/>
        </p:nvSpPr>
        <p:spPr>
          <a:xfrm>
            <a:off x="539496" y="1783080"/>
            <a:ext cx="3877056" cy="24505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A freeblock</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Among live cells: a 4-byte note overwrites the start; the rest stays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The page's free space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Nearest the free space: the content start moves past it, whole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A free page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An emptied page goes to the freelist with its content</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What destroys them</a:t>
            </a:r>
            <a:endParaRPr lang="en-US" sz="1500" dirty="0"/>
          </a:p>
        </p:txBody>
      </p:sp>
      <p:sp>
        <p:nvSpPr>
          <p:cNvPr id="12" name="Shape 10"/>
          <p:cNvSpPr/>
          <p:nvPr/>
        </p:nvSpPr>
        <p:spPr>
          <a:xfrm>
            <a:off x="4645152" y="1728216"/>
            <a:ext cx="4133088" cy="256032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4505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Reuse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New cells written over the old bytes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Vacuum and auto-vacuum</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Rebuild the file, or cut free pages off after each change (in the header)</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Secure delete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Zeros at once; a setting of the program, not in the file</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2 and demo S16-D1. Session 2's pointer, not the data, at the scale of a page.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 hotel floor and its guest list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3017520"/>
          </a:xfrm>
          <a:prstGeom prst="rect">
            <a:avLst/>
          </a:prstGeom>
          <a:solidFill>
            <a:srgbClr val="E8F0EA"/>
          </a:solidFill>
          <a:ln/>
        </p:spPr>
      </p:sp>
      <p:sp>
        <p:nvSpPr>
          <p:cNvPr id="7" name="Shape 5"/>
          <p:cNvSpPr/>
          <p:nvPr/>
        </p:nvSpPr>
        <p:spPr>
          <a:xfrm>
            <a:off x="411480" y="1371600"/>
            <a:ext cx="82296" cy="301752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615184"/>
          </a:xfrm>
          <a:prstGeom prst="rect">
            <a:avLst/>
          </a:prstGeom>
          <a:noFill/>
          <a:ln/>
        </p:spPr>
        <p:txBody>
          <a:bodyPr wrap="square" lIns="0" tIns="0" rIns="0" bIns="0" rtlCol="0" anchor="t"/>
          <a:lstStyle/>
          <a:p>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The pointer list is the floor's guest list; the cells are the rooms. When a guest checks out, the name is crossed off, but nobody cleans the room until the next guest. Secure delete is housekeeping that cleans the room at once. </a:t>
            </a:r>
            <a:pPr indent="0" marL="0">
              <a:spcAft>
                <a:spcPts val="400"/>
              </a:spcAft>
              <a:buNone/>
            </a:pPr>
            <a:r>
              <a:rPr lang="en-US" sz="14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a hotel posts its cleaning policy at reception; SQLite writes it nowhere in the file. Rooms have different sizes, and SQLite moves guests between floors and can rebuild the floor overnight (vacuum). </a:t>
            </a:r>
            <a:pPr indent="0" marL="0">
              <a:spcAft>
                <a:spcPts val="400"/>
              </a:spcAft>
              <a:buNone/>
            </a:pPr>
            <a:r>
              <a:rPr lang="en-US" sz="14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400" dirty="0">
                <a:solidFill>
                  <a:srgbClr val="31423B"/>
                </a:solidFill>
                <a:latin typeface="Open Sans" pitchFamily="34" charset="0"/>
                <a:ea typeface="Open Sans" pitchFamily="34" charset="-122"/>
                <a:cs typeface="Open Sans" pitchFamily="34" charset="-120"/>
              </a:rPr>
              <a:t>open the free space and look before you say whether deleted rows survive. Zeros are evidence too.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test phone: Android cleans deleted rows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834640"/>
                <a:gridCol w="1188720"/>
                <a:gridCol w="1097280"/>
                <a:gridCol w="1371600"/>
                <a:gridCol w="1828800"/>
              </a:tblGrid>
              <a:tr h="438912">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Database on the test phone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Auto-vacuum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Free pages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Freeblocks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Journal or WAL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Calculator vault, note_contact.db</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0</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Zero-filled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Journal, 0 bytes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Opera, History</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0</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Zero-filled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Journal, 0 bytes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Private Photo Vault, ppv.db</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0</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None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WAL: 41 frames, 10 commits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Threema, threema4.db</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No signature: app-encrypted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657600"/>
            <a:ext cx="8321040" cy="731520"/>
          </a:xfrm>
          <a:prstGeom prst="rect">
            <a:avLst/>
          </a:prstGeom>
          <a:solidFill>
            <a:srgbClr val="F1E8F2"/>
          </a:solidFill>
          <a:ln/>
        </p:spPr>
      </p:sp>
      <p:sp>
        <p:nvSpPr>
          <p:cNvPr id="8" name="Text 5"/>
          <p:cNvSpPr/>
          <p:nvPr/>
        </p:nvSpPr>
        <p:spPr>
          <a:xfrm>
            <a:off x="521208" y="3657600"/>
            <a:ext cx="8101584" cy="731520"/>
          </a:xfrm>
          <a:prstGeom prst="rect">
            <a:avLst/>
          </a:prstGeom>
          <a:noFill/>
          <a:ln/>
        </p:spPr>
        <p:txBody>
          <a:bodyPr wrap="square" rtlCol="0" anchor="ctr"/>
          <a:lstStyle/>
          <a:p>
            <a:pPr indent="0" marL="0">
              <a:buNone/>
            </a:pPr>
            <a:r>
              <a:rPr lang="en-US" sz="1200" b="1" dirty="0">
                <a:solidFill>
                  <a:srgbClr val="31423B"/>
                </a:solidFill>
                <a:latin typeface="Open Sans" pitchFamily="34" charset="0"/>
                <a:ea typeface="Open Sans" pitchFamily="34" charset="-122"/>
                <a:cs typeface="Open Sans" pitchFamily="34" charset="-120"/>
              </a:rPr>
              <a:t>Android's own SQLite is built with secure delete and auto-vacuum on. The documented removal of a vault picture (26 July 2024, 14:51 EDT) left no row, no free page and no non-zero free byte: a finding, and a limitation.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journals: old pages and new pages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Rollback journal (-journal)</a:t>
            </a:r>
            <a:endParaRPr lang="en-US" sz="1500" dirty="0"/>
          </a:p>
        </p:txBody>
      </p:sp>
      <p:sp>
        <p:nvSpPr>
          <p:cNvPr id="8" name="Shape 6"/>
          <p:cNvSpPr/>
          <p:nvPr/>
        </p:nvSpPr>
        <p:spPr>
          <a:xfrm>
            <a:off x="411480" y="1728216"/>
            <a:ext cx="4133088" cy="2560320"/>
          </a:xfrm>
          <a:prstGeom prst="rect">
            <a:avLst/>
          </a:prstGeom>
          <a:solidFill>
            <a:srgbClr val="FFFFFF"/>
          </a:solidFill>
          <a:ln w="9525">
            <a:solidFill>
              <a:srgbClr val="CBD6CE"/>
            </a:solidFill>
            <a:prstDash val="solid"/>
          </a:ln>
        </p:spPr>
      </p:sp>
      <p:sp>
        <p:nvSpPr>
          <p:cNvPr id="9" name="Text 7"/>
          <p:cNvSpPr/>
          <p:nvPr/>
        </p:nvSpPr>
        <p:spPr>
          <a:xfrm>
            <a:off x="539496" y="1783080"/>
            <a:ext cx="3877056" cy="24505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Before a change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page as it is now is copied into the journal</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After success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Deleted, cut to zero, or its header zeroed</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What can survive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An older page, if the journal keeps content</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Write-ahead log (-wal, -shm)</a:t>
            </a:r>
            <a:endParaRPr lang="en-US" sz="1500" dirty="0"/>
          </a:p>
        </p:txBody>
      </p:sp>
      <p:sp>
        <p:nvSpPr>
          <p:cNvPr id="12" name="Shape 10"/>
          <p:cNvSpPr/>
          <p:nvPr/>
        </p:nvSpPr>
        <p:spPr>
          <a:xfrm>
            <a:off x="4645152" y="1728216"/>
            <a:ext cx="4133088" cy="256032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4505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Each change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full page copy is added as a WAL frame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shm file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log's index: the newest frame for each page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A checkpoint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Newest pages copied in; older ones live until the log is reused</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and demo S16-D2. The WAL is a history of pages, not of rows.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Handling: how you open it decides what survives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828800"/>
                <a:gridCol w="1737360"/>
                <a:gridCol w="1280160"/>
                <a:gridCol w="1280160"/>
                <a:gridCol w="2194560"/>
              </a:tblGrid>
              <a:tr h="47548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Copy opened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ppv.db</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ppv.db-wal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ppv.db-shm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You see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754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Ordinary open, close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4,096 to 81,920 bytes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Deleted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Deleted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Newest data; older versions gone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Read-only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Newest data; log intact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7548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Log ignored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Unchanged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No tables at all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383280"/>
            <a:ext cx="8321040" cy="731520"/>
          </a:xfrm>
          <a:prstGeom prst="rect">
            <a:avLst/>
          </a:prstGeom>
          <a:solidFill>
            <a:srgbClr val="F1E8F2"/>
          </a:solidFill>
          <a:ln/>
        </p:spPr>
      </p:sp>
      <p:sp>
        <p:nvSpPr>
          <p:cNvPr id="8" name="Text 5"/>
          <p:cNvSpPr/>
          <p:nvPr/>
        </p:nvSpPr>
        <p:spPr>
          <a:xfrm>
            <a:off x="521208" y="3383280"/>
            <a:ext cx="8101584" cy="73152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Copy with every companion, names unchanged. Hash first. Open only copies, read-only, in a tool that does not checkpoint. Record every change with its cause.</a:t>
            </a:r>
            <a:endParaRPr lang="en-US" sz="14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and demo S16-D3: the unit's run on copies of the test phone's own files.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Recovering, and checking what comes back</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The tools, as tested</a:t>
            </a:r>
            <a:endParaRPr lang="en-US" sz="1500" dirty="0"/>
          </a:p>
        </p:txBody>
      </p:sp>
      <p:sp>
        <p:nvSpPr>
          <p:cNvPr id="8" name="Shape 6"/>
          <p:cNvSpPr/>
          <p:nvPr/>
        </p:nvSpPr>
        <p:spPr>
          <a:xfrm>
            <a:off x="411480" y="1728216"/>
            <a:ext cx="4133088" cy="2880360"/>
          </a:xfrm>
          <a:prstGeom prst="rect">
            <a:avLst/>
          </a:prstGeom>
          <a:solidFill>
            <a:srgbClr val="FFFFFF"/>
          </a:solidFill>
          <a:ln w="9525">
            <a:solidFill>
              <a:srgbClr val="CBD6CE"/>
            </a:solidFill>
            <a:prstDash val="solid"/>
          </a:ln>
        </p:spPr>
      </p:sp>
      <p:sp>
        <p:nvSpPr>
          <p:cNvPr id="9" name="Text 7"/>
          <p:cNvSpPr/>
          <p:nvPr/>
        </p:nvSpPr>
        <p:spPr>
          <a:xfrm>
            <a:off x="539496" y="1783080"/>
            <a:ext cx="3877056" cy="27706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FQLite (the lab's tool)</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Recovered the case-shaped table's rows; opens WAL databases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sqlite_dissect (stretch)</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Labels every source; failed on text-first tables and a one-page database</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undark</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Unmaintained; no WAL; misread a size</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 recovered record is a fragment until</a:t>
            </a:r>
            <a:endParaRPr lang="en-US" sz="1500" dirty="0"/>
          </a:p>
        </p:txBody>
      </p:sp>
      <p:sp>
        <p:nvSpPr>
          <p:cNvPr id="12" name="Shape 10"/>
          <p:cNvSpPr/>
          <p:nvPr/>
        </p:nvSpPr>
        <p:spPr>
          <a:xfrm>
            <a:off x="4645152" y="1728216"/>
            <a:ext cx="4133088" cy="288036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77063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Its fields are checked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Each value has its column's type; compare with another record</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Its bytes are found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At the page and offset the tool gives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Encryption is ruled out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No signature, random pages: a limitation, not a recovery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two deletions, two scales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2514600"/>
          </a:xfrm>
          <a:prstGeom prst="rect">
            <a:avLst/>
          </a:prstGeom>
          <a:solidFill>
            <a:srgbClr val="FFFFFF"/>
          </a:solidFill>
          <a:ln w="9525">
            <a:solidFill>
              <a:srgbClr val="CBD6CE"/>
            </a:solidFill>
            <a:prstDash val="solid"/>
          </a:ln>
        </p:spPr>
      </p:sp>
      <p:sp>
        <p:nvSpPr>
          <p:cNvPr id="7" name="Text 5"/>
          <p:cNvSpPr/>
          <p:nvPr/>
        </p:nvSpPr>
        <p:spPr>
          <a:xfrm>
            <a:off x="502920" y="1325880"/>
            <a:ext cx="8138160" cy="2514600"/>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2015-03-23 20:32:35 UTC  Drive program uploads two renamed client documents</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2015-03-23 20:38:47 UTC  Mail 'It's me' carries two Drive links</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2015-03-23 20:42:17 UTC  Both files deleted from Drive: their cloud_entry rows deleted</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2015-03-25 (morning)     Volume shadow copy made</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2015-03-25 15:22:47 UTC  Signing out: snapshot.db and sync_config.db deleted</a:t>
            </a:r>
            <a:endParaRPr lang="en-US" sz="1100" dirty="0"/>
          </a:p>
          <a:p>
            <a:pPr algn="l" indent="0" marL="0">
              <a:buNone/>
            </a:pP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0Bz0ye6gXtiZaVl8yVU5mWHlGbWc  -&gt;  do_u_wanna_build_a_snow_man.mp3</a:t>
            </a:r>
            <a:endParaRPr lang="en-US" sz="1100" dirty="0"/>
          </a:p>
          <a:p>
            <a:pPr algn="l" indent="0" marL="0">
              <a:buNone/>
            </a:pPr>
            <a:r>
              <a:rPr lang="en-US" sz="1100" dirty="0">
                <a:solidFill>
                  <a:srgbClr val="31423B"/>
                </a:solidFill>
                <a:latin typeface="Consolas" pitchFamily="34" charset="0"/>
                <a:ea typeface="Consolas" pitchFamily="34" charset="-122"/>
                <a:cs typeface="Consolas" pitchFamily="34" charset="-120"/>
              </a:rPr>
              <a:t>0Bz0ye6gXtiZaakx6d3R3c0JmM1U  -&gt;  happy_holiday.jpg</a:t>
            </a:r>
            <a:endParaRPr lang="en-US" sz="1100" dirty="0"/>
          </a:p>
        </p:txBody>
      </p:sp>
      <p:sp>
        <p:nvSpPr>
          <p:cNvPr id="8"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6. The shadow copy gives back the database; record recovery gives back the rows.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Who reads a report, and the summary written last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194560"/>
                <a:gridCol w="3291840"/>
                <a:gridCol w="283464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Reader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Needs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Reads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The client's manager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 happened, how sure, what now</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executive summary only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 lawyer or court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Each claim, its evidence, its limits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Findings and limitations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Another examiner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Exactly what was done, to repeat it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Method and appendices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3337560"/>
            <a:ext cx="8321040" cy="777240"/>
          </a:xfrm>
          <a:prstGeom prst="rect">
            <a:avLst/>
          </a:prstGeom>
          <a:solidFill>
            <a:srgbClr val="F1E8F2"/>
          </a:solidFill>
          <a:ln/>
        </p:spPr>
      </p:sp>
      <p:sp>
        <p:nvSpPr>
          <p:cNvPr id="8" name="Text 5"/>
          <p:cNvSpPr/>
          <p:nvPr/>
        </p:nvSpPr>
        <p:spPr>
          <a:xfrm>
            <a:off x="521208" y="3337560"/>
            <a:ext cx="8101584" cy="77724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The executive summary: what happened, how sure and why, what should change. Written last, from the findings; no commands, field names, offsets or hash values.</a:t>
            </a:r>
            <a:endParaRPr lang="en-US" sz="1400" dirty="0"/>
          </a:p>
        </p:txBody>
      </p:sp>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7 and demo S16-D4. Session 13's template and methods hold; this is the second pass.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Evidence a reader can trust: six habits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3017520"/>
          </a:xfrm>
          <a:prstGeom prst="rect">
            <a:avLst/>
          </a:prstGeom>
          <a:solidFill>
            <a:srgbClr val="DCE6DE"/>
          </a:solidFill>
          <a:ln/>
        </p:spPr>
      </p:sp>
      <p:sp>
        <p:nvSpPr>
          <p:cNvPr id="7" name="Text 5"/>
          <p:cNvSpPr/>
          <p:nvPr/>
        </p:nvSpPr>
        <p:spPr>
          <a:xfrm>
            <a:off x="502920" y="1325880"/>
            <a:ext cx="8138160" cy="3017520"/>
          </a:xfrm>
          <a:prstGeom prst="rect">
            <a:avLst/>
          </a:prstGeom>
          <a:noFill/>
          <a:ln/>
        </p:spPr>
        <p:txBody>
          <a:bodyPr wrap="square" rtlCol="0" anchor="ctr"/>
          <a:lstStyle/>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Exhibit references and hash values: S16-001, with the register in an appendix</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Figures and tables with their source: exhibit, file, tool and version</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Screenshots with provenance: numbered, captioned, secrets hidden</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Times in UTC with their clock</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Fact apart from opinion: what a record shows, then what you conclude</a:t>
            </a:r>
            <a:endParaRPr lang="en-US" sz="1400" dirty="0"/>
          </a:p>
          <a:p>
            <a:pPr marL="342900" indent="-342900">
              <a:spcAft>
                <a:spcPts val="600"/>
              </a:spcAft>
              <a:buSzPct val="100000"/>
              <a:buChar char="•"/>
            </a:pPr>
            <a:r>
              <a:rPr lang="en-US" sz="1400" b="1" dirty="0">
                <a:solidFill>
                  <a:srgbClr val="31423B"/>
                </a:solidFill>
                <a:latin typeface="Open Sans" pitchFamily="34" charset="0"/>
                <a:ea typeface="Open Sans" pitchFamily="34" charset="-122"/>
                <a:cs typeface="Open Sans" pitchFamily="34" charset="-120"/>
              </a:rPr>
              <a:t>Confidence stated: shows / is consistent with / cannot show</a:t>
            </a:r>
            <a:endParaRPr lang="en-US" sz="1400" dirty="0"/>
          </a:p>
        </p:txBody>
      </p:sp>
      <p:sp>
        <p:nvSpPr>
          <p:cNvPr id="8"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8. 'The evidence cannot show' is as important as 'the evidence shows'.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information design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3017520"/>
          </a:xfrm>
          <a:prstGeom prst="rect">
            <a:avLst/>
          </a:prstGeom>
          <a:solidFill>
            <a:srgbClr val="F1E8F2"/>
          </a:solidFill>
          <a:ln/>
        </p:spPr>
      </p:sp>
      <p:sp>
        <p:nvSpPr>
          <p:cNvPr id="7" name="Shape 5"/>
          <p:cNvSpPr/>
          <p:nvPr/>
        </p:nvSpPr>
        <p:spPr>
          <a:xfrm>
            <a:off x="411480" y="1371600"/>
            <a:ext cx="82296" cy="301752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261518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Challenger, 1986: an O-ring failed in the cold. The engineers had argued against the launch with thirteen charts that did not persuade. Edward Tufte later argued that one plot of damage against temperature would have made the danger plain: evidence persuades only when it is legible.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Roger Boisjoly and three colleagues replied (2002) that Tufte's clean plot mixed air and seal temperatures and used figures the engineers did not have that night. The clear picture looked more certain than the evidence was.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when you make a finding legible, is its uncertainty still visible?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463040"/>
            <a:ext cx="7680960" cy="128016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A finding no one understands is not a finding.</a:t>
            </a:r>
            <a:endParaRPr lang="en-US" sz="3200" dirty="0"/>
          </a:p>
        </p:txBody>
      </p:sp>
      <p:sp>
        <p:nvSpPr>
          <p:cNvPr id="6" name="Text 4"/>
          <p:cNvSpPr/>
          <p:nvPr/>
        </p:nvSpPr>
        <p:spPr>
          <a:xfrm>
            <a:off x="731520" y="2743200"/>
            <a:ext cx="7680960" cy="1371600"/>
          </a:xfrm>
          <a:prstGeom prst="rect">
            <a:avLst/>
          </a:prstGeom>
          <a:noFill/>
          <a:ln/>
        </p:spPr>
        <p:txBody>
          <a:bodyPr wrap="square" lIns="0" tIns="0" rIns="0" bIns="0" rtlCol="0" anchor="t"/>
          <a:lstStyle/>
          <a:p>
            <a:pPr indent="0" marL="0">
              <a:buNone/>
            </a:pPr>
            <a:r>
              <a:rPr lang="en-US" sz="2000" i="1" dirty="0">
                <a:solidFill>
                  <a:srgbClr val="E8F0EA"/>
                </a:solidFill>
                <a:latin typeface="Open Sans" pitchFamily="34" charset="0"/>
                <a:ea typeface="Open Sans" pitchFamily="34" charset="-122"/>
                <a:cs typeface="Open Sans" pitchFamily="34" charset="-120"/>
              </a:rPr>
              <a:t>Make every finding legible, and its limitation legible with it: a clean figure that hides a gap misleads as surely as one no one can read.</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Reproducible method, one citation style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685800"/>
          </a:xfrm>
          <a:prstGeom prst="rect">
            <a:avLst/>
          </a:prstGeom>
          <a:solidFill>
            <a:srgbClr val="F1E8F2"/>
          </a:solidFill>
          <a:ln/>
        </p:spPr>
      </p:sp>
      <p:sp>
        <p:nvSpPr>
          <p:cNvPr id="7" name="Text 5"/>
          <p:cNvSpPr/>
          <p:nvPr/>
        </p:nvSpPr>
        <p:spPr>
          <a:xfrm>
            <a:off x="521208" y="1325880"/>
            <a:ext cx="8101584" cy="68580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Each step: the item and its hash value, the tool and exact version, the settings or command, what changed and how you know, the result.</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2148840"/>
          <a:ext cx="8321040" cy="914400"/>
        </p:xfrm>
        <a:graphic>
          <a:graphicData uri="http://schemas.openxmlformats.org/drawingml/2006/table">
            <a:tbl>
              <a:tblPr/>
              <a:tblGrid>
                <a:gridCol w="1371600"/>
                <a:gridCol w="3657600"/>
                <a:gridCol w="3291840"/>
              </a:tblGrid>
              <a:tr h="502920">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APA 7</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IEEE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5029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In the text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(SQLite, n.d.)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[1]</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Software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Pawlaszczyk, D. (2026). FQLite (Version 4.22) [Computer software].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[3] D. Pawlaszczyk, FQLite, version 4.22, 2026.</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5029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The list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Alphabetical by author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In order of first citation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9: full examples with their addresses. Pick one style; never mix them.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400" b="1" dirty="0">
                <a:solidFill>
                  <a:srgbClr val="FFFFFF"/>
                </a:solidFill>
                <a:latin typeface="Open Sans" pitchFamily="34" charset="0"/>
                <a:ea typeface="Open Sans" pitchFamily="34" charset="-122"/>
                <a:cs typeface="Open Sans" pitchFamily="34" charset="-120"/>
              </a:rPr>
              <a:t>The lab: recover, check, write it up</a:t>
            </a:r>
            <a:endParaRPr lang="en-US" sz="24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900"/>
              </a:spcAft>
              <a:buNone/>
            </a:pPr>
            <a:r>
              <a:rPr lang="en-US" sz="2000" b="1" dirty="0">
                <a:solidFill>
                  <a:srgbClr val="FFFFFF"/>
                </a:solidFill>
                <a:latin typeface="Open Sans" pitchFamily="34" charset="0"/>
                <a:ea typeface="Open Sans" pitchFamily="34" charset="-122"/>
                <a:cs typeface="Open Sans" pitchFamily="34" charset="-120"/>
              </a:rPr>
              <a:t>Three rules</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Never open an original</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Never open a link from the evidence</a:t>
            </a:r>
            <a:endParaRPr lang="en-US" sz="1600" dirty="0"/>
          </a:p>
          <a:p>
            <a:pPr indent="0" marL="0">
              <a:spcAft>
                <a:spcPts val="900"/>
              </a:spcAft>
              <a:buNone/>
            </a:pPr>
            <a:r>
              <a:rPr lang="en-US" sz="1600" b="1" dirty="0">
                <a:solidFill>
                  <a:srgbClr val="FFFFFF"/>
                </a:solidFill>
                <a:latin typeface="Open Sans" pitchFamily="34" charset="0"/>
                <a:ea typeface="Open Sans" pitchFamily="34" charset="-122"/>
                <a:cs typeface="Open Sans" pitchFamily="34" charset="-120"/>
              </a:rPr>
              <a:t>No contact details in notes or report</a:t>
            </a:r>
            <a:endParaRPr lang="en-US" sz="16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A  Receive, hash, copy</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B  Read live; see the wrong way</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C  Recover on the phone</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D  The Drive database</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E  Write one section</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F  Check it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400" b="1" dirty="0">
                <a:solidFill>
                  <a:srgbClr val="FFFFFF"/>
                </a:solidFill>
                <a:latin typeface="Open Sans" pitchFamily="34" charset="0"/>
                <a:ea typeface="Open Sans" pitchFamily="34" charset="-122"/>
                <a:cs typeface="Open Sans" pitchFamily="34" charset="-120"/>
              </a:rPr>
              <a:t>Day-closing micro-quiz</a:t>
            </a:r>
            <a:endParaRPr lang="en-US" sz="24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1097280" y="1737360"/>
            <a:ext cx="6949440" cy="2468880"/>
          </a:xfrm>
          <a:prstGeom prst="rect">
            <a:avLst/>
          </a:prstGeom>
          <a:solidFill>
            <a:srgbClr val="31423B"/>
          </a:solidFill>
          <a:ln/>
        </p:spPr>
      </p:sp>
      <p:sp>
        <p:nvSpPr>
          <p:cNvPr id="7" name="Text 4"/>
          <p:cNvSpPr/>
          <p:nvPr/>
        </p:nvSpPr>
        <p:spPr>
          <a:xfrm>
            <a:off x="1280160" y="1737360"/>
            <a:ext cx="6583680" cy="2468880"/>
          </a:xfrm>
          <a:prstGeom prst="rect">
            <a:avLst/>
          </a:prstGeom>
          <a:noFill/>
          <a:ln/>
        </p:spPr>
        <p:txBody>
          <a:bodyPr wrap="square" lIns="0" tIns="0" rIns="0" bIns="0" rtlCol="0" anchor="ctr"/>
          <a:lstStyle/>
          <a:p>
            <a:pPr indent="0" marL="0">
              <a:buNone/>
            </a:pPr>
            <a:r>
              <a:rPr lang="en-US" sz="1800" b="1" dirty="0">
                <a:solidFill>
                  <a:srgbClr val="FFFFFF"/>
                </a:solidFill>
                <a:latin typeface="Open Sans" pitchFamily="34" charset="0"/>
                <a:ea typeface="Open Sans" pitchFamily="34" charset="-122"/>
                <a:cs typeface="Open Sans" pitchFamily="34" charset="-120"/>
              </a:rPr>
              <a:t>Five short answers on the Session 16 page, spanning Sessions 15 and 16. About two sentences each, then mark yourself on the points you made.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Deletion removes the pointer, not the bytes, unless the program cleans them</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Copy the companions; open copies read-only; never checkpoint</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A recovered record is a fragment until checked</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A finding no one understands is not a finding</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Next: Session 17, one investigation across computer, network and cloud; ethics and law.</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S16 - Mobile App Data and Professional Reporting</dc:title>
  <dc:subject>PptxGenJS Presentation</dc:subject>
  <dc:creator>Niranga Dharmaratna</dc:creator>
  <cp:lastModifiedBy>Niranga Dharmaratna</cp:lastModifiedBy>
  <cp:revision>1</cp:revision>
  <dcterms:created xsi:type="dcterms:W3CDTF">2026-10-16T01:25:18Z</dcterms:created>
  <dcterms:modified xsi:type="dcterms:W3CDTF">2026-10-16T01:25:18Z</dcterms:modified>
</cp:coreProperties>
</file>