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12 closes Day 6. Students collect from the environment they built and the incident they ran in Session 11: what they collect today is their coursework evidence. The portal page is the content master; every slide points to a section of it. Before the concept part, ask each student to show readiness/10-trail-status.json, incident-log.txt and part2-log.txt. Anyone without them follows the page's missed-session route. Misconception to watch for: that today analyses the logs. Today collects and preserves; Session 13 analyses.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LO1, LO2 and LO5. The checkpoint, a preserved evidence set and the recovered object, feeds the coursework directly. The cloud readiness and collection check follows this session; its date is on the LMS. The end-of-day quiz recycles Days 1 to 5, because the phase test examines no cloud domain.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case hook from the page, then the sections in order. The three questions map to sections 2 (what has arrived), 2 and 5 (what may be missing) and 1, 4, 5 and 6 (how a stranger knows).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opening of the page. The silence since Session 11 is what makes today's requests easy to explain: they are the only requests after the incident. Misconception to watch for: 'I already looked in the console after the incident, so it does not matter'. It matters: any look is a request; a student who looked must record it as a late entry with the best time they can give.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1. In Session 1 the image proved itself: complete, bit for bit. A cloud copy is one file among many, handed over by someone else, so the record carries the weight. This is still NIST SP 800-86's collection stage; only the copying method changed. Misconception to watch for: that identical hash values make two copies equally defensible.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four-part comparison of page section 1. The break carries the lesson: the hash on arrival is the analyst's certificate. Misconception to watch for: that AWS vouches for downloaded 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2, with demo S12-D1 from the front: step the collection time forward and stop on the step that reveals the never-delivered record, which only the demo can show. Mix-ups: AWS's 'typically' is not a guarantee; 'stopped arriving' is not 'complete'; a missing access-log line is not proof that nothing happened. Never wait silently: collect, record, collect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3, with demo S12-D2. Link back to Session 6's footprint: the capture tool changed memory; here requests change nothing in the bucket but add lines to its records. About fourteen requests: two listings, nine heads, three downloads. The list-request row is hedged on purpose: AWS does not document whether a selector on object ARNs matches a list request; Session 13 shows each student whether theirs did. Misconception to watch for: that the trail bucket's downloads are recorded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four-part comparison of page section 3. Ask: if you collect twice, which collection contains the record of the first? The second, because the access-log lines arrive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4. The working copy idea comes straight from Session 1. Read-only is the Session 1 read-only tick, not a write blocker: the protection a stranger can check is the manifest and the record. A second collection goes into its own folder; matching hash values across the two are the only integrity check the access logs ever get. Misconception to watch for: decompressing the originals 'to have a look'.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5, with demo S12-D3. Required options: --trail-arn and --start-time in UTC; optional --end-time, --s3-bucket, --s3-prefix, --account-id, --verbose. The command is Region-specific. If the summary says 40/40 and the folder holds 46, each difference is explained before anything is written. Misconception to watch for: 'unchecked' read as 'invalid', or 'valid' read as 'complete'.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6, with demo S12-D4: the same 112 bytes give three ETags. The rule is AWS's, from its page on checking object integrity. In the lab nine ETags match nine local files in files/. Misconception to watch for: an ETag that ends in -4 read as 'changed four 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7, with demo S12-D5 and the WITHDRAWN-slip comparison. The order is the method: the listing is the before-state. Removing the marker is legitimate for the owner after collection, never in the lab and never in the coursework environment. Misconception to watch for: 'I restored the file' said of a download by version ID; nothing was restored, a copy was collected.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lens of the session, at the end of page section 7. Give the gist in two sentences; name and paraphrase only. Spend the time on where it breaks: the checks (digests, version IDs, ETags) and forgetting by policy. About three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pivotal idea, Session 12's angle on the cloud block's shared idea. Let the room read it. Bridge to the lab: every step either makes a copy, verifies it, or adds to the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8, about two hours, Kali only. Read the safety rules aloud. Walk the room at Part C (the seal after each sync) and Part F (list before head and get). If access logs are missing, students record it and collect again later into c2: never wait silently. Nothing is torn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Debrief, five minutes. Draw out three layers. First: removing the marker is the owner's response action and destroys the record of when the delete happened, so it waits until the evidence is collected and the marker's details are recorded. Second: the business may need the file now; a copy can be supplied from the recovered version without touching the bucket. Third: once collection is complete and recorded, the owner may decide to remove it, and that action is itself recorded. Misconception to watch for: that the investigator decides.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Take-aways, then the end-of-day quiz from the page (last ten minutes, self-marked). The cloud readiness and collection check follows; its date is on the LMS. A student absent today follows the page's missed-session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House disclaimer, unchanged. Every identifier on these slides is invented: no real account ID, key, bucket or address appears.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8F4"/>
        </a:solidFill>
      </p:bgPr>
    </p:bg>
    <p:spTree>
      <p:nvGrpSpPr>
        <p:cNvPr id="1" name=""/>
        <p:cNvGrpSpPr/>
        <p:nvPr/>
      </p:nvGrpSpPr>
      <p:grpSpPr>
        <a:xfrm>
          <a:off x="0" y="0"/>
          <a:ext cx="0" cy="0"/>
          <a:chOff x="0" y="0"/>
          <a:chExt cx="0" cy="0"/>
        </a:xfrm>
      </p:grpSpPr>
      <p:sp>
        <p:nvSpPr>
          <p:cNvPr id="2" name="Text 0"/>
          <p:cNvSpPr/>
          <p:nvPr/>
        </p:nvSpPr>
        <p:spPr>
          <a:xfrm>
            <a:off x="384048" y="292608"/>
            <a:ext cx="5486400" cy="548640"/>
          </a:xfrm>
          <a:prstGeom prst="rect">
            <a:avLst/>
          </a:prstGeom>
          <a:noFill/>
          <a:ln/>
        </p:spPr>
        <p:txBody>
          <a:bodyPr wrap="square" lIns="0" tIns="0" rIns="0" bIns="0" rtlCol="0" anchor="ctr"/>
          <a:lstStyle/>
          <a:p>
            <a:pPr indent="0" marL="0">
              <a:buNone/>
            </a:pPr>
            <a:r>
              <a:rPr lang="en-US" sz="1300" b="1" dirty="0">
                <a:solidFill>
                  <a:srgbClr val="31423B"/>
                </a:solidFill>
                <a:latin typeface="Open Sans" pitchFamily="34" charset="0"/>
                <a:ea typeface="Open Sans" pitchFamily="34" charset="-122"/>
                <a:cs typeface="Open Sans" pitchFamily="34" charset="-120"/>
              </a:rPr>
              <a:t>BSc (Hons) Ethical Hacking &amp; Network Security</a:t>
            </a:r>
            <a:endParaRPr lang="en-US" sz="1300" dirty="0"/>
          </a:p>
          <a:p>
            <a:pPr indent="0" marL="0">
              <a:buNone/>
            </a:pPr>
            <a:r>
              <a:rPr lang="en-US" sz="1300" b="1" dirty="0">
                <a:solidFill>
                  <a:srgbClr val="31423B"/>
                </a:solidFill>
                <a:latin typeface="Open Sans" pitchFamily="34" charset="0"/>
                <a:ea typeface="Open Sans" pitchFamily="34" charset="-122"/>
                <a:cs typeface="Open Sans" pitchFamily="34" charset="-120"/>
              </a:rPr>
              <a:t>Coventry University (CU) - NIBM</a:t>
            </a:r>
            <a:endParaRPr lang="en-US" sz="1300" dirty="0"/>
          </a:p>
        </p:txBody>
      </p:sp>
      <p:sp>
        <p:nvSpPr>
          <p:cNvPr id="3" name="Text 1"/>
          <p:cNvSpPr/>
          <p:nvPr/>
        </p:nvSpPr>
        <p:spPr>
          <a:xfrm>
            <a:off x="384048" y="886968"/>
            <a:ext cx="4572000" cy="256032"/>
          </a:xfrm>
          <a:prstGeom prst="rect">
            <a:avLst/>
          </a:prstGeom>
          <a:noFill/>
          <a:ln/>
        </p:spPr>
        <p:txBody>
          <a:bodyPr wrap="square" lIns="0" tIns="0" rIns="0" bIns="0" rtlCol="0" anchor="ctr"/>
          <a:lstStyle/>
          <a:p>
            <a:pPr indent="0" marL="0">
              <a:buNone/>
            </a:pPr>
            <a:r>
              <a:rPr lang="en-US" sz="1300" b="1" dirty="0">
                <a:solidFill>
                  <a:srgbClr val="4F6356"/>
                </a:solidFill>
                <a:latin typeface="Open Sans" pitchFamily="34" charset="0"/>
                <a:ea typeface="Open Sans" pitchFamily="34" charset="-122"/>
                <a:cs typeface="Open Sans" pitchFamily="34" charset="-120"/>
              </a:rPr>
              <a:t>NB6018CEM  |  Level 6  |  20 Credits</a:t>
            </a:r>
            <a:endParaRPr lang="en-US" sz="1300" dirty="0"/>
          </a:p>
        </p:txBody>
      </p:sp>
      <p:sp>
        <p:nvSpPr>
          <p:cNvPr id="4" name="Text 2"/>
          <p:cNvSpPr/>
          <p:nvPr/>
        </p:nvSpPr>
        <p:spPr>
          <a:xfrm>
            <a:off x="384048" y="1188720"/>
            <a:ext cx="5486400" cy="1920240"/>
          </a:xfrm>
          <a:prstGeom prst="rect">
            <a:avLst/>
          </a:prstGeom>
          <a:noFill/>
          <a:ln/>
        </p:spPr>
        <p:txBody>
          <a:bodyPr wrap="square" lIns="0" tIns="0" rIns="0" bIns="0" rtlCol="0" anchor="ctr"/>
          <a:lstStyle/>
          <a:p>
            <a:pPr indent="0" marL="0">
              <a:buNone/>
            </a:pPr>
            <a:r>
              <a:rPr lang="en-US" sz="3600" b="1" dirty="0">
                <a:solidFill>
                  <a:srgbClr val="31423B"/>
                </a:solidFill>
                <a:latin typeface="Open Sans" pitchFamily="34" charset="0"/>
                <a:ea typeface="Open Sans" pitchFamily="34" charset="-122"/>
                <a:cs typeface="Open Sans" pitchFamily="34" charset="-120"/>
              </a:rPr>
              <a:t>Cloud forensics: collection and preservation</a:t>
            </a:r>
            <a:endParaRPr lang="en-US" sz="3600" dirty="0"/>
          </a:p>
        </p:txBody>
      </p:sp>
      <p:sp>
        <p:nvSpPr>
          <p:cNvPr id="5" name="Shape 3"/>
          <p:cNvSpPr/>
          <p:nvPr/>
        </p:nvSpPr>
        <p:spPr>
          <a:xfrm>
            <a:off x="384048" y="3145536"/>
            <a:ext cx="749808" cy="82296"/>
          </a:xfrm>
          <a:prstGeom prst="rect">
            <a:avLst/>
          </a:prstGeom>
          <a:solidFill>
            <a:srgbClr val="6E8472"/>
          </a:solidFill>
          <a:ln/>
        </p:spPr>
      </p:sp>
      <p:sp>
        <p:nvSpPr>
          <p:cNvPr id="6" name="Shape 4"/>
          <p:cNvSpPr/>
          <p:nvPr/>
        </p:nvSpPr>
        <p:spPr>
          <a:xfrm>
            <a:off x="1188720" y="3145536"/>
            <a:ext cx="384048" cy="82296"/>
          </a:xfrm>
          <a:prstGeom prst="rect">
            <a:avLst/>
          </a:prstGeom>
          <a:solidFill>
            <a:srgbClr val="8A4E8F"/>
          </a:solidFill>
          <a:ln/>
        </p:spPr>
      </p:sp>
      <p:sp>
        <p:nvSpPr>
          <p:cNvPr id="7" name="Text 5"/>
          <p:cNvSpPr/>
          <p:nvPr/>
        </p:nvSpPr>
        <p:spPr>
          <a:xfrm>
            <a:off x="384048" y="3310128"/>
            <a:ext cx="5303520" cy="640080"/>
          </a:xfrm>
          <a:prstGeom prst="rect">
            <a:avLst/>
          </a:prstGeom>
          <a:noFill/>
          <a:ln/>
        </p:spPr>
        <p:txBody>
          <a:bodyPr wrap="square" lIns="0" tIns="0" rIns="0" bIns="0" rtlCol="0" anchor="t"/>
          <a:lstStyle/>
          <a:p>
            <a:pPr indent="0" marL="0">
              <a:buNone/>
            </a:pPr>
            <a:r>
              <a:rPr lang="en-US" sz="1800" i="1" dirty="0">
                <a:solidFill>
                  <a:srgbClr val="5C6B63"/>
                </a:solidFill>
                <a:latin typeface="Open Sans" pitchFamily="34" charset="0"/>
                <a:ea typeface="Open Sans" pitchFamily="34" charset="-122"/>
                <a:cs typeface="Open Sans" pitchFamily="34" charset="-120"/>
              </a:rPr>
              <a:t>Session 12 - Day 6: Cloud forensics I (the coursework block)</a:t>
            </a:r>
            <a:endParaRPr lang="en-US" sz="1800" dirty="0"/>
          </a:p>
        </p:txBody>
      </p:sp>
      <p:sp>
        <p:nvSpPr>
          <p:cNvPr id="8" name="Text 6"/>
          <p:cNvSpPr/>
          <p:nvPr/>
        </p:nvSpPr>
        <p:spPr>
          <a:xfrm>
            <a:off x="384048" y="4681728"/>
            <a:ext cx="5029200" cy="329184"/>
          </a:xfrm>
          <a:prstGeom prst="rect">
            <a:avLst/>
          </a:prstGeom>
          <a:noFill/>
          <a:ln/>
        </p:spPr>
        <p:txBody>
          <a:bodyPr wrap="square" lIns="0" tIns="0" rIns="0" bIns="0" rtlCol="0" anchor="ctr"/>
          <a:lstStyle/>
          <a:p>
            <a:pPr indent="0" marL="0">
              <a:buNone/>
            </a:pPr>
            <a:r>
              <a:rPr lang="en-US" sz="1300" dirty="0">
                <a:solidFill>
                  <a:srgbClr val="5C6B63"/>
                </a:solidFill>
                <a:latin typeface="Open Sans" pitchFamily="34" charset="0"/>
                <a:ea typeface="Open Sans" pitchFamily="34" charset="-122"/>
                <a:cs typeface="Open Sans" pitchFamily="34" charset="-120"/>
              </a:rPr>
              <a:t>Niranga Dharmaratna - niranga@nibm.lk</a:t>
            </a:r>
            <a:endParaRPr lang="en-US" sz="1300" dirty="0"/>
          </a:p>
        </p:txBody>
      </p:sp>
      <p:pic>
        <p:nvPicPr>
          <p:cNvPr id="9" name="Image 0" descr="preencoded.png">    </p:cNvPr>
          <p:cNvPicPr>
            <a:picLocks noChangeAspect="1"/>
          </p:cNvPicPr>
          <p:nvPr/>
        </p:nvPicPr>
        <p:blipFill>
          <a:blip r:embed="rId1"/>
          <a:stretch>
            <a:fillRect/>
          </a:stretch>
        </p:blipFill>
        <p:spPr>
          <a:xfrm>
            <a:off x="6309360" y="1463040"/>
            <a:ext cx="2194560" cy="21945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8F0EA"/>
        </a:solidFill>
      </p:bgPr>
    </p:bg>
    <p:spTree>
      <p:nvGrpSpPr>
        <p:cNvPr id="1" name=""/>
        <p:cNvGrpSpPr/>
        <p:nvPr/>
      </p:nvGrpSpPr>
      <p:grpSpPr>
        <a:xfrm>
          <a:off x="0" y="0"/>
          <a:ext cx="0" cy="0"/>
          <a:chOff x="0" y="0"/>
          <a:chExt cx="0" cy="0"/>
        </a:xfrm>
      </p:grpSpPr>
      <p:sp>
        <p:nvSpPr>
          <p:cNvPr id="2" name="Shape 0"/>
          <p:cNvSpPr/>
          <p:nvPr/>
        </p:nvSpPr>
        <p:spPr>
          <a:xfrm>
            <a:off x="731520" y="1097280"/>
            <a:ext cx="502920" cy="45720"/>
          </a:xfrm>
          <a:prstGeom prst="rect">
            <a:avLst/>
          </a:prstGeom>
          <a:solidFill>
            <a:srgbClr val="6E8472"/>
          </a:solidFill>
          <a:ln/>
        </p:spPr>
      </p:sp>
      <p:sp>
        <p:nvSpPr>
          <p:cNvPr id="3" name="Text 1"/>
          <p:cNvSpPr/>
          <p:nvPr/>
        </p:nvSpPr>
        <p:spPr>
          <a:xfrm>
            <a:off x="731520" y="1325880"/>
            <a:ext cx="7690104" cy="1371600"/>
          </a:xfrm>
          <a:prstGeom prst="rect">
            <a:avLst/>
          </a:prstGeom>
          <a:noFill/>
          <a:ln/>
        </p:spPr>
        <p:txBody>
          <a:bodyPr wrap="square" lIns="0" tIns="0" rIns="0" bIns="0" rtlCol="0" anchor="ctr"/>
          <a:lstStyle/>
          <a:p>
            <a:pPr indent="0" marL="0">
              <a:buNone/>
            </a:pPr>
            <a:r>
              <a:rPr lang="en-US" sz="3200" b="1" dirty="0">
                <a:solidFill>
                  <a:srgbClr val="31423B"/>
                </a:solidFill>
                <a:latin typeface="Open Sans" pitchFamily="34" charset="0"/>
                <a:ea typeface="Open Sans" pitchFamily="34" charset="-122"/>
                <a:cs typeface="Open Sans" pitchFamily="34" charset="-120"/>
              </a:rPr>
              <a:t>S12 Cloud forensics: collection and preservation</a:t>
            </a:r>
            <a:endParaRPr lang="en-US" sz="3200" dirty="0"/>
          </a:p>
        </p:txBody>
      </p:sp>
      <p:sp>
        <p:nvSpPr>
          <p:cNvPr id="4" name="Shape 2"/>
          <p:cNvSpPr/>
          <p:nvPr/>
        </p:nvSpPr>
        <p:spPr>
          <a:xfrm>
            <a:off x="731520" y="2788920"/>
            <a:ext cx="749808" cy="82296"/>
          </a:xfrm>
          <a:prstGeom prst="rect">
            <a:avLst/>
          </a:prstGeom>
          <a:solidFill>
            <a:srgbClr val="6E8472"/>
          </a:solidFill>
          <a:ln/>
        </p:spPr>
      </p:sp>
      <p:sp>
        <p:nvSpPr>
          <p:cNvPr id="5" name="Shape 3"/>
          <p:cNvSpPr/>
          <p:nvPr/>
        </p:nvSpPr>
        <p:spPr>
          <a:xfrm>
            <a:off x="1536192" y="2788920"/>
            <a:ext cx="384048" cy="82296"/>
          </a:xfrm>
          <a:prstGeom prst="rect">
            <a:avLst/>
          </a:prstGeom>
          <a:solidFill>
            <a:srgbClr val="8A4E8F"/>
          </a:solidFill>
          <a:ln/>
        </p:spPr>
      </p:sp>
      <p:sp>
        <p:nvSpPr>
          <p:cNvPr id="6" name="Shape 4"/>
          <p:cNvSpPr/>
          <p:nvPr/>
        </p:nvSpPr>
        <p:spPr>
          <a:xfrm>
            <a:off x="731520" y="3108960"/>
            <a:ext cx="640080" cy="347472"/>
          </a:xfrm>
          <a:prstGeom prst="rect">
            <a:avLst/>
          </a:prstGeom>
          <a:solidFill>
            <a:srgbClr val="627866"/>
          </a:solidFill>
          <a:ln/>
        </p:spPr>
      </p:sp>
      <p:sp>
        <p:nvSpPr>
          <p:cNvPr id="7" name="Text 5"/>
          <p:cNvSpPr/>
          <p:nvPr/>
        </p:nvSpPr>
        <p:spPr>
          <a:xfrm>
            <a:off x="731520" y="3108960"/>
            <a:ext cx="64008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Open Sans" pitchFamily="34" charset="0"/>
                <a:ea typeface="Open Sans" pitchFamily="34" charset="-122"/>
                <a:cs typeface="Open Sans" pitchFamily="34" charset="-120"/>
              </a:rPr>
              <a:t>LO1</a:t>
            </a:r>
            <a:endParaRPr lang="en-US" sz="1400" dirty="0"/>
          </a:p>
        </p:txBody>
      </p:sp>
      <p:sp>
        <p:nvSpPr>
          <p:cNvPr id="8" name="Shape 6"/>
          <p:cNvSpPr/>
          <p:nvPr/>
        </p:nvSpPr>
        <p:spPr>
          <a:xfrm>
            <a:off x="1463040" y="3108960"/>
            <a:ext cx="640080" cy="347472"/>
          </a:xfrm>
          <a:prstGeom prst="rect">
            <a:avLst/>
          </a:prstGeom>
          <a:solidFill>
            <a:srgbClr val="4F6356"/>
          </a:solidFill>
          <a:ln/>
        </p:spPr>
      </p:sp>
      <p:sp>
        <p:nvSpPr>
          <p:cNvPr id="9" name="Text 7"/>
          <p:cNvSpPr/>
          <p:nvPr/>
        </p:nvSpPr>
        <p:spPr>
          <a:xfrm>
            <a:off x="1463040" y="3108960"/>
            <a:ext cx="64008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Open Sans" pitchFamily="34" charset="0"/>
                <a:ea typeface="Open Sans" pitchFamily="34" charset="-122"/>
                <a:cs typeface="Open Sans" pitchFamily="34" charset="-120"/>
              </a:rPr>
              <a:t>LO2</a:t>
            </a:r>
            <a:endParaRPr lang="en-US" sz="1400" dirty="0"/>
          </a:p>
        </p:txBody>
      </p:sp>
      <p:sp>
        <p:nvSpPr>
          <p:cNvPr id="10" name="Shape 8"/>
          <p:cNvSpPr/>
          <p:nvPr/>
        </p:nvSpPr>
        <p:spPr>
          <a:xfrm>
            <a:off x="2194560" y="3108960"/>
            <a:ext cx="640080" cy="347472"/>
          </a:xfrm>
          <a:prstGeom prst="rect">
            <a:avLst/>
          </a:prstGeom>
          <a:solidFill>
            <a:srgbClr val="6E3D72"/>
          </a:solidFill>
          <a:ln/>
        </p:spPr>
      </p:sp>
      <p:sp>
        <p:nvSpPr>
          <p:cNvPr id="11" name="Text 9"/>
          <p:cNvSpPr/>
          <p:nvPr/>
        </p:nvSpPr>
        <p:spPr>
          <a:xfrm>
            <a:off x="2194560" y="3108960"/>
            <a:ext cx="64008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Open Sans" pitchFamily="34" charset="0"/>
                <a:ea typeface="Open Sans" pitchFamily="34" charset="-122"/>
                <a:cs typeface="Open Sans" pitchFamily="34" charset="-120"/>
              </a:rPr>
              <a:t>LO5</a:t>
            </a:r>
            <a:endParaRPr lang="en-US" sz="1400" dirty="0"/>
          </a:p>
        </p:txBody>
      </p:sp>
      <p:sp>
        <p:nvSpPr>
          <p:cNvPr id="12" name="Text 10"/>
          <p:cNvSpPr/>
          <p:nvPr/>
        </p:nvSpPr>
        <p:spPr>
          <a:xfrm>
            <a:off x="731520" y="3584448"/>
            <a:ext cx="7690104" cy="329184"/>
          </a:xfrm>
          <a:prstGeom prst="rect">
            <a:avLst/>
          </a:prstGeom>
          <a:noFill/>
          <a:ln/>
        </p:spPr>
        <p:txBody>
          <a:bodyPr wrap="square" lIns="0" tIns="0" rIns="0" bIns="0" rtlCol="0" anchor="ctr"/>
          <a:lstStyle/>
          <a:p>
            <a:pPr indent="0" marL="0">
              <a:buNone/>
            </a:pPr>
            <a:r>
              <a:rPr lang="en-US" sz="1400" dirty="0">
                <a:solidFill>
                  <a:srgbClr val="5C6B63"/>
                </a:solidFill>
                <a:latin typeface="Open Sans" pitchFamily="34" charset="0"/>
                <a:ea typeface="Open Sans" pitchFamily="34" charset="-122"/>
                <a:cs typeface="Open Sans" pitchFamily="34" charset="-120"/>
              </a:rPr>
              <a:t>Feeds: Coursework (directly)  |  Closes Day 6 with the end-of-day quiz</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The case today</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Shape 4"/>
          <p:cNvSpPr/>
          <p:nvPr/>
        </p:nvSpPr>
        <p:spPr>
          <a:xfrm>
            <a:off x="411480" y="1371600"/>
            <a:ext cx="4754880" cy="1325880"/>
          </a:xfrm>
          <a:prstGeom prst="rect">
            <a:avLst/>
          </a:prstGeom>
          <a:solidFill>
            <a:srgbClr val="F1E8F2"/>
          </a:solidFill>
          <a:ln/>
        </p:spPr>
      </p:sp>
      <p:sp>
        <p:nvSpPr>
          <p:cNvPr id="7" name="Text 5"/>
          <p:cNvSpPr/>
          <p:nvPr/>
        </p:nvSpPr>
        <p:spPr>
          <a:xfrm>
            <a:off x="521208" y="1371600"/>
            <a:ext cx="4535424" cy="1325880"/>
          </a:xfrm>
          <a:prstGeom prst="rect">
            <a:avLst/>
          </a:prstGeom>
          <a:noFill/>
          <a:ln/>
        </p:spPr>
        <p:txBody>
          <a:bodyPr wrap="square" rtlCol="0" anchor="ctr"/>
          <a:lstStyle/>
          <a:p>
            <a:pPr indent="0" marL="0">
              <a:buNone/>
            </a:pPr>
            <a:r>
              <a:rPr lang="en-US" sz="1300" b="1" dirty="0">
                <a:solidFill>
                  <a:srgbClr val="31423B"/>
                </a:solidFill>
                <a:latin typeface="Open Sans" pitchFamily="34" charset="0"/>
                <a:ea typeface="Open Sans" pitchFamily="34" charset="-122"/>
                <a:cs typeface="Open Sans" pitchFamily="34" charset="-120"/>
              </a:rPr>
              <a:t>The drop is built, its records are on, and the incident has happened. The unit cannot seize anything: every piece of evidence arrives as a copy the provider hands over, on the provider's schedule.</a:t>
            </a:r>
            <a:endParaRPr lang="en-US" sz="1300" dirty="0"/>
          </a:p>
        </p:txBody>
      </p:sp>
      <p:sp>
        <p:nvSpPr>
          <p:cNvPr id="8" name="Shape 6"/>
          <p:cNvSpPr/>
          <p:nvPr/>
        </p:nvSpPr>
        <p:spPr>
          <a:xfrm>
            <a:off x="411480" y="2788920"/>
            <a:ext cx="4754880" cy="1920240"/>
          </a:xfrm>
          <a:prstGeom prst="rect">
            <a:avLst/>
          </a:prstGeom>
          <a:solidFill>
            <a:srgbClr val="DCE6DE"/>
          </a:solidFill>
          <a:ln/>
        </p:spPr>
      </p:sp>
      <p:sp>
        <p:nvSpPr>
          <p:cNvPr id="9" name="Text 7"/>
          <p:cNvSpPr/>
          <p:nvPr/>
        </p:nvSpPr>
        <p:spPr>
          <a:xfrm>
            <a:off x="502920" y="2788920"/>
            <a:ext cx="4572000" cy="1920240"/>
          </a:xfrm>
          <a:prstGeom prst="rect">
            <a:avLst/>
          </a:prstGeom>
          <a:noFill/>
          <a:ln/>
        </p:spPr>
        <p:txBody>
          <a:bodyPr wrap="square" rtlCol="0" anchor="ctr"/>
          <a:lstStyle/>
          <a:p>
            <a:pPr marL="342900" indent="-342900">
              <a:spcAft>
                <a:spcPts val="300"/>
              </a:spcAft>
              <a:buSzPct val="100000"/>
              <a:buChar char="•"/>
            </a:pPr>
            <a:r>
              <a:rPr lang="en-US" sz="1200" b="1" dirty="0">
                <a:solidFill>
                  <a:srgbClr val="31423B"/>
                </a:solidFill>
                <a:latin typeface="Open Sans" pitchFamily="34" charset="0"/>
                <a:ea typeface="Open Sans" pitchFamily="34" charset="-122"/>
                <a:cs typeface="Open Sans" pitchFamily="34" charset="-120"/>
              </a:rPr>
              <a:t>Acquisition without an image</a:t>
            </a:r>
            <a:endParaRPr lang="en-US" sz="1200" dirty="0"/>
          </a:p>
          <a:p>
            <a:pPr marL="342900" indent="-342900">
              <a:spcAft>
                <a:spcPts val="300"/>
              </a:spcAft>
              <a:buSzPct val="100000"/>
              <a:buChar char="•"/>
            </a:pPr>
            <a:r>
              <a:rPr lang="en-US" sz="1200" b="1" dirty="0">
                <a:solidFill>
                  <a:srgbClr val="31423B"/>
                </a:solidFill>
                <a:latin typeface="Open Sans" pitchFamily="34" charset="0"/>
                <a:ea typeface="Open Sans" pitchFamily="34" charset="-122"/>
                <a:cs typeface="Open Sans" pitchFamily="34" charset="-120"/>
              </a:rPr>
              <a:t>The two clocks, in your own account</a:t>
            </a:r>
            <a:endParaRPr lang="en-US" sz="1200" dirty="0"/>
          </a:p>
          <a:p>
            <a:pPr marL="342900" indent="-342900">
              <a:spcAft>
                <a:spcPts val="300"/>
              </a:spcAft>
              <a:buSzPct val="100000"/>
              <a:buChar char="•"/>
            </a:pPr>
            <a:r>
              <a:rPr lang="en-US" sz="1200" b="1" dirty="0">
                <a:solidFill>
                  <a:srgbClr val="31423B"/>
                </a:solidFill>
                <a:latin typeface="Open Sans" pitchFamily="34" charset="0"/>
                <a:ea typeface="Open Sans" pitchFamily="34" charset="-122"/>
                <a:cs typeface="Open Sans" pitchFamily="34" charset="-120"/>
              </a:rPr>
              <a:t>The observer in the record</a:t>
            </a:r>
            <a:endParaRPr lang="en-US" sz="1200" dirty="0"/>
          </a:p>
          <a:p>
            <a:pPr marL="342900" indent="-342900">
              <a:spcAft>
                <a:spcPts val="300"/>
              </a:spcAft>
              <a:buSzPct val="100000"/>
              <a:buChar char="•"/>
            </a:pPr>
            <a:r>
              <a:rPr lang="en-US" sz="1200" b="1" dirty="0">
                <a:solidFill>
                  <a:srgbClr val="31423B"/>
                </a:solidFill>
                <a:latin typeface="Open Sans" pitchFamily="34" charset="0"/>
                <a:ea typeface="Open Sans" pitchFamily="34" charset="-122"/>
                <a:cs typeface="Open Sans" pitchFamily="34" charset="-120"/>
              </a:rPr>
              <a:t>Hash on arrival, work on a copy</a:t>
            </a:r>
            <a:endParaRPr lang="en-US" sz="1200" dirty="0"/>
          </a:p>
          <a:p>
            <a:pPr marL="342900" indent="-342900">
              <a:spcAft>
                <a:spcPts val="300"/>
              </a:spcAft>
              <a:buSzPct val="100000"/>
              <a:buChar char="•"/>
            </a:pPr>
            <a:r>
              <a:rPr lang="en-US" sz="1200" b="1" dirty="0">
                <a:solidFill>
                  <a:srgbClr val="31423B"/>
                </a:solidFill>
                <a:latin typeface="Open Sans" pitchFamily="34" charset="0"/>
                <a:ea typeface="Open Sans" pitchFamily="34" charset="-122"/>
                <a:cs typeface="Open Sans" pitchFamily="34" charset="-120"/>
              </a:rPr>
              <a:t>What validate-logs proves</a:t>
            </a:r>
            <a:endParaRPr lang="en-US" sz="1200" dirty="0"/>
          </a:p>
          <a:p>
            <a:pPr marL="342900" indent="-342900">
              <a:spcAft>
                <a:spcPts val="300"/>
              </a:spcAft>
              <a:buSzPct val="100000"/>
              <a:buChar char="•"/>
            </a:pPr>
            <a:r>
              <a:rPr lang="en-US" sz="1200" b="1" dirty="0">
                <a:solidFill>
                  <a:srgbClr val="31423B"/>
                </a:solidFill>
                <a:latin typeface="Open Sans" pitchFamily="34" charset="0"/>
                <a:ea typeface="Open Sans" pitchFamily="34" charset="-122"/>
                <a:cs typeface="Open Sans" pitchFamily="34" charset="-120"/>
              </a:rPr>
              <a:t>Metadata and the ETag</a:t>
            </a:r>
            <a:endParaRPr lang="en-US" sz="1200" dirty="0"/>
          </a:p>
          <a:p>
            <a:pPr marL="342900" indent="-342900">
              <a:spcAft>
                <a:spcPts val="300"/>
              </a:spcAft>
              <a:buSzPct val="100000"/>
              <a:buChar char="•"/>
            </a:pPr>
            <a:r>
              <a:rPr lang="en-US" sz="1200" b="1" dirty="0">
                <a:solidFill>
                  <a:srgbClr val="31423B"/>
                </a:solidFill>
                <a:latin typeface="Open Sans" pitchFamily="34" charset="0"/>
                <a:ea typeface="Open Sans" pitchFamily="34" charset="-122"/>
                <a:cs typeface="Open Sans" pitchFamily="34" charset="-120"/>
              </a:rPr>
              <a:t>History first, then recovery</a:t>
            </a:r>
            <a:endParaRPr lang="en-US" sz="1200" dirty="0"/>
          </a:p>
          <a:p>
            <a:pPr marL="342900" indent="-342900">
              <a:spcAft>
                <a:spcPts val="300"/>
              </a:spcAft>
              <a:buSzPct val="100000"/>
              <a:buChar char="•"/>
            </a:pPr>
            <a:r>
              <a:rPr lang="en-US" sz="1200" b="1" dirty="0">
                <a:solidFill>
                  <a:srgbClr val="31423B"/>
                </a:solidFill>
                <a:latin typeface="Open Sans" pitchFamily="34" charset="0"/>
                <a:ea typeface="Open Sans" pitchFamily="34" charset="-122"/>
                <a:cs typeface="Open Sans" pitchFamily="34" charset="-120"/>
              </a:rPr>
              <a:t>Collect, preserve, recover</a:t>
            </a:r>
            <a:endParaRPr lang="en-US" sz="1200" dirty="0"/>
          </a:p>
        </p:txBody>
      </p:sp>
      <p:pic>
        <p:nvPicPr>
          <p:cNvPr id="10" name="Image 0" descr="preencoded.png">    </p:cNvPr>
          <p:cNvPicPr>
            <a:picLocks noChangeAspect="1"/>
          </p:cNvPicPr>
          <p:nvPr/>
        </p:nvPicPr>
        <p:blipFill>
          <a:blip r:embed="rId1"/>
          <a:stretch>
            <a:fillRect/>
          </a:stretch>
        </p:blipFill>
        <p:spPr>
          <a:xfrm>
            <a:off x="6126480" y="1463040"/>
            <a:ext cx="1737360" cy="1737360"/>
          </a:xfrm>
          <a:prstGeom prst="rect">
            <a:avLst/>
          </a:prstGeom>
        </p:spPr>
      </p:pic>
      <p:sp>
        <p:nvSpPr>
          <p:cNvPr id="11" name="Text 8"/>
          <p:cNvSpPr/>
          <p:nvPr/>
        </p:nvSpPr>
        <p:spPr>
          <a:xfrm>
            <a:off x="5349240" y="3429000"/>
            <a:ext cx="3383280" cy="1188720"/>
          </a:xfrm>
          <a:prstGeom prst="rect">
            <a:avLst/>
          </a:prstGeom>
          <a:noFill/>
          <a:ln/>
        </p:spPr>
        <p:txBody>
          <a:bodyPr wrap="square" lIns="0" tIns="0" rIns="0" bIns="0" rtlCol="0" anchor="t"/>
          <a:lstStyle/>
          <a:p>
            <a:pPr indent="0" marL="0">
              <a:buNone/>
            </a:pPr>
            <a:r>
              <a:rPr lang="en-US" sz="1400" i="1" dirty="0">
                <a:solidFill>
                  <a:srgbClr val="5C6B63"/>
                </a:solidFill>
                <a:latin typeface="Open Sans" pitchFamily="34" charset="0"/>
                <a:ea typeface="Open Sans" pitchFamily="34" charset="-122"/>
                <a:cs typeface="Open Sans" pitchFamily="34" charset="-120"/>
              </a:rPr>
              <a:t>What has arrived, what may still be missing, and how will a stranger know each copy is what AWS held?</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Three plain statements, and the first request</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Shape 4"/>
          <p:cNvSpPr/>
          <p:nvPr/>
        </p:nvSpPr>
        <p:spPr>
          <a:xfrm>
            <a:off x="411480" y="1371600"/>
            <a:ext cx="8321040" cy="2011680"/>
          </a:xfrm>
          <a:prstGeom prst="rect">
            <a:avLst/>
          </a:prstGeom>
          <a:solidFill>
            <a:srgbClr val="DCE6DE"/>
          </a:solidFill>
          <a:ln/>
        </p:spPr>
      </p:sp>
      <p:sp>
        <p:nvSpPr>
          <p:cNvPr id="7" name="Text 5"/>
          <p:cNvSpPr/>
          <p:nvPr/>
        </p:nvSpPr>
        <p:spPr>
          <a:xfrm>
            <a:off x="502920" y="1371600"/>
            <a:ext cx="8138160" cy="2011680"/>
          </a:xfrm>
          <a:prstGeom prst="rect">
            <a:avLst/>
          </a:prstGeom>
          <a:noFill/>
          <a:ln/>
        </p:spPr>
        <p:txBody>
          <a:bodyPr wrap="square" rtlCol="0" anchor="ctr"/>
          <a:lstStyle/>
          <a:p>
            <a:pPr marL="342900" indent="-342900">
              <a:spcAft>
                <a:spcPts val="600"/>
              </a:spcAft>
              <a:buSzPct val="100000"/>
              <a:buChar char="•"/>
            </a:pPr>
            <a:r>
              <a:rPr lang="en-US" sz="1400" b="1" dirty="0">
                <a:solidFill>
                  <a:srgbClr val="31423B"/>
                </a:solidFill>
                <a:latin typeface="Open Sans" pitchFamily="34" charset="0"/>
                <a:ea typeface="Open Sans" pitchFamily="34" charset="-122"/>
                <a:cs typeface="Open Sans" pitchFamily="34" charset="-120"/>
              </a:rPr>
              <a:t>Today you collect and preserve. You do not analyse: that is Session 13</a:t>
            </a:r>
            <a:endParaRPr lang="en-US" sz="1400" dirty="0"/>
          </a:p>
          <a:p>
            <a:pPr marL="342900" indent="-342900">
              <a:spcAft>
                <a:spcPts val="600"/>
              </a:spcAft>
              <a:buSzPct val="100000"/>
              <a:buChar char="•"/>
            </a:pPr>
            <a:r>
              <a:rPr lang="en-US" sz="1400" b="1" dirty="0">
                <a:solidFill>
                  <a:srgbClr val="31423B"/>
                </a:solidFill>
                <a:latin typeface="Open Sans" pitchFamily="34" charset="0"/>
                <a:ea typeface="Open Sans" pitchFamily="34" charset="-122"/>
                <a:cs typeface="Open Sans" pitchFamily="34" charset="-120"/>
              </a:rPr>
              <a:t>What you collect today is your coursework evidence. Nobody can collect it for you</a:t>
            </a:r>
            <a:endParaRPr lang="en-US" sz="1400" dirty="0"/>
          </a:p>
          <a:p>
            <a:pPr marL="342900" indent="-342900">
              <a:spcAft>
                <a:spcPts val="600"/>
              </a:spcAft>
              <a:buSzPct val="100000"/>
              <a:buChar char="•"/>
            </a:pPr>
            <a:r>
              <a:rPr lang="en-US" sz="1400" b="1" dirty="0">
                <a:solidFill>
                  <a:srgbClr val="31423B"/>
                </a:solidFill>
                <a:latin typeface="Open Sans" pitchFamily="34" charset="0"/>
                <a:ea typeface="Open Sans" pitchFamily="34" charset="-122"/>
                <a:cs typeface="Open Sans" pitchFamily="34" charset="-120"/>
              </a:rPr>
              <a:t>Nothing in your buckets changes, and nothing is taken down until your coursework is submitted</a:t>
            </a:r>
            <a:endParaRPr lang="en-US" sz="1400" dirty="0"/>
          </a:p>
        </p:txBody>
      </p:sp>
      <p:sp>
        <p:nvSpPr>
          <p:cNvPr id="8" name="Shape 6"/>
          <p:cNvSpPr/>
          <p:nvPr/>
        </p:nvSpPr>
        <p:spPr>
          <a:xfrm>
            <a:off x="411480" y="3520440"/>
            <a:ext cx="8321040" cy="1051560"/>
          </a:xfrm>
          <a:prstGeom prst="rect">
            <a:avLst/>
          </a:prstGeom>
          <a:solidFill>
            <a:srgbClr val="F1E8F2"/>
          </a:solidFill>
          <a:ln/>
        </p:spPr>
      </p:sp>
      <p:sp>
        <p:nvSpPr>
          <p:cNvPr id="9" name="Text 7"/>
          <p:cNvSpPr/>
          <p:nvPr/>
        </p:nvSpPr>
        <p:spPr>
          <a:xfrm>
            <a:off x="521208" y="3520440"/>
            <a:ext cx="8101584" cy="1051560"/>
          </a:xfrm>
          <a:prstGeom prst="rect">
            <a:avLst/>
          </a:prstGeom>
          <a:noFill/>
          <a:ln/>
        </p:spPr>
        <p:txBody>
          <a:bodyPr wrap="square" rtlCol="0" anchor="ctr"/>
          <a:lstStyle/>
          <a:p>
            <a:pPr indent="0" marL="0">
              <a:buNone/>
            </a:pPr>
            <a:r>
              <a:rPr lang="en-US" sz="1500" b="1" dirty="0">
                <a:solidFill>
                  <a:srgbClr val="31423B"/>
                </a:solidFill>
                <a:latin typeface="Open Sans" pitchFamily="34" charset="0"/>
                <a:ea typeface="Open Sans" pitchFamily="34" charset="-122"/>
                <a:cs typeface="Open Sans" pitchFamily="34" charset="-120"/>
              </a:rPr>
              <a:t>Since Session 11 nobody has touched the case bucket. Every request recorded now is yours, made on purpose. Write down when and from where before you make the first one.</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Acquisition without an image: six questions</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11480" y="1325880"/>
          <a:ext cx="8321040" cy="914400"/>
        </p:xfrm>
        <a:graphic>
          <a:graphicData uri="http://schemas.openxmlformats.org/drawingml/2006/table">
            <a:tbl>
              <a:tblPr/>
              <a:tblGrid>
                <a:gridCol w="2103120"/>
                <a:gridCol w="6217920"/>
              </a:tblGrid>
              <a:tr h="429768">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Question</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What you record</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r>
              <a:tr h="429768">
                <a:tc>
                  <a:txBody>
                    <a:bodyPr/>
                    <a:lstStyle/>
                    <a:p>
                      <a:pPr indent="0" marL="0">
                        <a:buNone/>
                      </a:pPr>
                      <a:r>
                        <a:rPr lang="en-US" sz="1300" b="1" dirty="0">
                          <a:solidFill>
                            <a:srgbClr val="31423B"/>
                          </a:solidFill>
                          <a:latin typeface="Open Sans" pitchFamily="34" charset="0"/>
                          <a:ea typeface="Open Sans" pitchFamily="34" charset="-122"/>
                          <a:cs typeface="Open Sans" pitchFamily="34" charset="-120"/>
                        </a:rPr>
                        <a:t>What?</a:t>
                      </a:r>
                      <a:endParaRPr lang="en-US" sz="13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300" dirty="0">
                          <a:solidFill>
                            <a:srgbClr val="31423B"/>
                          </a:solidFill>
                          <a:latin typeface="Open Sans" pitchFamily="34" charset="0"/>
                          <a:ea typeface="Open Sans" pitchFamily="34" charset="-122"/>
                          <a:cs typeface="Open Sans" pitchFamily="34" charset="-120"/>
                        </a:rPr>
                        <a:t>Bucket, key and version ID</a:t>
                      </a:r>
                      <a:endParaRPr lang="en-US" sz="13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429768">
                <a:tc>
                  <a:txBody>
                    <a:bodyPr/>
                    <a:lstStyle/>
                    <a:p>
                      <a:pPr indent="0" marL="0">
                        <a:buNone/>
                      </a:pPr>
                      <a:r>
                        <a:rPr lang="en-US" sz="1300" b="1" dirty="0">
                          <a:solidFill>
                            <a:srgbClr val="31423B"/>
                          </a:solidFill>
                          <a:latin typeface="Open Sans" pitchFamily="34" charset="0"/>
                          <a:ea typeface="Open Sans" pitchFamily="34" charset="-122"/>
                          <a:cs typeface="Open Sans" pitchFamily="34" charset="-120"/>
                        </a:rPr>
                        <a:t>How?</a:t>
                      </a:r>
                      <a:endParaRPr lang="en-US" sz="13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300" dirty="0">
                          <a:solidFill>
                            <a:srgbClr val="31423B"/>
                          </a:solidFill>
                          <a:latin typeface="Open Sans" pitchFamily="34" charset="0"/>
                          <a:ea typeface="Open Sans" pitchFamily="34" charset="-122"/>
                          <a:cs typeface="Open Sans" pitchFamily="34" charset="-120"/>
                        </a:rPr>
                        <a:t>Command, tool and its version</a:t>
                      </a:r>
                      <a:endParaRPr lang="en-US" sz="13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r h="429768">
                <a:tc>
                  <a:txBody>
                    <a:bodyPr/>
                    <a:lstStyle/>
                    <a:p>
                      <a:pPr indent="0" marL="0">
                        <a:buNone/>
                      </a:pPr>
                      <a:r>
                        <a:rPr lang="en-US" sz="1300" b="1" dirty="0">
                          <a:solidFill>
                            <a:srgbClr val="31423B"/>
                          </a:solidFill>
                          <a:latin typeface="Open Sans" pitchFamily="34" charset="0"/>
                          <a:ea typeface="Open Sans" pitchFamily="34" charset="-122"/>
                          <a:cs typeface="Open Sans" pitchFamily="34" charset="-120"/>
                        </a:rPr>
                        <a:t>When?</a:t>
                      </a:r>
                      <a:endParaRPr lang="en-US" sz="13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300" dirty="0">
                          <a:solidFill>
                            <a:srgbClr val="31423B"/>
                          </a:solidFill>
                          <a:latin typeface="Open Sans" pitchFamily="34" charset="0"/>
                          <a:ea typeface="Open Sans" pitchFamily="34" charset="-122"/>
                          <a:cs typeface="Open Sans" pitchFamily="34" charset="-120"/>
                        </a:rPr>
                        <a:t>Time of each request, in UTC</a:t>
                      </a:r>
                      <a:endParaRPr lang="en-US" sz="13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429768">
                <a:tc>
                  <a:txBody>
                    <a:bodyPr/>
                    <a:lstStyle/>
                    <a:p>
                      <a:pPr indent="0" marL="0">
                        <a:buNone/>
                      </a:pPr>
                      <a:r>
                        <a:rPr lang="en-US" sz="1300" b="1" dirty="0">
                          <a:solidFill>
                            <a:srgbClr val="31423B"/>
                          </a:solidFill>
                          <a:latin typeface="Open Sans" pitchFamily="34" charset="0"/>
                          <a:ea typeface="Open Sans" pitchFamily="34" charset="-122"/>
                          <a:cs typeface="Open Sans" pitchFamily="34" charset="-120"/>
                        </a:rPr>
                        <a:t>From where?</a:t>
                      </a:r>
                      <a:endParaRPr lang="en-US" sz="13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300" dirty="0">
                          <a:solidFill>
                            <a:srgbClr val="31423B"/>
                          </a:solidFill>
                          <a:latin typeface="Open Sans" pitchFamily="34" charset="0"/>
                          <a:ea typeface="Open Sans" pitchFamily="34" charset="-122"/>
                          <a:cs typeface="Open Sans" pitchFamily="34" charset="-120"/>
                        </a:rPr>
                        <a:t>Public IP address of the requesting computer</a:t>
                      </a:r>
                      <a:endParaRPr lang="en-US" sz="13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r h="429768">
                <a:tc>
                  <a:txBody>
                    <a:bodyPr/>
                    <a:lstStyle/>
                    <a:p>
                      <a:pPr indent="0" marL="0">
                        <a:buNone/>
                      </a:pPr>
                      <a:r>
                        <a:rPr lang="en-US" sz="1300" b="1" dirty="0">
                          <a:solidFill>
                            <a:srgbClr val="31423B"/>
                          </a:solidFill>
                          <a:latin typeface="Open Sans" pitchFamily="34" charset="0"/>
                          <a:ea typeface="Open Sans" pitchFamily="34" charset="-122"/>
                          <a:cs typeface="Open Sans" pitchFamily="34" charset="-120"/>
                        </a:rPr>
                        <a:t>As whom?</a:t>
                      </a:r>
                      <a:endParaRPr lang="en-US" sz="13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300" dirty="0">
                          <a:solidFill>
                            <a:srgbClr val="31423B"/>
                          </a:solidFill>
                          <a:latin typeface="Open Sans" pitchFamily="34" charset="0"/>
                          <a:ea typeface="Open Sans" pitchFamily="34" charset="-122"/>
                          <a:cs typeface="Open Sans" pitchFamily="34" charset="-120"/>
                        </a:rPr>
                        <a:t>The identity that signed the request</a:t>
                      </a:r>
                      <a:endParaRPr lang="en-US" sz="13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429768">
                <a:tc>
                  <a:txBody>
                    <a:bodyPr/>
                    <a:lstStyle/>
                    <a:p>
                      <a:pPr indent="0" marL="0">
                        <a:buNone/>
                      </a:pPr>
                      <a:r>
                        <a:rPr lang="en-US" sz="1300" b="1" dirty="0">
                          <a:solidFill>
                            <a:srgbClr val="31423B"/>
                          </a:solidFill>
                          <a:latin typeface="Open Sans" pitchFamily="34" charset="0"/>
                          <a:ea typeface="Open Sans" pitchFamily="34" charset="-122"/>
                          <a:cs typeface="Open Sans" pitchFamily="34" charset="-120"/>
                        </a:rPr>
                        <a:t>Unchanged since?</a:t>
                      </a:r>
                      <a:endParaRPr lang="en-US" sz="13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300" dirty="0">
                          <a:solidFill>
                            <a:srgbClr val="31423B"/>
                          </a:solidFill>
                          <a:latin typeface="Open Sans" pitchFamily="34" charset="0"/>
                          <a:ea typeface="Open Sans" pitchFamily="34" charset="-122"/>
                          <a:cs typeface="Open Sans" pitchFamily="34" charset="-120"/>
                        </a:rPr>
                        <a:t>SHA-256 of each file, taken on arrival</a:t>
                      </a:r>
                      <a:endParaRPr lang="en-US" sz="13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bl>
          </a:graphicData>
        </a:graphic>
      </p:graphicFrame>
      <p:sp>
        <p:nvSpPr>
          <p:cNvPr id="7" name="Text 4"/>
          <p:cNvSpPr/>
          <p:nvPr/>
        </p:nvSpPr>
        <p:spPr>
          <a:xfrm>
            <a:off x="411480" y="4407408"/>
            <a:ext cx="8321040" cy="274320"/>
          </a:xfrm>
          <a:prstGeom prst="rect">
            <a:avLst/>
          </a:prstGeom>
          <a:noFill/>
          <a:ln/>
        </p:spPr>
        <p:txBody>
          <a:bodyPr wrap="square" lIns="0" tIns="0" rIns="0" bIns="0" rtlCol="0" anchor="ctr"/>
          <a:lstStyle/>
          <a:p>
            <a:pPr indent="0" marL="0">
              <a:buNone/>
            </a:pPr>
            <a:r>
              <a:rPr lang="en-US" sz="1200" i="1" dirty="0">
                <a:solidFill>
                  <a:srgbClr val="5C6B63"/>
                </a:solidFill>
                <a:latin typeface="Open Sans" pitchFamily="34" charset="0"/>
                <a:ea typeface="Open Sans" pitchFamily="34" charset="-122"/>
                <a:cs typeface="Open Sans" pitchFamily="34" charset="-120"/>
              </a:rPr>
              <a:t>Page section 1. Together the answers do what the forensic image did on its own: a stranger can check the copy.</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A certified copy from the Land Registry</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Shape 4"/>
          <p:cNvSpPr/>
          <p:nvPr/>
        </p:nvSpPr>
        <p:spPr>
          <a:xfrm>
            <a:off x="411480" y="1371600"/>
            <a:ext cx="8321040" cy="2834640"/>
          </a:xfrm>
          <a:prstGeom prst="rect">
            <a:avLst/>
          </a:prstGeom>
          <a:solidFill>
            <a:srgbClr val="E8F0EA"/>
          </a:solidFill>
          <a:ln/>
        </p:spPr>
      </p:sp>
      <p:sp>
        <p:nvSpPr>
          <p:cNvPr id="7" name="Shape 5"/>
          <p:cNvSpPr/>
          <p:nvPr/>
        </p:nvSpPr>
        <p:spPr>
          <a:xfrm>
            <a:off x="411480" y="1371600"/>
            <a:ext cx="82296" cy="2834640"/>
          </a:xfrm>
          <a:prstGeom prst="rect">
            <a:avLst/>
          </a:prstGeom>
          <a:solidFill>
            <a:srgbClr val="6E8472"/>
          </a:solidFill>
          <a:ln/>
        </p:spPr>
      </p:sp>
      <p:sp>
        <p:nvSpPr>
          <p:cNvPr id="8" name="Text 6"/>
          <p:cNvSpPr/>
          <p:nvPr/>
        </p:nvSpPr>
        <p:spPr>
          <a:xfrm>
            <a:off x="621792" y="1444752"/>
            <a:ext cx="7955280" cy="237744"/>
          </a:xfrm>
          <a:prstGeom prst="rect">
            <a:avLst/>
          </a:prstGeom>
          <a:noFill/>
          <a:ln/>
        </p:spPr>
        <p:txBody>
          <a:bodyPr wrap="square" lIns="0" tIns="0" rIns="0" bIns="0" rtlCol="0" anchor="ctr"/>
          <a:lstStyle/>
          <a:p>
            <a:pPr indent="0" marL="0">
              <a:buNone/>
            </a:pPr>
            <a:r>
              <a:rPr lang="en-US" sz="1300" b="1" spc="200" kern="0" dirty="0">
                <a:solidFill>
                  <a:srgbClr val="4F6356"/>
                </a:solidFill>
                <a:latin typeface="Open Sans" pitchFamily="34" charset="0"/>
                <a:ea typeface="Open Sans" pitchFamily="34" charset="-122"/>
                <a:cs typeface="Open Sans" pitchFamily="34" charset="-120"/>
              </a:rPr>
              <a:t>ANALOGY</a:t>
            </a:r>
            <a:endParaRPr lang="en-US" sz="1300" dirty="0"/>
          </a:p>
        </p:txBody>
      </p:sp>
      <p:sp>
        <p:nvSpPr>
          <p:cNvPr id="9" name="Text 7"/>
          <p:cNvSpPr/>
          <p:nvPr/>
        </p:nvSpPr>
        <p:spPr>
          <a:xfrm>
            <a:off x="621792" y="1700784"/>
            <a:ext cx="7955280" cy="2432304"/>
          </a:xfrm>
          <a:prstGeom prst="rect">
            <a:avLst/>
          </a:prstGeom>
          <a:noFill/>
          <a:ln/>
        </p:spPr>
        <p:txBody>
          <a:bodyPr wrap="square" lIns="0" tIns="0" rIns="0" bIns="0" rtlCol="0" anchor="t"/>
          <a:lstStyle/>
          <a:p>
            <a:pPr indent="0" marL="0">
              <a:spcAft>
                <a:spcPts val="400"/>
              </a:spcAft>
              <a:buNone/>
            </a:pPr>
            <a:r>
              <a:rPr lang="en-US" sz="1300" dirty="0">
                <a:solidFill>
                  <a:srgbClr val="31423B"/>
                </a:solidFill>
                <a:latin typeface="Open Sans" pitchFamily="34" charset="0"/>
                <a:ea typeface="Open Sans" pitchFamily="34" charset="-122"/>
                <a:cs typeface="Open Sans" pitchFamily="34" charset="-120"/>
              </a:rPr>
              <a:t>Nobody takes the original register out of the building: the registry's staff make the copy, and your application records who asked, for which record and when. </a:t>
            </a:r>
            <a:pPr indent="0" marL="0">
              <a:spcAft>
                <a:spcPts val="400"/>
              </a:spcAft>
              <a:buNone/>
            </a:pPr>
            <a:r>
              <a:rPr lang="en-US" sz="1300" b="1" dirty="0">
                <a:solidFill>
                  <a:srgbClr val="31423B"/>
                </a:solidFill>
                <a:latin typeface="Open Sans" pitchFamily="34" charset="0"/>
                <a:ea typeface="Open Sans" pitchFamily="34" charset="-122"/>
                <a:cs typeface="Open Sans" pitchFamily="34" charset="-120"/>
              </a:rPr>
              <a:t>Why it fits: </a:t>
            </a:r>
            <a:pPr indent="0" marL="0">
              <a:spcAft>
                <a:spcPts val="400"/>
              </a:spcAft>
              <a:buNone/>
            </a:pPr>
            <a:r>
              <a:rPr lang="en-US" sz="1300" dirty="0">
                <a:solidFill>
                  <a:srgbClr val="31423B"/>
                </a:solidFill>
                <a:latin typeface="Open Sans" pitchFamily="34" charset="0"/>
                <a:ea typeface="Open Sans" pitchFamily="34" charset="-122"/>
                <a:cs typeface="Open Sans" pitchFamily="34" charset="-120"/>
              </a:rPr>
              <a:t>your commands are the application, AWS's service makes the copy, and your collection record is the paper trail. </a:t>
            </a:r>
            <a:pPr indent="0" marL="0">
              <a:spcAft>
                <a:spcPts val="400"/>
              </a:spcAft>
              <a:buNone/>
            </a:pPr>
            <a:r>
              <a:rPr lang="en-US" sz="1300" b="1" dirty="0">
                <a:solidFill>
                  <a:srgbClr val="31423B"/>
                </a:solidFill>
                <a:latin typeface="Open Sans" pitchFamily="34" charset="0"/>
                <a:ea typeface="Open Sans" pitchFamily="34" charset="-122"/>
                <a:cs typeface="Open Sans" pitchFamily="34" charset="-120"/>
              </a:rPr>
              <a:t>Where it breaks: </a:t>
            </a:r>
            <a:pPr indent="0" marL="0">
              <a:spcAft>
                <a:spcPts val="400"/>
              </a:spcAft>
              <a:buNone/>
            </a:pPr>
            <a:r>
              <a:rPr lang="en-US" sz="1300" dirty="0">
                <a:solidFill>
                  <a:srgbClr val="31423B"/>
                </a:solidFill>
                <a:latin typeface="Open Sans" pitchFamily="34" charset="0"/>
                <a:ea typeface="Open Sans" pitchFamily="34" charset="-122"/>
                <a:cs typeface="Open Sans" pitchFamily="34" charset="-120"/>
              </a:rPr>
              <a:t>the registry certifies its copy with a seal; S3 gives a download no certificate, so you hash it yourself, at once. Only the CloudTrail files carry a check of their own, and it works on AWS's files, not your copy. </a:t>
            </a:r>
            <a:pPr indent="0" marL="0">
              <a:spcAft>
                <a:spcPts val="400"/>
              </a:spcAft>
              <a:buNone/>
            </a:pPr>
            <a:r>
              <a:rPr lang="en-US" sz="1300" b="1" dirty="0">
                <a:solidFill>
                  <a:srgbClr val="31423B"/>
                </a:solidFill>
                <a:latin typeface="Open Sans" pitchFamily="34" charset="0"/>
                <a:ea typeface="Open Sans" pitchFamily="34" charset="-122"/>
                <a:cs typeface="Open Sans" pitchFamily="34" charset="-120"/>
              </a:rPr>
              <a:t>So what: </a:t>
            </a:r>
            <a:pPr indent="0" marL="0">
              <a:spcAft>
                <a:spcPts val="400"/>
              </a:spcAft>
              <a:buNone/>
            </a:pPr>
            <a:r>
              <a:rPr lang="en-US" sz="1300" dirty="0">
                <a:solidFill>
                  <a:srgbClr val="31423B"/>
                </a:solidFill>
                <a:latin typeface="Open Sans" pitchFamily="34" charset="0"/>
                <a:ea typeface="Open Sans" pitchFamily="34" charset="-122"/>
                <a:cs typeface="Open Sans" pitchFamily="34" charset="-120"/>
              </a:rPr>
              <a:t>the provider will not vouch for your copy. You vouch for it, with a hash on arrival and a record of every request.</a:t>
            </a:r>
            <a:endParaRPr lang="en-US" sz="1300" dirty="0"/>
          </a:p>
        </p:txBody>
      </p:sp>
      <p:sp>
        <p:nvSpPr>
          <p:cNvPr id="10" name="Text 8"/>
          <p:cNvSpPr/>
          <p:nvPr/>
        </p:nvSpPr>
        <p:spPr>
          <a:xfrm>
            <a:off x="411480" y="4407408"/>
            <a:ext cx="8321040" cy="274320"/>
          </a:xfrm>
          <a:prstGeom prst="rect">
            <a:avLst/>
          </a:prstGeom>
          <a:noFill/>
          <a:ln/>
        </p:spPr>
        <p:txBody>
          <a:bodyPr wrap="square" lIns="0" tIns="0" rIns="0" bIns="0" rtlCol="0" anchor="ctr"/>
          <a:lstStyle/>
          <a:p>
            <a:pPr indent="0" marL="0">
              <a:buNone/>
            </a:pPr>
            <a:r>
              <a:rPr lang="en-US" sz="1200" i="1" dirty="0">
                <a:solidFill>
                  <a:srgbClr val="5C6B63"/>
                </a:solidFill>
                <a:latin typeface="Open Sans" pitchFamily="34" charset="0"/>
                <a:ea typeface="Open Sans" pitchFamily="34" charset="-122"/>
                <a:cs typeface="Open Sans" pitchFamily="34" charset="-120"/>
              </a:rPr>
              <a:t>Page section 1, the comparison box.</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The two clocks, in your own account</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Shape 4"/>
          <p:cNvSpPr/>
          <p:nvPr/>
        </p:nvSpPr>
        <p:spPr>
          <a:xfrm>
            <a:off x="411480" y="1371600"/>
            <a:ext cx="4133088" cy="402336"/>
          </a:xfrm>
          <a:prstGeom prst="rect">
            <a:avLst/>
          </a:prstGeom>
          <a:solidFill>
            <a:srgbClr val="6E8472"/>
          </a:solidFill>
          <a:ln/>
        </p:spPr>
      </p:sp>
      <p:sp>
        <p:nvSpPr>
          <p:cNvPr id="7" name="Text 5"/>
          <p:cNvSpPr/>
          <p:nvPr/>
        </p:nvSpPr>
        <p:spPr>
          <a:xfrm>
            <a:off x="521208" y="1371600"/>
            <a:ext cx="3913632" cy="402336"/>
          </a:xfrm>
          <a:prstGeom prst="rect">
            <a:avLst/>
          </a:prstGeom>
          <a:noFill/>
          <a:ln/>
        </p:spPr>
        <p:txBody>
          <a:bodyPr wrap="square" lIns="0" tIns="0" rIns="0" bIns="0" rtlCol="0" anchor="ctr"/>
          <a:lstStyle/>
          <a:p>
            <a:pPr indent="0" marL="0">
              <a:buNone/>
            </a:pPr>
            <a:r>
              <a:rPr lang="en-US" sz="1500" b="1" dirty="0">
                <a:solidFill>
                  <a:srgbClr val="FFFFFF"/>
                </a:solidFill>
                <a:latin typeface="Open Sans" pitchFamily="34" charset="0"/>
                <a:ea typeface="Open Sans" pitchFamily="34" charset="-122"/>
                <a:cs typeface="Open Sans" pitchFamily="34" charset="-120"/>
              </a:rPr>
              <a:t>CloudTrail</a:t>
            </a:r>
            <a:endParaRPr lang="en-US" sz="1500" dirty="0"/>
          </a:p>
        </p:txBody>
      </p:sp>
      <p:sp>
        <p:nvSpPr>
          <p:cNvPr id="8" name="Shape 6"/>
          <p:cNvSpPr/>
          <p:nvPr/>
        </p:nvSpPr>
        <p:spPr>
          <a:xfrm>
            <a:off x="411480" y="1773936"/>
            <a:ext cx="4133088" cy="1828800"/>
          </a:xfrm>
          <a:prstGeom prst="rect">
            <a:avLst/>
          </a:prstGeom>
          <a:solidFill>
            <a:srgbClr val="FFFFFF"/>
          </a:solidFill>
          <a:ln w="9525">
            <a:solidFill>
              <a:srgbClr val="CBD6CE"/>
            </a:solidFill>
            <a:prstDash val="solid"/>
          </a:ln>
        </p:spPr>
      </p:sp>
      <p:sp>
        <p:nvSpPr>
          <p:cNvPr id="9" name="Text 7"/>
          <p:cNvSpPr/>
          <p:nvPr/>
        </p:nvSpPr>
        <p:spPr>
          <a:xfrm>
            <a:off x="539496" y="1828800"/>
            <a:ext cx="3877056" cy="1719072"/>
          </a:xfrm>
          <a:prstGeom prst="rect">
            <a:avLst/>
          </a:prstGeom>
          <a:noFill/>
          <a:ln/>
        </p:spPr>
        <p:txBody>
          <a:bodyPr wrap="square" lIns="0" tIns="0" rIns="0" bIns="0" rtlCol="0" anchor="t"/>
          <a:lstStyle/>
          <a:p>
            <a:pPr indent="0" marL="0">
              <a:buNone/>
            </a:pPr>
            <a:r>
              <a:rPr lang="en-US" sz="1300" b="1" dirty="0">
                <a:solidFill>
                  <a:srgbClr val="4F6356"/>
                </a:solidFill>
                <a:latin typeface="Open Sans" pitchFamily="34" charset="0"/>
                <a:ea typeface="Open Sans" pitchFamily="34" charset="-122"/>
                <a:cs typeface="Open Sans" pitchFamily="34" charset="-120"/>
              </a:rPr>
              <a:t>Files about every 5 minutes</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AWS: typically within about 5 minutes of the action; not guaranteed</a:t>
            </a:r>
            <a:endParaRPr lang="en-US" sz="1300" dirty="0"/>
          </a:p>
          <a:p>
            <a:pPr indent="0" marL="0">
              <a:buNone/>
            </a:pPr>
            <a:r>
              <a:rPr lang="en-US" sz="1300" b="1" dirty="0">
                <a:solidFill>
                  <a:srgbClr val="4F6356"/>
                </a:solidFill>
                <a:latin typeface="Open Sans" pitchFamily="34" charset="0"/>
                <a:ea typeface="Open Sans" pitchFamily="34" charset="-122"/>
                <a:cs typeface="Open Sans" pitchFamily="34" charset="-120"/>
              </a:rPr>
              <a:t>What you see</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Files landing within minutes of the incident, then every few minutes</a:t>
            </a:r>
            <a:endParaRPr lang="en-US" sz="1300" dirty="0"/>
          </a:p>
        </p:txBody>
      </p:sp>
      <p:sp>
        <p:nvSpPr>
          <p:cNvPr id="10" name="Shape 8"/>
          <p:cNvSpPr/>
          <p:nvPr/>
        </p:nvSpPr>
        <p:spPr>
          <a:xfrm>
            <a:off x="4645152" y="1371600"/>
            <a:ext cx="4133088" cy="402336"/>
          </a:xfrm>
          <a:prstGeom prst="rect">
            <a:avLst/>
          </a:prstGeom>
          <a:solidFill>
            <a:srgbClr val="8A4E8F"/>
          </a:solidFill>
          <a:ln/>
        </p:spPr>
      </p:sp>
      <p:sp>
        <p:nvSpPr>
          <p:cNvPr id="11" name="Text 9"/>
          <p:cNvSpPr/>
          <p:nvPr/>
        </p:nvSpPr>
        <p:spPr>
          <a:xfrm>
            <a:off x="4754880" y="1371600"/>
            <a:ext cx="3913632" cy="402336"/>
          </a:xfrm>
          <a:prstGeom prst="rect">
            <a:avLst/>
          </a:prstGeom>
          <a:noFill/>
          <a:ln/>
        </p:spPr>
        <p:txBody>
          <a:bodyPr wrap="square" lIns="0" tIns="0" rIns="0" bIns="0" rtlCol="0" anchor="ctr"/>
          <a:lstStyle/>
          <a:p>
            <a:pPr indent="0" marL="0">
              <a:buNone/>
            </a:pPr>
            <a:r>
              <a:rPr lang="en-US" sz="1500" b="1" dirty="0">
                <a:solidFill>
                  <a:srgbClr val="FFFFFF"/>
                </a:solidFill>
                <a:latin typeface="Open Sans" pitchFamily="34" charset="0"/>
                <a:ea typeface="Open Sans" pitchFamily="34" charset="-122"/>
                <a:cs typeface="Open Sans" pitchFamily="34" charset="-120"/>
              </a:rPr>
              <a:t>Server access logs</a:t>
            </a:r>
            <a:endParaRPr lang="en-US" sz="1500" dirty="0"/>
          </a:p>
        </p:txBody>
      </p:sp>
      <p:sp>
        <p:nvSpPr>
          <p:cNvPr id="12" name="Shape 10"/>
          <p:cNvSpPr/>
          <p:nvPr/>
        </p:nvSpPr>
        <p:spPr>
          <a:xfrm>
            <a:off x="4645152" y="1773936"/>
            <a:ext cx="4133088" cy="1828800"/>
          </a:xfrm>
          <a:prstGeom prst="rect">
            <a:avLst/>
          </a:prstGeom>
          <a:solidFill>
            <a:srgbClr val="FFFFFF"/>
          </a:solidFill>
          <a:ln w="9525">
            <a:solidFill>
              <a:srgbClr val="CBD6CE"/>
            </a:solidFill>
            <a:prstDash val="solid"/>
          </a:ln>
        </p:spPr>
      </p:sp>
      <p:sp>
        <p:nvSpPr>
          <p:cNvPr id="13" name="Text 11"/>
          <p:cNvSpPr/>
          <p:nvPr/>
        </p:nvSpPr>
        <p:spPr>
          <a:xfrm>
            <a:off x="4773168" y="1828800"/>
            <a:ext cx="3877056" cy="1719072"/>
          </a:xfrm>
          <a:prstGeom prst="rect">
            <a:avLst/>
          </a:prstGeom>
          <a:noFill/>
          <a:ln/>
        </p:spPr>
        <p:txBody>
          <a:bodyPr wrap="square" lIns="0" tIns="0" rIns="0" bIns="0" rtlCol="0" anchor="t"/>
          <a:lstStyle/>
          <a:p>
            <a:pPr indent="0" marL="0">
              <a:buNone/>
            </a:pPr>
            <a:r>
              <a:rPr lang="en-US" sz="1300" b="1" dirty="0">
                <a:solidFill>
                  <a:srgbClr val="8A4E8F"/>
                </a:solidFill>
                <a:latin typeface="Open Sans" pitchFamily="34" charset="0"/>
                <a:ea typeface="Open Sans" pitchFamily="34" charset="-122"/>
                <a:cs typeface="Open Sans" pitchFamily="34" charset="-120"/>
              </a:rPr>
              <a:t>Best-effort delivery</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AWS: most within a few hours; some later; some never; not a complete account</a:t>
            </a:r>
            <a:endParaRPr lang="en-US" sz="1300" dirty="0"/>
          </a:p>
          <a:p>
            <a:pPr indent="0" marL="0">
              <a:buNone/>
            </a:pPr>
            <a:r>
              <a:rPr lang="en-US" sz="1300" b="1" dirty="0">
                <a:solidFill>
                  <a:srgbClr val="8A4E8F"/>
                </a:solidFill>
                <a:latin typeface="Open Sans" pitchFamily="34" charset="0"/>
                <a:ea typeface="Open Sans" pitchFamily="34" charset="-122"/>
                <a:cs typeface="Open Sans" pitchFamily="34" charset="-120"/>
              </a:rPr>
              <a:t>What you see</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Files landing later, in bursts, perhaps for hours</a:t>
            </a:r>
            <a:endParaRPr lang="en-US" sz="1300" dirty="0"/>
          </a:p>
        </p:txBody>
      </p:sp>
      <p:sp>
        <p:nvSpPr>
          <p:cNvPr id="14" name="Shape 12"/>
          <p:cNvSpPr/>
          <p:nvPr/>
        </p:nvSpPr>
        <p:spPr>
          <a:xfrm>
            <a:off x="411480" y="3703320"/>
            <a:ext cx="8321040" cy="777240"/>
          </a:xfrm>
          <a:prstGeom prst="rect">
            <a:avLst/>
          </a:prstGeom>
          <a:solidFill>
            <a:srgbClr val="F1E8F2"/>
          </a:solidFill>
          <a:ln/>
        </p:spPr>
      </p:sp>
      <p:sp>
        <p:nvSpPr>
          <p:cNvPr id="15" name="Text 13"/>
          <p:cNvSpPr/>
          <p:nvPr/>
        </p:nvSpPr>
        <p:spPr>
          <a:xfrm>
            <a:off x="521208" y="3703320"/>
            <a:ext cx="8101584" cy="777240"/>
          </a:xfrm>
          <a:prstGeom prst="rect">
            <a:avLst/>
          </a:prstGeom>
          <a:noFill/>
          <a:ln/>
        </p:spPr>
        <p:txBody>
          <a:bodyPr wrap="square" rtlCol="0" anchor="ctr"/>
          <a:lstStyle/>
          <a:p>
            <a:pPr indent="0" marL="0">
              <a:buNone/>
            </a:pPr>
            <a:r>
              <a:rPr lang="en-US" sz="1300" b="1" dirty="0">
                <a:solidFill>
                  <a:srgbClr val="31423B"/>
                </a:solidFill>
                <a:latin typeface="Open Sans" pitchFamily="34" charset="0"/>
                <a:ea typeface="Open Sans" pitchFamily="34" charset="-122"/>
                <a:cs typeface="Open Sans" pitchFamily="34" charset="-120"/>
              </a:rPr>
              <a:t>Completeness is never proved. Record: listed at [time], [N] files; collected again at [time], [M] files; best-effort delivery, records may be missing.</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The observer in the record</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11480" y="1325880"/>
          <a:ext cx="8321040" cy="914400"/>
        </p:xfrm>
        <a:graphic>
          <a:graphicData uri="http://schemas.openxmlformats.org/drawingml/2006/table">
            <a:tbl>
              <a:tblPr/>
              <a:tblGrid>
                <a:gridCol w="3657600"/>
                <a:gridCol w="2468880"/>
                <a:gridCol w="2194560"/>
              </a:tblGrid>
              <a:tr h="457200">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Today's request</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CloudTrail</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Server access logs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r>
              <a:tr h="457200">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Sync the trail and access-log buckets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No line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No line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validate-logs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Management lookups only</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No line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r h="457200">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list-object-versions on the case bucket</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If your selector matches lists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A line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head-object, get-object on the case bucket</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A data event</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A line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bl>
          </a:graphicData>
        </a:graphic>
      </p:graphicFrame>
      <p:sp>
        <p:nvSpPr>
          <p:cNvPr id="7" name="Shape 4"/>
          <p:cNvSpPr/>
          <p:nvPr/>
        </p:nvSpPr>
        <p:spPr>
          <a:xfrm>
            <a:off x="411480" y="3657600"/>
            <a:ext cx="8321040" cy="777240"/>
          </a:xfrm>
          <a:prstGeom prst="rect">
            <a:avLst/>
          </a:prstGeom>
          <a:solidFill>
            <a:srgbClr val="F1E8F2"/>
          </a:solidFill>
          <a:ln/>
        </p:spPr>
      </p:sp>
      <p:sp>
        <p:nvSpPr>
          <p:cNvPr id="8" name="Text 5"/>
          <p:cNvSpPr/>
          <p:nvPr/>
        </p:nvSpPr>
        <p:spPr>
          <a:xfrm>
            <a:off x="521208" y="3657600"/>
            <a:ext cx="8101584" cy="777240"/>
          </a:xfrm>
          <a:prstGeom prst="rect">
            <a:avLst/>
          </a:prstGeom>
          <a:noFill/>
          <a:ln/>
        </p:spPr>
        <p:txBody>
          <a:bodyPr wrap="square" rtlCol="0" anchor="ctr"/>
          <a:lstStyle/>
          <a:p>
            <a:pPr indent="0" marL="0">
              <a:buNone/>
            </a:pPr>
            <a:r>
              <a:rPr lang="en-US" sz="1300" b="1" dirty="0">
                <a:solidFill>
                  <a:srgbClr val="31423B"/>
                </a:solidFill>
                <a:latin typeface="Open Sans" pitchFamily="34" charset="0"/>
                <a:ea typeface="Open Sans" pitchFamily="34" charset="-122"/>
                <a:cs typeface="Open Sans" pitchFamily="34" charset="-120"/>
              </a:rPr>
              <a:t>Part 1 of the incident ran from the same Kali VM, as the same user, probably from the same address. Time and the kind of request are what separate them.</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Sign the visitors' book before you read it</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Shape 4"/>
          <p:cNvSpPr/>
          <p:nvPr/>
        </p:nvSpPr>
        <p:spPr>
          <a:xfrm>
            <a:off x="411480" y="1371600"/>
            <a:ext cx="8321040" cy="2834640"/>
          </a:xfrm>
          <a:prstGeom prst="rect">
            <a:avLst/>
          </a:prstGeom>
          <a:solidFill>
            <a:srgbClr val="E8F0EA"/>
          </a:solidFill>
          <a:ln/>
        </p:spPr>
      </p:sp>
      <p:sp>
        <p:nvSpPr>
          <p:cNvPr id="7" name="Shape 5"/>
          <p:cNvSpPr/>
          <p:nvPr/>
        </p:nvSpPr>
        <p:spPr>
          <a:xfrm>
            <a:off x="411480" y="1371600"/>
            <a:ext cx="82296" cy="2834640"/>
          </a:xfrm>
          <a:prstGeom prst="rect">
            <a:avLst/>
          </a:prstGeom>
          <a:solidFill>
            <a:srgbClr val="6E8472"/>
          </a:solidFill>
          <a:ln/>
        </p:spPr>
      </p:sp>
      <p:sp>
        <p:nvSpPr>
          <p:cNvPr id="8" name="Text 6"/>
          <p:cNvSpPr/>
          <p:nvPr/>
        </p:nvSpPr>
        <p:spPr>
          <a:xfrm>
            <a:off x="621792" y="1444752"/>
            <a:ext cx="7955280" cy="237744"/>
          </a:xfrm>
          <a:prstGeom prst="rect">
            <a:avLst/>
          </a:prstGeom>
          <a:noFill/>
          <a:ln/>
        </p:spPr>
        <p:txBody>
          <a:bodyPr wrap="square" lIns="0" tIns="0" rIns="0" bIns="0" rtlCol="0" anchor="ctr"/>
          <a:lstStyle/>
          <a:p>
            <a:pPr indent="0" marL="0">
              <a:buNone/>
            </a:pPr>
            <a:r>
              <a:rPr lang="en-US" sz="1300" b="1" spc="200" kern="0" dirty="0">
                <a:solidFill>
                  <a:srgbClr val="4F6356"/>
                </a:solidFill>
                <a:latin typeface="Open Sans" pitchFamily="34" charset="0"/>
                <a:ea typeface="Open Sans" pitchFamily="34" charset="-122"/>
                <a:cs typeface="Open Sans" pitchFamily="34" charset="-120"/>
              </a:rPr>
              <a:t>ANALOGY</a:t>
            </a:r>
            <a:endParaRPr lang="en-US" sz="1300" dirty="0"/>
          </a:p>
        </p:txBody>
      </p:sp>
      <p:sp>
        <p:nvSpPr>
          <p:cNvPr id="9" name="Text 7"/>
          <p:cNvSpPr/>
          <p:nvPr/>
        </p:nvSpPr>
        <p:spPr>
          <a:xfrm>
            <a:off x="621792" y="1700784"/>
            <a:ext cx="7955280" cy="2432304"/>
          </a:xfrm>
          <a:prstGeom prst="rect">
            <a:avLst/>
          </a:prstGeom>
          <a:noFill/>
          <a:ln/>
        </p:spPr>
        <p:txBody>
          <a:bodyPr wrap="square" lIns="0" tIns="0" rIns="0" bIns="0" rtlCol="0" anchor="t"/>
          <a:lstStyle/>
          <a:p>
            <a:pPr indent="0" marL="0">
              <a:spcAft>
                <a:spcPts val="400"/>
              </a:spcAft>
              <a:buNone/>
            </a:pPr>
            <a:r>
              <a:rPr lang="en-US" sz="1300" dirty="0">
                <a:solidFill>
                  <a:srgbClr val="31423B"/>
                </a:solidFill>
                <a:latin typeface="Open Sans" pitchFamily="34" charset="0"/>
                <a:ea typeface="Open Sans" pitchFamily="34" charset="-122"/>
                <a:cs typeface="Open Sans" pitchFamily="34" charset="-120"/>
              </a:rPr>
              <a:t>Reading a building's visitors' book, where you must sign before you read. </a:t>
            </a:r>
            <a:pPr indent="0" marL="0">
              <a:spcAft>
                <a:spcPts val="400"/>
              </a:spcAft>
              <a:buNone/>
            </a:pPr>
            <a:r>
              <a:rPr lang="en-US" sz="1300" b="1" dirty="0">
                <a:solidFill>
                  <a:srgbClr val="31423B"/>
                </a:solidFill>
                <a:latin typeface="Open Sans" pitchFamily="34" charset="0"/>
                <a:ea typeface="Open Sans" pitchFamily="34" charset="-122"/>
                <a:cs typeface="Open Sans" pitchFamily="34" charset="-120"/>
              </a:rPr>
              <a:t>Why it fits: </a:t>
            </a:r>
            <a:pPr indent="0" marL="0">
              <a:spcAft>
                <a:spcPts val="400"/>
              </a:spcAft>
              <a:buNone/>
            </a:pPr>
            <a:r>
              <a:rPr lang="en-US" sz="1300" dirty="0">
                <a:solidFill>
                  <a:srgbClr val="31423B"/>
                </a:solidFill>
                <a:latin typeface="Open Sans" pitchFamily="34" charset="0"/>
                <a:ea typeface="Open Sans" pitchFamily="34" charset="-122"/>
                <a:cs typeface="Open Sans" pitchFamily="34" charset="-120"/>
              </a:rPr>
              <a:t>the book is the evidence; your signature joins the other lines, written the same way, with your name and the time. </a:t>
            </a:r>
            <a:pPr indent="0" marL="0">
              <a:spcAft>
                <a:spcPts val="400"/>
              </a:spcAft>
              <a:buNone/>
            </a:pPr>
            <a:r>
              <a:rPr lang="en-US" sz="1300" b="1" dirty="0">
                <a:solidFill>
                  <a:srgbClr val="31423B"/>
                </a:solidFill>
                <a:latin typeface="Open Sans" pitchFamily="34" charset="0"/>
                <a:ea typeface="Open Sans" pitchFamily="34" charset="-122"/>
                <a:cs typeface="Open Sans" pitchFamily="34" charset="-120"/>
              </a:rPr>
              <a:t>Where it breaks: </a:t>
            </a:r>
            <a:pPr indent="0" marL="0">
              <a:spcAft>
                <a:spcPts val="400"/>
              </a:spcAft>
              <a:buNone/>
            </a:pPr>
            <a:r>
              <a:rPr lang="en-US" sz="1300" dirty="0">
                <a:solidFill>
                  <a:srgbClr val="31423B"/>
                </a:solidFill>
                <a:latin typeface="Open Sans" pitchFamily="34" charset="0"/>
                <a:ea typeface="Open Sans" pitchFamily="34" charset="-122"/>
                <a:cs typeface="Open Sans" pitchFamily="34" charset="-120"/>
              </a:rPr>
              <a:t>you see your own line at once; your access-log line arrives hours later, so today's copy lacks it and a later copy has it. The trail and access-log buckets keep no book at all. And signing never changes earlier lines. </a:t>
            </a:r>
            <a:pPr indent="0" marL="0">
              <a:spcAft>
                <a:spcPts val="400"/>
              </a:spcAft>
              <a:buNone/>
            </a:pPr>
            <a:r>
              <a:rPr lang="en-US" sz="1300" b="1" dirty="0">
                <a:solidFill>
                  <a:srgbClr val="31423B"/>
                </a:solidFill>
                <a:latin typeface="Open Sans" pitchFamily="34" charset="0"/>
                <a:ea typeface="Open Sans" pitchFamily="34" charset="-122"/>
                <a:cs typeface="Open Sans" pitchFamily="34" charset="-120"/>
              </a:rPr>
              <a:t>So what: </a:t>
            </a:r>
            <a:pPr indent="0" marL="0">
              <a:spcAft>
                <a:spcPts val="400"/>
              </a:spcAft>
              <a:buNone/>
            </a:pPr>
            <a:r>
              <a:rPr lang="en-US" sz="1300" dirty="0">
                <a:solidFill>
                  <a:srgbClr val="31423B"/>
                </a:solidFill>
                <a:latin typeface="Open Sans" pitchFamily="34" charset="0"/>
                <a:ea typeface="Open Sans" pitchFamily="34" charset="-122"/>
                <a:cs typeface="Open Sans" pitchFamily="34" charset="-120"/>
              </a:rPr>
              <a:t>record the time and your address at the start and the end, so Session 13 can set your collection aside.</a:t>
            </a:r>
            <a:endParaRPr lang="en-US" sz="1300" dirty="0"/>
          </a:p>
        </p:txBody>
      </p:sp>
      <p:sp>
        <p:nvSpPr>
          <p:cNvPr id="10" name="Text 8"/>
          <p:cNvSpPr/>
          <p:nvPr/>
        </p:nvSpPr>
        <p:spPr>
          <a:xfrm>
            <a:off x="411480" y="4407408"/>
            <a:ext cx="8321040" cy="274320"/>
          </a:xfrm>
          <a:prstGeom prst="rect">
            <a:avLst/>
          </a:prstGeom>
          <a:noFill/>
          <a:ln/>
        </p:spPr>
        <p:txBody>
          <a:bodyPr wrap="square" lIns="0" tIns="0" rIns="0" bIns="0" rtlCol="0" anchor="ctr"/>
          <a:lstStyle/>
          <a:p>
            <a:pPr indent="0" marL="0">
              <a:buNone/>
            </a:pPr>
            <a:r>
              <a:rPr lang="en-US" sz="1200" i="1" dirty="0">
                <a:solidFill>
                  <a:srgbClr val="5C6B63"/>
                </a:solidFill>
                <a:latin typeface="Open Sans" pitchFamily="34" charset="0"/>
                <a:ea typeface="Open Sans" pitchFamily="34" charset="-122"/>
                <a:cs typeface="Open Sans" pitchFamily="34" charset="-120"/>
              </a:rPr>
              <a:t>Page section 3, the comparison box.</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Preservation: hash on arrival, keep the original</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Shape 4"/>
          <p:cNvSpPr/>
          <p:nvPr/>
        </p:nvSpPr>
        <p:spPr>
          <a:xfrm>
            <a:off x="411480" y="1325880"/>
            <a:ext cx="8321040" cy="2011680"/>
          </a:xfrm>
          <a:prstGeom prst="rect">
            <a:avLst/>
          </a:prstGeom>
          <a:solidFill>
            <a:srgbClr val="FFFFFF"/>
          </a:solidFill>
          <a:ln w="9525">
            <a:solidFill>
              <a:srgbClr val="CBD6CE"/>
            </a:solidFill>
            <a:prstDash val="solid"/>
          </a:ln>
        </p:spPr>
      </p:sp>
      <p:sp>
        <p:nvSpPr>
          <p:cNvPr id="7" name="Text 5"/>
          <p:cNvSpPr/>
          <p:nvPr/>
        </p:nvSpPr>
        <p:spPr>
          <a:xfrm>
            <a:off x="502920" y="1325880"/>
            <a:ext cx="8138160" cy="2011680"/>
          </a:xfrm>
          <a:prstGeom prst="rect">
            <a:avLst/>
          </a:prstGeom>
          <a:noFill/>
          <a:ln/>
        </p:spPr>
        <p:txBody>
          <a:bodyPr wrap="square" lIns="0" tIns="0" rIns="0" bIns="0" rtlCol="0" anchor="ctr"/>
          <a:lstStyle/>
          <a:p>
            <a:pPr algn="l" indent="0" marL="0">
              <a:buNone/>
            </a:pPr>
            <a:r>
              <a:rPr lang="en-US" sz="1100" dirty="0">
                <a:solidFill>
                  <a:srgbClr val="31423B"/>
                </a:solidFill>
                <a:latin typeface="Consolas" pitchFamily="34" charset="0"/>
                <a:ea typeface="Consolas" pitchFamily="34" charset="-122"/>
                <a:cs typeface="Consolas" pitchFamily="34" charset="-120"/>
              </a:rPr>
              <a:t>~/nb6018-cw/s12/</a:t>
            </a:r>
            <a:endParaRPr lang="en-US" sz="1100" dirty="0"/>
          </a:p>
          <a:p>
            <a:pPr algn="l" indent="0" marL="0">
              <a:buNone/>
            </a:pPr>
            <a:r>
              <a:rPr lang="en-US" sz="1100" dirty="0">
                <a:solidFill>
                  <a:srgbClr val="31423B"/>
                </a:solidFill>
                <a:latin typeface="Consolas" pitchFamily="34" charset="0"/>
                <a:ea typeface="Consolas" pitchFamily="34" charset="-122"/>
                <a:cs typeface="Consolas" pitchFamily="34" charset="-120"/>
              </a:rPr>
              <a:t>  collection-log.txt      every request, every seal, in UTC</a:t>
            </a:r>
            <a:endParaRPr lang="en-US" sz="1100" dirty="0"/>
          </a:p>
          <a:p>
            <a:pPr algn="l" indent="0" marL="0">
              <a:buNone/>
            </a:pPr>
            <a:r>
              <a:rPr lang="en-US" sz="1100" dirty="0">
                <a:solidFill>
                  <a:srgbClr val="31423B"/>
                </a:solidFill>
                <a:latin typeface="Consolas" pitchFamily="34" charset="0"/>
                <a:ea typeface="Consolas" pitchFamily="34" charset="-122"/>
                <a:cs typeface="Consolas" pitchFamily="34" charset="-120"/>
              </a:rPr>
              <a:t>  evidence/c1-&lt;time&gt;/     originals: sealed, read-only</a:t>
            </a:r>
            <a:endParaRPr lang="en-US" sz="1100" dirty="0"/>
          </a:p>
          <a:p>
            <a:pPr algn="l" indent="0" marL="0">
              <a:buNone/>
            </a:pPr>
            <a:r>
              <a:rPr lang="en-US" sz="1100" dirty="0">
                <a:solidFill>
                  <a:srgbClr val="31423B"/>
                </a:solidFill>
                <a:latin typeface="Consolas" pitchFamily="34" charset="0"/>
                <a:ea typeface="Consolas" pitchFamily="34" charset="-122"/>
                <a:cs typeface="Consolas" pitchFamily="34" charset="-120"/>
              </a:rPr>
              <a:t>     listings/ trail/ access-logs/ validation/ case/...</a:t>
            </a:r>
            <a:endParaRPr lang="en-US" sz="1100" dirty="0"/>
          </a:p>
          <a:p>
            <a:pPr algn="l" indent="0" marL="0">
              <a:buNone/>
            </a:pPr>
            <a:r>
              <a:rPr lang="en-US" sz="1100" dirty="0">
                <a:solidFill>
                  <a:srgbClr val="31423B"/>
                </a:solidFill>
                <a:latin typeface="Consolas" pitchFamily="34" charset="0"/>
                <a:ea typeface="Consolas" pitchFamily="34" charset="-122"/>
                <a:cs typeface="Consolas" pitchFamily="34" charset="-120"/>
              </a:rPr>
              <a:t>     manifest-sha256.txt</a:t>
            </a:r>
            <a:endParaRPr lang="en-US" sz="1100" dirty="0"/>
          </a:p>
          <a:p>
            <a:pPr algn="l" indent="0" marL="0">
              <a:buNone/>
            </a:pPr>
            <a:r>
              <a:rPr lang="en-US" sz="1100" dirty="0">
                <a:solidFill>
                  <a:srgbClr val="31423B"/>
                </a:solidFill>
                <a:latin typeface="Consolas" pitchFamily="34" charset="0"/>
                <a:ea typeface="Consolas" pitchFamily="34" charset="-122"/>
                <a:cs typeface="Consolas" pitchFamily="34" charset="-120"/>
              </a:rPr>
              <a:t>  evidence/c2-&lt;time&gt;/     a later collection, never added to c1</a:t>
            </a:r>
            <a:endParaRPr lang="en-US" sz="1100" dirty="0"/>
          </a:p>
          <a:p>
            <a:pPr algn="l" indent="0" marL="0">
              <a:buNone/>
            </a:pPr>
            <a:r>
              <a:rPr lang="en-US" sz="1100" dirty="0">
                <a:solidFill>
                  <a:srgbClr val="31423B"/>
                </a:solidFill>
                <a:latin typeface="Consolas" pitchFamily="34" charset="0"/>
                <a:ea typeface="Consolas" pitchFamily="34" charset="-122"/>
                <a:cs typeface="Consolas" pitchFamily="34" charset="-120"/>
              </a:rPr>
              <a:t>  records/                custody record, register, your tables</a:t>
            </a:r>
            <a:endParaRPr lang="en-US" sz="1100" dirty="0"/>
          </a:p>
          <a:p>
            <a:pPr algn="l" indent="0" marL="0">
              <a:buNone/>
            </a:pPr>
            <a:r>
              <a:rPr lang="en-US" sz="1100" dirty="0">
                <a:solidFill>
                  <a:srgbClr val="31423B"/>
                </a:solidFill>
                <a:latin typeface="Consolas" pitchFamily="34" charset="0"/>
                <a:ea typeface="Consolas" pitchFamily="34" charset="-122"/>
                <a:cs typeface="Consolas" pitchFamily="34" charset="-120"/>
              </a:rPr>
              <a:t>  work/                   working copies: decompressed, ordered</a:t>
            </a:r>
            <a:endParaRPr lang="en-US" sz="1100" dirty="0"/>
          </a:p>
        </p:txBody>
      </p:sp>
      <p:sp>
        <p:nvSpPr>
          <p:cNvPr id="8" name="Shape 6"/>
          <p:cNvSpPr/>
          <p:nvPr/>
        </p:nvSpPr>
        <p:spPr>
          <a:xfrm>
            <a:off x="411480" y="3474720"/>
            <a:ext cx="8321040" cy="914400"/>
          </a:xfrm>
          <a:prstGeom prst="rect">
            <a:avLst/>
          </a:prstGeom>
          <a:solidFill>
            <a:srgbClr val="DCE6DE"/>
          </a:solidFill>
          <a:ln/>
        </p:spPr>
      </p:sp>
      <p:sp>
        <p:nvSpPr>
          <p:cNvPr id="9" name="Text 7"/>
          <p:cNvSpPr/>
          <p:nvPr/>
        </p:nvSpPr>
        <p:spPr>
          <a:xfrm>
            <a:off x="502920" y="3474720"/>
            <a:ext cx="8138160" cy="914400"/>
          </a:xfrm>
          <a:prstGeom prst="rect">
            <a:avLst/>
          </a:prstGeom>
          <a:noFill/>
          <a:ln/>
        </p:spPr>
        <p:txBody>
          <a:bodyPr wrap="square" rtlCol="0" anchor="ctr"/>
          <a:lstStyle/>
          <a:p>
            <a:pPr marL="342900" indent="-342900">
              <a:spcAft>
                <a:spcPts val="600"/>
              </a:spcAft>
              <a:buSzPct val="100000"/>
              <a:buChar char="•"/>
            </a:pPr>
            <a:r>
              <a:rPr lang="en-US" sz="1200" b="1" dirty="0">
                <a:solidFill>
                  <a:srgbClr val="31423B"/>
                </a:solidFill>
                <a:latin typeface="Open Sans" pitchFamily="34" charset="0"/>
                <a:ea typeface="Open Sans" pitchFamily="34" charset="-122"/>
                <a:cs typeface="Open Sans" pitchFamily="34" charset="-120"/>
              </a:rPr>
              <a:t>seal: SHA-256 of every new file into the manifest, then read-only, then a log line</a:t>
            </a:r>
            <a:endParaRPr lang="en-US" sz="1200" dirty="0"/>
          </a:p>
          <a:p>
            <a:pPr marL="342900" indent="-342900">
              <a:spcAft>
                <a:spcPts val="600"/>
              </a:spcAft>
              <a:buSzPct val="100000"/>
              <a:buChar char="•"/>
            </a:pPr>
            <a:r>
              <a:rPr lang="en-US" sz="1200" b="1" dirty="0">
                <a:solidFill>
                  <a:srgbClr val="31423B"/>
                </a:solidFill>
                <a:latin typeface="Open Sans" pitchFamily="34" charset="0"/>
                <a:ea typeface="Open Sans" pitchFamily="34" charset="-122"/>
                <a:cs typeface="Open Sans" pitchFamily="34" charset="-120"/>
              </a:rPr>
              <a:t>Custody and register entries: source location, time, tool, identity, address, hash</a:t>
            </a:r>
            <a:endParaRPr lang="en-US" sz="1200" dirty="0"/>
          </a:p>
          <a:p>
            <a:pPr marL="342900" indent="-342900">
              <a:spcAft>
                <a:spcPts val="600"/>
              </a:spcAft>
              <a:buSzPct val="100000"/>
              <a:buChar char="•"/>
            </a:pPr>
            <a:r>
              <a:rPr lang="en-US" sz="1200" b="1" dirty="0">
                <a:solidFill>
                  <a:srgbClr val="31423B"/>
                </a:solidFill>
                <a:latin typeface="Open Sans" pitchFamily="34" charset="0"/>
                <a:ea typeface="Open Sans" pitchFamily="34" charset="-122"/>
                <a:cs typeface="Open Sans" pitchFamily="34" charset="-120"/>
              </a:rPr>
              <a:t>At the close: re-check the manifest, hash it, write its value in the custody record</a:t>
            </a:r>
            <a:endParaRPr lang="en-US" sz="1200" dirty="0"/>
          </a:p>
        </p:txBody>
      </p:sp>
      <p:sp>
        <p:nvSpPr>
          <p:cNvPr id="10" name="Text 8"/>
          <p:cNvSpPr/>
          <p:nvPr/>
        </p:nvSpPr>
        <p:spPr>
          <a:xfrm>
            <a:off x="411480" y="4407408"/>
            <a:ext cx="8321040" cy="274320"/>
          </a:xfrm>
          <a:prstGeom prst="rect">
            <a:avLst/>
          </a:prstGeom>
          <a:noFill/>
          <a:ln/>
        </p:spPr>
        <p:txBody>
          <a:bodyPr wrap="square" lIns="0" tIns="0" rIns="0" bIns="0" rtlCol="0" anchor="ctr"/>
          <a:lstStyle/>
          <a:p>
            <a:pPr indent="0" marL="0">
              <a:buNone/>
            </a:pPr>
            <a:r>
              <a:rPr lang="en-US" sz="1200" i="1" dirty="0">
                <a:solidFill>
                  <a:srgbClr val="5C6B63"/>
                </a:solidFill>
                <a:latin typeface="Open Sans" pitchFamily="34" charset="0"/>
                <a:ea typeface="Open Sans" pitchFamily="34" charset="-122"/>
                <a:cs typeface="Open Sans" pitchFamily="34" charset="-120"/>
              </a:rPr>
              <a:t>Page section 4. Session 1's routine, unchanged; only the evidence changed.</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What validate-logs proves</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Shape 4"/>
          <p:cNvSpPr/>
          <p:nvPr/>
        </p:nvSpPr>
        <p:spPr>
          <a:xfrm>
            <a:off x="411480" y="1371600"/>
            <a:ext cx="4133088" cy="402336"/>
          </a:xfrm>
          <a:prstGeom prst="rect">
            <a:avLst/>
          </a:prstGeom>
          <a:solidFill>
            <a:srgbClr val="6E8472"/>
          </a:solidFill>
          <a:ln/>
        </p:spPr>
      </p:sp>
      <p:sp>
        <p:nvSpPr>
          <p:cNvPr id="7" name="Text 5"/>
          <p:cNvSpPr/>
          <p:nvPr/>
        </p:nvSpPr>
        <p:spPr>
          <a:xfrm>
            <a:off x="521208" y="1371600"/>
            <a:ext cx="3913632" cy="402336"/>
          </a:xfrm>
          <a:prstGeom prst="rect">
            <a:avLst/>
          </a:prstGeom>
          <a:noFill/>
          <a:ln/>
        </p:spPr>
        <p:txBody>
          <a:bodyPr wrap="square" lIns="0" tIns="0" rIns="0" bIns="0" rtlCol="0" anchor="ctr"/>
          <a:lstStyle/>
          <a:p>
            <a:pPr indent="0" marL="0">
              <a:buNone/>
            </a:pPr>
            <a:r>
              <a:rPr lang="en-US" sz="1500" b="1" dirty="0">
                <a:solidFill>
                  <a:srgbClr val="FFFFFF"/>
                </a:solidFill>
                <a:latin typeface="Open Sans" pitchFamily="34" charset="0"/>
                <a:ea typeface="Open Sans" pitchFamily="34" charset="-122"/>
                <a:cs typeface="Open Sans" pitchFamily="34" charset="-120"/>
              </a:rPr>
              <a:t>A pass proves</a:t>
            </a:r>
            <a:endParaRPr lang="en-US" sz="1500" dirty="0"/>
          </a:p>
        </p:txBody>
      </p:sp>
      <p:sp>
        <p:nvSpPr>
          <p:cNvPr id="8" name="Shape 6"/>
          <p:cNvSpPr/>
          <p:nvPr/>
        </p:nvSpPr>
        <p:spPr>
          <a:xfrm>
            <a:off x="411480" y="1773936"/>
            <a:ext cx="4133088" cy="2423160"/>
          </a:xfrm>
          <a:prstGeom prst="rect">
            <a:avLst/>
          </a:prstGeom>
          <a:solidFill>
            <a:srgbClr val="FFFFFF"/>
          </a:solidFill>
          <a:ln w="9525">
            <a:solidFill>
              <a:srgbClr val="CBD6CE"/>
            </a:solidFill>
            <a:prstDash val="solid"/>
          </a:ln>
        </p:spPr>
      </p:sp>
      <p:sp>
        <p:nvSpPr>
          <p:cNvPr id="9" name="Text 7"/>
          <p:cNvSpPr/>
          <p:nvPr/>
        </p:nvSpPr>
        <p:spPr>
          <a:xfrm>
            <a:off x="539496" y="1828800"/>
            <a:ext cx="3877056" cy="2313432"/>
          </a:xfrm>
          <a:prstGeom prst="rect">
            <a:avLst/>
          </a:prstGeom>
          <a:noFill/>
          <a:ln/>
        </p:spPr>
        <p:txBody>
          <a:bodyPr wrap="square" lIns="0" tIns="0" rIns="0" bIns="0" rtlCol="0" anchor="t"/>
          <a:lstStyle/>
          <a:p>
            <a:pPr indent="0" marL="0">
              <a:buNone/>
            </a:pPr>
            <a:r>
              <a:rPr lang="en-US" sz="1300" b="1" dirty="0">
                <a:solidFill>
                  <a:srgbClr val="4F6356"/>
                </a:solidFill>
                <a:latin typeface="Open Sans" pitchFamily="34" charset="0"/>
                <a:ea typeface="Open Sans" pitchFamily="34" charset="-122"/>
                <a:cs typeface="Open Sans" pitchFamily="34" charset="-120"/>
              </a:rPr>
              <a:t>Unchanged since delivery</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Every log file it checked matches its hash value in a signed digest</a:t>
            </a:r>
            <a:endParaRPr lang="en-US" sz="1300" dirty="0"/>
          </a:p>
          <a:p>
            <a:pPr indent="0" marL="0">
              <a:buNone/>
            </a:pPr>
            <a:r>
              <a:rPr lang="en-US" sz="1300" b="1" dirty="0">
                <a:solidFill>
                  <a:srgbClr val="4F6356"/>
                </a:solidFill>
                <a:latin typeface="Open Sans" pitchFamily="34" charset="0"/>
                <a:ea typeface="Open Sans" pitchFamily="34" charset="-122"/>
                <a:cs typeface="Open Sans" pitchFamily="34" charset="-120"/>
              </a:rPr>
              <a:t>None removed</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The digest chain is unbroken</a:t>
            </a:r>
            <a:endParaRPr lang="en-US" sz="1300" dirty="0"/>
          </a:p>
        </p:txBody>
      </p:sp>
      <p:sp>
        <p:nvSpPr>
          <p:cNvPr id="10" name="Shape 8"/>
          <p:cNvSpPr/>
          <p:nvPr/>
        </p:nvSpPr>
        <p:spPr>
          <a:xfrm>
            <a:off x="4645152" y="1371600"/>
            <a:ext cx="4133088" cy="402336"/>
          </a:xfrm>
          <a:prstGeom prst="rect">
            <a:avLst/>
          </a:prstGeom>
          <a:solidFill>
            <a:srgbClr val="8A4E8F"/>
          </a:solidFill>
          <a:ln/>
        </p:spPr>
      </p:sp>
      <p:sp>
        <p:nvSpPr>
          <p:cNvPr id="11" name="Text 9"/>
          <p:cNvSpPr/>
          <p:nvPr/>
        </p:nvSpPr>
        <p:spPr>
          <a:xfrm>
            <a:off x="4754880" y="1371600"/>
            <a:ext cx="3913632" cy="402336"/>
          </a:xfrm>
          <a:prstGeom prst="rect">
            <a:avLst/>
          </a:prstGeom>
          <a:noFill/>
          <a:ln/>
        </p:spPr>
        <p:txBody>
          <a:bodyPr wrap="square" lIns="0" tIns="0" rIns="0" bIns="0" rtlCol="0" anchor="ctr"/>
          <a:lstStyle/>
          <a:p>
            <a:pPr indent="0" marL="0">
              <a:buNone/>
            </a:pPr>
            <a:r>
              <a:rPr lang="en-US" sz="1500" b="1" dirty="0">
                <a:solidFill>
                  <a:srgbClr val="FFFFFF"/>
                </a:solidFill>
                <a:latin typeface="Open Sans" pitchFamily="34" charset="0"/>
                <a:ea typeface="Open Sans" pitchFamily="34" charset="-122"/>
                <a:cs typeface="Open Sans" pitchFamily="34" charset="-120"/>
              </a:rPr>
              <a:t>A pass does not cover</a:t>
            </a:r>
            <a:endParaRPr lang="en-US" sz="1500" dirty="0"/>
          </a:p>
        </p:txBody>
      </p:sp>
      <p:sp>
        <p:nvSpPr>
          <p:cNvPr id="12" name="Shape 10"/>
          <p:cNvSpPr/>
          <p:nvPr/>
        </p:nvSpPr>
        <p:spPr>
          <a:xfrm>
            <a:off x="4645152" y="1773936"/>
            <a:ext cx="4133088" cy="2423160"/>
          </a:xfrm>
          <a:prstGeom prst="rect">
            <a:avLst/>
          </a:prstGeom>
          <a:solidFill>
            <a:srgbClr val="FFFFFF"/>
          </a:solidFill>
          <a:ln w="9525">
            <a:solidFill>
              <a:srgbClr val="CBD6CE"/>
            </a:solidFill>
            <a:prstDash val="solid"/>
          </a:ln>
        </p:spPr>
      </p:sp>
      <p:sp>
        <p:nvSpPr>
          <p:cNvPr id="13" name="Text 11"/>
          <p:cNvSpPr/>
          <p:nvPr/>
        </p:nvSpPr>
        <p:spPr>
          <a:xfrm>
            <a:off x="4773168" y="1828800"/>
            <a:ext cx="3877056" cy="2313432"/>
          </a:xfrm>
          <a:prstGeom prst="rect">
            <a:avLst/>
          </a:prstGeom>
          <a:noFill/>
          <a:ln/>
        </p:spPr>
        <p:txBody>
          <a:bodyPr wrap="square" lIns="0" tIns="0" rIns="0" bIns="0" rtlCol="0" anchor="t"/>
          <a:lstStyle/>
          <a:p>
            <a:pPr indent="0" marL="0">
              <a:buNone/>
            </a:pPr>
            <a:r>
              <a:rPr lang="en-US" sz="1300" b="1" dirty="0">
                <a:solidFill>
                  <a:srgbClr val="8A4E8F"/>
                </a:solidFill>
                <a:latin typeface="Open Sans" pitchFamily="34" charset="0"/>
                <a:ea typeface="Open Sans" pitchFamily="34" charset="-122"/>
                <a:cs typeface="Open Sans" pitchFamily="34" charset="-120"/>
              </a:rPr>
              <a:t>Everything recorded</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Completeness is a separate question</a:t>
            </a:r>
            <a:endParaRPr lang="en-US" sz="1300" dirty="0"/>
          </a:p>
          <a:p>
            <a:pPr indent="0" marL="0">
              <a:buNone/>
            </a:pPr>
            <a:r>
              <a:rPr lang="en-US" sz="1300" b="1" dirty="0">
                <a:solidFill>
                  <a:srgbClr val="8A4E8F"/>
                </a:solidFill>
                <a:latin typeface="Open Sans" pitchFamily="34" charset="0"/>
                <a:ea typeface="Open Sans" pitchFamily="34" charset="-122"/>
                <a:cs typeface="Open Sans" pitchFamily="34" charset="-120"/>
              </a:rPr>
              <a:t>Other Regions</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One run per Region folder</a:t>
            </a:r>
            <a:endParaRPr lang="en-US" sz="1300" dirty="0"/>
          </a:p>
          <a:p>
            <a:pPr indent="0" marL="0">
              <a:buNone/>
            </a:pPr>
            <a:r>
              <a:rPr lang="en-US" sz="1300" b="1" dirty="0">
                <a:solidFill>
                  <a:srgbClr val="8A4E8F"/>
                </a:solidFill>
                <a:latin typeface="Open Sans" pitchFamily="34" charset="0"/>
                <a:ea typeface="Open Sans" pitchFamily="34" charset="-122"/>
                <a:cs typeface="Open Sans" pitchFamily="34" charset="-120"/>
              </a:rPr>
              <a:t>The newest files</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Not in a digest yet: run again later</a:t>
            </a:r>
            <a:endParaRPr lang="en-US" sz="1300" dirty="0"/>
          </a:p>
          <a:p>
            <a:pPr indent="0" marL="0">
              <a:buNone/>
            </a:pPr>
            <a:r>
              <a:rPr lang="en-US" sz="1300" b="1" dirty="0">
                <a:solidFill>
                  <a:srgbClr val="8A4E8F"/>
                </a:solidFill>
                <a:latin typeface="Open Sans" pitchFamily="34" charset="0"/>
                <a:ea typeface="Open Sans" pitchFamily="34" charset="-122"/>
                <a:cs typeface="Open Sans" pitchFamily="34" charset="-120"/>
              </a:rPr>
              <a:t>Server access logs</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No digest exists: say so</a:t>
            </a:r>
            <a:endParaRPr lang="en-US" sz="1300" dirty="0"/>
          </a:p>
        </p:txBody>
      </p:sp>
      <p:sp>
        <p:nvSpPr>
          <p:cNvPr id="14" name="Text 12"/>
          <p:cNvSpPr/>
          <p:nvPr/>
        </p:nvSpPr>
        <p:spPr>
          <a:xfrm>
            <a:off x="411480" y="4407408"/>
            <a:ext cx="8321040" cy="274320"/>
          </a:xfrm>
          <a:prstGeom prst="rect">
            <a:avLst/>
          </a:prstGeom>
          <a:noFill/>
          <a:ln/>
        </p:spPr>
        <p:txBody>
          <a:bodyPr wrap="square" lIns="0" tIns="0" rIns="0" bIns="0" rtlCol="0" anchor="ctr"/>
          <a:lstStyle/>
          <a:p>
            <a:pPr indent="0" marL="0">
              <a:buNone/>
            </a:pPr>
            <a:r>
              <a:rPr lang="en-US" sz="1200" i="1" dirty="0">
                <a:solidFill>
                  <a:srgbClr val="5C6B63"/>
                </a:solidFill>
                <a:latin typeface="Open Sans" pitchFamily="34" charset="0"/>
                <a:ea typeface="Open Sans" pitchFamily="34" charset="-122"/>
                <a:cs typeface="Open Sans" pitchFamily="34" charset="-120"/>
              </a:rPr>
              <a:t>Demo S12-D3: what a pass covers. It checks AWS's files in the bucket, not your copies; your manifest covers those.</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Metadata and the ETag</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11480" y="1325880"/>
          <a:ext cx="8321040" cy="914400"/>
        </p:xfrm>
        <a:graphic>
          <a:graphicData uri="http://schemas.openxmlformats.org/drawingml/2006/table">
            <a:tbl>
              <a:tblPr/>
              <a:tblGrid>
                <a:gridCol w="3657600"/>
                <a:gridCol w="3017520"/>
                <a:gridCol w="1645920"/>
              </a:tblGrid>
              <a:tr h="502920">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How the version was stored</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ETag</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Matches the local MD5?</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r>
              <a:tr h="502920">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One piece, SSE-S3 (your incident files)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MD5 of the content</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Yes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502920">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Multipart upload (CLI above about 8 MB)</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MD5 of the parts' MD5s, then -N</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No</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r h="502920">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One piece, SSE-KMS or customer keys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Not an MD5 value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No</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bl>
          </a:graphicData>
        </a:graphic>
      </p:graphicFrame>
      <p:sp>
        <p:nvSpPr>
          <p:cNvPr id="7" name="Shape 4"/>
          <p:cNvSpPr/>
          <p:nvPr/>
        </p:nvSpPr>
        <p:spPr>
          <a:xfrm>
            <a:off x="411480" y="3520440"/>
            <a:ext cx="8321040" cy="868680"/>
          </a:xfrm>
          <a:prstGeom prst="rect">
            <a:avLst/>
          </a:prstGeom>
          <a:solidFill>
            <a:srgbClr val="F1E8F2"/>
          </a:solidFill>
          <a:ln/>
        </p:spPr>
      </p:sp>
      <p:sp>
        <p:nvSpPr>
          <p:cNvPr id="8" name="Text 5"/>
          <p:cNvSpPr/>
          <p:nvPr/>
        </p:nvSpPr>
        <p:spPr>
          <a:xfrm>
            <a:off x="521208" y="3520440"/>
            <a:ext cx="8101584" cy="868680"/>
          </a:xfrm>
          <a:prstGeom prst="rect">
            <a:avLst/>
          </a:prstGeom>
          <a:noFill/>
          <a:ln/>
        </p:spPr>
        <p:txBody>
          <a:bodyPr wrap="square" rtlCol="0" anchor="ctr"/>
          <a:lstStyle/>
          <a:p>
            <a:pPr indent="0" marL="0">
              <a:buNone/>
            </a:pPr>
            <a:r>
              <a:rPr lang="en-US" sz="1300" b="1" dirty="0">
                <a:solidFill>
                  <a:srgbClr val="31423B"/>
                </a:solidFill>
                <a:latin typeface="Open Sans" pitchFamily="34" charset="0"/>
                <a:ea typeface="Open Sans" pitchFamily="34" charset="-122"/>
                <a:cs typeface="Open Sans" pitchFamily="34" charset="-120"/>
              </a:rPr>
              <a:t>head-object gives each version's ID, LastModified, size, encryption and ETag. Where the ETag cannot be compared, download by version ID and compare SHA-256 values.</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History first, then recovery by version ID</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11480" y="1325880"/>
          <a:ext cx="8321040" cy="914400"/>
        </p:xfrm>
        <a:graphic>
          <a:graphicData uri="http://schemas.openxmlformats.org/drawingml/2006/table">
            <a:tbl>
              <a:tblPr/>
              <a:tblGrid>
                <a:gridCol w="1737360"/>
                <a:gridCol w="3291840"/>
                <a:gridCol w="3291840"/>
              </a:tblGrid>
              <a:tr h="457200">
                <a:tc>
                  <a:txBody>
                    <a:bodyPr/>
                    <a:lstStyle/>
                    <a:p>
                      <a:pPr indent="0" marL="0">
                        <a:buNone/>
                      </a:pP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Get a version by its version ID</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Remove the delete marker</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r>
              <a:tr h="457200">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What happens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You receive a copy of one version</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Version 3 becomes the latest again</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The bucket</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Unchanged</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Changed: one entry gone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r h="457200">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The evidence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Intact: the marker still dates the delete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The marker's ID and time are lost</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Whose decision</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Investigator: collection</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Owner: a response action</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bl>
          </a:graphicData>
        </a:graphic>
      </p:graphicFrame>
      <p:sp>
        <p:nvSpPr>
          <p:cNvPr id="7" name="Text 4"/>
          <p:cNvSpPr/>
          <p:nvPr/>
        </p:nvSpPr>
        <p:spPr>
          <a:xfrm>
            <a:off x="411480" y="4407408"/>
            <a:ext cx="8321040" cy="274320"/>
          </a:xfrm>
          <a:prstGeom prst="rect">
            <a:avLst/>
          </a:prstGeom>
          <a:noFill/>
          <a:ln/>
        </p:spPr>
        <p:txBody>
          <a:bodyPr wrap="square" lIns="0" tIns="0" rIns="0" bIns="0" rtlCol="0" anchor="ctr"/>
          <a:lstStyle/>
          <a:p>
            <a:pPr indent="0" marL="0">
              <a:buNone/>
            </a:pPr>
            <a:r>
              <a:rPr lang="en-US" sz="1200" i="1" dirty="0">
                <a:solidFill>
                  <a:srgbClr val="5C6B63"/>
                </a:solidFill>
                <a:latin typeface="Open Sans" pitchFamily="34" charset="0"/>
                <a:ea typeface="Open Sans" pitchFamily="34" charset="-122"/>
                <a:cs typeface="Open Sans" pitchFamily="34" charset="-120"/>
              </a:rPr>
              <a:t>Demo S12-D5. list-object-versions before any recovery; list again after, and compare: identical.</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Through another lens: transactive memory</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Shape 4"/>
          <p:cNvSpPr/>
          <p:nvPr/>
        </p:nvSpPr>
        <p:spPr>
          <a:xfrm>
            <a:off x="411480" y="1371600"/>
            <a:ext cx="8321040" cy="2514600"/>
          </a:xfrm>
          <a:prstGeom prst="rect">
            <a:avLst/>
          </a:prstGeom>
          <a:solidFill>
            <a:srgbClr val="F1E8F2"/>
          </a:solidFill>
          <a:ln/>
        </p:spPr>
      </p:sp>
      <p:sp>
        <p:nvSpPr>
          <p:cNvPr id="7" name="Shape 5"/>
          <p:cNvSpPr/>
          <p:nvPr/>
        </p:nvSpPr>
        <p:spPr>
          <a:xfrm>
            <a:off x="411480" y="1371600"/>
            <a:ext cx="82296" cy="2514600"/>
          </a:xfrm>
          <a:prstGeom prst="rect">
            <a:avLst/>
          </a:prstGeom>
          <a:solidFill>
            <a:srgbClr val="8A4E8F"/>
          </a:solidFill>
          <a:ln/>
        </p:spPr>
      </p:sp>
      <p:sp>
        <p:nvSpPr>
          <p:cNvPr id="8" name="Text 6"/>
          <p:cNvSpPr/>
          <p:nvPr/>
        </p:nvSpPr>
        <p:spPr>
          <a:xfrm>
            <a:off x="621792" y="1444752"/>
            <a:ext cx="7955280" cy="237744"/>
          </a:xfrm>
          <a:prstGeom prst="rect">
            <a:avLst/>
          </a:prstGeom>
          <a:noFill/>
          <a:ln/>
        </p:spPr>
        <p:txBody>
          <a:bodyPr wrap="square" lIns="0" tIns="0" rIns="0" bIns="0" rtlCol="0" anchor="ctr"/>
          <a:lstStyle/>
          <a:p>
            <a:pPr indent="0" marL="0">
              <a:buNone/>
            </a:pPr>
            <a:r>
              <a:rPr lang="en-US" sz="1300" b="1" spc="200" kern="0" dirty="0">
                <a:solidFill>
                  <a:srgbClr val="8A4E8F"/>
                </a:solidFill>
                <a:latin typeface="Open Sans" pitchFamily="34" charset="0"/>
                <a:ea typeface="Open Sans" pitchFamily="34" charset="-122"/>
                <a:cs typeface="Open Sans" pitchFamily="34" charset="-120"/>
              </a:rPr>
              <a:t>THROUGH ANOTHER LENS</a:t>
            </a:r>
            <a:endParaRPr lang="en-US" sz="1300" dirty="0"/>
          </a:p>
        </p:txBody>
      </p:sp>
      <p:sp>
        <p:nvSpPr>
          <p:cNvPr id="9" name="Text 7"/>
          <p:cNvSpPr/>
          <p:nvPr/>
        </p:nvSpPr>
        <p:spPr>
          <a:xfrm>
            <a:off x="621792" y="1700784"/>
            <a:ext cx="7955280" cy="2112264"/>
          </a:xfrm>
          <a:prstGeom prst="rect">
            <a:avLst/>
          </a:prstGeom>
          <a:noFill/>
          <a:ln/>
        </p:spPr>
        <p:txBody>
          <a:bodyPr wrap="square" lIns="0" tIns="0" rIns="0" bIns="0" rtlCol="0" anchor="t"/>
          <a:lstStyle/>
          <a:p>
            <a:pPr indent="0" marL="0">
              <a:spcAft>
                <a:spcPts val="400"/>
              </a:spcAft>
              <a:buNone/>
            </a:pPr>
            <a:r>
              <a:rPr lang="en-US" sz="1300" dirty="0">
                <a:solidFill>
                  <a:srgbClr val="31423B"/>
                </a:solidFill>
                <a:latin typeface="Open Sans" pitchFamily="34" charset="0"/>
                <a:ea typeface="Open Sans" pitchFamily="34" charset="-122"/>
                <a:cs typeface="Open Sans" pitchFamily="34" charset="-120"/>
              </a:rPr>
              <a:t>The psychologist Daniel Wegner named what couples and close teams do: each person remembers some things for the group, everyone knows who holds what, and you recall a fact by asking the one who keeps it. In the cloud the provider is that member: you hold no original, you ask, and the answer arrives on the provider's schedule. </a:t>
            </a:r>
            <a:pPr indent="0" marL="0">
              <a:spcAft>
                <a:spcPts val="400"/>
              </a:spcAft>
              <a:buNone/>
            </a:pPr>
            <a:r>
              <a:rPr lang="en-US" sz="1300" b="1" dirty="0">
                <a:solidFill>
                  <a:srgbClr val="31423B"/>
                </a:solidFill>
                <a:latin typeface="Open Sans" pitchFamily="34" charset="0"/>
                <a:ea typeface="Open Sans" pitchFamily="34" charset="-122"/>
                <a:cs typeface="Open Sans" pitchFamily="34" charset="-120"/>
              </a:rPr>
              <a:t>Where it breaks: </a:t>
            </a:r>
            <a:pPr indent="0" marL="0">
              <a:spcAft>
                <a:spcPts val="400"/>
              </a:spcAft>
              <a:buNone/>
            </a:pPr>
            <a:r>
              <a:rPr lang="en-US" sz="1300" dirty="0">
                <a:solidFill>
                  <a:srgbClr val="31423B"/>
                </a:solidFill>
                <a:latin typeface="Open Sans" pitchFamily="34" charset="0"/>
                <a:ea typeface="Open Sans" pitchFamily="34" charset="-122"/>
                <a:cs typeface="Open Sans" pitchFamily="34" charset="-120"/>
              </a:rPr>
              <a:t>you cannot check a partner's memory; you can check this one, with digests, version IDs and ETags. And a partner forgets by accident; the provider forgets by policy: retention and lifecycle rules. </a:t>
            </a:r>
            <a:pPr indent="0" marL="0">
              <a:spcAft>
                <a:spcPts val="400"/>
              </a:spcAft>
              <a:buNone/>
            </a:pPr>
            <a:r>
              <a:rPr lang="en-US" sz="1300" b="1" dirty="0">
                <a:solidFill>
                  <a:srgbClr val="31423B"/>
                </a:solidFill>
                <a:latin typeface="Open Sans" pitchFamily="34" charset="0"/>
                <a:ea typeface="Open Sans" pitchFamily="34" charset="-122"/>
                <a:cs typeface="Open Sans" pitchFamily="34" charset="-120"/>
              </a:rPr>
              <a:t>So what: </a:t>
            </a:r>
            <a:pPr indent="0" marL="0">
              <a:spcAft>
                <a:spcPts val="400"/>
              </a:spcAft>
              <a:buNone/>
            </a:pPr>
            <a:r>
              <a:rPr lang="en-US" sz="1300" dirty="0">
                <a:solidFill>
                  <a:srgbClr val="31423B"/>
                </a:solidFill>
                <a:latin typeface="Open Sans" pitchFamily="34" charset="0"/>
                <a:ea typeface="Open Sans" pitchFamily="34" charset="-122"/>
                <a:cs typeface="Open Sans" pitchFamily="34" charset="-120"/>
              </a:rPr>
              <a:t>the answer becomes evidence only when you can verify it and show how you asked.</a:t>
            </a:r>
            <a:endParaRPr lang="en-US" sz="1300" dirty="0"/>
          </a:p>
        </p:txBody>
      </p:sp>
      <p:sp>
        <p:nvSpPr>
          <p:cNvPr id="10" name="Shape 8"/>
          <p:cNvSpPr/>
          <p:nvPr/>
        </p:nvSpPr>
        <p:spPr>
          <a:xfrm>
            <a:off x="411480" y="3977640"/>
            <a:ext cx="8321040" cy="685800"/>
          </a:xfrm>
          <a:prstGeom prst="rect">
            <a:avLst/>
          </a:prstGeom>
          <a:solidFill>
            <a:srgbClr val="F1E8F2"/>
          </a:solidFill>
          <a:ln/>
        </p:spPr>
      </p:sp>
      <p:sp>
        <p:nvSpPr>
          <p:cNvPr id="11" name="Text 9"/>
          <p:cNvSpPr/>
          <p:nvPr/>
        </p:nvSpPr>
        <p:spPr>
          <a:xfrm>
            <a:off x="521208" y="3977640"/>
            <a:ext cx="8101584" cy="685800"/>
          </a:xfrm>
          <a:prstGeom prst="rect">
            <a:avLst/>
          </a:prstGeom>
          <a:noFill/>
          <a:ln/>
        </p:spPr>
        <p:txBody>
          <a:bodyPr wrap="square" rtlCol="0" anchor="ctr"/>
          <a:lstStyle/>
          <a:p>
            <a:pPr indent="0" marL="0">
              <a:buNone/>
            </a:pPr>
            <a:r>
              <a:rPr lang="en-US" sz="1500" b="1" dirty="0">
                <a:solidFill>
                  <a:srgbClr val="31423B"/>
                </a:solidFill>
                <a:latin typeface="Open Sans" pitchFamily="34" charset="0"/>
                <a:ea typeface="Open Sans" pitchFamily="34" charset="-122"/>
                <a:cs typeface="Open Sans" pitchFamily="34" charset="-120"/>
              </a:rPr>
              <a:t>When the provider's answer is all you have, what turns it into evidence a stranger can trust?</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31423B"/>
        </a:solidFill>
      </p:bgPr>
    </p:bg>
    <p:spTree>
      <p:nvGrpSpPr>
        <p:cNvPr id="1" name=""/>
        <p:cNvGrpSpPr/>
        <p:nvPr/>
      </p:nvGrpSpPr>
      <p:grpSpPr>
        <a:xfrm>
          <a:off x="0" y="0"/>
          <a:ext cx="0" cy="0"/>
          <a:chOff x="0" y="0"/>
          <a:chExt cx="0" cy="0"/>
        </a:xfrm>
      </p:grpSpPr>
      <p:sp>
        <p:nvSpPr>
          <p:cNvPr id="2" name="Shape 0"/>
          <p:cNvSpPr/>
          <p:nvPr/>
        </p:nvSpPr>
        <p:spPr>
          <a:xfrm>
            <a:off x="731520" y="731520"/>
            <a:ext cx="502920" cy="64008"/>
          </a:xfrm>
          <a:prstGeom prst="rect">
            <a:avLst/>
          </a:prstGeom>
          <a:solidFill>
            <a:srgbClr val="6E8472"/>
          </a:solidFill>
          <a:ln/>
        </p:spPr>
      </p:sp>
      <p:sp>
        <p:nvSpPr>
          <p:cNvPr id="3" name="Shape 1"/>
          <p:cNvSpPr/>
          <p:nvPr/>
        </p:nvSpPr>
        <p:spPr>
          <a:xfrm>
            <a:off x="1280160" y="731520"/>
            <a:ext cx="256032" cy="64008"/>
          </a:xfrm>
          <a:prstGeom prst="rect">
            <a:avLst/>
          </a:prstGeom>
          <a:solidFill>
            <a:srgbClr val="8A4E8F"/>
          </a:solidFill>
          <a:ln/>
        </p:spPr>
      </p:sp>
      <p:sp>
        <p:nvSpPr>
          <p:cNvPr id="4" name="Text 2"/>
          <p:cNvSpPr/>
          <p:nvPr/>
        </p:nvSpPr>
        <p:spPr>
          <a:xfrm>
            <a:off x="731520" y="987552"/>
            <a:ext cx="7680960" cy="365760"/>
          </a:xfrm>
          <a:prstGeom prst="rect">
            <a:avLst/>
          </a:prstGeom>
          <a:noFill/>
          <a:ln/>
        </p:spPr>
        <p:txBody>
          <a:bodyPr wrap="square" lIns="0" tIns="0" rIns="0" bIns="0" rtlCol="0" anchor="ctr"/>
          <a:lstStyle/>
          <a:p>
            <a:pPr indent="0" marL="0">
              <a:buNone/>
            </a:pPr>
            <a:r>
              <a:rPr lang="en-US" sz="1300" b="1" spc="200" kern="0" dirty="0">
                <a:solidFill>
                  <a:srgbClr val="C9A6CC"/>
                </a:solidFill>
                <a:latin typeface="Open Sans" pitchFamily="34" charset="0"/>
                <a:ea typeface="Open Sans" pitchFamily="34" charset="-122"/>
                <a:cs typeface="Open Sans" pitchFamily="34" charset="-120"/>
              </a:rPr>
              <a:t>KEY CONCEPT</a:t>
            </a:r>
            <a:endParaRPr lang="en-US" sz="1300" dirty="0"/>
          </a:p>
        </p:txBody>
      </p:sp>
      <p:sp>
        <p:nvSpPr>
          <p:cNvPr id="5" name="Text 3"/>
          <p:cNvSpPr/>
          <p:nvPr/>
        </p:nvSpPr>
        <p:spPr>
          <a:xfrm>
            <a:off x="731520" y="1554480"/>
            <a:ext cx="7680960" cy="1371600"/>
          </a:xfrm>
          <a:prstGeom prst="rect">
            <a:avLst/>
          </a:prstGeom>
          <a:noFill/>
          <a:ln/>
        </p:spPr>
        <p:txBody>
          <a:bodyPr wrap="square" lIns="0" tIns="0" rIns="0" bIns="0" rtlCol="0" anchor="t"/>
          <a:lstStyle/>
          <a:p>
            <a:pPr indent="0" marL="0">
              <a:buNone/>
            </a:pPr>
            <a:r>
              <a:rPr lang="en-US" sz="3200" b="1" dirty="0">
                <a:solidFill>
                  <a:srgbClr val="FFFFFF"/>
                </a:solidFill>
                <a:latin typeface="Open Sans" pitchFamily="34" charset="0"/>
                <a:ea typeface="Open Sans" pitchFamily="34" charset="-122"/>
                <a:cs typeface="Open Sans" pitchFamily="34" charset="-120"/>
              </a:rPr>
              <a:t>You never hold the original.</a:t>
            </a:r>
            <a:endParaRPr lang="en-US" sz="3200" dirty="0"/>
          </a:p>
        </p:txBody>
      </p:sp>
      <p:sp>
        <p:nvSpPr>
          <p:cNvPr id="6" name="Text 4"/>
          <p:cNvSpPr/>
          <p:nvPr/>
        </p:nvSpPr>
        <p:spPr>
          <a:xfrm>
            <a:off x="731520" y="3063240"/>
            <a:ext cx="7680960" cy="914400"/>
          </a:xfrm>
          <a:prstGeom prst="rect">
            <a:avLst/>
          </a:prstGeom>
          <a:noFill/>
          <a:ln/>
        </p:spPr>
        <p:txBody>
          <a:bodyPr wrap="square" lIns="0" tIns="0" rIns="0" bIns="0" rtlCol="0" anchor="t"/>
          <a:lstStyle/>
          <a:p>
            <a:pPr indent="0" marL="0">
              <a:buNone/>
            </a:pPr>
            <a:r>
              <a:rPr lang="en-US" sz="2200" i="1" dirty="0">
                <a:solidFill>
                  <a:srgbClr val="E8F0EA"/>
                </a:solidFill>
                <a:latin typeface="Open Sans" pitchFamily="34" charset="0"/>
                <a:ea typeface="Open Sans" pitchFamily="34" charset="-122"/>
                <a:cs typeface="Open Sans" pitchFamily="34" charset="-120"/>
              </a:rPr>
              <a:t>A verified copy with an unbroken record is the closest you get.</a:t>
            </a:r>
            <a:endParaRPr lang="en-US" sz="2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8A4E8F"/>
          </a:solidFill>
          <a:ln/>
        </p:spPr>
      </p:sp>
      <p:sp>
        <p:nvSpPr>
          <p:cNvPr id="3" name="Shape 1"/>
          <p:cNvSpPr/>
          <p:nvPr/>
        </p:nvSpPr>
        <p:spPr>
          <a:xfrm>
            <a:off x="731520" y="566928"/>
            <a:ext cx="502920" cy="45720"/>
          </a:xfrm>
          <a:prstGeom prst="rect">
            <a:avLst/>
          </a:prstGeom>
          <a:solidFill>
            <a:srgbClr val="FFFFFF"/>
          </a:solidFill>
          <a:ln/>
        </p:spPr>
      </p:sp>
      <p:sp>
        <p:nvSpPr>
          <p:cNvPr id="4" name="Text 2"/>
          <p:cNvSpPr/>
          <p:nvPr/>
        </p:nvSpPr>
        <p:spPr>
          <a:xfrm>
            <a:off x="731520" y="768096"/>
            <a:ext cx="6949440" cy="566928"/>
          </a:xfrm>
          <a:prstGeom prst="rect">
            <a:avLst/>
          </a:prstGeom>
          <a:noFill/>
          <a:ln/>
        </p:spPr>
        <p:txBody>
          <a:bodyPr wrap="square" lIns="0" tIns="0" rIns="0" bIns="0" rtlCol="0" anchor="t"/>
          <a:lstStyle/>
          <a:p>
            <a:pPr indent="0" marL="0">
              <a:buNone/>
            </a:pPr>
            <a:r>
              <a:rPr lang="en-US" sz="2600" b="1" dirty="0">
                <a:solidFill>
                  <a:srgbClr val="FFFFFF"/>
                </a:solidFill>
                <a:latin typeface="Open Sans" pitchFamily="34" charset="0"/>
                <a:ea typeface="Open Sans" pitchFamily="34" charset="-122"/>
                <a:cs typeface="Open Sans" pitchFamily="34" charset="-120"/>
              </a:rPr>
              <a:t>The lab: collect, preserve, recover</a:t>
            </a:r>
            <a:endParaRPr lang="en-US" sz="2600" dirty="0"/>
          </a:p>
        </p:txBody>
      </p:sp>
      <p:pic>
        <p:nvPicPr>
          <p:cNvPr id="5" name="Image 0" descr="preencoded.png">    </p:cNvPr>
          <p:cNvPicPr>
            <a:picLocks noChangeAspect="1"/>
          </p:cNvPicPr>
          <p:nvPr/>
        </p:nvPicPr>
        <p:blipFill>
          <a:blip r:embed="rId1"/>
          <a:stretch>
            <a:fillRect/>
          </a:stretch>
        </p:blipFill>
        <p:spPr>
          <a:xfrm>
            <a:off x="8001000" y="566928"/>
            <a:ext cx="731520" cy="731520"/>
          </a:xfrm>
          <a:prstGeom prst="rect">
            <a:avLst/>
          </a:prstGeom>
        </p:spPr>
      </p:pic>
      <p:sp>
        <p:nvSpPr>
          <p:cNvPr id="6" name="Shape 3"/>
          <p:cNvSpPr/>
          <p:nvPr/>
        </p:nvSpPr>
        <p:spPr>
          <a:xfrm>
            <a:off x="411480" y="1463040"/>
            <a:ext cx="3749040" cy="3246120"/>
          </a:xfrm>
          <a:prstGeom prst="rect">
            <a:avLst/>
          </a:prstGeom>
          <a:solidFill>
            <a:srgbClr val="31423B"/>
          </a:solidFill>
          <a:ln/>
        </p:spPr>
      </p:sp>
      <p:sp>
        <p:nvSpPr>
          <p:cNvPr id="7" name="Text 4"/>
          <p:cNvSpPr/>
          <p:nvPr/>
        </p:nvSpPr>
        <p:spPr>
          <a:xfrm>
            <a:off x="548640" y="1463040"/>
            <a:ext cx="3474720" cy="3246120"/>
          </a:xfrm>
          <a:prstGeom prst="rect">
            <a:avLst/>
          </a:prstGeom>
          <a:noFill/>
          <a:ln/>
        </p:spPr>
        <p:txBody>
          <a:bodyPr wrap="square" lIns="0" tIns="0" rIns="0" bIns="0" rtlCol="0" anchor="ctr"/>
          <a:lstStyle/>
          <a:p>
            <a:pPr indent="0" marL="0">
              <a:spcAft>
                <a:spcPts val="700"/>
              </a:spcAft>
              <a:buNone/>
            </a:pPr>
            <a:r>
              <a:rPr lang="en-US" sz="1800" b="1" dirty="0">
                <a:solidFill>
                  <a:srgbClr val="FFFFFF"/>
                </a:solidFill>
                <a:latin typeface="Open Sans" pitchFamily="34" charset="0"/>
                <a:ea typeface="Open Sans" pitchFamily="34" charset="-122"/>
                <a:cs typeface="Open Sans" pitchFamily="34" charset="-120"/>
              </a:rPr>
              <a:t>Coursework evidence: the rules</a:t>
            </a:r>
            <a:endParaRPr lang="en-US" sz="1500" dirty="0"/>
          </a:p>
          <a:p>
            <a:pPr indent="0" marL="0">
              <a:spcAft>
                <a:spcPts val="700"/>
              </a:spcAft>
              <a:buNone/>
            </a:pPr>
            <a:r>
              <a:rPr lang="en-US" sz="1500" b="1" dirty="0">
                <a:solidFill>
                  <a:srgbClr val="FFFFFF"/>
                </a:solidFill>
                <a:latin typeface="Open Sans" pitchFamily="34" charset="0"/>
                <a:ea typeface="Open Sans" pitchFamily="34" charset="-122"/>
                <a:cs typeface="Open Sans" pitchFamily="34" charset="-120"/>
              </a:rPr>
              <a:t>Read only: change nothing</a:t>
            </a:r>
            <a:endParaRPr lang="en-US" sz="1500" dirty="0"/>
          </a:p>
          <a:p>
            <a:pPr indent="0" marL="0">
              <a:spcAft>
                <a:spcPts val="700"/>
              </a:spcAft>
              <a:buNone/>
            </a:pPr>
            <a:r>
              <a:rPr lang="en-US" sz="1500" b="1" dirty="0">
                <a:solidFill>
                  <a:srgbClr val="FFFFFF"/>
                </a:solidFill>
                <a:latin typeface="Open Sans" pitchFamily="34" charset="0"/>
                <a:ea typeface="Open Sans" pitchFamily="34" charset="-122"/>
                <a:cs typeface="Open Sans" pitchFamily="34" charset="-120"/>
              </a:rPr>
              <a:t>No extra looks at the case bucket</a:t>
            </a:r>
            <a:endParaRPr lang="en-US" sz="1500" dirty="0"/>
          </a:p>
          <a:p>
            <a:pPr indent="0" marL="0">
              <a:spcAft>
                <a:spcPts val="700"/>
              </a:spcAft>
              <a:buNone/>
            </a:pPr>
            <a:r>
              <a:rPr lang="en-US" sz="1500" b="1" dirty="0">
                <a:solidFill>
                  <a:srgbClr val="FFFFFF"/>
                </a:solidFill>
                <a:latin typeface="Open Sans" pitchFamily="34" charset="0"/>
                <a:ea typeface="Open Sans" pitchFamily="34" charset="-122"/>
                <a:cs typeface="Open Sans" pitchFamily="34" charset="-120"/>
              </a:rPr>
              <a:t>Never edit a sealed folder</a:t>
            </a:r>
            <a:endParaRPr lang="en-US" sz="1500" dirty="0"/>
          </a:p>
          <a:p>
            <a:pPr indent="0" marL="0">
              <a:spcAft>
                <a:spcPts val="700"/>
              </a:spcAft>
              <a:buNone/>
            </a:pPr>
            <a:r>
              <a:rPr lang="en-US" sz="1500" b="1" dirty="0">
                <a:solidFill>
                  <a:srgbClr val="FFFFFF"/>
                </a:solidFill>
                <a:latin typeface="Open Sans" pitchFamily="34" charset="0"/>
                <a:ea typeface="Open Sans" pitchFamily="34" charset="-122"/>
                <a:cs typeface="Open Sans" pitchFamily="34" charset="-120"/>
              </a:rPr>
              <a:t>Mask the account ID: ********3333</a:t>
            </a:r>
            <a:endParaRPr lang="en-US" sz="1500" dirty="0"/>
          </a:p>
          <a:p>
            <a:pPr indent="0" marL="0">
              <a:spcAft>
                <a:spcPts val="700"/>
              </a:spcAft>
              <a:buNone/>
            </a:pPr>
            <a:r>
              <a:rPr lang="en-US" sz="1500" b="1" dirty="0">
                <a:solidFill>
                  <a:srgbClr val="FFFFFF"/>
                </a:solidFill>
                <a:latin typeface="Open Sans" pitchFamily="34" charset="0"/>
                <a:ea typeface="Open Sans" pitchFamily="34" charset="-122"/>
                <a:cs typeface="Open Sans" pitchFamily="34" charset="-120"/>
              </a:rPr>
              <a:t>Take nothing down</a:t>
            </a:r>
            <a:endParaRPr lang="en-US" sz="1500" dirty="0"/>
          </a:p>
        </p:txBody>
      </p:sp>
      <p:sp>
        <p:nvSpPr>
          <p:cNvPr id="8" name="Shape 5"/>
          <p:cNvSpPr/>
          <p:nvPr/>
        </p:nvSpPr>
        <p:spPr>
          <a:xfrm>
            <a:off x="4297680" y="1463040"/>
            <a:ext cx="4434840" cy="3246120"/>
          </a:xfrm>
          <a:prstGeom prst="rect">
            <a:avLst/>
          </a:prstGeom>
          <a:solidFill>
            <a:srgbClr val="31423B"/>
          </a:solidFill>
          <a:ln/>
        </p:spPr>
      </p:sp>
      <p:sp>
        <p:nvSpPr>
          <p:cNvPr id="9" name="Text 6"/>
          <p:cNvSpPr/>
          <p:nvPr/>
        </p:nvSpPr>
        <p:spPr>
          <a:xfrm>
            <a:off x="4434840" y="1463040"/>
            <a:ext cx="4160520" cy="3246120"/>
          </a:xfrm>
          <a:prstGeom prst="rect">
            <a:avLst/>
          </a:prstGeom>
          <a:noFill/>
          <a:ln/>
        </p:spPr>
        <p:txBody>
          <a:bodyPr wrap="square" lIns="0" tIns="0" rIns="0" bIns="0" rtlCol="0" anchor="ctr"/>
          <a:lstStyle/>
          <a:p>
            <a:pPr indent="0" marL="0">
              <a:spcAft>
                <a:spcPts val="500"/>
              </a:spcAft>
              <a:buNone/>
            </a:pPr>
            <a:r>
              <a:rPr lang="en-US" sz="1400" b="1" dirty="0">
                <a:solidFill>
                  <a:srgbClr val="FFFFFF"/>
                </a:solidFill>
                <a:latin typeface="Open Sans" pitchFamily="34" charset="0"/>
                <a:ea typeface="Open Sans" pitchFamily="34" charset="-122"/>
                <a:cs typeface="Open Sans" pitchFamily="34" charset="-120"/>
              </a:rPr>
              <a:t>A  Prepare; record time and address</a:t>
            </a:r>
            <a:endParaRPr lang="en-US" sz="1400" dirty="0"/>
          </a:p>
          <a:p>
            <a:pPr indent="0" marL="0">
              <a:spcAft>
                <a:spcPts val="500"/>
              </a:spcAft>
              <a:buNone/>
            </a:pPr>
            <a:r>
              <a:rPr lang="en-US" sz="1400" b="1" dirty="0">
                <a:solidFill>
                  <a:srgbClr val="FFFFFF"/>
                </a:solidFill>
                <a:latin typeface="Open Sans" pitchFamily="34" charset="0"/>
                <a:ea typeface="Open Sans" pitchFamily="34" charset="-122"/>
                <a:cs typeface="Open Sans" pitchFamily="34" charset="-120"/>
              </a:rPr>
              <a:t>B  What has landed, and when</a:t>
            </a:r>
            <a:endParaRPr lang="en-US" sz="1400" dirty="0"/>
          </a:p>
          <a:p>
            <a:pPr indent="0" marL="0">
              <a:spcAft>
                <a:spcPts val="500"/>
              </a:spcAft>
              <a:buNone/>
            </a:pPr>
            <a:r>
              <a:rPr lang="en-US" sz="1400" b="1" dirty="0">
                <a:solidFill>
                  <a:srgbClr val="FFFFFF"/>
                </a:solidFill>
                <a:latin typeface="Open Sans" pitchFamily="34" charset="0"/>
                <a:ea typeface="Open Sans" pitchFamily="34" charset="-122"/>
                <a:cs typeface="Open Sans" pitchFamily="34" charset="-120"/>
              </a:rPr>
              <a:t>C  Sync both logs; seal; record</a:t>
            </a:r>
            <a:endParaRPr lang="en-US" sz="1400" dirty="0"/>
          </a:p>
          <a:p>
            <a:pPr indent="0" marL="0">
              <a:spcAft>
                <a:spcPts val="500"/>
              </a:spcAft>
              <a:buNone/>
            </a:pPr>
            <a:r>
              <a:rPr lang="en-US" sz="1400" b="1" dirty="0">
                <a:solidFill>
                  <a:srgbClr val="FFFFFF"/>
                </a:solidFill>
                <a:latin typeface="Open Sans" pitchFamily="34" charset="0"/>
                <a:ea typeface="Open Sans" pitchFamily="34" charset="-122"/>
                <a:cs typeface="Open Sans" pitchFamily="34" charset="-120"/>
              </a:rPr>
              <a:t>D  validate-logs, per Region</a:t>
            </a:r>
            <a:endParaRPr lang="en-US" sz="1400" dirty="0"/>
          </a:p>
          <a:p>
            <a:pPr indent="0" marL="0">
              <a:spcAft>
                <a:spcPts val="500"/>
              </a:spcAft>
              <a:buNone/>
            </a:pPr>
            <a:r>
              <a:rPr lang="en-US" sz="1400" b="1" dirty="0">
                <a:solidFill>
                  <a:srgbClr val="FFFFFF"/>
                </a:solidFill>
                <a:latin typeface="Open Sans" pitchFamily="34" charset="0"/>
                <a:ea typeface="Open Sans" pitchFamily="34" charset="-122"/>
                <a:cs typeface="Open Sans" pitchFamily="34" charset="-120"/>
              </a:rPr>
              <a:t>E  Working copies</a:t>
            </a:r>
            <a:endParaRPr lang="en-US" sz="1400" dirty="0"/>
          </a:p>
          <a:p>
            <a:pPr indent="0" marL="0">
              <a:spcAft>
                <a:spcPts val="500"/>
              </a:spcAft>
              <a:buNone/>
            </a:pPr>
            <a:r>
              <a:rPr lang="en-US" sz="1400" b="1" dirty="0">
                <a:solidFill>
                  <a:srgbClr val="FFFFFF"/>
                </a:solidFill>
                <a:latin typeface="Open Sans" pitchFamily="34" charset="0"/>
                <a:ea typeface="Open Sans" pitchFamily="34" charset="-122"/>
                <a:cs typeface="Open Sans" pitchFamily="34" charset="-120"/>
              </a:rPr>
              <a:t>F  History, then metadata, ETags</a:t>
            </a:r>
            <a:endParaRPr lang="en-US" sz="1400" dirty="0"/>
          </a:p>
          <a:p>
            <a:pPr indent="0" marL="0">
              <a:spcAft>
                <a:spcPts val="500"/>
              </a:spcAft>
              <a:buNone/>
            </a:pPr>
            <a:r>
              <a:rPr lang="en-US" sz="1400" b="1" dirty="0">
                <a:solidFill>
                  <a:srgbClr val="FFFFFF"/>
                </a:solidFill>
                <a:latin typeface="Open Sans" pitchFamily="34" charset="0"/>
                <a:ea typeface="Open Sans" pitchFamily="34" charset="-122"/>
                <a:cs typeface="Open Sans" pitchFamily="34" charset="-120"/>
              </a:rPr>
              <a:t>G  Recover by version ID</a:t>
            </a:r>
            <a:endParaRPr lang="en-US" sz="1400" dirty="0"/>
          </a:p>
          <a:p>
            <a:pPr indent="0" marL="0">
              <a:spcAft>
                <a:spcPts val="500"/>
              </a:spcAft>
              <a:buNone/>
            </a:pPr>
            <a:r>
              <a:rPr lang="en-US" sz="1400" b="1" dirty="0">
                <a:solidFill>
                  <a:srgbClr val="FFFFFF"/>
                </a:solidFill>
                <a:latin typeface="Open Sans" pitchFamily="34" charset="0"/>
                <a:ea typeface="Open Sans" pitchFamily="34" charset="-122"/>
                <a:cs typeface="Open Sans" pitchFamily="34" charset="-120"/>
              </a:rPr>
              <a:t>H  Prove nothing changed; close</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6E8472"/>
          </a:solidFill>
          <a:ln/>
        </p:spPr>
      </p:sp>
      <p:sp>
        <p:nvSpPr>
          <p:cNvPr id="3" name="Shape 1"/>
          <p:cNvSpPr/>
          <p:nvPr/>
        </p:nvSpPr>
        <p:spPr>
          <a:xfrm>
            <a:off x="731520" y="566928"/>
            <a:ext cx="502920" cy="45720"/>
          </a:xfrm>
          <a:prstGeom prst="rect">
            <a:avLst/>
          </a:prstGeom>
          <a:solidFill>
            <a:srgbClr val="FFFFFF"/>
          </a:solidFill>
          <a:ln/>
        </p:spPr>
      </p:sp>
      <p:sp>
        <p:nvSpPr>
          <p:cNvPr id="4" name="Text 2"/>
          <p:cNvSpPr/>
          <p:nvPr/>
        </p:nvSpPr>
        <p:spPr>
          <a:xfrm>
            <a:off x="731520" y="768096"/>
            <a:ext cx="7690104" cy="640080"/>
          </a:xfrm>
          <a:prstGeom prst="rect">
            <a:avLst/>
          </a:prstGeom>
          <a:noFill/>
          <a:ln/>
        </p:spPr>
        <p:txBody>
          <a:bodyPr wrap="square" lIns="0" tIns="0" rIns="0" bIns="0" rtlCol="0" anchor="t"/>
          <a:lstStyle/>
          <a:p>
            <a:pPr indent="0" marL="0">
              <a:buNone/>
            </a:pPr>
            <a:r>
              <a:rPr lang="en-US" sz="3600" b="1" dirty="0">
                <a:solidFill>
                  <a:srgbClr val="FFFFFF"/>
                </a:solidFill>
                <a:latin typeface="Open Sans" pitchFamily="34" charset="0"/>
                <a:ea typeface="Open Sans" pitchFamily="34" charset="-122"/>
                <a:cs typeface="Open Sans" pitchFamily="34" charset="-120"/>
              </a:rPr>
              <a:t>Discuss</a:t>
            </a:r>
            <a:endParaRPr lang="en-US" sz="3600" dirty="0"/>
          </a:p>
        </p:txBody>
      </p:sp>
      <p:sp>
        <p:nvSpPr>
          <p:cNvPr id="5" name="Shape 3"/>
          <p:cNvSpPr/>
          <p:nvPr/>
        </p:nvSpPr>
        <p:spPr>
          <a:xfrm>
            <a:off x="1097280" y="1737360"/>
            <a:ext cx="6949440" cy="2468880"/>
          </a:xfrm>
          <a:prstGeom prst="rect">
            <a:avLst/>
          </a:prstGeom>
          <a:solidFill>
            <a:srgbClr val="FFFFFF"/>
          </a:solidFill>
          <a:ln/>
        </p:spPr>
      </p:sp>
      <p:sp>
        <p:nvSpPr>
          <p:cNvPr id="6" name="Text 4"/>
          <p:cNvSpPr/>
          <p:nvPr/>
        </p:nvSpPr>
        <p:spPr>
          <a:xfrm>
            <a:off x="1280160" y="1737360"/>
            <a:ext cx="6583680" cy="2468880"/>
          </a:xfrm>
          <a:prstGeom prst="rect">
            <a:avLst/>
          </a:prstGeom>
          <a:noFill/>
          <a:ln/>
        </p:spPr>
        <p:txBody>
          <a:bodyPr wrap="square" lIns="0" tIns="0" rIns="0" bIns="0" rtlCol="0" anchor="ctr"/>
          <a:lstStyle/>
          <a:p>
            <a:pPr indent="0" marL="0">
              <a:buNone/>
            </a:pPr>
            <a:r>
              <a:rPr lang="en-US" sz="1800" b="1" dirty="0">
                <a:solidFill>
                  <a:srgbClr val="31423B"/>
                </a:solidFill>
                <a:latin typeface="Open Sans" pitchFamily="34" charset="0"/>
                <a:ea typeface="Open Sans" pitchFamily="34" charset="-122"/>
                <a:cs typeface="Open Sans" pitchFamily="34" charset="-120"/>
              </a:rPr>
              <a:t>The client's manager says: "You have the file back from its versions. Just remove the delete marker so the team can use it again." What do you answer, and when would the answer change?</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6035040" y="0"/>
            <a:ext cx="3108960" cy="5143500"/>
          </a:xfrm>
          <a:prstGeom prst="rect">
            <a:avLst/>
          </a:prstGeom>
          <a:solidFill>
            <a:srgbClr val="6E8472"/>
          </a:solidFill>
          <a:ln/>
        </p:spPr>
      </p:sp>
      <p:pic>
        <p:nvPicPr>
          <p:cNvPr id="3" name="Image 0" descr="preencoded.png">    </p:cNvPr>
          <p:cNvPicPr>
            <a:picLocks noChangeAspect="1"/>
          </p:cNvPicPr>
          <p:nvPr/>
        </p:nvPicPr>
        <p:blipFill>
          <a:blip r:embed="rId1"/>
          <a:stretch>
            <a:fillRect/>
          </a:stretch>
        </p:blipFill>
        <p:spPr>
          <a:xfrm>
            <a:off x="6583680" y="1554480"/>
            <a:ext cx="2011680" cy="2011680"/>
          </a:xfrm>
          <a:prstGeom prst="rect">
            <a:avLst/>
          </a:prstGeom>
        </p:spPr>
      </p:pic>
      <p:sp>
        <p:nvSpPr>
          <p:cNvPr id="4" name="Text 1"/>
          <p:cNvSpPr/>
          <p:nvPr/>
        </p:nvSpPr>
        <p:spPr>
          <a:xfrm>
            <a:off x="384048" y="1097280"/>
            <a:ext cx="5303520" cy="868680"/>
          </a:xfrm>
          <a:prstGeom prst="rect">
            <a:avLst/>
          </a:prstGeom>
          <a:noFill/>
          <a:ln/>
        </p:spPr>
        <p:txBody>
          <a:bodyPr wrap="square" lIns="0" tIns="0" rIns="0" bIns="0" rtlCol="0" anchor="ctr"/>
          <a:lstStyle/>
          <a:p>
            <a:pPr indent="0" marL="0">
              <a:buNone/>
            </a:pPr>
            <a:r>
              <a:rPr lang="en-US" sz="4800" b="1" dirty="0">
                <a:solidFill>
                  <a:srgbClr val="31423B"/>
                </a:solidFill>
                <a:latin typeface="Open Sans" pitchFamily="34" charset="0"/>
                <a:ea typeface="Open Sans" pitchFamily="34" charset="-122"/>
                <a:cs typeface="Open Sans" pitchFamily="34" charset="-120"/>
              </a:rPr>
              <a:t>Questions &amp;</a:t>
            </a:r>
            <a:endParaRPr lang="en-US" sz="4800" dirty="0"/>
          </a:p>
        </p:txBody>
      </p:sp>
      <p:sp>
        <p:nvSpPr>
          <p:cNvPr id="5" name="Text 2"/>
          <p:cNvSpPr/>
          <p:nvPr/>
        </p:nvSpPr>
        <p:spPr>
          <a:xfrm>
            <a:off x="384048" y="1938528"/>
            <a:ext cx="5303520" cy="868680"/>
          </a:xfrm>
          <a:prstGeom prst="rect">
            <a:avLst/>
          </a:prstGeom>
          <a:noFill/>
          <a:ln/>
        </p:spPr>
        <p:txBody>
          <a:bodyPr wrap="square" lIns="0" tIns="0" rIns="0" bIns="0" rtlCol="0" anchor="ctr"/>
          <a:lstStyle/>
          <a:p>
            <a:pPr indent="0" marL="0">
              <a:buNone/>
            </a:pPr>
            <a:r>
              <a:rPr lang="en-US" sz="4800" b="1" dirty="0">
                <a:solidFill>
                  <a:srgbClr val="6E8472"/>
                </a:solidFill>
                <a:latin typeface="Open Sans" pitchFamily="34" charset="0"/>
                <a:ea typeface="Open Sans" pitchFamily="34" charset="-122"/>
                <a:cs typeface="Open Sans" pitchFamily="34" charset="-120"/>
              </a:rPr>
              <a:t>Discussion</a:t>
            </a:r>
            <a:endParaRPr lang="en-US" sz="4800" dirty="0"/>
          </a:p>
        </p:txBody>
      </p:sp>
      <p:sp>
        <p:nvSpPr>
          <p:cNvPr id="6" name="Shape 3"/>
          <p:cNvSpPr/>
          <p:nvPr/>
        </p:nvSpPr>
        <p:spPr>
          <a:xfrm>
            <a:off x="384048" y="2852928"/>
            <a:ext cx="749808" cy="73152"/>
          </a:xfrm>
          <a:prstGeom prst="rect">
            <a:avLst/>
          </a:prstGeom>
          <a:solidFill>
            <a:srgbClr val="6E8472"/>
          </a:solidFill>
          <a:ln/>
        </p:spPr>
      </p:sp>
      <p:sp>
        <p:nvSpPr>
          <p:cNvPr id="7" name="Shape 4"/>
          <p:cNvSpPr/>
          <p:nvPr/>
        </p:nvSpPr>
        <p:spPr>
          <a:xfrm>
            <a:off x="1188720" y="2852928"/>
            <a:ext cx="384048" cy="73152"/>
          </a:xfrm>
          <a:prstGeom prst="rect">
            <a:avLst/>
          </a:prstGeom>
          <a:solidFill>
            <a:srgbClr val="8A4E8F"/>
          </a:solidFill>
          <a:ln/>
        </p:spPr>
      </p:sp>
      <p:sp>
        <p:nvSpPr>
          <p:cNvPr id="8" name="Text 5"/>
          <p:cNvSpPr/>
          <p:nvPr/>
        </p:nvSpPr>
        <p:spPr>
          <a:xfrm>
            <a:off x="384048" y="3035808"/>
            <a:ext cx="5394960" cy="1691640"/>
          </a:xfrm>
          <a:prstGeom prst="rect">
            <a:avLst/>
          </a:prstGeom>
          <a:noFill/>
          <a:ln/>
        </p:spPr>
        <p:txBody>
          <a:bodyPr wrap="square" lIns="0" tIns="0" rIns="0" bIns="0" rtlCol="0" anchor="t"/>
          <a:lstStyle/>
          <a:p>
            <a:pPr marL="342900" indent="-342900">
              <a:spcAft>
                <a:spcPts val="300"/>
              </a:spcAft>
              <a:buSzPct val="100000"/>
              <a:buChar char="•"/>
            </a:pPr>
            <a:r>
              <a:rPr lang="en-US" sz="1300" b="1" dirty="0">
                <a:solidFill>
                  <a:srgbClr val="31423B"/>
                </a:solidFill>
                <a:latin typeface="Open Sans" pitchFamily="34" charset="0"/>
                <a:ea typeface="Open Sans" pitchFamily="34" charset="-122"/>
                <a:cs typeface="Open Sans" pitchFamily="34" charset="-120"/>
              </a:rPr>
              <a:t>A copy is defensible through its record and its hash</a:t>
            </a:r>
            <a:endParaRPr lang="en-US" sz="1300" dirty="0"/>
          </a:p>
          <a:p>
            <a:pPr marL="342900" indent="-342900">
              <a:spcAft>
                <a:spcPts val="300"/>
              </a:spcAft>
              <a:buSzPct val="100000"/>
              <a:buChar char="•"/>
            </a:pPr>
            <a:r>
              <a:rPr lang="en-US" sz="1300" b="1" dirty="0">
                <a:solidFill>
                  <a:srgbClr val="31423B"/>
                </a:solidFill>
                <a:latin typeface="Open Sans" pitchFamily="34" charset="0"/>
                <a:ea typeface="Open Sans" pitchFamily="34" charset="-122"/>
                <a:cs typeface="Open Sans" pitchFamily="34" charset="-120"/>
              </a:rPr>
              <a:t>Completeness: state the time you looked</a:t>
            </a:r>
            <a:endParaRPr lang="en-US" sz="1300" dirty="0"/>
          </a:p>
          <a:p>
            <a:pPr marL="342900" indent="-342900">
              <a:spcAft>
                <a:spcPts val="300"/>
              </a:spcAft>
              <a:buSzPct val="100000"/>
              <a:buChar char="•"/>
            </a:pPr>
            <a:r>
              <a:rPr lang="en-US" sz="1300" b="1" dirty="0">
                <a:solidFill>
                  <a:srgbClr val="31423B"/>
                </a:solidFill>
                <a:latin typeface="Open Sans" pitchFamily="34" charset="0"/>
                <a:ea typeface="Open Sans" pitchFamily="34" charset="-122"/>
                <a:cs typeface="Open Sans" pitchFamily="34" charset="-120"/>
              </a:rPr>
              <a:t>A pass covers what it checked, nothing more</a:t>
            </a:r>
            <a:endParaRPr lang="en-US" sz="1300" dirty="0"/>
          </a:p>
          <a:p>
            <a:pPr marL="342900" indent="-342900">
              <a:spcAft>
                <a:spcPts val="800"/>
              </a:spcAft>
              <a:buSzPct val="100000"/>
              <a:buChar char="•"/>
            </a:pPr>
            <a:r>
              <a:rPr lang="en-US" sz="1300" b="1" dirty="0">
                <a:solidFill>
                  <a:srgbClr val="31423B"/>
                </a:solidFill>
                <a:latin typeface="Open Sans" pitchFamily="34" charset="0"/>
                <a:ea typeface="Open Sans" pitchFamily="34" charset="-122"/>
                <a:cs typeface="Open Sans" pitchFamily="34" charset="-120"/>
              </a:rPr>
              <a:t>List first; collect by version ID; leave the marker</a:t>
            </a:r>
            <a:endParaRPr lang="en-US" sz="1300" dirty="0"/>
          </a:p>
          <a:p>
            <a:pPr indent="0" marL="0">
              <a:spcAft>
                <a:spcPts val="300"/>
              </a:spcAft>
              <a:buNone/>
            </a:pPr>
            <a:r>
              <a:rPr lang="en-US" sz="1300" i="1" dirty="0">
                <a:solidFill>
                  <a:srgbClr val="5C6B63"/>
                </a:solidFill>
                <a:latin typeface="Open Sans" pitchFamily="34" charset="0"/>
                <a:ea typeface="Open Sans" pitchFamily="34" charset="-122"/>
                <a:cs typeface="Open Sans" pitchFamily="34" charset="-120"/>
              </a:rPr>
              <a:t>Now: the end-of-day quiz, five short answers on Days 1 to 5. Next: Session 13 opens the logs.</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Disclaimer &amp; Copyrights</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Text 4"/>
          <p:cNvSpPr/>
          <p:nvPr/>
        </p:nvSpPr>
        <p:spPr>
          <a:xfrm>
            <a:off x="731520" y="1417320"/>
            <a:ext cx="7863840" cy="2331720"/>
          </a:xfrm>
          <a:prstGeom prst="rect">
            <a:avLst/>
          </a:prstGeom>
          <a:noFill/>
          <a:ln/>
        </p:spPr>
        <p:txBody>
          <a:bodyPr wrap="square" lIns="0" tIns="0" rIns="0" bIns="0" rtlCol="0" anchor="t"/>
          <a:lstStyle/>
          <a:p>
            <a:pPr indent="0" marL="0">
              <a:spcAft>
                <a:spcPts val="1000"/>
              </a:spcAft>
              <a:buNone/>
            </a:pPr>
            <a:r>
              <a:rPr lang="en-US" sz="1200" dirty="0">
                <a:solidFill>
                  <a:srgbClr val="31423B"/>
                </a:solidFill>
                <a:latin typeface="Open Sans" pitchFamily="34" charset="0"/>
                <a:ea typeface="Open Sans" pitchFamily="34" charset="-122"/>
                <a:cs typeface="Open Sans" pitchFamily="34" charset="-120"/>
              </a:rPr>
              <a:t>The information presented in this presentation is intended for general informational purposes only. It is not meant to be comprehensive or to constitute professional advice. Any reliance you place on such information is strictly at your own risk. While I strive to keep the information accurate and up-to-date, I make no representations or warranties of any kind, express or implied, about the completeness, accuracy, reliability, suitability or availability concerning the content within this presentation.</a:t>
            </a:r>
            <a:endParaRPr lang="en-US" sz="1200" dirty="0"/>
          </a:p>
          <a:p>
            <a:pPr indent="0" marL="0">
              <a:spcAft>
                <a:spcPts val="1000"/>
              </a:spcAft>
              <a:buNone/>
            </a:pPr>
            <a:r>
              <a:rPr lang="en-US" sz="1200" dirty="0">
                <a:solidFill>
                  <a:srgbClr val="31423B"/>
                </a:solidFill>
                <a:latin typeface="Open Sans" pitchFamily="34" charset="0"/>
                <a:ea typeface="Open Sans" pitchFamily="34" charset="-122"/>
                <a:cs typeface="Open Sans" pitchFamily="34" charset="-120"/>
              </a:rPr>
              <a:t>This presentation may include references or links to third-party websites or content. I do not endorse the views expressed or the information provided on such external sites. I am not responsible for the content of any linked site or any link contained in a linked site.</a:t>
            </a:r>
            <a:endParaRPr lang="en-US" sz="1200" dirty="0"/>
          </a:p>
          <a:p>
            <a:pPr indent="0" marL="0">
              <a:spcAft>
                <a:spcPts val="1000"/>
              </a:spcAft>
              <a:buNone/>
            </a:pPr>
            <a:r>
              <a:rPr lang="en-US" sz="1200" dirty="0">
                <a:solidFill>
                  <a:srgbClr val="31423B"/>
                </a:solidFill>
                <a:latin typeface="Open Sans" pitchFamily="34" charset="0"/>
                <a:ea typeface="Open Sans" pitchFamily="34" charset="-122"/>
                <a:cs typeface="Open Sans" pitchFamily="34" charset="-120"/>
              </a:rPr>
              <a:t>Any action you take upon the information presented in this presentation is strictly at your own discretion. I will not be liable for any losses or damages in connection with the use of this information.</a:t>
            </a:r>
            <a:endParaRPr lang="en-US" sz="1200" dirty="0"/>
          </a:p>
          <a:p>
            <a:pPr indent="0" marL="0">
              <a:buNone/>
            </a:pPr>
            <a:r>
              <a:rPr lang="en-US" sz="1200" dirty="0">
                <a:solidFill>
                  <a:srgbClr val="31423B"/>
                </a:solidFill>
                <a:latin typeface="Open Sans" pitchFamily="34" charset="0"/>
                <a:ea typeface="Open Sans" pitchFamily="34" charset="-122"/>
                <a:cs typeface="Open Sans" pitchFamily="34" charset="-120"/>
              </a:rPr>
              <a:t>This disclaimer is subject to change without notice.</a:t>
            </a:r>
            <a:endParaRPr lang="en-US" sz="1200" dirty="0"/>
          </a:p>
        </p:txBody>
      </p:sp>
      <p:sp>
        <p:nvSpPr>
          <p:cNvPr id="7" name="Shape 5"/>
          <p:cNvSpPr/>
          <p:nvPr/>
        </p:nvSpPr>
        <p:spPr>
          <a:xfrm>
            <a:off x="731520" y="3931920"/>
            <a:ext cx="54864" cy="621792"/>
          </a:xfrm>
          <a:prstGeom prst="rect">
            <a:avLst/>
          </a:prstGeom>
          <a:solidFill>
            <a:srgbClr val="E8F0EA"/>
          </a:solidFill>
          <a:ln/>
        </p:spPr>
      </p:sp>
      <p:sp>
        <p:nvSpPr>
          <p:cNvPr id="8" name="Text 6"/>
          <p:cNvSpPr/>
          <p:nvPr/>
        </p:nvSpPr>
        <p:spPr>
          <a:xfrm>
            <a:off x="859536" y="3931920"/>
            <a:ext cx="7735824" cy="621792"/>
          </a:xfrm>
          <a:prstGeom prst="rect">
            <a:avLst/>
          </a:prstGeom>
          <a:noFill/>
          <a:ln/>
        </p:spPr>
        <p:txBody>
          <a:bodyPr wrap="square" lIns="0" tIns="0" rIns="0" bIns="0" rtlCol="0" anchor="t"/>
          <a:lstStyle/>
          <a:p>
            <a:pPr indent="0" marL="0">
              <a:buNone/>
            </a:pPr>
            <a:r>
              <a:rPr lang="en-US" sz="1100" dirty="0">
                <a:solidFill>
                  <a:srgbClr val="5C6B63"/>
                </a:solidFill>
                <a:latin typeface="Open Sans" pitchFamily="34" charset="0"/>
                <a:ea typeface="Open Sans" pitchFamily="34" charset="-122"/>
                <a:cs typeface="Open Sans" pitchFamily="34" charset="-120"/>
              </a:rPr>
              <a:t>@ Images and artworks used in this presentation are used for general informational purposes only. It may contain copyrighted material, the use of which may not have been specifically authorised by the copyright owner. This material is available in an effort to explain issues relevant to the topic. This should constitute a 'fair use' of any such copyrighted material.</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National Institute of Business Management (NIBM)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NB6018CEM S12 - Cloud Forensics: Collection and Preservation</dc:title>
  <dc:subject>PptxGenJS Presentation</dc:subject>
  <dc:creator>Niranga Dharmaratna</dc:creator>
  <cp:lastModifiedBy>Niranga Dharmaratna</cp:lastModifiedBy>
  <cp:revision>1</cp:revision>
  <dcterms:created xsi:type="dcterms:W3CDTF">2026-10-15T04:37:52Z</dcterms:created>
  <dcterms:modified xsi:type="dcterms:W3CDTF">2026-10-15T04:37:52Z</dcterms:modified>
</cp:coreProperties>
</file>