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opens Day 2. The page on the portal is the content master: every slide points to a section of it. Students start the lab's long job (Part A, steps 1 to 3) before you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and LO2. The lab checkpoint feeds the phase test. This is not a day-closing session: the Day 2 quiz comes at the end of Session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hook from the page. Session 2 left state 4 open: the record is reused and the content survives with no name. The unit rehearses on a closed case, M57-Jean, and on its own test image with known contents. Say once that both are training material and the methods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and demo S03-D1. Run the demo live to the step where the footer is found. A file signature is the fixed pattern at the start, and sometimes the end, of a file type. Ask how sure each pattern is: eight bytes against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callback only, one minute. Session 2 owns this lens and landed it in full. Give the one-line gist again for anyone who was absent, then move on. Do not show a key concept slide here: Session 2's sentence still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Three planted items in the test image show the three cases. A file that is too long often still opens, and its hash value still fails. A picture inside a document is carved a second time as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deeper layer. Neither tool is better. Foremost shows everything that begins like a file and leaves the judgement to you. PhotoRec judges for you. In the lab, the difference between the two lists is where the interesting items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The three places from Session 2: unallocated space, file slack, unpartitioned space. One planted GIF lies in the drive slack of a current file, NOTES.TXT, so a carve of unallocated space never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and demo S03-D2. Item C07 in the lab: 75,787 bytes carved, 67,595 expected, a difference of 8,192 bytes, exactly two clusters. Let students see the half-correct picture before you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In the lab, C07 is fragmented and C08 is partly overwritten. The stretch task rebuilds C07 by hand and its hash value then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The two lines are real output from the test image. Divide the first position by 512: sector 7,041, inside the broken JPEG that Foremost carved for C07. The second address exists in the image only in compressed form: a text search finds it 10 times, bulk_extractor 13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The histogram files are the first thing to read on a new disk. Warn about false positives: addresses of software companies inside program files fill the top of the list on a real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and demo S03-D3. The test image's table gives 98,304 of 262,144 sectors to one partition. In the lab TestDisk finds a FAT32 volume at sector 108,544, and writing the table changes 11 bytes, all in sector 0. With the start sector, fls -o reads the volume with no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Striping, mirroring and parity are the three building blocks. The stripe size is the number of bytes written to one disk before moving to the next. Link back to fragmentation: to a carving tool that reads one disk of a striped set, every large file is fragmented.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and demo S03-D4. Work the XOR by hand once: the result is 1 when the two bits differ. Then run the demo: with the wrong stripe size the first characters are still right, which is the trap. Wrong settings do not give a slightly wrong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two hours, in the Kali VM. Part A was started at the open. Checkpoint: s03-checkpoint.csv, notes and custody record, judged against the unit's record of how the test image was built. Eight items come back exact. C07 and C08 must not be claimed as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There is no single right answer. Draw out: a silent rejection hides evidence that existed; an unchecked output invites a false claim of recovery. Either way the examiner states what was searched, with which tool and settings, and proves each result by hash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with formal references. bulk_extractor is described in Garfinkel (2013), Computers and Security, 32, cited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next, from the page. Session 4 closes Day 2 and carries the end-of-day quiz for Sessions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Advanced Data Recovery and Carving</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3 - Day 2: Advanced Data Recovery and Anti-Forensics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S03 Advanced Data Recovery and Carving</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754880" cy="777240"/>
          </a:xfrm>
          <a:prstGeom prst="rect">
            <a:avLst/>
          </a:prstGeom>
          <a:solidFill>
            <a:srgbClr val="F1E8F2"/>
          </a:solidFill>
          <a:ln/>
        </p:spPr>
      </p:sp>
      <p:sp>
        <p:nvSpPr>
          <p:cNvPr id="7" name="Text 5"/>
          <p:cNvSpPr/>
          <p:nvPr/>
        </p:nvSpPr>
        <p:spPr>
          <a:xfrm>
            <a:off x="521208" y="1417320"/>
            <a:ext cx="4535424" cy="777240"/>
          </a:xfrm>
          <a:prstGeom prst="rect">
            <a:avLst/>
          </a:prstGeom>
          <a:noFill/>
          <a:ln/>
        </p:spPr>
        <p:txBody>
          <a:bodyPr wrap="square" rtlCol="0" anchor="ctr"/>
          <a:lstStyle/>
          <a:p>
            <a:pPr indent="0" marL="0">
              <a:buNone/>
            </a:pPr>
            <a:r>
              <a:rPr lang="en-US" sz="1700" b="1" dirty="0">
                <a:solidFill>
                  <a:srgbClr val="31423B"/>
                </a:solidFill>
                <a:latin typeface="Open Sans" pitchFamily="34" charset="0"/>
                <a:ea typeface="Open Sans" pitchFamily="34" charset="-122"/>
                <a:cs typeface="Open Sans" pitchFamily="34" charset="-120"/>
              </a:rPr>
              <a:t>The records are gone. What can you recover from content alone?</a:t>
            </a:r>
            <a:endParaRPr lang="en-US" sz="1700" dirty="0"/>
          </a:p>
        </p:txBody>
      </p:sp>
      <p:sp>
        <p:nvSpPr>
          <p:cNvPr id="8" name="Shape 6"/>
          <p:cNvSpPr/>
          <p:nvPr/>
        </p:nvSpPr>
        <p:spPr>
          <a:xfrm>
            <a:off x="411480" y="2286000"/>
            <a:ext cx="4754880" cy="2377440"/>
          </a:xfrm>
          <a:prstGeom prst="rect">
            <a:avLst/>
          </a:prstGeom>
          <a:solidFill>
            <a:srgbClr val="DCE6DE"/>
          </a:solidFill>
          <a:ln/>
        </p:spPr>
      </p:sp>
      <p:sp>
        <p:nvSpPr>
          <p:cNvPr id="9" name="Text 7"/>
          <p:cNvSpPr/>
          <p:nvPr/>
        </p:nvSpPr>
        <p:spPr>
          <a:xfrm>
            <a:off x="502920" y="2286000"/>
            <a:ext cx="4572000" cy="2377440"/>
          </a:xfrm>
          <a:prstGeom prst="rect">
            <a:avLst/>
          </a:prstGeom>
          <a:noFill/>
          <a:ln/>
        </p:spPr>
        <p:txBody>
          <a:bodyPr wrap="square" rtlCol="0" anchor="ctr"/>
          <a:lstStyle/>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Carve files by header, footer and size limit</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Say why fragmentation breaks a carve, and how you can tell</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Extract features with bulk_extractor</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Find a lost partition, and explain what a RAID set needs</a:t>
            </a:r>
            <a:endParaRPr lang="en-US" sz="1600" dirty="0"/>
          </a:p>
        </p:txBody>
      </p:sp>
      <p:pic>
        <p:nvPicPr>
          <p:cNvPr id="10" name="Image 0" descr="preencoded.png">    </p:cNvPr>
          <p:cNvPicPr>
            <a:picLocks noChangeAspect="1"/>
          </p:cNvPicPr>
          <p:nvPr/>
        </p:nvPicPr>
        <p:blipFill>
          <a:blip r:embed="rId1"/>
          <a:stretch>
            <a:fillRect/>
          </a:stretch>
        </p:blipFill>
        <p:spPr>
          <a:xfrm>
            <a:off x="5989320" y="192024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Carving: finding a file by its shape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377440"/>
                <a:gridCol w="2971800"/>
                <a:gridCol w="297180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File type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Header, in hex</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Footer, in hex</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JPEG picture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FF D8 FF</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FF D9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PNG picture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89 50 4E 47 0D 0A 1A 0A</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49 45 4E 44 AE 42 60 82</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PDF document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25 50 44 46  (%PDF)</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25 25 45 4F 46  (%%EOF)</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ZIP, DOCX, XLSX, PPTX</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50 4B 03 04  (PK..)</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50 4B 05 06, then 18 bytes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BMP picture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42 4D  (BM)</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None: size is in the header</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401568"/>
            <a:ext cx="8321040" cy="1280160"/>
          </a:xfrm>
          <a:prstGeom prst="rect">
            <a:avLst/>
          </a:prstGeom>
          <a:solidFill>
            <a:srgbClr val="E8F0EA"/>
          </a:solidFill>
          <a:ln/>
        </p:spPr>
      </p:sp>
      <p:sp>
        <p:nvSpPr>
          <p:cNvPr id="8" name="Shape 5"/>
          <p:cNvSpPr/>
          <p:nvPr/>
        </p:nvSpPr>
        <p:spPr>
          <a:xfrm>
            <a:off x="411480" y="3401568"/>
            <a:ext cx="82296" cy="1280160"/>
          </a:xfrm>
          <a:prstGeom prst="rect">
            <a:avLst/>
          </a:prstGeom>
          <a:solidFill>
            <a:srgbClr val="6E8472"/>
          </a:solidFill>
          <a:ln/>
        </p:spPr>
      </p:sp>
      <p:sp>
        <p:nvSpPr>
          <p:cNvPr id="9" name="Text 6"/>
          <p:cNvSpPr/>
          <p:nvPr/>
        </p:nvSpPr>
        <p:spPr>
          <a:xfrm>
            <a:off x="621792" y="347472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730752"/>
            <a:ext cx="7955280" cy="87782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library from Session 2, with its catalogue burnt. You walk every shelf and know each book by its cover and its last page.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many file types have no last page, and the title was on the catalogue card, which is gone.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carving answers "what is on this disk?", never "who put it there, and when?"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a carved file has lost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8321040" cy="1783080"/>
          </a:xfrm>
          <a:prstGeom prst="rect">
            <a:avLst/>
          </a:prstGeom>
          <a:solidFill>
            <a:srgbClr val="DCE6DE"/>
          </a:solidFill>
          <a:ln/>
        </p:spPr>
      </p:sp>
      <p:sp>
        <p:nvSpPr>
          <p:cNvPr id="7" name="Text 5"/>
          <p:cNvSpPr/>
          <p:nvPr/>
        </p:nvSpPr>
        <p:spPr>
          <a:xfrm>
            <a:off x="502920" y="1417320"/>
            <a:ext cx="8138160" cy="1783080"/>
          </a:xfrm>
          <a:prstGeom prst="rect">
            <a:avLst/>
          </a:prstGeom>
          <a:noFill/>
          <a:ln/>
        </p:spPr>
        <p:txBody>
          <a:bodyPr wrap="square" rtlCol="0" anchor="ctr"/>
          <a:lstStyle/>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No name, no dates, no folder: those were in the index</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The tool names the file by the sector where it found it</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That sector is your only link back to the disk</a:t>
            </a:r>
            <a:endParaRPr lang="en-US" sz="1600" dirty="0"/>
          </a:p>
          <a:p>
            <a:pPr marL="342900" indent="-342900">
              <a:spcAft>
                <a:spcPts val="600"/>
              </a:spcAft>
              <a:buSzPct val="100000"/>
              <a:buChar char="•"/>
            </a:pPr>
            <a:r>
              <a:rPr lang="en-US" sz="1600" b="1" dirty="0">
                <a:solidFill>
                  <a:srgbClr val="31423B"/>
                </a:solidFill>
                <a:latin typeface="Open Sans" pitchFamily="34" charset="0"/>
                <a:ea typeface="Open Sans" pitchFamily="34" charset="-122"/>
                <a:cs typeface="Open Sans" pitchFamily="34" charset="-120"/>
              </a:rPr>
              <a:t>A hash value is the only proof of what you recovered</a:t>
            </a:r>
            <a:endParaRPr lang="en-US" sz="1600" dirty="0"/>
          </a:p>
        </p:txBody>
      </p:sp>
      <p:sp>
        <p:nvSpPr>
          <p:cNvPr id="8" name="Shape 6"/>
          <p:cNvSpPr/>
          <p:nvPr/>
        </p:nvSpPr>
        <p:spPr>
          <a:xfrm>
            <a:off x="411480" y="3346704"/>
            <a:ext cx="8321040" cy="1335024"/>
          </a:xfrm>
          <a:prstGeom prst="rect">
            <a:avLst/>
          </a:prstGeom>
          <a:solidFill>
            <a:srgbClr val="F1E8F2"/>
          </a:solidFill>
          <a:ln/>
        </p:spPr>
      </p:sp>
      <p:sp>
        <p:nvSpPr>
          <p:cNvPr id="9" name="Shape 7"/>
          <p:cNvSpPr/>
          <p:nvPr/>
        </p:nvSpPr>
        <p:spPr>
          <a:xfrm>
            <a:off x="411480" y="3346704"/>
            <a:ext cx="82296" cy="1335024"/>
          </a:xfrm>
          <a:prstGeom prst="rect">
            <a:avLst/>
          </a:prstGeom>
          <a:solidFill>
            <a:srgbClr val="8A4E8F"/>
          </a:solidFill>
          <a:ln/>
        </p:spPr>
      </p:sp>
      <p:sp>
        <p:nvSpPr>
          <p:cNvPr id="10" name="Text 8"/>
          <p:cNvSpPr/>
          <p:nvPr/>
        </p:nvSpPr>
        <p:spPr>
          <a:xfrm>
            <a:off x="621792" y="3419856"/>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11" name="Text 9"/>
          <p:cNvSpPr/>
          <p:nvPr/>
        </p:nvSpPr>
        <p:spPr>
          <a:xfrm>
            <a:off x="621792" y="3675888"/>
            <a:ext cx="7955280" cy="932688"/>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Eternal Sunshine of the Spotless Mind, from Session 2: the memories were erased, and a trace remained when the route to it was lost.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Carving is the stronger case. There is no route at all, and the content is recognised by its own shape, as a face is known when the name has gone.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what you recover is not a vague feeling. It is exact bytes.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a carved file ends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286000"/>
                <a:gridCol w="2834640"/>
                <a:gridCol w="3200400"/>
              </a:tblGrid>
              <a:tr h="56692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tool decides the end by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 works 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 goes wrong 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footer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type has a footer and the file is in one run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same bytes appear earlier by chance, or the true footer was overwritten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size written in the header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type records its own size, as BMP and ZIP do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header is damaged, or the file is in more than one run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size limit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Nothing else is known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Always, a little: the file comes back too long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840480"/>
            <a:ext cx="8321040" cy="822960"/>
          </a:xfrm>
          <a:prstGeom prst="rect">
            <a:avLst/>
          </a:prstGeom>
          <a:solidFill>
            <a:srgbClr val="F1E8F2"/>
          </a:solidFill>
          <a:ln/>
        </p:spPr>
      </p:sp>
      <p:sp>
        <p:nvSpPr>
          <p:cNvPr id="8" name="Text 5"/>
          <p:cNvSpPr/>
          <p:nvPr/>
        </p:nvSpPr>
        <p:spPr>
          <a:xfrm>
            <a:off x="521208" y="3840480"/>
            <a:ext cx="8101584" cy="8229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A false positive is a result the tool reports that is not a real find. In random-looking data, FF D9 appears about once in every 65,536 positions.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Two ways to carve: Foremost and PhotoRec</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Foremost</a:t>
            </a:r>
            <a:endParaRPr lang="en-US" sz="1500" dirty="0"/>
          </a:p>
        </p:txBody>
      </p:sp>
      <p:sp>
        <p:nvSpPr>
          <p:cNvPr id="8" name="Shape 6"/>
          <p:cNvSpPr/>
          <p:nvPr/>
        </p:nvSpPr>
        <p:spPr>
          <a:xfrm>
            <a:off x="411480" y="1819656"/>
            <a:ext cx="4133088" cy="2834640"/>
          </a:xfrm>
          <a:prstGeom prst="rect">
            <a:avLst/>
          </a:prstGeom>
          <a:solidFill>
            <a:srgbClr val="FFFFFF"/>
          </a:solidFill>
          <a:ln w="9525">
            <a:solidFill>
              <a:srgbClr val="CBD6CE"/>
            </a:solidFill>
            <a:prstDash val="solid"/>
          </a:ln>
        </p:spPr>
      </p:sp>
      <p:sp>
        <p:nvSpPr>
          <p:cNvPr id="9" name="Text 7"/>
          <p:cNvSpPr/>
          <p:nvPr/>
        </p:nvSpPr>
        <p:spPr>
          <a:xfrm>
            <a:off x="539496" y="1874520"/>
            <a:ext cx="3877056" cy="27249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How it finds a file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Header, footer and size limit for each type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Where it looks for a header</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At every byte, so it also finds files inside files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 file that looks broken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It writes the file anyway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Its record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audit.txt, with the position of every file</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PhotoRec</a:t>
            </a:r>
            <a:endParaRPr lang="en-US" sz="1500" dirty="0"/>
          </a:p>
        </p:txBody>
      </p:sp>
      <p:sp>
        <p:nvSpPr>
          <p:cNvPr id="12" name="Shape 10"/>
          <p:cNvSpPr/>
          <p:nvPr/>
        </p:nvSpPr>
        <p:spPr>
          <a:xfrm>
            <a:off x="4645152" y="1819656"/>
            <a:ext cx="4133088" cy="2834640"/>
          </a:xfrm>
          <a:prstGeom prst="rect">
            <a:avLst/>
          </a:prstGeom>
          <a:solidFill>
            <a:srgbClr val="FFFFFF"/>
          </a:solidFill>
          <a:ln w="9525">
            <a:solidFill>
              <a:srgbClr val="CBD6CE"/>
            </a:solidFill>
            <a:prstDash val="solid"/>
          </a:ln>
        </p:spPr>
      </p:sp>
      <p:sp>
        <p:nvSpPr>
          <p:cNvPr id="13" name="Text 11"/>
          <p:cNvSpPr/>
          <p:nvPr/>
        </p:nvSpPr>
        <p:spPr>
          <a:xfrm>
            <a:off x="4773168" y="1874520"/>
            <a:ext cx="3877056" cy="27249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How it finds a file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Header, then a check of the file's inner structure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Where it looks for a header</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At the start of each sector or cluster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 file that looks broken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It rejects the file, unless you ask it to keep corrupted files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Its record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report.xml, and photorec.log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to carve: three choices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468880"/>
                <a:gridCol w="3108960"/>
                <a:gridCol w="2743200"/>
              </a:tblGrid>
              <a:tr h="56692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carve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find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miss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unallocated space of one volume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Content of deleted files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File slack, unpartitioned space, other volumes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One whole volume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same, plus files in slack, plus every current file again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Unpartitioned space and other volumes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whole image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Everything that begins with a known header, in every place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Nothing by position, but the output is the largest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840480"/>
            <a:ext cx="8321040" cy="822960"/>
          </a:xfrm>
          <a:prstGeom prst="rect">
            <a:avLst/>
          </a:prstGeom>
          <a:solidFill>
            <a:srgbClr val="DCE6DE"/>
          </a:solidFill>
          <a:ln/>
        </p:spPr>
      </p:sp>
      <p:sp>
        <p:nvSpPr>
          <p:cNvPr id="8" name="Text 5"/>
          <p:cNvSpPr/>
          <p:nvPr/>
        </p:nvSpPr>
        <p:spPr>
          <a:xfrm>
            <a:off x="521208" y="3840480"/>
            <a:ext cx="8101584" cy="82296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Today's test image: PhotoRec returns 6 files from unallocated space and 13 from the whole image. Nothing on the disk changed between the two runs.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Fragmentation: why carving struggles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987552" cy="566928"/>
          </a:xfrm>
          <a:prstGeom prst="rect">
            <a:avLst/>
          </a:prstGeom>
          <a:solidFill>
            <a:srgbClr val="DCE6DE"/>
          </a:solidFill>
          <a:ln w="9525">
            <a:solidFill>
              <a:srgbClr val="4F6356"/>
            </a:solidFill>
            <a:prstDash val="solid"/>
          </a:ln>
        </p:spPr>
      </p:sp>
      <p:sp>
        <p:nvSpPr>
          <p:cNvPr id="7" name="Text 5"/>
          <p:cNvSpPr/>
          <p:nvPr/>
        </p:nvSpPr>
        <p:spPr>
          <a:xfrm>
            <a:off x="411480"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P1</a:t>
            </a:r>
            <a:endParaRPr lang="en-US" sz="1600" dirty="0"/>
          </a:p>
        </p:txBody>
      </p:sp>
      <p:sp>
        <p:nvSpPr>
          <p:cNvPr id="8" name="Shape 6"/>
          <p:cNvSpPr/>
          <p:nvPr/>
        </p:nvSpPr>
        <p:spPr>
          <a:xfrm>
            <a:off x="1453896" y="1417320"/>
            <a:ext cx="987552" cy="566928"/>
          </a:xfrm>
          <a:prstGeom prst="rect">
            <a:avLst/>
          </a:prstGeom>
          <a:solidFill>
            <a:srgbClr val="DCE6DE"/>
          </a:solidFill>
          <a:ln w="9525">
            <a:solidFill>
              <a:srgbClr val="4F6356"/>
            </a:solidFill>
            <a:prstDash val="solid"/>
          </a:ln>
        </p:spPr>
      </p:sp>
      <p:sp>
        <p:nvSpPr>
          <p:cNvPr id="9" name="Text 7"/>
          <p:cNvSpPr/>
          <p:nvPr/>
        </p:nvSpPr>
        <p:spPr>
          <a:xfrm>
            <a:off x="1453896"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P2</a:t>
            </a:r>
            <a:endParaRPr lang="en-US" sz="1600" dirty="0"/>
          </a:p>
        </p:txBody>
      </p:sp>
      <p:sp>
        <p:nvSpPr>
          <p:cNvPr id="10" name="Shape 8"/>
          <p:cNvSpPr/>
          <p:nvPr/>
        </p:nvSpPr>
        <p:spPr>
          <a:xfrm>
            <a:off x="2496312" y="1417320"/>
            <a:ext cx="987552" cy="566928"/>
          </a:xfrm>
          <a:prstGeom prst="rect">
            <a:avLst/>
          </a:prstGeom>
          <a:solidFill>
            <a:srgbClr val="DCE6DE"/>
          </a:solidFill>
          <a:ln w="9525">
            <a:solidFill>
              <a:srgbClr val="4F6356"/>
            </a:solidFill>
            <a:prstDash val="solid"/>
          </a:ln>
        </p:spPr>
      </p:sp>
      <p:sp>
        <p:nvSpPr>
          <p:cNvPr id="11" name="Text 9"/>
          <p:cNvSpPr/>
          <p:nvPr/>
        </p:nvSpPr>
        <p:spPr>
          <a:xfrm>
            <a:off x="2496312"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P3</a:t>
            </a:r>
            <a:endParaRPr lang="en-US" sz="1600" dirty="0"/>
          </a:p>
        </p:txBody>
      </p:sp>
      <p:sp>
        <p:nvSpPr>
          <p:cNvPr id="12" name="Shape 10"/>
          <p:cNvSpPr/>
          <p:nvPr/>
        </p:nvSpPr>
        <p:spPr>
          <a:xfrm>
            <a:off x="3538728" y="1417320"/>
            <a:ext cx="987552" cy="566928"/>
          </a:xfrm>
          <a:prstGeom prst="rect">
            <a:avLst/>
          </a:prstGeom>
          <a:solidFill>
            <a:srgbClr val="F1E8F2"/>
          </a:solidFill>
          <a:ln w="9525">
            <a:solidFill>
              <a:srgbClr val="8A4E8F"/>
            </a:solidFill>
            <a:prstDash val="solid"/>
          </a:ln>
        </p:spPr>
      </p:sp>
      <p:sp>
        <p:nvSpPr>
          <p:cNvPr id="13" name="Text 11"/>
          <p:cNvSpPr/>
          <p:nvPr/>
        </p:nvSpPr>
        <p:spPr>
          <a:xfrm>
            <a:off x="3538728"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X1</a:t>
            </a:r>
            <a:endParaRPr lang="en-US" sz="1600" dirty="0"/>
          </a:p>
        </p:txBody>
      </p:sp>
      <p:sp>
        <p:nvSpPr>
          <p:cNvPr id="14" name="Shape 12"/>
          <p:cNvSpPr/>
          <p:nvPr/>
        </p:nvSpPr>
        <p:spPr>
          <a:xfrm>
            <a:off x="4581144" y="1417320"/>
            <a:ext cx="987552" cy="566928"/>
          </a:xfrm>
          <a:prstGeom prst="rect">
            <a:avLst/>
          </a:prstGeom>
          <a:solidFill>
            <a:srgbClr val="F1E8F2"/>
          </a:solidFill>
          <a:ln w="9525">
            <a:solidFill>
              <a:srgbClr val="8A4E8F"/>
            </a:solidFill>
            <a:prstDash val="solid"/>
          </a:ln>
        </p:spPr>
      </p:sp>
      <p:sp>
        <p:nvSpPr>
          <p:cNvPr id="15" name="Text 13"/>
          <p:cNvSpPr/>
          <p:nvPr/>
        </p:nvSpPr>
        <p:spPr>
          <a:xfrm>
            <a:off x="4581144"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X2</a:t>
            </a:r>
            <a:endParaRPr lang="en-US" sz="1600" dirty="0"/>
          </a:p>
        </p:txBody>
      </p:sp>
      <p:sp>
        <p:nvSpPr>
          <p:cNvPr id="16" name="Shape 14"/>
          <p:cNvSpPr/>
          <p:nvPr/>
        </p:nvSpPr>
        <p:spPr>
          <a:xfrm>
            <a:off x="5623560" y="1417320"/>
            <a:ext cx="987552" cy="566928"/>
          </a:xfrm>
          <a:prstGeom prst="rect">
            <a:avLst/>
          </a:prstGeom>
          <a:solidFill>
            <a:srgbClr val="DCE6DE"/>
          </a:solidFill>
          <a:ln w="9525">
            <a:solidFill>
              <a:srgbClr val="4F6356"/>
            </a:solidFill>
            <a:prstDash val="solid"/>
          </a:ln>
        </p:spPr>
      </p:sp>
      <p:sp>
        <p:nvSpPr>
          <p:cNvPr id="17" name="Text 15"/>
          <p:cNvSpPr/>
          <p:nvPr/>
        </p:nvSpPr>
        <p:spPr>
          <a:xfrm>
            <a:off x="5623560"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P4</a:t>
            </a:r>
            <a:endParaRPr lang="en-US" sz="1600" dirty="0"/>
          </a:p>
        </p:txBody>
      </p:sp>
      <p:sp>
        <p:nvSpPr>
          <p:cNvPr id="18" name="Shape 16"/>
          <p:cNvSpPr/>
          <p:nvPr/>
        </p:nvSpPr>
        <p:spPr>
          <a:xfrm>
            <a:off x="6665976" y="1417320"/>
            <a:ext cx="987552" cy="566928"/>
          </a:xfrm>
          <a:prstGeom prst="rect">
            <a:avLst/>
          </a:prstGeom>
          <a:solidFill>
            <a:srgbClr val="DCE6DE"/>
          </a:solidFill>
          <a:ln w="9525">
            <a:solidFill>
              <a:srgbClr val="4F6356"/>
            </a:solidFill>
            <a:prstDash val="solid"/>
          </a:ln>
        </p:spPr>
      </p:sp>
      <p:sp>
        <p:nvSpPr>
          <p:cNvPr id="19" name="Text 17"/>
          <p:cNvSpPr/>
          <p:nvPr/>
        </p:nvSpPr>
        <p:spPr>
          <a:xfrm>
            <a:off x="6665976"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P5</a:t>
            </a:r>
            <a:endParaRPr lang="en-US" sz="1600" dirty="0"/>
          </a:p>
        </p:txBody>
      </p:sp>
      <p:sp>
        <p:nvSpPr>
          <p:cNvPr id="20" name="Shape 18"/>
          <p:cNvSpPr/>
          <p:nvPr/>
        </p:nvSpPr>
        <p:spPr>
          <a:xfrm>
            <a:off x="7708392" y="1417320"/>
            <a:ext cx="987552" cy="566928"/>
          </a:xfrm>
          <a:prstGeom prst="rect">
            <a:avLst/>
          </a:prstGeom>
          <a:solidFill>
            <a:srgbClr val="DCE6DE"/>
          </a:solidFill>
          <a:ln w="9525">
            <a:solidFill>
              <a:srgbClr val="4F6356"/>
            </a:solidFill>
            <a:prstDash val="solid"/>
          </a:ln>
        </p:spPr>
      </p:sp>
      <p:sp>
        <p:nvSpPr>
          <p:cNvPr id="21" name="Text 19"/>
          <p:cNvSpPr/>
          <p:nvPr/>
        </p:nvSpPr>
        <p:spPr>
          <a:xfrm>
            <a:off x="7708392" y="1417320"/>
            <a:ext cx="987552" cy="566928"/>
          </a:xfrm>
          <a:prstGeom prst="rect">
            <a:avLst/>
          </a:prstGeom>
          <a:noFill/>
          <a:ln/>
        </p:spPr>
        <p:txBody>
          <a:bodyPr wrap="square" lIns="0" tIns="0" rIns="0" bIns="0" rtlCol="0" anchor="ctr"/>
          <a:lstStyle/>
          <a:p>
            <a:pPr algn="ctr" indent="0" marL="0">
              <a:buNone/>
            </a:pPr>
            <a:r>
              <a:rPr lang="en-US" sz="1600" b="1" dirty="0">
                <a:solidFill>
                  <a:srgbClr val="31423B"/>
                </a:solidFill>
                <a:latin typeface="Consolas" pitchFamily="34" charset="0"/>
                <a:ea typeface="Consolas" pitchFamily="34" charset="-122"/>
                <a:cs typeface="Consolas" pitchFamily="34" charset="-120"/>
              </a:rPr>
              <a:t>P6</a:t>
            </a:r>
            <a:endParaRPr lang="en-US" sz="1600" dirty="0"/>
          </a:p>
        </p:txBody>
      </p:sp>
      <p:sp>
        <p:nvSpPr>
          <p:cNvPr id="22" name="Text 20"/>
          <p:cNvSpPr/>
          <p:nvPr/>
        </p:nvSpPr>
        <p:spPr>
          <a:xfrm>
            <a:off x="411480" y="2029968"/>
            <a:ext cx="8321040" cy="274320"/>
          </a:xfrm>
          <a:prstGeom prst="rect">
            <a:avLst/>
          </a:prstGeom>
          <a:noFill/>
          <a:ln/>
        </p:spPr>
        <p:txBody>
          <a:bodyPr wrap="square" lIns="0" tIns="0" rIns="0" bIns="0" rtlCol="0" anchor="ctr"/>
          <a:lstStyle/>
          <a:p>
            <a:pPr indent="0" marL="0">
              <a:buNone/>
            </a:pPr>
            <a:r>
              <a:rPr lang="en-US" sz="1200" dirty="0">
                <a:solidFill>
                  <a:srgbClr val="5C6B63"/>
                </a:solidFill>
                <a:latin typeface="Open Sans" pitchFamily="34" charset="0"/>
                <a:ea typeface="Open Sans" pitchFamily="34" charset="-122"/>
                <a:cs typeface="Open Sans" pitchFamily="34" charset="-120"/>
              </a:rPr>
              <a:t>What the tool writes for a picture stored in two runs: P1 to P6 are the picture, X1 and X2 belong to another file.</a:t>
            </a:r>
            <a:endParaRPr lang="en-US" sz="1200" dirty="0"/>
          </a:p>
        </p:txBody>
      </p:sp>
      <p:sp>
        <p:nvSpPr>
          <p:cNvPr id="23" name="Shape 21"/>
          <p:cNvSpPr/>
          <p:nvPr/>
        </p:nvSpPr>
        <p:spPr>
          <a:xfrm>
            <a:off x="411480" y="2395728"/>
            <a:ext cx="8321040" cy="731520"/>
          </a:xfrm>
          <a:prstGeom prst="rect">
            <a:avLst/>
          </a:prstGeom>
          <a:solidFill>
            <a:srgbClr val="DCE6DE"/>
          </a:solidFill>
          <a:ln/>
        </p:spPr>
      </p:sp>
      <p:sp>
        <p:nvSpPr>
          <p:cNvPr id="24" name="Text 22"/>
          <p:cNvSpPr/>
          <p:nvPr/>
        </p:nvSpPr>
        <p:spPr>
          <a:xfrm>
            <a:off x="521208" y="2395728"/>
            <a:ext cx="8101584" cy="73152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A carving tool assumes one run. It reads straight on. The file is too long by a whole number of clusters, and the hash value does not match.</a:t>
            </a:r>
            <a:endParaRPr lang="en-US" sz="1400" dirty="0"/>
          </a:p>
        </p:txBody>
      </p:sp>
      <p:sp>
        <p:nvSpPr>
          <p:cNvPr id="25" name="Shape 23"/>
          <p:cNvSpPr/>
          <p:nvPr/>
        </p:nvSpPr>
        <p:spPr>
          <a:xfrm>
            <a:off x="411480" y="3255264"/>
            <a:ext cx="8321040" cy="1426464"/>
          </a:xfrm>
          <a:prstGeom prst="rect">
            <a:avLst/>
          </a:prstGeom>
          <a:solidFill>
            <a:srgbClr val="E8F0EA"/>
          </a:solidFill>
          <a:ln/>
        </p:spPr>
      </p:sp>
      <p:sp>
        <p:nvSpPr>
          <p:cNvPr id="26" name="Shape 24"/>
          <p:cNvSpPr/>
          <p:nvPr/>
        </p:nvSpPr>
        <p:spPr>
          <a:xfrm>
            <a:off x="411480" y="3255264"/>
            <a:ext cx="82296" cy="1426464"/>
          </a:xfrm>
          <a:prstGeom prst="rect">
            <a:avLst/>
          </a:prstGeom>
          <a:solidFill>
            <a:srgbClr val="6E8472"/>
          </a:solidFill>
          <a:ln/>
        </p:spPr>
      </p:sp>
      <p:sp>
        <p:nvSpPr>
          <p:cNvPr id="27" name="Text 25"/>
          <p:cNvSpPr/>
          <p:nvPr/>
        </p:nvSpPr>
        <p:spPr>
          <a:xfrm>
            <a:off x="621792" y="3328416"/>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28" name="Text 26"/>
          <p:cNvSpPr/>
          <p:nvPr/>
        </p:nvSpPr>
        <p:spPr>
          <a:xfrm>
            <a:off x="621792" y="3584448"/>
            <a:ext cx="7955280" cy="1024128"/>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magazine article that ends "continued on page 47", with that note torn off. The reader turns to page 13 and reads on into another article.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human reader notices the nonsense and stops. A carving tool cannot judge meaning, so it reports one complete file.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never report a carved file as recovered because the tool wrote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Fragmented, or partly overwritten?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Fragmented</a:t>
            </a:r>
            <a:endParaRPr lang="en-US" sz="1500" dirty="0"/>
          </a:p>
        </p:txBody>
      </p:sp>
      <p:sp>
        <p:nvSpPr>
          <p:cNvPr id="8" name="Shape 6"/>
          <p:cNvSpPr/>
          <p:nvPr/>
        </p:nvSpPr>
        <p:spPr>
          <a:xfrm>
            <a:off x="411480" y="1819656"/>
            <a:ext cx="4133088" cy="2240280"/>
          </a:xfrm>
          <a:prstGeom prst="rect">
            <a:avLst/>
          </a:prstGeom>
          <a:solidFill>
            <a:srgbClr val="FFFFFF"/>
          </a:solidFill>
          <a:ln w="9525">
            <a:solidFill>
              <a:srgbClr val="CBD6CE"/>
            </a:solidFill>
            <a:prstDash val="solid"/>
          </a:ln>
        </p:spPr>
      </p:sp>
      <p:sp>
        <p:nvSpPr>
          <p:cNvPr id="9" name="Text 7"/>
          <p:cNvSpPr/>
          <p:nvPr/>
        </p:nvSpPr>
        <p:spPr>
          <a:xfrm>
            <a:off x="539496" y="1874520"/>
            <a:ext cx="3877056" cy="213055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Is all the content still on the disk?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Yes, in separate places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After the good part, the carved file holds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Foreign data, and later perhaps the true second run</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Can it be made whole?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Sometimes, by finding the second run and joining it</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Partly overwritten</a:t>
            </a:r>
            <a:endParaRPr lang="en-US" sz="1500" dirty="0"/>
          </a:p>
        </p:txBody>
      </p:sp>
      <p:sp>
        <p:nvSpPr>
          <p:cNvPr id="12" name="Shape 10"/>
          <p:cNvSpPr/>
          <p:nvPr/>
        </p:nvSpPr>
        <p:spPr>
          <a:xfrm>
            <a:off x="4645152" y="1819656"/>
            <a:ext cx="4133088" cy="2240280"/>
          </a:xfrm>
          <a:prstGeom prst="rect">
            <a:avLst/>
          </a:prstGeom>
          <a:solidFill>
            <a:srgbClr val="FFFFFF"/>
          </a:solidFill>
          <a:ln w="9525">
            <a:solidFill>
              <a:srgbClr val="CBD6CE"/>
            </a:solidFill>
            <a:prstDash val="solid"/>
          </a:ln>
        </p:spPr>
      </p:sp>
      <p:sp>
        <p:nvSpPr>
          <p:cNvPr id="13" name="Text 11"/>
          <p:cNvSpPr/>
          <p:nvPr/>
        </p:nvSpPr>
        <p:spPr>
          <a:xfrm>
            <a:off x="4773168" y="1874520"/>
            <a:ext cx="3877056" cy="213055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Is all the content still on the disk?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Part of it has been replaced</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After the good part, the carved file holds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Foreign data only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Can it be made whole?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This is state 2 from Session 2</a:t>
            </a:r>
            <a:endParaRPr lang="en-US" sz="1300" dirty="0"/>
          </a:p>
        </p:txBody>
      </p:sp>
      <p:sp>
        <p:nvSpPr>
          <p:cNvPr id="14" name="Shape 12"/>
          <p:cNvSpPr/>
          <p:nvPr/>
        </p:nvSpPr>
        <p:spPr>
          <a:xfrm>
            <a:off x="411480" y="4169664"/>
            <a:ext cx="8321040" cy="512064"/>
          </a:xfrm>
          <a:prstGeom prst="rect">
            <a:avLst/>
          </a:prstGeom>
          <a:solidFill>
            <a:srgbClr val="F1E8F2"/>
          </a:solidFill>
          <a:ln/>
        </p:spPr>
      </p:sp>
      <p:sp>
        <p:nvSpPr>
          <p:cNvPr id="15" name="Text 13"/>
          <p:cNvSpPr/>
          <p:nvPr/>
        </p:nvSpPr>
        <p:spPr>
          <a:xfrm>
            <a:off x="521208" y="4169664"/>
            <a:ext cx="8101584" cy="512064"/>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Both give the same first sign: a hash value that does not match. They are different facts, and a report must not mix them.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Features instead of files: bulk_extractor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8321040" cy="786384"/>
          </a:xfrm>
          <a:prstGeom prst="rect">
            <a:avLst/>
          </a:prstGeom>
          <a:solidFill>
            <a:srgbClr val="FFFFFF"/>
          </a:solidFill>
          <a:ln w="9525">
            <a:solidFill>
              <a:srgbClr val="CBD6CE"/>
            </a:solidFill>
            <a:prstDash val="solid"/>
          </a:ln>
        </p:spPr>
      </p:sp>
      <p:sp>
        <p:nvSpPr>
          <p:cNvPr id="7" name="Text 5"/>
          <p:cNvSpPr/>
          <p:nvPr/>
        </p:nvSpPr>
        <p:spPr>
          <a:xfrm>
            <a:off x="548640" y="1417320"/>
            <a:ext cx="8046720" cy="786384"/>
          </a:xfrm>
          <a:prstGeom prst="rect">
            <a:avLst/>
          </a:prstGeom>
          <a:noFill/>
          <a:ln/>
        </p:spPr>
        <p:txBody>
          <a:bodyPr wrap="square" lIns="0" tIns="0" rIns="0" bIns="0" rtlCol="0" anchor="ctr"/>
          <a:lstStyle/>
          <a:p>
            <a:pPr indent="0" marL="0">
              <a:buNone/>
            </a:pPr>
            <a:r>
              <a:rPr lang="en-US" sz="1300" dirty="0">
                <a:solidFill>
                  <a:srgbClr val="31423B"/>
                </a:solidFill>
                <a:latin typeface="Consolas" pitchFamily="34" charset="0"/>
                <a:ea typeface="Consolas" pitchFamily="34" charset="-122"/>
                <a:cs typeface="Consolas" pitchFamily="34" charset="-120"/>
              </a:rPr>
              <a:t>3605097           storage.desk@northdock.example.org</a:t>
            </a:r>
            <a:endParaRPr lang="en-US" sz="1300" dirty="0"/>
          </a:p>
          <a:p>
            <a:pPr indent="0" marL="0">
              <a:buNone/>
            </a:pPr>
            <a:r>
              <a:rPr lang="en-US" sz="1300" dirty="0">
                <a:solidFill>
                  <a:srgbClr val="31423B"/>
                </a:solidFill>
                <a:latin typeface="Consolas" pitchFamily="34" charset="0"/>
                <a:ea typeface="Consolas" pitchFamily="34" charset="-122"/>
                <a:cs typeface="Consolas" pitchFamily="34" charset="-120"/>
              </a:rPr>
              <a:t>5202432-GZIP-46   intake@forensics-unit.example.com</a:t>
            </a:r>
            <a:endParaRPr lang="en-US" sz="1300" dirty="0"/>
          </a:p>
        </p:txBody>
      </p:sp>
      <p:sp>
        <p:nvSpPr>
          <p:cNvPr id="8" name="Shape 6"/>
          <p:cNvSpPr/>
          <p:nvPr/>
        </p:nvSpPr>
        <p:spPr>
          <a:xfrm>
            <a:off x="411480" y="2286000"/>
            <a:ext cx="8321040" cy="1243584"/>
          </a:xfrm>
          <a:prstGeom prst="rect">
            <a:avLst/>
          </a:prstGeom>
          <a:solidFill>
            <a:srgbClr val="DCE6DE"/>
          </a:solidFill>
          <a:ln/>
        </p:spPr>
      </p:sp>
      <p:sp>
        <p:nvSpPr>
          <p:cNvPr id="9" name="Text 7"/>
          <p:cNvSpPr/>
          <p:nvPr/>
        </p:nvSpPr>
        <p:spPr>
          <a:xfrm>
            <a:off x="502920" y="2286000"/>
            <a:ext cx="8138160" cy="1243584"/>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 feature is a short piece of data with a known form: an email address, a web address, a telephone number</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The tool reads every byte, ignores the file system, and writes each feature with its position</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It unpacks compressed data and scans inside: the position records the path</a:t>
            </a:r>
            <a:endParaRPr lang="en-US" sz="1300" dirty="0"/>
          </a:p>
        </p:txBody>
      </p:sp>
      <p:sp>
        <p:nvSpPr>
          <p:cNvPr id="10" name="Shape 8"/>
          <p:cNvSpPr/>
          <p:nvPr/>
        </p:nvSpPr>
        <p:spPr>
          <a:xfrm>
            <a:off x="411480" y="3639312"/>
            <a:ext cx="8321040" cy="1042416"/>
          </a:xfrm>
          <a:prstGeom prst="rect">
            <a:avLst/>
          </a:prstGeom>
          <a:solidFill>
            <a:srgbClr val="E8F0EA"/>
          </a:solidFill>
          <a:ln/>
        </p:spPr>
      </p:sp>
      <p:sp>
        <p:nvSpPr>
          <p:cNvPr id="11" name="Shape 9"/>
          <p:cNvSpPr/>
          <p:nvPr/>
        </p:nvSpPr>
        <p:spPr>
          <a:xfrm>
            <a:off x="411480" y="3639312"/>
            <a:ext cx="82296" cy="1042416"/>
          </a:xfrm>
          <a:prstGeom prst="rect">
            <a:avLst/>
          </a:prstGeom>
          <a:solidFill>
            <a:srgbClr val="6E8472"/>
          </a:solidFill>
          <a:ln/>
        </p:spPr>
      </p:sp>
      <p:sp>
        <p:nvSpPr>
          <p:cNvPr id="12" name="Text 10"/>
          <p:cNvSpPr/>
          <p:nvPr/>
        </p:nvSpPr>
        <p:spPr>
          <a:xfrm>
            <a:off x="621792" y="3712464"/>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3" name="Text 11"/>
          <p:cNvSpPr/>
          <p:nvPr/>
        </p:nvSpPr>
        <p:spPr>
          <a:xfrm>
            <a:off x="621792" y="3968496"/>
            <a:ext cx="7955280" cy="640080"/>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Carving digs up whole pots. Feature extraction walks the field with a metal detector and marks every coin.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detector cannot say which pot a coin came from, and it sounds only for metal.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run it first, then carve.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Carving and feature extraction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286000"/>
                <a:gridCol w="2743200"/>
                <a:gridCol w="3291840"/>
              </a:tblGrid>
              <a:tr h="43891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File carving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Feature extraction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It returns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Files you can open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Lines of text: position, feature, context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fragment with no header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 found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Found, if it holds features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fragmented 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Carved wrongly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Each run is scanned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Compressed data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 archive you must open yourself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Unpacked and scanned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it cannot do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Read a fragment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Give you a file, or name the file a feature came from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4169664"/>
            <a:ext cx="8321040" cy="512064"/>
          </a:xfrm>
          <a:prstGeom prst="rect">
            <a:avLst/>
          </a:prstGeom>
          <a:solidFill>
            <a:srgbClr val="F1E8F2"/>
          </a:solidFill>
          <a:ln/>
        </p:spPr>
      </p:sp>
      <p:sp>
        <p:nvSpPr>
          <p:cNvPr id="8" name="Text 5"/>
          <p:cNvSpPr/>
          <p:nvPr/>
        </p:nvSpPr>
        <p:spPr>
          <a:xfrm>
            <a:off x="521208" y="4169664"/>
            <a:ext cx="8101584" cy="512064"/>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feature files of a real disk are dense personal data. They are evidence: record them and protect them.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lost partition table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743200"/>
                <a:gridCol w="2651760"/>
                <a:gridCol w="2926080"/>
              </a:tblGrid>
              <a:tr h="34747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An entry in the partition table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boot sector of the volume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Where it is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 sector 0 of the disk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 the first sector of the volume itself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Type and size of the volume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one-byte code, and the size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Written out, with the layout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4747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Lost when the entry is removed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2926080"/>
            <a:ext cx="8321040" cy="493776"/>
          </a:xfrm>
          <a:prstGeom prst="rect">
            <a:avLst/>
          </a:prstGeom>
          <a:solidFill>
            <a:srgbClr val="DCE6DE"/>
          </a:solidFill>
          <a:ln/>
        </p:spPr>
      </p:sp>
      <p:sp>
        <p:nvSpPr>
          <p:cNvPr id="8" name="Text 5"/>
          <p:cNvSpPr/>
          <p:nvPr/>
        </p:nvSpPr>
        <p:spPr>
          <a:xfrm>
            <a:off x="521208" y="2926080"/>
            <a:ext cx="8101584" cy="493776"/>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boot sector gives the type and the size. The sector where it is found gives the start. Together they rebuild the entry.</a:t>
            </a:r>
            <a:endParaRPr lang="en-US" sz="1300" dirty="0"/>
          </a:p>
        </p:txBody>
      </p:sp>
      <p:sp>
        <p:nvSpPr>
          <p:cNvPr id="9" name="Shape 6"/>
          <p:cNvSpPr/>
          <p:nvPr/>
        </p:nvSpPr>
        <p:spPr>
          <a:xfrm>
            <a:off x="411480" y="3511296"/>
            <a:ext cx="8321040" cy="1170432"/>
          </a:xfrm>
          <a:prstGeom prst="rect">
            <a:avLst/>
          </a:prstGeom>
          <a:solidFill>
            <a:srgbClr val="E8F0EA"/>
          </a:solidFill>
          <a:ln/>
        </p:spPr>
      </p:sp>
      <p:sp>
        <p:nvSpPr>
          <p:cNvPr id="10" name="Shape 7"/>
          <p:cNvSpPr/>
          <p:nvPr/>
        </p:nvSpPr>
        <p:spPr>
          <a:xfrm>
            <a:off x="411480" y="3511296"/>
            <a:ext cx="82296" cy="1170432"/>
          </a:xfrm>
          <a:prstGeom prst="rect">
            <a:avLst/>
          </a:prstGeom>
          <a:solidFill>
            <a:srgbClr val="6E8472"/>
          </a:solidFill>
          <a:ln/>
        </p:spPr>
      </p:sp>
      <p:sp>
        <p:nvSpPr>
          <p:cNvPr id="11" name="Text 8"/>
          <p:cNvSpPr/>
          <p:nvPr/>
        </p:nvSpPr>
        <p:spPr>
          <a:xfrm>
            <a:off x="621792" y="3584448"/>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9"/>
          <p:cNvSpPr/>
          <p:nvPr/>
        </p:nvSpPr>
        <p:spPr>
          <a:xfrm>
            <a:off x="621792" y="3840480"/>
            <a:ext cx="7955280" cy="768096"/>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land registry from Session 2 has lost a page of its map. A surveyor walks the land and finds the stone at the corner of each plot.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old stones are never cleared away, so a scan finds more stones than plots. And writing a new table changes sector 0.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read on the image, write only on a working copy.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RAID: one volume spread over several disks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2770632" cy="1078992"/>
          </a:xfrm>
          <a:prstGeom prst="rect">
            <a:avLst/>
          </a:prstGeom>
          <a:solidFill>
            <a:srgbClr val="6E8472"/>
          </a:solidFill>
          <a:ln/>
        </p:spPr>
      </p:sp>
      <p:sp>
        <p:nvSpPr>
          <p:cNvPr id="7" name="Text 5"/>
          <p:cNvSpPr/>
          <p:nvPr/>
        </p:nvSpPr>
        <p:spPr>
          <a:xfrm>
            <a:off x="521208" y="1444752"/>
            <a:ext cx="2560320" cy="310896"/>
          </a:xfrm>
          <a:prstGeom prst="rect">
            <a:avLst/>
          </a:prstGeom>
          <a:noFill/>
          <a:ln/>
        </p:spPr>
        <p:txBody>
          <a:bodyPr wrap="square" lIns="0" tIns="0" rIns="0" bIns="0"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RAID 0</a:t>
            </a:r>
            <a:endParaRPr lang="en-US" sz="1800" dirty="0"/>
          </a:p>
        </p:txBody>
      </p:sp>
      <p:sp>
        <p:nvSpPr>
          <p:cNvPr id="8" name="Text 6"/>
          <p:cNvSpPr/>
          <p:nvPr/>
        </p:nvSpPr>
        <p:spPr>
          <a:xfrm>
            <a:off x="411480" y="1700784"/>
            <a:ext cx="2770632"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0</a:t>
            </a:r>
            <a:endParaRPr lang="en-US" sz="4000" dirty="0"/>
          </a:p>
        </p:txBody>
      </p:sp>
      <p:sp>
        <p:nvSpPr>
          <p:cNvPr id="9" name="Text 7"/>
          <p:cNvSpPr/>
          <p:nvPr/>
        </p:nvSpPr>
        <p:spPr>
          <a:xfrm>
            <a:off x="411480" y="2212848"/>
            <a:ext cx="27706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disks it can lose</a:t>
            </a:r>
            <a:endParaRPr lang="en-US" sz="1400" dirty="0"/>
          </a:p>
        </p:txBody>
      </p:sp>
      <p:sp>
        <p:nvSpPr>
          <p:cNvPr id="10" name="Shape 8"/>
          <p:cNvSpPr/>
          <p:nvPr/>
        </p:nvSpPr>
        <p:spPr>
          <a:xfrm>
            <a:off x="411480" y="2496312"/>
            <a:ext cx="2770632" cy="1691640"/>
          </a:xfrm>
          <a:prstGeom prst="rect">
            <a:avLst/>
          </a:prstGeom>
          <a:solidFill>
            <a:srgbClr val="FFFFFF"/>
          </a:solidFill>
          <a:ln w="9525">
            <a:solidFill>
              <a:srgbClr val="CBD6CE"/>
            </a:solidFill>
            <a:prstDash val="solid"/>
          </a:ln>
        </p:spPr>
      </p:sp>
      <p:sp>
        <p:nvSpPr>
          <p:cNvPr id="11" name="Text 9"/>
          <p:cNvSpPr/>
          <p:nvPr/>
        </p:nvSpPr>
        <p:spPr>
          <a:xfrm>
            <a:off x="521208" y="2560320"/>
            <a:ext cx="2551176" cy="1572768"/>
          </a:xfrm>
          <a:prstGeom prst="rect">
            <a:avLst/>
          </a:prstGeom>
          <a:noFill/>
          <a:ln/>
        </p:spPr>
        <p:txBody>
          <a:bodyPr wrap="square" lIns="0" tIns="0" rIns="0" bIns="0" rtlCol="0" anchor="t"/>
          <a:lstStyle/>
          <a:p>
            <a:pPr indent="0" marL="0">
              <a:spcAft>
                <a:spcPts val="400"/>
              </a:spcAft>
              <a:buNone/>
            </a:pPr>
            <a:r>
              <a:rPr lang="en-US" sz="1400" b="1" dirty="0">
                <a:solidFill>
                  <a:srgbClr val="4F6356"/>
                </a:solidFill>
                <a:latin typeface="Open Sans" pitchFamily="34" charset="0"/>
                <a:ea typeface="Open Sans" pitchFamily="34" charset="-122"/>
                <a:cs typeface="Open Sans" pitchFamily="34" charset="-120"/>
              </a:rPr>
              <a:t>Striping only</a:t>
            </a:r>
            <a:endParaRPr lang="en-US" sz="14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Data cut into equal stripes, written to the disks in turn. Speed and full space, no safety.</a:t>
            </a:r>
            <a:endParaRPr lang="en-US" sz="1400" dirty="0"/>
          </a:p>
          <a:p>
            <a:pPr indent="0" marL="0">
              <a:buNone/>
            </a:pPr>
            <a:r>
              <a:rPr lang="en-US" sz="1100" i="1" dirty="0">
                <a:solidFill>
                  <a:srgbClr val="5C6B63"/>
                </a:solidFill>
                <a:latin typeface="Open Sans" pitchFamily="34" charset="0"/>
                <a:ea typeface="Open Sans" pitchFamily="34" charset="-122"/>
                <a:cs typeface="Open Sans" pitchFamily="34" charset="-120"/>
              </a:rPr>
              <a:t>One disk alone: every second piece</a:t>
            </a:r>
            <a:endParaRPr lang="en-US" sz="1400" dirty="0"/>
          </a:p>
        </p:txBody>
      </p:sp>
      <p:sp>
        <p:nvSpPr>
          <p:cNvPr id="12" name="Shape 10"/>
          <p:cNvSpPr/>
          <p:nvPr/>
        </p:nvSpPr>
        <p:spPr>
          <a:xfrm>
            <a:off x="3255264" y="1417320"/>
            <a:ext cx="2770632" cy="1078992"/>
          </a:xfrm>
          <a:prstGeom prst="rect">
            <a:avLst/>
          </a:prstGeom>
          <a:solidFill>
            <a:srgbClr val="4F6356"/>
          </a:solidFill>
          <a:ln/>
        </p:spPr>
      </p:sp>
      <p:sp>
        <p:nvSpPr>
          <p:cNvPr id="13" name="Text 11"/>
          <p:cNvSpPr/>
          <p:nvPr/>
        </p:nvSpPr>
        <p:spPr>
          <a:xfrm>
            <a:off x="3364992" y="1444752"/>
            <a:ext cx="2560320" cy="310896"/>
          </a:xfrm>
          <a:prstGeom prst="rect">
            <a:avLst/>
          </a:prstGeom>
          <a:noFill/>
          <a:ln/>
        </p:spPr>
        <p:txBody>
          <a:bodyPr wrap="square" lIns="0" tIns="0" rIns="0" bIns="0"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RAID 1</a:t>
            </a:r>
            <a:endParaRPr lang="en-US" sz="1800" dirty="0"/>
          </a:p>
        </p:txBody>
      </p:sp>
      <p:sp>
        <p:nvSpPr>
          <p:cNvPr id="14" name="Text 12"/>
          <p:cNvSpPr/>
          <p:nvPr/>
        </p:nvSpPr>
        <p:spPr>
          <a:xfrm>
            <a:off x="3255264" y="1700784"/>
            <a:ext cx="2770632"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1</a:t>
            </a:r>
            <a:endParaRPr lang="en-US" sz="4000" dirty="0"/>
          </a:p>
        </p:txBody>
      </p:sp>
      <p:sp>
        <p:nvSpPr>
          <p:cNvPr id="15" name="Text 13"/>
          <p:cNvSpPr/>
          <p:nvPr/>
        </p:nvSpPr>
        <p:spPr>
          <a:xfrm>
            <a:off x="3255264" y="2212848"/>
            <a:ext cx="27706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disks it can lose</a:t>
            </a:r>
            <a:endParaRPr lang="en-US" sz="1400" dirty="0"/>
          </a:p>
        </p:txBody>
      </p:sp>
      <p:sp>
        <p:nvSpPr>
          <p:cNvPr id="16" name="Shape 14"/>
          <p:cNvSpPr/>
          <p:nvPr/>
        </p:nvSpPr>
        <p:spPr>
          <a:xfrm>
            <a:off x="3255264" y="2496312"/>
            <a:ext cx="2770632" cy="1691640"/>
          </a:xfrm>
          <a:prstGeom prst="rect">
            <a:avLst/>
          </a:prstGeom>
          <a:solidFill>
            <a:srgbClr val="FFFFFF"/>
          </a:solidFill>
          <a:ln w="9525">
            <a:solidFill>
              <a:srgbClr val="CBD6CE"/>
            </a:solidFill>
            <a:prstDash val="solid"/>
          </a:ln>
        </p:spPr>
      </p:sp>
      <p:sp>
        <p:nvSpPr>
          <p:cNvPr id="17" name="Text 15"/>
          <p:cNvSpPr/>
          <p:nvPr/>
        </p:nvSpPr>
        <p:spPr>
          <a:xfrm>
            <a:off x="3364992" y="2560320"/>
            <a:ext cx="2551176" cy="1572768"/>
          </a:xfrm>
          <a:prstGeom prst="rect">
            <a:avLst/>
          </a:prstGeom>
          <a:noFill/>
          <a:ln/>
        </p:spPr>
        <p:txBody>
          <a:bodyPr wrap="square" lIns="0" tIns="0" rIns="0" bIns="0" rtlCol="0" anchor="t"/>
          <a:lstStyle/>
          <a:p>
            <a:pPr indent="0" marL="0">
              <a:spcAft>
                <a:spcPts val="400"/>
              </a:spcAft>
              <a:buNone/>
            </a:pPr>
            <a:r>
              <a:rPr lang="en-US" sz="1400" b="1" dirty="0">
                <a:solidFill>
                  <a:srgbClr val="4F6356"/>
                </a:solidFill>
                <a:latin typeface="Open Sans" pitchFamily="34" charset="0"/>
                <a:ea typeface="Open Sans" pitchFamily="34" charset="-122"/>
                <a:cs typeface="Open Sans" pitchFamily="34" charset="-120"/>
              </a:rPr>
              <a:t>Mirroring</a:t>
            </a:r>
            <a:endParaRPr lang="en-US" sz="14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The same data written to two disks at once. Each disk is a complete copy.</a:t>
            </a:r>
            <a:endParaRPr lang="en-US" sz="1400" dirty="0"/>
          </a:p>
          <a:p>
            <a:pPr indent="0" marL="0">
              <a:buNone/>
            </a:pPr>
            <a:r>
              <a:rPr lang="en-US" sz="1100" i="1" dirty="0">
                <a:solidFill>
                  <a:srgbClr val="5C6B63"/>
                </a:solidFill>
                <a:latin typeface="Open Sans" pitchFamily="34" charset="0"/>
                <a:ea typeface="Open Sans" pitchFamily="34" charset="-122"/>
                <a:cs typeface="Open Sans" pitchFamily="34" charset="-120"/>
              </a:rPr>
              <a:t>One disk alone: a readable volume</a:t>
            </a:r>
            <a:endParaRPr lang="en-US" sz="1400" dirty="0"/>
          </a:p>
        </p:txBody>
      </p:sp>
      <p:sp>
        <p:nvSpPr>
          <p:cNvPr id="18" name="Shape 16"/>
          <p:cNvSpPr/>
          <p:nvPr/>
        </p:nvSpPr>
        <p:spPr>
          <a:xfrm>
            <a:off x="6099048" y="1417320"/>
            <a:ext cx="2770632" cy="1078992"/>
          </a:xfrm>
          <a:prstGeom prst="rect">
            <a:avLst/>
          </a:prstGeom>
          <a:solidFill>
            <a:srgbClr val="8A4E8F"/>
          </a:solidFill>
          <a:ln/>
        </p:spPr>
      </p:sp>
      <p:sp>
        <p:nvSpPr>
          <p:cNvPr id="19" name="Text 17"/>
          <p:cNvSpPr/>
          <p:nvPr/>
        </p:nvSpPr>
        <p:spPr>
          <a:xfrm>
            <a:off x="6208776" y="1444752"/>
            <a:ext cx="2560320" cy="310896"/>
          </a:xfrm>
          <a:prstGeom prst="rect">
            <a:avLst/>
          </a:prstGeom>
          <a:noFill/>
          <a:ln/>
        </p:spPr>
        <p:txBody>
          <a:bodyPr wrap="square" lIns="0" tIns="0" rIns="0" bIns="0"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RAID 5</a:t>
            </a:r>
            <a:endParaRPr lang="en-US" sz="1800" dirty="0"/>
          </a:p>
        </p:txBody>
      </p:sp>
      <p:sp>
        <p:nvSpPr>
          <p:cNvPr id="20" name="Text 18"/>
          <p:cNvSpPr/>
          <p:nvPr/>
        </p:nvSpPr>
        <p:spPr>
          <a:xfrm>
            <a:off x="6099048" y="1700784"/>
            <a:ext cx="2770632"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1</a:t>
            </a:r>
            <a:endParaRPr lang="en-US" sz="4000" dirty="0"/>
          </a:p>
        </p:txBody>
      </p:sp>
      <p:sp>
        <p:nvSpPr>
          <p:cNvPr id="21" name="Text 19"/>
          <p:cNvSpPr/>
          <p:nvPr/>
        </p:nvSpPr>
        <p:spPr>
          <a:xfrm>
            <a:off x="6099048" y="2212848"/>
            <a:ext cx="27706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disks it can lose</a:t>
            </a:r>
            <a:endParaRPr lang="en-US" sz="1400" dirty="0"/>
          </a:p>
        </p:txBody>
      </p:sp>
      <p:sp>
        <p:nvSpPr>
          <p:cNvPr id="22" name="Shape 20"/>
          <p:cNvSpPr/>
          <p:nvPr/>
        </p:nvSpPr>
        <p:spPr>
          <a:xfrm>
            <a:off x="6099048" y="2496312"/>
            <a:ext cx="2770632" cy="1691640"/>
          </a:xfrm>
          <a:prstGeom prst="rect">
            <a:avLst/>
          </a:prstGeom>
          <a:solidFill>
            <a:srgbClr val="FFFFFF"/>
          </a:solidFill>
          <a:ln w="9525">
            <a:solidFill>
              <a:srgbClr val="CBD6CE"/>
            </a:solidFill>
            <a:prstDash val="solid"/>
          </a:ln>
        </p:spPr>
      </p:sp>
      <p:sp>
        <p:nvSpPr>
          <p:cNvPr id="23" name="Text 21"/>
          <p:cNvSpPr/>
          <p:nvPr/>
        </p:nvSpPr>
        <p:spPr>
          <a:xfrm>
            <a:off x="6208776" y="2560320"/>
            <a:ext cx="2551176" cy="1572768"/>
          </a:xfrm>
          <a:prstGeom prst="rect">
            <a:avLst/>
          </a:prstGeom>
          <a:noFill/>
          <a:ln/>
        </p:spPr>
        <p:txBody>
          <a:bodyPr wrap="square" lIns="0" tIns="0" rIns="0" bIns="0" rtlCol="0" anchor="t"/>
          <a:lstStyle/>
          <a:p>
            <a:pPr indent="0" marL="0">
              <a:spcAft>
                <a:spcPts val="400"/>
              </a:spcAft>
              <a:buNone/>
            </a:pPr>
            <a:r>
              <a:rPr lang="en-US" sz="1400" b="1" dirty="0">
                <a:solidFill>
                  <a:srgbClr val="8A4E8F"/>
                </a:solidFill>
                <a:latin typeface="Open Sans" pitchFamily="34" charset="0"/>
                <a:ea typeface="Open Sans" pitchFamily="34" charset="-122"/>
                <a:cs typeface="Open Sans" pitchFamily="34" charset="-120"/>
              </a:rPr>
              <a:t>Striping with parity</a:t>
            </a:r>
            <a:endParaRPr lang="en-US" sz="1400" dirty="0"/>
          </a:p>
          <a:p>
            <a:pPr indent="0" marL="0">
              <a:spcAft>
                <a:spcPts val="600"/>
              </a:spcAft>
              <a:buNone/>
            </a:pPr>
            <a:r>
              <a:rPr lang="en-US" sz="1200" dirty="0">
                <a:solidFill>
                  <a:srgbClr val="31423B"/>
                </a:solidFill>
                <a:latin typeface="Open Sans" pitchFamily="34" charset="0"/>
                <a:ea typeface="Open Sans" pitchFamily="34" charset="-122"/>
                <a:cs typeface="Open Sans" pitchFamily="34" charset="-120"/>
              </a:rPr>
              <a:t>One extra stripe in each row, calculated from the others. Needs three disks or more.</a:t>
            </a:r>
            <a:endParaRPr lang="en-US" sz="1400" dirty="0"/>
          </a:p>
          <a:p>
            <a:pPr indent="0" marL="0">
              <a:buNone/>
            </a:pPr>
            <a:r>
              <a:rPr lang="en-US" sz="1100" i="1" dirty="0">
                <a:solidFill>
                  <a:srgbClr val="5C6B63"/>
                </a:solidFill>
                <a:latin typeface="Open Sans" pitchFamily="34" charset="0"/>
                <a:ea typeface="Open Sans" pitchFamily="34" charset="-122"/>
                <a:cs typeface="Open Sans" pitchFamily="34" charset="-120"/>
              </a:rPr>
              <a:t>One disk alone: data mixed with parity</a:t>
            </a:r>
            <a:endParaRPr lang="en-US" sz="1400" dirty="0"/>
          </a:p>
        </p:txBody>
      </p:sp>
      <p:sp>
        <p:nvSpPr>
          <p:cNvPr id="24" name="Shape 22"/>
          <p:cNvSpPr/>
          <p:nvPr/>
        </p:nvSpPr>
        <p:spPr>
          <a:xfrm>
            <a:off x="411480" y="4279392"/>
            <a:ext cx="8385048" cy="365760"/>
          </a:xfrm>
          <a:prstGeom prst="rect">
            <a:avLst/>
          </a:prstGeom>
          <a:solidFill>
            <a:srgbClr val="31423B"/>
          </a:solidFill>
          <a:ln/>
        </p:spPr>
      </p:sp>
      <p:sp>
        <p:nvSpPr>
          <p:cNvPr id="25" name="Text 23"/>
          <p:cNvSpPr/>
          <p:nvPr/>
        </p:nvSpPr>
        <p:spPr>
          <a:xfrm>
            <a:off x="411480" y="4279392"/>
            <a:ext cx="8385048" cy="365760"/>
          </a:xfrm>
          <a:prstGeom prst="rect">
            <a:avLst/>
          </a:prstGeom>
          <a:noFill/>
          <a:ln/>
        </p:spPr>
        <p:txBody>
          <a:bodyPr wrap="square" lIns="0" tIns="0" rIns="0" bIns="0" rtlCol="0" anchor="ctr"/>
          <a:lstStyle/>
          <a:p>
            <a:pPr algn="ctr" indent="0" marL="0">
              <a:buNone/>
            </a:pPr>
            <a:r>
              <a:rPr lang="en-US" sz="1200" dirty="0">
                <a:solidFill>
                  <a:srgbClr val="FFFFFF"/>
                </a:solidFill>
                <a:latin typeface="Open Sans" pitchFamily="34" charset="0"/>
                <a:ea typeface="Open Sans" pitchFamily="34" charset="-122"/>
                <a:cs typeface="Open Sans" pitchFamily="34" charset="-120"/>
              </a:rPr>
              <a:t>Concepts only in this session. There is no RAID lab.</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Parity, and why order and stripe size matter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3931920" cy="914400"/>
        </p:xfrm>
        <a:graphic>
          <a:graphicData uri="http://schemas.openxmlformats.org/drawingml/2006/table">
            <a:tbl>
              <a:tblPr/>
              <a:tblGrid>
                <a:gridCol w="1828800"/>
                <a:gridCol w="2103120"/>
              </a:tblGrid>
              <a:tr h="329184">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Bits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Disk 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1011 0010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Disk B</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0110 1100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Parity: A XOR B</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1101 1110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XOR parity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0110 1100  = disk B</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526280" y="1417320"/>
            <a:ext cx="4206240" cy="1645920"/>
          </a:xfrm>
          <a:prstGeom prst="rect">
            <a:avLst/>
          </a:prstGeom>
          <a:solidFill>
            <a:srgbClr val="DCE6DE"/>
          </a:solidFill>
          <a:ln/>
        </p:spPr>
      </p:sp>
      <p:sp>
        <p:nvSpPr>
          <p:cNvPr id="8" name="Text 5"/>
          <p:cNvSpPr/>
          <p:nvPr/>
        </p:nvSpPr>
        <p:spPr>
          <a:xfrm>
            <a:off x="4617720" y="1417320"/>
            <a:ext cx="4023360" cy="1645920"/>
          </a:xfrm>
          <a:prstGeom prst="rect">
            <a:avLst/>
          </a:prstGeom>
          <a:noFill/>
          <a:ln/>
        </p:spPr>
        <p:txBody>
          <a:bodyPr wrap="square"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Which image is which disk</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order of the disks</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stripe size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For RAID 5, where the parity lies</a:t>
            </a:r>
            <a:endParaRPr lang="en-US" sz="1500" dirty="0"/>
          </a:p>
        </p:txBody>
      </p:sp>
      <p:sp>
        <p:nvSpPr>
          <p:cNvPr id="9" name="Shape 6"/>
          <p:cNvSpPr/>
          <p:nvPr/>
        </p:nvSpPr>
        <p:spPr>
          <a:xfrm>
            <a:off x="411480" y="3200400"/>
            <a:ext cx="8321040" cy="1481328"/>
          </a:xfrm>
          <a:prstGeom prst="rect">
            <a:avLst/>
          </a:prstGeom>
          <a:solidFill>
            <a:srgbClr val="E8F0EA"/>
          </a:solidFill>
          <a:ln/>
        </p:spPr>
      </p:sp>
      <p:sp>
        <p:nvSpPr>
          <p:cNvPr id="10" name="Shape 7"/>
          <p:cNvSpPr/>
          <p:nvPr/>
        </p:nvSpPr>
        <p:spPr>
          <a:xfrm>
            <a:off x="411480" y="3200400"/>
            <a:ext cx="82296" cy="1481328"/>
          </a:xfrm>
          <a:prstGeom prst="rect">
            <a:avLst/>
          </a:prstGeom>
          <a:solidFill>
            <a:srgbClr val="6E8472"/>
          </a:solidFill>
          <a:ln/>
        </p:spPr>
      </p:sp>
      <p:sp>
        <p:nvSpPr>
          <p:cNvPr id="11" name="Text 8"/>
          <p:cNvSpPr/>
          <p:nvPr/>
        </p:nvSpPr>
        <p:spPr>
          <a:xfrm>
            <a:off x="621792" y="32735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9"/>
          <p:cNvSpPr/>
          <p:nvPr/>
        </p:nvSpPr>
        <p:spPr>
          <a:xfrm>
            <a:off x="621792" y="3529584"/>
            <a:ext cx="7955280" cy="1078992"/>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Dealing a sorted pack to three players, a few cards at a time. To rebuild the pack, collect in the order you dealt, the same number at a time.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card shows its own value. A stripe is 64 KB of bytes with no number on it.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order of the disks is evidence. Record the slot of each disk before it leaves the box, image each one, and rebuild from the images.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4389120" cy="1097280"/>
          </a:xfrm>
          <a:prstGeom prst="rect">
            <a:avLst/>
          </a:prstGeom>
          <a:noFill/>
          <a:ln/>
        </p:spPr>
        <p:txBody>
          <a:bodyPr wrap="square" lIns="0" tIns="0" rIns="0" bIns="0" rtlCol="0" anchor="t"/>
          <a:lstStyle/>
          <a:p>
            <a:pPr indent="0" marL="0">
              <a:buNone/>
            </a:pPr>
            <a:r>
              <a:rPr lang="en-US" sz="3400" b="1" dirty="0">
                <a:solidFill>
                  <a:srgbClr val="FFFFFF"/>
                </a:solidFill>
                <a:latin typeface="Open Sans" pitchFamily="34" charset="0"/>
                <a:ea typeface="Open Sans" pitchFamily="34" charset="-122"/>
                <a:cs typeface="Open Sans" pitchFamily="34" charset="-120"/>
              </a:rPr>
              <a:t>Lab: carve, rebuild and extract</a:t>
            </a:r>
            <a:endParaRPr lang="en-US" sz="3400" dirty="0"/>
          </a:p>
        </p:txBody>
      </p:sp>
      <p:sp>
        <p:nvSpPr>
          <p:cNvPr id="5" name="Shape 3"/>
          <p:cNvSpPr/>
          <p:nvPr/>
        </p:nvSpPr>
        <p:spPr>
          <a:xfrm>
            <a:off x="731520" y="1920240"/>
            <a:ext cx="4206240" cy="2651760"/>
          </a:xfrm>
          <a:prstGeom prst="rect">
            <a:avLst/>
          </a:prstGeom>
          <a:solidFill>
            <a:srgbClr val="31423B"/>
          </a:solidFill>
          <a:ln/>
        </p:spPr>
      </p:sp>
      <p:sp>
        <p:nvSpPr>
          <p:cNvPr id="6" name="Text 4"/>
          <p:cNvSpPr/>
          <p:nvPr/>
        </p:nvSpPr>
        <p:spPr>
          <a:xfrm>
            <a:off x="868680" y="1920240"/>
            <a:ext cx="3931920" cy="265176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Verify, and start bulk_extractor</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Carve the test image twice</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Hash and match ten items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Find the lost partition</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Carve Jean's disk</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Read the features</a:t>
            </a:r>
            <a:endParaRPr lang="en-US" sz="1600" dirty="0"/>
          </a:p>
        </p:txBody>
      </p:sp>
      <p:pic>
        <p:nvPicPr>
          <p:cNvPr id="7" name="Image 0" descr="preencoded.png">    </p:cNvPr>
          <p:cNvPicPr>
            <a:picLocks noChangeAspect="1"/>
          </p:cNvPicPr>
          <p:nvPr/>
        </p:nvPicPr>
        <p:blipFill>
          <a:blip r:embed="rId1"/>
          <a:stretch>
            <a:fillRect/>
          </a:stretch>
        </p:blipFill>
        <p:spPr>
          <a:xfrm>
            <a:off x="5943600" y="1554480"/>
            <a:ext cx="2103120" cy="21031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1920240"/>
            <a:ext cx="6400800" cy="1737360"/>
          </a:xfrm>
          <a:prstGeom prst="rect">
            <a:avLst/>
          </a:prstGeom>
          <a:solidFill>
            <a:srgbClr val="FFFFFF"/>
          </a:solidFill>
          <a:ln/>
        </p:spPr>
      </p:sp>
      <p:sp>
        <p:nvSpPr>
          <p:cNvPr id="6" name="Text 4"/>
          <p:cNvSpPr/>
          <p:nvPr/>
        </p:nvSpPr>
        <p:spPr>
          <a:xfrm>
            <a:off x="1508760" y="1920240"/>
            <a:ext cx="6126480" cy="173736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PhotoRec rejected two broken pictures and told you nothing. Foremost wrote both out as if they were whole. Which behaviour do you want from a forensic tool, and what must your report say in each case?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22960" y="1737360"/>
            <a:ext cx="914400" cy="914400"/>
          </a:xfrm>
          <a:prstGeom prst="rect">
            <a:avLst/>
          </a:prstGeom>
        </p:spPr>
      </p:pic>
      <p:sp>
        <p:nvSpPr>
          <p:cNvPr id="8" name="Shape 5"/>
          <p:cNvSpPr/>
          <p:nvPr/>
        </p:nvSpPr>
        <p:spPr>
          <a:xfrm>
            <a:off x="2148840" y="1417320"/>
            <a:ext cx="6583680" cy="1554480"/>
          </a:xfrm>
          <a:prstGeom prst="rect">
            <a:avLst/>
          </a:prstGeom>
          <a:solidFill>
            <a:srgbClr val="FFFFFF"/>
          </a:solidFill>
          <a:ln w="9525">
            <a:solidFill>
              <a:srgbClr val="CBD6CE"/>
            </a:solidFill>
            <a:prstDash val="solid"/>
          </a:ln>
        </p:spPr>
      </p:sp>
      <p:sp>
        <p:nvSpPr>
          <p:cNvPr id="9" name="Text 6"/>
          <p:cNvSpPr/>
          <p:nvPr/>
        </p:nvSpPr>
        <p:spPr>
          <a:xfrm>
            <a:off x="2286000" y="1490472"/>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M57-Jean scenario</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Digital Corpora</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Naval Postgraduate School</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Today's rehearsal evidence: the image of Jean's computer, published for teaching and research</a:t>
            </a:r>
            <a:endParaRPr lang="en-US" sz="18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22960" y="3419856"/>
            <a:ext cx="914400" cy="914400"/>
          </a:xfrm>
          <a:prstGeom prst="rect">
            <a:avLst/>
          </a:prstGeom>
        </p:spPr>
      </p:pic>
      <p:sp>
        <p:nvSpPr>
          <p:cNvPr id="12" name="Shape 8"/>
          <p:cNvSpPr/>
          <p:nvPr/>
        </p:nvSpPr>
        <p:spPr>
          <a:xfrm>
            <a:off x="2148840" y="3099816"/>
            <a:ext cx="6583680" cy="1554480"/>
          </a:xfrm>
          <a:prstGeom prst="rect">
            <a:avLst/>
          </a:prstGeom>
          <a:solidFill>
            <a:srgbClr val="FFFFFF"/>
          </a:solidFill>
          <a:ln w="9525">
            <a:solidFill>
              <a:srgbClr val="CBD6CE"/>
            </a:solidFill>
            <a:prstDash val="solid"/>
          </a:ln>
        </p:spPr>
      </p:sp>
      <p:sp>
        <p:nvSpPr>
          <p:cNvPr id="13" name="Text 9"/>
          <p:cNvSpPr/>
          <p:nvPr/>
        </p:nvSpPr>
        <p:spPr>
          <a:xfrm>
            <a:off x="2286000" y="3172968"/>
            <a:ext cx="6309360" cy="1408176"/>
          </a:xfrm>
          <a:prstGeom prst="rect">
            <a:avLst/>
          </a:prstGeom>
          <a:noFill/>
          <a:ln/>
        </p:spPr>
        <p:txBody>
          <a:bodyPr wrap="square" lIns="0" tIns="0" rIns="0" bIns="0"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Carving contiguous and fragmented files with fast object validation</a:t>
            </a:r>
            <a:endParaRPr lang="en-US" sz="1500" dirty="0"/>
          </a:p>
          <a:p>
            <a:pPr indent="0" marL="0">
              <a:buNone/>
            </a:pPr>
            <a:r>
              <a:rPr lang="en-US" sz="1300" i="1" dirty="0">
                <a:solidFill>
                  <a:srgbClr val="4F6356"/>
                </a:solidFill>
                <a:latin typeface="Open Sans" pitchFamily="34" charset="0"/>
                <a:ea typeface="Open Sans" pitchFamily="34" charset="-122"/>
                <a:cs typeface="Open Sans" pitchFamily="34" charset="-120"/>
              </a:rPr>
              <a:t>Digital Investigation, 4 (Supplement), 2007</a:t>
            </a:r>
            <a:endParaRPr lang="en-US" sz="1500" dirty="0"/>
          </a:p>
          <a:p>
            <a:pPr indent="0" marL="0">
              <a:buNone/>
            </a:pPr>
            <a:r>
              <a:rPr lang="en-US" sz="1300" dirty="0">
                <a:solidFill>
                  <a:srgbClr val="31423B"/>
                </a:solidFill>
                <a:latin typeface="Open Sans" pitchFamily="34" charset="0"/>
                <a:ea typeface="Open Sans" pitchFamily="34" charset="-122"/>
                <a:cs typeface="Open Sans" pitchFamily="34" charset="-120"/>
              </a:rPr>
              <a:t>Simson Garfinkel</a:t>
            </a:r>
            <a:endParaRPr lang="en-US" sz="1500" dirty="0"/>
          </a:p>
          <a:p>
            <a:pPr indent="0" marL="0">
              <a:buNone/>
            </a:pPr>
            <a:r>
              <a:rPr lang="en-US" sz="1200" i="1" dirty="0">
                <a:solidFill>
                  <a:srgbClr val="4F6356"/>
                </a:solidFill>
                <a:latin typeface="Open Sans" pitchFamily="34" charset="0"/>
                <a:ea typeface="Open Sans" pitchFamily="34" charset="-122"/>
                <a:cs typeface="Open Sans" pitchFamily="34" charset="-120"/>
              </a:rPr>
              <a:t>How often files are fragmented on real disks, and how a carving tool can test what it carves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03520" cy="82296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4 - Data protection and anti-forensics. Today nobody tried to stop you. Next, someone has.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S03 - Advanced Data Recovery and Carving</dc:title>
  <dc:subject>PptxGenJS Presentation</dc:subject>
  <dc:creator>Niranga Dharmaratna</dc:creator>
  <cp:lastModifiedBy>Niranga Dharmaratna</cp:lastModifiedBy>
  <cp:revision>1</cp:revision>
  <dcterms:created xsi:type="dcterms:W3CDTF">2026-10-10T09:09:23Z</dcterms:created>
  <dcterms:modified xsi:type="dcterms:W3CDTF">2026-10-10T09:09:23Z</dcterms:modified>
</cp:coreProperties>
</file>