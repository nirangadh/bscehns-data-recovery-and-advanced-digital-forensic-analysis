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of 18. The portal page for this session is the content master: these slides project it. Open with the case hook on the overview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and LO4. The lab checkpoint helps with both the coursework and the phase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unit's proficiency check: before the case is accepted, each analyst shows that they can image and hash soundly. Tell the room once, plainly, that the evidence in this module comes from documented public training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Use the practice story: the manager who opened the memory card on her own laptop. Ask: what else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and demo S01-D1. The file copy holds 11 sectors, the image holds all 24. Do not explain why older data survives: that is Session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S01-D2. Run the demo live: flip one bit, then point at the size and the name, which do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and demo S01-D3. Land the lens in two minutes: give the one-line gist, ask the question, and let the room name the columns of a custody record. Name and paraphrase only; no stills.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Then test the sentence as a comparison: a metal chain fails visibly and completely; a custody gap is silent and a matter of degree. It does not prove tampering. It removes the ability to show there was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The hard line is between stages 2 and 3: examination ends with things, analysis ends with meaning. Show the table "How this case will run"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Rev 2 is withdrawn but still widely used, and it must be named as Rev 2 whenever its four phases are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 3 is the current revision. It does not draw four phases. The activities are the same; the grouping is different, and learning is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S01-D4. Forensic work sits mainly in Respond, which includes collecting incident data and protecting its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Fire comparison: fire crew and investigator are incident response, builders are disaster recovery. Where it breaks: an intruder is hidden and may still be inside, and rebuilding destroys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our client before the leak: were USB connections recorded, were logs kept, did the clocks agree? Each yes is evidence in Sessions 2 to 5. Session 11 builds readiness in the cloud, and it is the first coursework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two hours. The steps, with what students should see at each one, are on the portal page, section 8. Checkpoint: hashes match the register, two tools agree, and the custody record has no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prompt for the last fifteen minutes. There is no single right answer: the content is shown unchanged, but access during the gap is unknown, so the weight of the evidence is open to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free from NIST. Students do not need to read them in full; the portal page gives what the module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closes Day 1 with the end-of-day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txBox="1"/>
          <p:nvPr/>
        </p:nvSpPr>
        <p:spPr>
          <a:xfrm>
            <a:off x="384048" y="292608"/>
            <a:ext cx="5486400" cy="548640"/>
          </a:xfrm>
          <a:prstGeom prst="rect">
            <a:avLst/>
          </a:prstGeom>
          <a:noFill/>
          <a:ln/>
        </p:spPr>
        <p:txBody>
          <a:bodyPr wrap="square" lIns="0" tIns="0" rIns="0" bIns="0" rtlCol="0" anchor="t"/>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txBox="1"/>
          <p:nvPr/>
        </p:nvSpPr>
        <p:spPr>
          <a:xfrm>
            <a:off x="384048" y="886968"/>
            <a:ext cx="4572000" cy="2560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txBox="1"/>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Forensic Readiness and the Investigation Lifecycle</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txBox="1"/>
          <p:nvPr/>
        </p:nvSpPr>
        <p:spPr>
          <a:xfrm>
            <a:off x="384048" y="3310128"/>
            <a:ext cx="5029200" cy="438912"/>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1 - Day 1: Foundations and Forensic Readiness</a:t>
            </a:r>
            <a:endParaRPr lang="en-US" sz="1800" dirty="0"/>
          </a:p>
        </p:txBody>
      </p:sp>
      <p:sp>
        <p:nvSpPr>
          <p:cNvPr id="8" name="Text 6"/>
          <p:cNvSpPr txBox="1"/>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172200" y="1417320"/>
            <a:ext cx="2377440" cy="2377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txBox="1"/>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S01 Forensic Readiness and the Investigation Lifecycle</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E8472"/>
          </a:solidFill>
          <a:ln/>
        </p:spPr>
      </p:sp>
      <p:sp>
        <p:nvSpPr>
          <p:cNvPr id="7" name="Text 5"/>
          <p:cNvSpPr txBox="1"/>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8A4E8F"/>
          </a:solidFill>
          <a:ln/>
        </p:spPr>
      </p:sp>
      <p:sp>
        <p:nvSpPr>
          <p:cNvPr id="9" name="Text 7"/>
          <p:cNvSpPr txBox="1"/>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0" name="Text 8"/>
          <p:cNvSpPr txBox="1"/>
          <p:nvPr/>
        </p:nvSpPr>
        <p:spPr>
          <a:xfrm>
            <a:off x="731520" y="3584448"/>
            <a:ext cx="7690104" cy="329184"/>
          </a:xfrm>
          <a:prstGeom prst="rect">
            <a:avLst/>
          </a:prstGeom>
          <a:noFill/>
          <a:ln/>
        </p:spPr>
        <p:txBody>
          <a:bodyPr wrap="square" lIns="0" tIns="0" rIns="0" bIns="0" rtlCol="0" anchor="t"/>
          <a:lstStyle/>
          <a:p>
            <a:pPr indent="0" marL="0">
              <a:buNone/>
            </a:pPr>
            <a:r>
              <a:rPr lang="en-US" sz="1400" dirty="0">
                <a:solidFill>
                  <a:srgbClr val="5C6B63"/>
                </a:solidFill>
                <a:latin typeface="Open Sans" pitchFamily="34" charset="0"/>
                <a:ea typeface="Open Sans" pitchFamily="34" charset="-122"/>
                <a:cs typeface="Open Sans" pitchFamily="34" charset="-120"/>
              </a:rPr>
              <a:t>Feeds: CW, PT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228600" y="1417320"/>
            <a:ext cx="4937760" cy="777240"/>
          </a:xfrm>
          <a:prstGeom prst="rect">
            <a:avLst/>
          </a:prstGeom>
          <a:solidFill>
            <a:srgbClr val="F1E8F2"/>
          </a:solidFill>
          <a:ln/>
        </p:spPr>
      </p:sp>
      <p:sp>
        <p:nvSpPr>
          <p:cNvPr id="7" name="Text 5"/>
          <p:cNvSpPr txBox="1"/>
          <p:nvPr/>
        </p:nvSpPr>
        <p:spPr>
          <a:xfrm>
            <a:off x="365760" y="1417320"/>
            <a:ext cx="4663440" cy="777240"/>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Can you show a stranger that your copy is exact and has never changed?</a:t>
            </a:r>
            <a:endParaRPr lang="en-US" sz="1600" dirty="0"/>
          </a:p>
        </p:txBody>
      </p:sp>
      <p:sp>
        <p:nvSpPr>
          <p:cNvPr id="8" name="Shape 6"/>
          <p:cNvSpPr/>
          <p:nvPr/>
        </p:nvSpPr>
        <p:spPr>
          <a:xfrm>
            <a:off x="228600" y="2286000"/>
            <a:ext cx="4937760" cy="2377440"/>
          </a:xfrm>
          <a:prstGeom prst="rect">
            <a:avLst/>
          </a:prstGeom>
          <a:solidFill>
            <a:srgbClr val="DCE6DE"/>
          </a:solidFill>
          <a:ln/>
        </p:spPr>
      </p:sp>
      <p:sp>
        <p:nvSpPr>
          <p:cNvPr id="9" name="Text 7"/>
          <p:cNvSpPr txBox="1"/>
          <p:nvPr/>
        </p:nvSpPr>
        <p:spPr>
          <a:xfrm>
            <a:off x="393192" y="2395728"/>
            <a:ext cx="4608576" cy="2157984"/>
          </a:xfrm>
          <a:prstGeom prst="rect">
            <a:avLst/>
          </a:prstGeom>
          <a:noFill/>
          <a:ln/>
        </p:spPr>
        <p:txBody>
          <a:bodyPr wrap="square" lIns="0" tIns="0" rIns="0" bIns="0" rtlCol="0" anchor="ctr"/>
          <a:lstStyle/>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Handle evidence so that others can check it</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Image, hash and verify</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Keep a custody record with no gaps</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Name the NIST stages, phases and Functions</a:t>
            </a:r>
            <a:endParaRPr lang="en-US" sz="1600" dirty="0"/>
          </a:p>
        </p:txBody>
      </p:sp>
      <p:pic>
        <p:nvPicPr>
          <p:cNvPr id="10" name="Image 0" descr="preencoded.png">    </p:cNvPr>
          <p:cNvPicPr>
            <a:picLocks noChangeAspect="1"/>
          </p:cNvPicPr>
          <p:nvPr/>
        </p:nvPicPr>
        <p:blipFill>
          <a:blip r:embed="rId1"/>
          <a:stretch>
            <a:fillRect/>
          </a:stretch>
        </p:blipFill>
        <p:spPr>
          <a:xfrm>
            <a:off x="5989320" y="1874520"/>
            <a:ext cx="2103120" cy="2103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Forensically sound: a stranger can check it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2103120"/>
          </a:xfrm>
          <a:prstGeom prst="rect">
            <a:avLst/>
          </a:prstGeom>
          <a:solidFill>
            <a:srgbClr val="DCE6DE"/>
          </a:solidFill>
          <a:ln/>
        </p:spPr>
      </p:sp>
      <p:sp>
        <p:nvSpPr>
          <p:cNvPr id="7" name="Text 5"/>
          <p:cNvSpPr txBox="1"/>
          <p:nvPr/>
        </p:nvSpPr>
        <p:spPr>
          <a:xfrm>
            <a:off x="896112" y="1527048"/>
            <a:ext cx="7360920" cy="1883664"/>
          </a:xfrm>
          <a:prstGeom prst="rect">
            <a:avLst/>
          </a:prstGeom>
          <a:noFill/>
          <a:ln/>
        </p:spPr>
        <p:txBody>
          <a:bodyPr wrap="square" lIns="0" tIns="0" rIns="0" bIns="0" rtlCol="0" anchor="ctr"/>
          <a:lstStyle/>
          <a:p>
            <a:pPr marL="342900" indent="-342900">
              <a:spcAft>
                <a:spcPts val="800"/>
              </a:spcAft>
              <a:buSzPct val="100000"/>
              <a:buChar char="•"/>
            </a:pPr>
            <a:r>
              <a:rPr lang="en-US" sz="1800" b="1" dirty="0">
                <a:solidFill>
                  <a:srgbClr val="31423B"/>
                </a:solidFill>
                <a:latin typeface="Open Sans" pitchFamily="34" charset="0"/>
                <a:ea typeface="Open Sans" pitchFamily="34" charset="-122"/>
                <a:cs typeface="Open Sans" pitchFamily="34" charset="-120"/>
              </a:rPr>
              <a:t>Do not change the original</a:t>
            </a:r>
            <a:endParaRPr lang="en-US" sz="1800" dirty="0"/>
          </a:p>
          <a:p>
            <a:pPr marL="342900" indent="-342900">
              <a:spcAft>
                <a:spcPts val="800"/>
              </a:spcAft>
              <a:buSzPct val="100000"/>
              <a:buChar char="•"/>
            </a:pPr>
            <a:r>
              <a:rPr lang="en-US" sz="1800" b="1" dirty="0">
                <a:solidFill>
                  <a:srgbClr val="31423B"/>
                </a:solidFill>
                <a:latin typeface="Open Sans" pitchFamily="34" charset="0"/>
                <a:ea typeface="Open Sans" pitchFamily="34" charset="-122"/>
                <a:cs typeface="Open Sans" pitchFamily="34" charset="-120"/>
              </a:rPr>
              <a:t>Copy everything, then work only on the copy</a:t>
            </a:r>
            <a:endParaRPr lang="en-US" sz="1800" dirty="0"/>
          </a:p>
          <a:p>
            <a:pPr marL="342900" indent="-342900">
              <a:spcAft>
                <a:spcPts val="800"/>
              </a:spcAft>
              <a:buSzPct val="100000"/>
              <a:buChar char="•"/>
            </a:pPr>
            <a:r>
              <a:rPr lang="en-US" sz="1800" b="1" dirty="0">
                <a:solidFill>
                  <a:srgbClr val="31423B"/>
                </a:solidFill>
                <a:latin typeface="Open Sans" pitchFamily="34" charset="0"/>
                <a:ea typeface="Open Sans" pitchFamily="34" charset="-122"/>
                <a:cs typeface="Open Sans" pitchFamily="34" charset="-120"/>
              </a:rPr>
              <a:t>Record every action when you do it</a:t>
            </a:r>
            <a:endParaRPr lang="en-US" sz="1800" dirty="0"/>
          </a:p>
          <a:p>
            <a:pPr marL="342900" indent="-342900">
              <a:spcAft>
                <a:spcPts val="800"/>
              </a:spcAft>
              <a:buSzPct val="100000"/>
              <a:buChar char="•"/>
            </a:pPr>
            <a:r>
              <a:rPr lang="en-US" sz="1800" b="1" dirty="0">
                <a:solidFill>
                  <a:srgbClr val="31423B"/>
                </a:solidFill>
                <a:latin typeface="Open Sans" pitchFamily="34" charset="0"/>
                <a:ea typeface="Open Sans" pitchFamily="34" charset="-122"/>
                <a:cs typeface="Open Sans" pitchFamily="34" charset="-120"/>
              </a:rPr>
              <a:t>Use methods that another examiner can repeat</a:t>
            </a:r>
            <a:endParaRPr lang="en-US" sz="1800" dirty="0"/>
          </a:p>
        </p:txBody>
      </p:sp>
      <p:sp>
        <p:nvSpPr>
          <p:cNvPr id="8" name="Shape 6"/>
          <p:cNvSpPr/>
          <p:nvPr/>
        </p:nvSpPr>
        <p:spPr>
          <a:xfrm>
            <a:off x="731520" y="3657600"/>
            <a:ext cx="7690104" cy="868680"/>
          </a:xfrm>
          <a:prstGeom prst="rect">
            <a:avLst/>
          </a:prstGeom>
          <a:solidFill>
            <a:srgbClr val="F1E8F2"/>
          </a:solidFill>
          <a:ln/>
        </p:spPr>
      </p:sp>
      <p:sp>
        <p:nvSpPr>
          <p:cNvPr id="9" name="Text 7"/>
          <p:cNvSpPr txBox="1"/>
          <p:nvPr/>
        </p:nvSpPr>
        <p:spPr>
          <a:xfrm>
            <a:off x="896112" y="3657600"/>
            <a:ext cx="7360920" cy="8686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Not "handled carefully". Handled so that someone else can check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forensic image: copy everything</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1554480"/>
          </a:xfrm>
          <a:prstGeom prst="rect">
            <a:avLst/>
          </a:prstGeom>
          <a:solidFill>
            <a:srgbClr val="DCE6DE"/>
          </a:solidFill>
          <a:ln/>
        </p:spPr>
      </p:sp>
      <p:sp>
        <p:nvSpPr>
          <p:cNvPr id="7" name="Text 5"/>
          <p:cNvSpPr txBox="1"/>
          <p:nvPr/>
        </p:nvSpPr>
        <p:spPr>
          <a:xfrm>
            <a:off x="896112" y="1527048"/>
            <a:ext cx="7360920" cy="1335024"/>
          </a:xfrm>
          <a:prstGeom prst="rect">
            <a:avLst/>
          </a:prstGeom>
          <a:noFill/>
          <a:ln/>
        </p:spPr>
        <p:txBody>
          <a:bodyPr wrap="square" lIns="0" tIns="0" rIns="0" bIns="0" rtlCol="0" anchor="ctr"/>
          <a:lstStyle/>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A file copy follows the index and takes the listed files only</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A forensic image takes every sector, used or not</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Image once, verify, then work on a working copy</a:t>
            </a:r>
            <a:endParaRPr lang="en-US" sz="1600" dirty="0"/>
          </a:p>
        </p:txBody>
      </p:sp>
      <p:sp>
        <p:nvSpPr>
          <p:cNvPr id="8" name="Text 6"/>
          <p:cNvSpPr txBox="1"/>
          <p:nvPr/>
        </p:nvSpPr>
        <p:spPr>
          <a:xfrm>
            <a:off x="731520" y="3154680"/>
            <a:ext cx="1417320" cy="329184"/>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card</a:t>
            </a:r>
            <a:endParaRPr lang="en-US" sz="1300" dirty="0"/>
          </a:p>
        </p:txBody>
      </p:sp>
      <p:sp>
        <p:nvSpPr>
          <p:cNvPr id="9" name="Shape 7"/>
          <p:cNvSpPr/>
          <p:nvPr/>
        </p:nvSpPr>
        <p:spPr>
          <a:xfrm>
            <a:off x="2194560" y="3154680"/>
            <a:ext cx="228600" cy="329184"/>
          </a:xfrm>
          <a:prstGeom prst="rect">
            <a:avLst/>
          </a:prstGeom>
          <a:solidFill>
            <a:srgbClr val="31423B"/>
          </a:solidFill>
          <a:ln w="12700">
            <a:solidFill>
              <a:srgbClr val="31423B"/>
            </a:solidFill>
            <a:prstDash val="solid"/>
          </a:ln>
        </p:spPr>
      </p:sp>
      <p:sp>
        <p:nvSpPr>
          <p:cNvPr id="10" name="Shape 8"/>
          <p:cNvSpPr/>
          <p:nvPr/>
        </p:nvSpPr>
        <p:spPr>
          <a:xfrm>
            <a:off x="2453335" y="3154680"/>
            <a:ext cx="228600" cy="329184"/>
          </a:xfrm>
          <a:prstGeom prst="rect">
            <a:avLst/>
          </a:prstGeom>
          <a:solidFill>
            <a:srgbClr val="31423B"/>
          </a:solidFill>
          <a:ln w="12700">
            <a:solidFill>
              <a:srgbClr val="31423B"/>
            </a:solidFill>
            <a:prstDash val="solid"/>
          </a:ln>
        </p:spPr>
      </p:sp>
      <p:sp>
        <p:nvSpPr>
          <p:cNvPr id="11" name="Shape 9"/>
          <p:cNvSpPr/>
          <p:nvPr/>
        </p:nvSpPr>
        <p:spPr>
          <a:xfrm>
            <a:off x="2712110" y="3154680"/>
            <a:ext cx="228600" cy="329184"/>
          </a:xfrm>
          <a:prstGeom prst="rect">
            <a:avLst/>
          </a:prstGeom>
          <a:solidFill>
            <a:srgbClr val="DCE6DE"/>
          </a:solidFill>
          <a:ln w="12700">
            <a:solidFill>
              <a:srgbClr val="4F6356"/>
            </a:solidFill>
            <a:prstDash val="solid"/>
          </a:ln>
        </p:spPr>
      </p:sp>
      <p:sp>
        <p:nvSpPr>
          <p:cNvPr id="12" name="Shape 10"/>
          <p:cNvSpPr/>
          <p:nvPr/>
        </p:nvSpPr>
        <p:spPr>
          <a:xfrm>
            <a:off x="2970886" y="3154680"/>
            <a:ext cx="228600" cy="329184"/>
          </a:xfrm>
          <a:prstGeom prst="rect">
            <a:avLst/>
          </a:prstGeom>
          <a:solidFill>
            <a:srgbClr val="DCE6DE"/>
          </a:solidFill>
          <a:ln w="12700">
            <a:solidFill>
              <a:srgbClr val="4F6356"/>
            </a:solidFill>
            <a:prstDash val="solid"/>
          </a:ln>
        </p:spPr>
      </p:sp>
      <p:sp>
        <p:nvSpPr>
          <p:cNvPr id="13" name="Shape 11"/>
          <p:cNvSpPr/>
          <p:nvPr/>
        </p:nvSpPr>
        <p:spPr>
          <a:xfrm>
            <a:off x="3229661" y="3154680"/>
            <a:ext cx="228600" cy="329184"/>
          </a:xfrm>
          <a:prstGeom prst="rect">
            <a:avLst/>
          </a:prstGeom>
          <a:solidFill>
            <a:srgbClr val="DCE6DE"/>
          </a:solidFill>
          <a:ln w="12700">
            <a:solidFill>
              <a:srgbClr val="4F6356"/>
            </a:solidFill>
            <a:prstDash val="solid"/>
          </a:ln>
        </p:spPr>
      </p:sp>
      <p:sp>
        <p:nvSpPr>
          <p:cNvPr id="14" name="Shape 12"/>
          <p:cNvSpPr/>
          <p:nvPr/>
        </p:nvSpPr>
        <p:spPr>
          <a:xfrm>
            <a:off x="3488436" y="3154680"/>
            <a:ext cx="228600" cy="329184"/>
          </a:xfrm>
          <a:prstGeom prst="rect">
            <a:avLst/>
          </a:prstGeom>
          <a:solidFill>
            <a:srgbClr val="DCE6DE"/>
          </a:solidFill>
          <a:ln w="12700">
            <a:solidFill>
              <a:srgbClr val="4F6356"/>
            </a:solidFill>
            <a:prstDash val="solid"/>
          </a:ln>
        </p:spPr>
      </p:sp>
      <p:sp>
        <p:nvSpPr>
          <p:cNvPr id="15" name="Shape 13"/>
          <p:cNvSpPr/>
          <p:nvPr/>
        </p:nvSpPr>
        <p:spPr>
          <a:xfrm>
            <a:off x="3747211" y="3154680"/>
            <a:ext cx="228600" cy="329184"/>
          </a:xfrm>
          <a:prstGeom prst="rect">
            <a:avLst/>
          </a:prstGeom>
          <a:solidFill>
            <a:srgbClr val="DCE6DE"/>
          </a:solidFill>
          <a:ln w="12700">
            <a:solidFill>
              <a:srgbClr val="4F6356"/>
            </a:solidFill>
            <a:prstDash val="solid"/>
          </a:ln>
        </p:spPr>
      </p:sp>
      <p:sp>
        <p:nvSpPr>
          <p:cNvPr id="16" name="Shape 14"/>
          <p:cNvSpPr/>
          <p:nvPr/>
        </p:nvSpPr>
        <p:spPr>
          <a:xfrm>
            <a:off x="4005986" y="3154680"/>
            <a:ext cx="228600" cy="329184"/>
          </a:xfrm>
          <a:prstGeom prst="rect">
            <a:avLst/>
          </a:prstGeom>
          <a:solidFill>
            <a:srgbClr val="DCE6DE"/>
          </a:solidFill>
          <a:ln w="12700">
            <a:solidFill>
              <a:srgbClr val="4F6356"/>
            </a:solidFill>
            <a:prstDash val="solid"/>
          </a:ln>
        </p:spPr>
      </p:sp>
      <p:sp>
        <p:nvSpPr>
          <p:cNvPr id="17" name="Shape 15"/>
          <p:cNvSpPr/>
          <p:nvPr/>
        </p:nvSpPr>
        <p:spPr>
          <a:xfrm>
            <a:off x="4264762" y="3154680"/>
            <a:ext cx="228600" cy="329184"/>
          </a:xfrm>
          <a:prstGeom prst="rect">
            <a:avLst/>
          </a:prstGeom>
          <a:solidFill>
            <a:srgbClr val="FFFFFF"/>
          </a:solidFill>
          <a:ln w="12700">
            <a:solidFill>
              <a:srgbClr val="4F6356"/>
            </a:solidFill>
            <a:prstDash val="solid"/>
          </a:ln>
        </p:spPr>
      </p:sp>
      <p:sp>
        <p:nvSpPr>
          <p:cNvPr id="18" name="Shape 16"/>
          <p:cNvSpPr/>
          <p:nvPr/>
        </p:nvSpPr>
        <p:spPr>
          <a:xfrm>
            <a:off x="4523537" y="3154680"/>
            <a:ext cx="228600" cy="329184"/>
          </a:xfrm>
          <a:prstGeom prst="rect">
            <a:avLst/>
          </a:prstGeom>
          <a:solidFill>
            <a:srgbClr val="FFFFFF"/>
          </a:solidFill>
          <a:ln w="12700">
            <a:solidFill>
              <a:srgbClr val="4F6356"/>
            </a:solidFill>
            <a:prstDash val="solid"/>
          </a:ln>
        </p:spPr>
      </p:sp>
      <p:sp>
        <p:nvSpPr>
          <p:cNvPr id="19" name="Shape 17"/>
          <p:cNvSpPr/>
          <p:nvPr/>
        </p:nvSpPr>
        <p:spPr>
          <a:xfrm>
            <a:off x="4782312" y="3154680"/>
            <a:ext cx="228600" cy="329184"/>
          </a:xfrm>
          <a:prstGeom prst="rect">
            <a:avLst/>
          </a:prstGeom>
          <a:solidFill>
            <a:srgbClr val="FFFFFF"/>
          </a:solidFill>
          <a:ln w="12700">
            <a:solidFill>
              <a:srgbClr val="4F6356"/>
            </a:solidFill>
            <a:prstDash val="solid"/>
          </a:ln>
        </p:spPr>
      </p:sp>
      <p:sp>
        <p:nvSpPr>
          <p:cNvPr id="20" name="Shape 18"/>
          <p:cNvSpPr/>
          <p:nvPr/>
        </p:nvSpPr>
        <p:spPr>
          <a:xfrm>
            <a:off x="5041087" y="3154680"/>
            <a:ext cx="228600" cy="329184"/>
          </a:xfrm>
          <a:prstGeom prst="rect">
            <a:avLst/>
          </a:prstGeom>
          <a:solidFill>
            <a:srgbClr val="FFFFFF"/>
          </a:solidFill>
          <a:ln w="12700">
            <a:solidFill>
              <a:srgbClr val="4F6356"/>
            </a:solidFill>
            <a:prstDash val="solid"/>
          </a:ln>
        </p:spPr>
      </p:sp>
      <p:sp>
        <p:nvSpPr>
          <p:cNvPr id="21" name="Shape 19"/>
          <p:cNvSpPr/>
          <p:nvPr/>
        </p:nvSpPr>
        <p:spPr>
          <a:xfrm>
            <a:off x="5299862" y="3154680"/>
            <a:ext cx="228600" cy="329184"/>
          </a:xfrm>
          <a:prstGeom prst="rect">
            <a:avLst/>
          </a:prstGeom>
          <a:solidFill>
            <a:srgbClr val="FFFFFF"/>
          </a:solidFill>
          <a:ln w="12700">
            <a:solidFill>
              <a:srgbClr val="4F6356"/>
            </a:solidFill>
            <a:prstDash val="solid"/>
          </a:ln>
        </p:spPr>
      </p:sp>
      <p:sp>
        <p:nvSpPr>
          <p:cNvPr id="22" name="Shape 20"/>
          <p:cNvSpPr/>
          <p:nvPr/>
        </p:nvSpPr>
        <p:spPr>
          <a:xfrm>
            <a:off x="5558638" y="3154680"/>
            <a:ext cx="228600" cy="329184"/>
          </a:xfrm>
          <a:prstGeom prst="rect">
            <a:avLst/>
          </a:prstGeom>
          <a:solidFill>
            <a:srgbClr val="F1E8F2"/>
          </a:solidFill>
          <a:ln w="12700">
            <a:solidFill>
              <a:srgbClr val="8A4E8F"/>
            </a:solidFill>
            <a:prstDash val="solid"/>
          </a:ln>
        </p:spPr>
      </p:sp>
      <p:sp>
        <p:nvSpPr>
          <p:cNvPr id="23" name="Shape 21"/>
          <p:cNvSpPr/>
          <p:nvPr/>
        </p:nvSpPr>
        <p:spPr>
          <a:xfrm>
            <a:off x="5817413" y="3154680"/>
            <a:ext cx="228600" cy="329184"/>
          </a:xfrm>
          <a:prstGeom prst="rect">
            <a:avLst/>
          </a:prstGeom>
          <a:solidFill>
            <a:srgbClr val="F1E8F2"/>
          </a:solidFill>
          <a:ln w="12700">
            <a:solidFill>
              <a:srgbClr val="8A4E8F"/>
            </a:solidFill>
            <a:prstDash val="solid"/>
          </a:ln>
        </p:spPr>
      </p:sp>
      <p:sp>
        <p:nvSpPr>
          <p:cNvPr id="24" name="Shape 22"/>
          <p:cNvSpPr/>
          <p:nvPr/>
        </p:nvSpPr>
        <p:spPr>
          <a:xfrm>
            <a:off x="6076188" y="3154680"/>
            <a:ext cx="228600" cy="329184"/>
          </a:xfrm>
          <a:prstGeom prst="rect">
            <a:avLst/>
          </a:prstGeom>
          <a:solidFill>
            <a:srgbClr val="F1E8F2"/>
          </a:solidFill>
          <a:ln w="12700">
            <a:solidFill>
              <a:srgbClr val="8A4E8F"/>
            </a:solidFill>
            <a:prstDash val="solid"/>
          </a:ln>
        </p:spPr>
      </p:sp>
      <p:sp>
        <p:nvSpPr>
          <p:cNvPr id="25" name="Shape 23"/>
          <p:cNvSpPr/>
          <p:nvPr/>
        </p:nvSpPr>
        <p:spPr>
          <a:xfrm>
            <a:off x="6334963" y="3154680"/>
            <a:ext cx="228600" cy="329184"/>
          </a:xfrm>
          <a:prstGeom prst="rect">
            <a:avLst/>
          </a:prstGeom>
          <a:solidFill>
            <a:srgbClr val="F1E8F2"/>
          </a:solidFill>
          <a:ln w="12700">
            <a:solidFill>
              <a:srgbClr val="8A4E8F"/>
            </a:solidFill>
            <a:prstDash val="solid"/>
          </a:ln>
        </p:spPr>
      </p:sp>
      <p:sp>
        <p:nvSpPr>
          <p:cNvPr id="26" name="Shape 24"/>
          <p:cNvSpPr/>
          <p:nvPr/>
        </p:nvSpPr>
        <p:spPr>
          <a:xfrm>
            <a:off x="6593738" y="3154680"/>
            <a:ext cx="228600" cy="329184"/>
          </a:xfrm>
          <a:prstGeom prst="rect">
            <a:avLst/>
          </a:prstGeom>
          <a:solidFill>
            <a:srgbClr val="F1E8F2"/>
          </a:solidFill>
          <a:ln w="12700">
            <a:solidFill>
              <a:srgbClr val="8A4E8F"/>
            </a:solidFill>
            <a:prstDash val="solid"/>
          </a:ln>
        </p:spPr>
      </p:sp>
      <p:sp>
        <p:nvSpPr>
          <p:cNvPr id="27" name="Shape 25"/>
          <p:cNvSpPr/>
          <p:nvPr/>
        </p:nvSpPr>
        <p:spPr>
          <a:xfrm>
            <a:off x="6852514" y="3154680"/>
            <a:ext cx="228600" cy="329184"/>
          </a:xfrm>
          <a:prstGeom prst="rect">
            <a:avLst/>
          </a:prstGeom>
          <a:solidFill>
            <a:srgbClr val="F7F8F4"/>
          </a:solidFill>
          <a:ln w="12700">
            <a:solidFill>
              <a:srgbClr val="CBD6CE"/>
            </a:solidFill>
            <a:prstDash val="solid"/>
          </a:ln>
        </p:spPr>
      </p:sp>
      <p:sp>
        <p:nvSpPr>
          <p:cNvPr id="28" name="Shape 26"/>
          <p:cNvSpPr/>
          <p:nvPr/>
        </p:nvSpPr>
        <p:spPr>
          <a:xfrm>
            <a:off x="7111289" y="3154680"/>
            <a:ext cx="228600" cy="329184"/>
          </a:xfrm>
          <a:prstGeom prst="rect">
            <a:avLst/>
          </a:prstGeom>
          <a:solidFill>
            <a:srgbClr val="F7F8F4"/>
          </a:solidFill>
          <a:ln w="12700">
            <a:solidFill>
              <a:srgbClr val="CBD6CE"/>
            </a:solidFill>
            <a:prstDash val="solid"/>
          </a:ln>
        </p:spPr>
      </p:sp>
      <p:sp>
        <p:nvSpPr>
          <p:cNvPr id="29" name="Shape 27"/>
          <p:cNvSpPr/>
          <p:nvPr/>
        </p:nvSpPr>
        <p:spPr>
          <a:xfrm>
            <a:off x="7370064" y="3154680"/>
            <a:ext cx="228600" cy="329184"/>
          </a:xfrm>
          <a:prstGeom prst="rect">
            <a:avLst/>
          </a:prstGeom>
          <a:solidFill>
            <a:srgbClr val="F7F8F4"/>
          </a:solidFill>
          <a:ln w="12700">
            <a:solidFill>
              <a:srgbClr val="CBD6CE"/>
            </a:solidFill>
            <a:prstDash val="solid"/>
          </a:ln>
        </p:spPr>
      </p:sp>
      <p:sp>
        <p:nvSpPr>
          <p:cNvPr id="30" name="Shape 28"/>
          <p:cNvSpPr/>
          <p:nvPr/>
        </p:nvSpPr>
        <p:spPr>
          <a:xfrm>
            <a:off x="7628839" y="3154680"/>
            <a:ext cx="228600" cy="329184"/>
          </a:xfrm>
          <a:prstGeom prst="rect">
            <a:avLst/>
          </a:prstGeom>
          <a:solidFill>
            <a:srgbClr val="F7F8F4"/>
          </a:solidFill>
          <a:ln w="12700">
            <a:solidFill>
              <a:srgbClr val="CBD6CE"/>
            </a:solidFill>
            <a:prstDash val="solid"/>
          </a:ln>
        </p:spPr>
      </p:sp>
      <p:sp>
        <p:nvSpPr>
          <p:cNvPr id="31" name="Shape 29"/>
          <p:cNvSpPr/>
          <p:nvPr/>
        </p:nvSpPr>
        <p:spPr>
          <a:xfrm>
            <a:off x="7887614" y="3154680"/>
            <a:ext cx="228600" cy="329184"/>
          </a:xfrm>
          <a:prstGeom prst="rect">
            <a:avLst/>
          </a:prstGeom>
          <a:solidFill>
            <a:srgbClr val="F7F8F4"/>
          </a:solidFill>
          <a:ln w="12700">
            <a:solidFill>
              <a:srgbClr val="CBD6CE"/>
            </a:solidFill>
            <a:prstDash val="solid"/>
          </a:ln>
        </p:spPr>
      </p:sp>
      <p:sp>
        <p:nvSpPr>
          <p:cNvPr id="32" name="Shape 30"/>
          <p:cNvSpPr/>
          <p:nvPr/>
        </p:nvSpPr>
        <p:spPr>
          <a:xfrm>
            <a:off x="8146390" y="3154680"/>
            <a:ext cx="228600" cy="329184"/>
          </a:xfrm>
          <a:prstGeom prst="rect">
            <a:avLst/>
          </a:prstGeom>
          <a:solidFill>
            <a:srgbClr val="F7F8F4"/>
          </a:solidFill>
          <a:ln w="12700">
            <a:solidFill>
              <a:srgbClr val="CBD6CE"/>
            </a:solidFill>
            <a:prstDash val="solid"/>
          </a:ln>
        </p:spPr>
      </p:sp>
      <p:sp>
        <p:nvSpPr>
          <p:cNvPr id="33" name="Text 31"/>
          <p:cNvSpPr txBox="1"/>
          <p:nvPr/>
        </p:nvSpPr>
        <p:spPr>
          <a:xfrm>
            <a:off x="731520" y="3611880"/>
            <a:ext cx="1417320" cy="329184"/>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File copy</a:t>
            </a:r>
            <a:endParaRPr lang="en-US" sz="1300" dirty="0"/>
          </a:p>
        </p:txBody>
      </p:sp>
      <p:sp>
        <p:nvSpPr>
          <p:cNvPr id="34" name="Shape 32"/>
          <p:cNvSpPr/>
          <p:nvPr/>
        </p:nvSpPr>
        <p:spPr>
          <a:xfrm>
            <a:off x="2194560" y="3611880"/>
            <a:ext cx="228600" cy="329184"/>
          </a:xfrm>
          <a:prstGeom prst="rect">
            <a:avLst/>
          </a:prstGeom>
          <a:solidFill>
            <a:srgbClr val="DCE6DE"/>
          </a:solidFill>
          <a:ln w="12700">
            <a:solidFill>
              <a:srgbClr val="4F6356"/>
            </a:solidFill>
            <a:prstDash val="solid"/>
          </a:ln>
        </p:spPr>
      </p:sp>
      <p:sp>
        <p:nvSpPr>
          <p:cNvPr id="35" name="Shape 33"/>
          <p:cNvSpPr/>
          <p:nvPr/>
        </p:nvSpPr>
        <p:spPr>
          <a:xfrm>
            <a:off x="2453335" y="3611880"/>
            <a:ext cx="228600" cy="329184"/>
          </a:xfrm>
          <a:prstGeom prst="rect">
            <a:avLst/>
          </a:prstGeom>
          <a:solidFill>
            <a:srgbClr val="DCE6DE"/>
          </a:solidFill>
          <a:ln w="12700">
            <a:solidFill>
              <a:srgbClr val="4F6356"/>
            </a:solidFill>
            <a:prstDash val="solid"/>
          </a:ln>
        </p:spPr>
      </p:sp>
      <p:sp>
        <p:nvSpPr>
          <p:cNvPr id="36" name="Shape 34"/>
          <p:cNvSpPr/>
          <p:nvPr/>
        </p:nvSpPr>
        <p:spPr>
          <a:xfrm>
            <a:off x="2712110" y="3611880"/>
            <a:ext cx="228600" cy="329184"/>
          </a:xfrm>
          <a:prstGeom prst="rect">
            <a:avLst/>
          </a:prstGeom>
          <a:solidFill>
            <a:srgbClr val="DCE6DE"/>
          </a:solidFill>
          <a:ln w="12700">
            <a:solidFill>
              <a:srgbClr val="4F6356"/>
            </a:solidFill>
            <a:prstDash val="solid"/>
          </a:ln>
        </p:spPr>
      </p:sp>
      <p:sp>
        <p:nvSpPr>
          <p:cNvPr id="37" name="Shape 35"/>
          <p:cNvSpPr/>
          <p:nvPr/>
        </p:nvSpPr>
        <p:spPr>
          <a:xfrm>
            <a:off x="2970886" y="3611880"/>
            <a:ext cx="228600" cy="329184"/>
          </a:xfrm>
          <a:prstGeom prst="rect">
            <a:avLst/>
          </a:prstGeom>
          <a:solidFill>
            <a:srgbClr val="DCE6DE"/>
          </a:solidFill>
          <a:ln w="12700">
            <a:solidFill>
              <a:srgbClr val="4F6356"/>
            </a:solidFill>
            <a:prstDash val="solid"/>
          </a:ln>
        </p:spPr>
      </p:sp>
      <p:sp>
        <p:nvSpPr>
          <p:cNvPr id="38" name="Shape 36"/>
          <p:cNvSpPr/>
          <p:nvPr/>
        </p:nvSpPr>
        <p:spPr>
          <a:xfrm>
            <a:off x="3229661" y="3611880"/>
            <a:ext cx="228600" cy="329184"/>
          </a:xfrm>
          <a:prstGeom prst="rect">
            <a:avLst/>
          </a:prstGeom>
          <a:solidFill>
            <a:srgbClr val="DCE6DE"/>
          </a:solidFill>
          <a:ln w="12700">
            <a:solidFill>
              <a:srgbClr val="4F6356"/>
            </a:solidFill>
            <a:prstDash val="solid"/>
          </a:ln>
        </p:spPr>
      </p:sp>
      <p:sp>
        <p:nvSpPr>
          <p:cNvPr id="39" name="Shape 37"/>
          <p:cNvSpPr/>
          <p:nvPr/>
        </p:nvSpPr>
        <p:spPr>
          <a:xfrm>
            <a:off x="3488436" y="3611880"/>
            <a:ext cx="228600" cy="329184"/>
          </a:xfrm>
          <a:prstGeom prst="rect">
            <a:avLst/>
          </a:prstGeom>
          <a:solidFill>
            <a:srgbClr val="DCE6DE"/>
          </a:solidFill>
          <a:ln w="12700">
            <a:solidFill>
              <a:srgbClr val="4F6356"/>
            </a:solidFill>
            <a:prstDash val="solid"/>
          </a:ln>
        </p:spPr>
      </p:sp>
      <p:sp>
        <p:nvSpPr>
          <p:cNvPr id="40" name="Shape 38"/>
          <p:cNvSpPr/>
          <p:nvPr/>
        </p:nvSpPr>
        <p:spPr>
          <a:xfrm>
            <a:off x="3747211" y="3611880"/>
            <a:ext cx="228600" cy="329184"/>
          </a:xfrm>
          <a:prstGeom prst="rect">
            <a:avLst/>
          </a:prstGeom>
          <a:solidFill>
            <a:srgbClr val="FFFFFF"/>
          </a:solidFill>
          <a:ln w="12700">
            <a:solidFill>
              <a:srgbClr val="4F6356"/>
            </a:solidFill>
            <a:prstDash val="solid"/>
          </a:ln>
        </p:spPr>
      </p:sp>
      <p:sp>
        <p:nvSpPr>
          <p:cNvPr id="41" name="Shape 39"/>
          <p:cNvSpPr/>
          <p:nvPr/>
        </p:nvSpPr>
        <p:spPr>
          <a:xfrm>
            <a:off x="4005986" y="3611880"/>
            <a:ext cx="228600" cy="329184"/>
          </a:xfrm>
          <a:prstGeom prst="rect">
            <a:avLst/>
          </a:prstGeom>
          <a:solidFill>
            <a:srgbClr val="FFFFFF"/>
          </a:solidFill>
          <a:ln w="12700">
            <a:solidFill>
              <a:srgbClr val="4F6356"/>
            </a:solidFill>
            <a:prstDash val="solid"/>
          </a:ln>
        </p:spPr>
      </p:sp>
      <p:sp>
        <p:nvSpPr>
          <p:cNvPr id="42" name="Shape 40"/>
          <p:cNvSpPr/>
          <p:nvPr/>
        </p:nvSpPr>
        <p:spPr>
          <a:xfrm>
            <a:off x="4264762" y="3611880"/>
            <a:ext cx="228600" cy="329184"/>
          </a:xfrm>
          <a:prstGeom prst="rect">
            <a:avLst/>
          </a:prstGeom>
          <a:solidFill>
            <a:srgbClr val="FFFFFF"/>
          </a:solidFill>
          <a:ln w="12700">
            <a:solidFill>
              <a:srgbClr val="4F6356"/>
            </a:solidFill>
            <a:prstDash val="solid"/>
          </a:ln>
        </p:spPr>
      </p:sp>
      <p:sp>
        <p:nvSpPr>
          <p:cNvPr id="43" name="Shape 41"/>
          <p:cNvSpPr/>
          <p:nvPr/>
        </p:nvSpPr>
        <p:spPr>
          <a:xfrm>
            <a:off x="4523537" y="3611880"/>
            <a:ext cx="228600" cy="329184"/>
          </a:xfrm>
          <a:prstGeom prst="rect">
            <a:avLst/>
          </a:prstGeom>
          <a:solidFill>
            <a:srgbClr val="FFFFFF"/>
          </a:solidFill>
          <a:ln w="12700">
            <a:solidFill>
              <a:srgbClr val="4F6356"/>
            </a:solidFill>
            <a:prstDash val="solid"/>
          </a:ln>
        </p:spPr>
      </p:sp>
      <p:sp>
        <p:nvSpPr>
          <p:cNvPr id="44" name="Shape 42"/>
          <p:cNvSpPr/>
          <p:nvPr/>
        </p:nvSpPr>
        <p:spPr>
          <a:xfrm>
            <a:off x="4782312" y="3611880"/>
            <a:ext cx="228600" cy="329184"/>
          </a:xfrm>
          <a:prstGeom prst="rect">
            <a:avLst/>
          </a:prstGeom>
          <a:solidFill>
            <a:srgbClr val="FFFFFF"/>
          </a:solidFill>
          <a:ln w="12700">
            <a:solidFill>
              <a:srgbClr val="4F6356"/>
            </a:solidFill>
            <a:prstDash val="solid"/>
          </a:ln>
        </p:spPr>
      </p:sp>
      <p:sp>
        <p:nvSpPr>
          <p:cNvPr id="45" name="Text 43"/>
          <p:cNvSpPr txBox="1"/>
          <p:nvPr/>
        </p:nvSpPr>
        <p:spPr>
          <a:xfrm>
            <a:off x="731520" y="4069080"/>
            <a:ext cx="1417320" cy="329184"/>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Forensic image</a:t>
            </a:r>
            <a:endParaRPr lang="en-US" sz="1300" dirty="0"/>
          </a:p>
        </p:txBody>
      </p:sp>
      <p:sp>
        <p:nvSpPr>
          <p:cNvPr id="46" name="Shape 44"/>
          <p:cNvSpPr/>
          <p:nvPr/>
        </p:nvSpPr>
        <p:spPr>
          <a:xfrm>
            <a:off x="2194560" y="4069080"/>
            <a:ext cx="228600" cy="329184"/>
          </a:xfrm>
          <a:prstGeom prst="rect">
            <a:avLst/>
          </a:prstGeom>
          <a:solidFill>
            <a:srgbClr val="31423B"/>
          </a:solidFill>
          <a:ln w="12700">
            <a:solidFill>
              <a:srgbClr val="31423B"/>
            </a:solidFill>
            <a:prstDash val="solid"/>
          </a:ln>
        </p:spPr>
      </p:sp>
      <p:sp>
        <p:nvSpPr>
          <p:cNvPr id="47" name="Shape 45"/>
          <p:cNvSpPr/>
          <p:nvPr/>
        </p:nvSpPr>
        <p:spPr>
          <a:xfrm>
            <a:off x="2453335" y="4069080"/>
            <a:ext cx="228600" cy="329184"/>
          </a:xfrm>
          <a:prstGeom prst="rect">
            <a:avLst/>
          </a:prstGeom>
          <a:solidFill>
            <a:srgbClr val="31423B"/>
          </a:solidFill>
          <a:ln w="12700">
            <a:solidFill>
              <a:srgbClr val="31423B"/>
            </a:solidFill>
            <a:prstDash val="solid"/>
          </a:ln>
        </p:spPr>
      </p:sp>
      <p:sp>
        <p:nvSpPr>
          <p:cNvPr id="48" name="Shape 46"/>
          <p:cNvSpPr/>
          <p:nvPr/>
        </p:nvSpPr>
        <p:spPr>
          <a:xfrm>
            <a:off x="2712110" y="4069080"/>
            <a:ext cx="228600" cy="329184"/>
          </a:xfrm>
          <a:prstGeom prst="rect">
            <a:avLst/>
          </a:prstGeom>
          <a:solidFill>
            <a:srgbClr val="DCE6DE"/>
          </a:solidFill>
          <a:ln w="12700">
            <a:solidFill>
              <a:srgbClr val="4F6356"/>
            </a:solidFill>
            <a:prstDash val="solid"/>
          </a:ln>
        </p:spPr>
      </p:sp>
      <p:sp>
        <p:nvSpPr>
          <p:cNvPr id="49" name="Shape 47"/>
          <p:cNvSpPr/>
          <p:nvPr/>
        </p:nvSpPr>
        <p:spPr>
          <a:xfrm>
            <a:off x="2970886" y="4069080"/>
            <a:ext cx="228600" cy="329184"/>
          </a:xfrm>
          <a:prstGeom prst="rect">
            <a:avLst/>
          </a:prstGeom>
          <a:solidFill>
            <a:srgbClr val="DCE6DE"/>
          </a:solidFill>
          <a:ln w="12700">
            <a:solidFill>
              <a:srgbClr val="4F6356"/>
            </a:solidFill>
            <a:prstDash val="solid"/>
          </a:ln>
        </p:spPr>
      </p:sp>
      <p:sp>
        <p:nvSpPr>
          <p:cNvPr id="50" name="Shape 48"/>
          <p:cNvSpPr/>
          <p:nvPr/>
        </p:nvSpPr>
        <p:spPr>
          <a:xfrm>
            <a:off x="3229661" y="4069080"/>
            <a:ext cx="228600" cy="329184"/>
          </a:xfrm>
          <a:prstGeom prst="rect">
            <a:avLst/>
          </a:prstGeom>
          <a:solidFill>
            <a:srgbClr val="DCE6DE"/>
          </a:solidFill>
          <a:ln w="12700">
            <a:solidFill>
              <a:srgbClr val="4F6356"/>
            </a:solidFill>
            <a:prstDash val="solid"/>
          </a:ln>
        </p:spPr>
      </p:sp>
      <p:sp>
        <p:nvSpPr>
          <p:cNvPr id="51" name="Shape 49"/>
          <p:cNvSpPr/>
          <p:nvPr/>
        </p:nvSpPr>
        <p:spPr>
          <a:xfrm>
            <a:off x="3488436" y="4069080"/>
            <a:ext cx="228600" cy="329184"/>
          </a:xfrm>
          <a:prstGeom prst="rect">
            <a:avLst/>
          </a:prstGeom>
          <a:solidFill>
            <a:srgbClr val="DCE6DE"/>
          </a:solidFill>
          <a:ln w="12700">
            <a:solidFill>
              <a:srgbClr val="4F6356"/>
            </a:solidFill>
            <a:prstDash val="solid"/>
          </a:ln>
        </p:spPr>
      </p:sp>
      <p:sp>
        <p:nvSpPr>
          <p:cNvPr id="52" name="Shape 50"/>
          <p:cNvSpPr/>
          <p:nvPr/>
        </p:nvSpPr>
        <p:spPr>
          <a:xfrm>
            <a:off x="3747211" y="4069080"/>
            <a:ext cx="228600" cy="329184"/>
          </a:xfrm>
          <a:prstGeom prst="rect">
            <a:avLst/>
          </a:prstGeom>
          <a:solidFill>
            <a:srgbClr val="DCE6DE"/>
          </a:solidFill>
          <a:ln w="12700">
            <a:solidFill>
              <a:srgbClr val="4F6356"/>
            </a:solidFill>
            <a:prstDash val="solid"/>
          </a:ln>
        </p:spPr>
      </p:sp>
      <p:sp>
        <p:nvSpPr>
          <p:cNvPr id="53" name="Shape 51"/>
          <p:cNvSpPr/>
          <p:nvPr/>
        </p:nvSpPr>
        <p:spPr>
          <a:xfrm>
            <a:off x="4005986" y="4069080"/>
            <a:ext cx="228600" cy="329184"/>
          </a:xfrm>
          <a:prstGeom prst="rect">
            <a:avLst/>
          </a:prstGeom>
          <a:solidFill>
            <a:srgbClr val="DCE6DE"/>
          </a:solidFill>
          <a:ln w="12700">
            <a:solidFill>
              <a:srgbClr val="4F6356"/>
            </a:solidFill>
            <a:prstDash val="solid"/>
          </a:ln>
        </p:spPr>
      </p:sp>
      <p:sp>
        <p:nvSpPr>
          <p:cNvPr id="54" name="Shape 52"/>
          <p:cNvSpPr/>
          <p:nvPr/>
        </p:nvSpPr>
        <p:spPr>
          <a:xfrm>
            <a:off x="4264762" y="4069080"/>
            <a:ext cx="228600" cy="329184"/>
          </a:xfrm>
          <a:prstGeom prst="rect">
            <a:avLst/>
          </a:prstGeom>
          <a:solidFill>
            <a:srgbClr val="FFFFFF"/>
          </a:solidFill>
          <a:ln w="12700">
            <a:solidFill>
              <a:srgbClr val="4F6356"/>
            </a:solidFill>
            <a:prstDash val="solid"/>
          </a:ln>
        </p:spPr>
      </p:sp>
      <p:sp>
        <p:nvSpPr>
          <p:cNvPr id="55" name="Shape 53"/>
          <p:cNvSpPr/>
          <p:nvPr/>
        </p:nvSpPr>
        <p:spPr>
          <a:xfrm>
            <a:off x="4523537" y="4069080"/>
            <a:ext cx="228600" cy="329184"/>
          </a:xfrm>
          <a:prstGeom prst="rect">
            <a:avLst/>
          </a:prstGeom>
          <a:solidFill>
            <a:srgbClr val="FFFFFF"/>
          </a:solidFill>
          <a:ln w="12700">
            <a:solidFill>
              <a:srgbClr val="4F6356"/>
            </a:solidFill>
            <a:prstDash val="solid"/>
          </a:ln>
        </p:spPr>
      </p:sp>
      <p:sp>
        <p:nvSpPr>
          <p:cNvPr id="56" name="Shape 54"/>
          <p:cNvSpPr/>
          <p:nvPr/>
        </p:nvSpPr>
        <p:spPr>
          <a:xfrm>
            <a:off x="4782312" y="4069080"/>
            <a:ext cx="228600" cy="329184"/>
          </a:xfrm>
          <a:prstGeom prst="rect">
            <a:avLst/>
          </a:prstGeom>
          <a:solidFill>
            <a:srgbClr val="FFFFFF"/>
          </a:solidFill>
          <a:ln w="12700">
            <a:solidFill>
              <a:srgbClr val="4F6356"/>
            </a:solidFill>
            <a:prstDash val="solid"/>
          </a:ln>
        </p:spPr>
      </p:sp>
      <p:sp>
        <p:nvSpPr>
          <p:cNvPr id="57" name="Shape 55"/>
          <p:cNvSpPr/>
          <p:nvPr/>
        </p:nvSpPr>
        <p:spPr>
          <a:xfrm>
            <a:off x="5041087" y="4069080"/>
            <a:ext cx="228600" cy="329184"/>
          </a:xfrm>
          <a:prstGeom prst="rect">
            <a:avLst/>
          </a:prstGeom>
          <a:solidFill>
            <a:srgbClr val="FFFFFF"/>
          </a:solidFill>
          <a:ln w="12700">
            <a:solidFill>
              <a:srgbClr val="4F6356"/>
            </a:solidFill>
            <a:prstDash val="solid"/>
          </a:ln>
        </p:spPr>
      </p:sp>
      <p:sp>
        <p:nvSpPr>
          <p:cNvPr id="58" name="Shape 56"/>
          <p:cNvSpPr/>
          <p:nvPr/>
        </p:nvSpPr>
        <p:spPr>
          <a:xfrm>
            <a:off x="5299862" y="4069080"/>
            <a:ext cx="228600" cy="329184"/>
          </a:xfrm>
          <a:prstGeom prst="rect">
            <a:avLst/>
          </a:prstGeom>
          <a:solidFill>
            <a:srgbClr val="FFFFFF"/>
          </a:solidFill>
          <a:ln w="12700">
            <a:solidFill>
              <a:srgbClr val="4F6356"/>
            </a:solidFill>
            <a:prstDash val="solid"/>
          </a:ln>
        </p:spPr>
      </p:sp>
      <p:sp>
        <p:nvSpPr>
          <p:cNvPr id="59" name="Shape 57"/>
          <p:cNvSpPr/>
          <p:nvPr/>
        </p:nvSpPr>
        <p:spPr>
          <a:xfrm>
            <a:off x="5558638" y="4069080"/>
            <a:ext cx="228600" cy="329184"/>
          </a:xfrm>
          <a:prstGeom prst="rect">
            <a:avLst/>
          </a:prstGeom>
          <a:solidFill>
            <a:srgbClr val="F1E8F2"/>
          </a:solidFill>
          <a:ln w="12700">
            <a:solidFill>
              <a:srgbClr val="8A4E8F"/>
            </a:solidFill>
            <a:prstDash val="solid"/>
          </a:ln>
        </p:spPr>
      </p:sp>
      <p:sp>
        <p:nvSpPr>
          <p:cNvPr id="60" name="Shape 58"/>
          <p:cNvSpPr/>
          <p:nvPr/>
        </p:nvSpPr>
        <p:spPr>
          <a:xfrm>
            <a:off x="5817413" y="4069080"/>
            <a:ext cx="228600" cy="329184"/>
          </a:xfrm>
          <a:prstGeom prst="rect">
            <a:avLst/>
          </a:prstGeom>
          <a:solidFill>
            <a:srgbClr val="F1E8F2"/>
          </a:solidFill>
          <a:ln w="12700">
            <a:solidFill>
              <a:srgbClr val="8A4E8F"/>
            </a:solidFill>
            <a:prstDash val="solid"/>
          </a:ln>
        </p:spPr>
      </p:sp>
      <p:sp>
        <p:nvSpPr>
          <p:cNvPr id="61" name="Shape 59"/>
          <p:cNvSpPr/>
          <p:nvPr/>
        </p:nvSpPr>
        <p:spPr>
          <a:xfrm>
            <a:off x="6076188" y="4069080"/>
            <a:ext cx="228600" cy="329184"/>
          </a:xfrm>
          <a:prstGeom prst="rect">
            <a:avLst/>
          </a:prstGeom>
          <a:solidFill>
            <a:srgbClr val="F1E8F2"/>
          </a:solidFill>
          <a:ln w="12700">
            <a:solidFill>
              <a:srgbClr val="8A4E8F"/>
            </a:solidFill>
            <a:prstDash val="solid"/>
          </a:ln>
        </p:spPr>
      </p:sp>
      <p:sp>
        <p:nvSpPr>
          <p:cNvPr id="62" name="Shape 60"/>
          <p:cNvSpPr/>
          <p:nvPr/>
        </p:nvSpPr>
        <p:spPr>
          <a:xfrm>
            <a:off x="6334963" y="4069080"/>
            <a:ext cx="228600" cy="329184"/>
          </a:xfrm>
          <a:prstGeom prst="rect">
            <a:avLst/>
          </a:prstGeom>
          <a:solidFill>
            <a:srgbClr val="F1E8F2"/>
          </a:solidFill>
          <a:ln w="12700">
            <a:solidFill>
              <a:srgbClr val="8A4E8F"/>
            </a:solidFill>
            <a:prstDash val="solid"/>
          </a:ln>
        </p:spPr>
      </p:sp>
      <p:sp>
        <p:nvSpPr>
          <p:cNvPr id="63" name="Shape 61"/>
          <p:cNvSpPr/>
          <p:nvPr/>
        </p:nvSpPr>
        <p:spPr>
          <a:xfrm>
            <a:off x="6593738" y="4069080"/>
            <a:ext cx="228600" cy="329184"/>
          </a:xfrm>
          <a:prstGeom prst="rect">
            <a:avLst/>
          </a:prstGeom>
          <a:solidFill>
            <a:srgbClr val="F1E8F2"/>
          </a:solidFill>
          <a:ln w="12700">
            <a:solidFill>
              <a:srgbClr val="8A4E8F"/>
            </a:solidFill>
            <a:prstDash val="solid"/>
          </a:ln>
        </p:spPr>
      </p:sp>
      <p:sp>
        <p:nvSpPr>
          <p:cNvPr id="64" name="Shape 62"/>
          <p:cNvSpPr/>
          <p:nvPr/>
        </p:nvSpPr>
        <p:spPr>
          <a:xfrm>
            <a:off x="6852514" y="4069080"/>
            <a:ext cx="228600" cy="329184"/>
          </a:xfrm>
          <a:prstGeom prst="rect">
            <a:avLst/>
          </a:prstGeom>
          <a:solidFill>
            <a:srgbClr val="F7F8F4"/>
          </a:solidFill>
          <a:ln w="12700">
            <a:solidFill>
              <a:srgbClr val="CBD6CE"/>
            </a:solidFill>
            <a:prstDash val="solid"/>
          </a:ln>
        </p:spPr>
      </p:sp>
      <p:sp>
        <p:nvSpPr>
          <p:cNvPr id="65" name="Shape 63"/>
          <p:cNvSpPr/>
          <p:nvPr/>
        </p:nvSpPr>
        <p:spPr>
          <a:xfrm>
            <a:off x="7111289" y="4069080"/>
            <a:ext cx="228600" cy="329184"/>
          </a:xfrm>
          <a:prstGeom prst="rect">
            <a:avLst/>
          </a:prstGeom>
          <a:solidFill>
            <a:srgbClr val="F7F8F4"/>
          </a:solidFill>
          <a:ln w="12700">
            <a:solidFill>
              <a:srgbClr val="CBD6CE"/>
            </a:solidFill>
            <a:prstDash val="solid"/>
          </a:ln>
        </p:spPr>
      </p:sp>
      <p:sp>
        <p:nvSpPr>
          <p:cNvPr id="66" name="Shape 64"/>
          <p:cNvSpPr/>
          <p:nvPr/>
        </p:nvSpPr>
        <p:spPr>
          <a:xfrm>
            <a:off x="7370064" y="4069080"/>
            <a:ext cx="228600" cy="329184"/>
          </a:xfrm>
          <a:prstGeom prst="rect">
            <a:avLst/>
          </a:prstGeom>
          <a:solidFill>
            <a:srgbClr val="F7F8F4"/>
          </a:solidFill>
          <a:ln w="12700">
            <a:solidFill>
              <a:srgbClr val="CBD6CE"/>
            </a:solidFill>
            <a:prstDash val="solid"/>
          </a:ln>
        </p:spPr>
      </p:sp>
      <p:sp>
        <p:nvSpPr>
          <p:cNvPr id="67" name="Shape 65"/>
          <p:cNvSpPr/>
          <p:nvPr/>
        </p:nvSpPr>
        <p:spPr>
          <a:xfrm>
            <a:off x="7628839" y="4069080"/>
            <a:ext cx="228600" cy="329184"/>
          </a:xfrm>
          <a:prstGeom prst="rect">
            <a:avLst/>
          </a:prstGeom>
          <a:solidFill>
            <a:srgbClr val="F7F8F4"/>
          </a:solidFill>
          <a:ln w="12700">
            <a:solidFill>
              <a:srgbClr val="CBD6CE"/>
            </a:solidFill>
            <a:prstDash val="solid"/>
          </a:ln>
        </p:spPr>
      </p:sp>
      <p:sp>
        <p:nvSpPr>
          <p:cNvPr id="68" name="Shape 66"/>
          <p:cNvSpPr/>
          <p:nvPr/>
        </p:nvSpPr>
        <p:spPr>
          <a:xfrm>
            <a:off x="7887614" y="4069080"/>
            <a:ext cx="228600" cy="329184"/>
          </a:xfrm>
          <a:prstGeom prst="rect">
            <a:avLst/>
          </a:prstGeom>
          <a:solidFill>
            <a:srgbClr val="F7F8F4"/>
          </a:solidFill>
          <a:ln w="12700">
            <a:solidFill>
              <a:srgbClr val="CBD6CE"/>
            </a:solidFill>
            <a:prstDash val="solid"/>
          </a:ln>
        </p:spPr>
      </p:sp>
      <p:sp>
        <p:nvSpPr>
          <p:cNvPr id="69" name="Shape 67"/>
          <p:cNvSpPr/>
          <p:nvPr/>
        </p:nvSpPr>
        <p:spPr>
          <a:xfrm>
            <a:off x="8146390" y="4069080"/>
            <a:ext cx="228600" cy="329184"/>
          </a:xfrm>
          <a:prstGeom prst="rect">
            <a:avLst/>
          </a:prstGeom>
          <a:solidFill>
            <a:srgbClr val="F7F8F4"/>
          </a:solidFill>
          <a:ln w="12700">
            <a:solidFill>
              <a:srgbClr val="CBD6CE"/>
            </a:solidFill>
            <a:prstDash val="solid"/>
          </a:ln>
        </p:spPr>
      </p:sp>
      <p:sp>
        <p:nvSpPr>
          <p:cNvPr id="70" name="Text 68"/>
          <p:cNvSpPr txBox="1"/>
          <p:nvPr/>
        </p:nvSpPr>
        <p:spPr>
          <a:xfrm>
            <a:off x="731520" y="4498848"/>
            <a:ext cx="7690104" cy="219456"/>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Dark: index.  Sage and white: two photos.  Plum: older data not in the index.  Pale: never used.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hash value: showing that nothing changed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1325880"/>
          </a:xfrm>
          <a:prstGeom prst="rect">
            <a:avLst/>
          </a:prstGeom>
          <a:solidFill>
            <a:srgbClr val="DCE6DE"/>
          </a:solidFill>
          <a:ln/>
        </p:spPr>
      </p:sp>
      <p:sp>
        <p:nvSpPr>
          <p:cNvPr id="7" name="Text 5"/>
          <p:cNvSpPr txBox="1"/>
          <p:nvPr/>
        </p:nvSpPr>
        <p:spPr>
          <a:xfrm>
            <a:off x="896112" y="1527048"/>
            <a:ext cx="7360920" cy="1106424"/>
          </a:xfrm>
          <a:prstGeom prst="rect">
            <a:avLst/>
          </a:prstGeom>
          <a:noFill/>
          <a:ln/>
        </p:spPr>
        <p:txBody>
          <a:bodyPr wrap="square" lIns="0" tIns="0" rIns="0" bIns="0" rtlCol="0" anchor="ctr"/>
          <a:lstStyle/>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A short code calculated from the data</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Any change, even one bit, gives a completely different value</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Record it at acquisition; check it again before every examination</a:t>
            </a:r>
            <a:endParaRPr lang="en-US" sz="1600" dirty="0"/>
          </a:p>
        </p:txBody>
      </p:sp>
      <p:sp>
        <p:nvSpPr>
          <p:cNvPr id="8" name="Shape 6"/>
          <p:cNvSpPr/>
          <p:nvPr/>
        </p:nvSpPr>
        <p:spPr>
          <a:xfrm>
            <a:off x="731520" y="2871216"/>
            <a:ext cx="7690104" cy="1792224"/>
          </a:xfrm>
          <a:prstGeom prst="rect">
            <a:avLst/>
          </a:prstGeom>
          <a:solidFill>
            <a:srgbClr val="E8F0EA"/>
          </a:solidFill>
          <a:ln/>
        </p:spPr>
      </p:sp>
      <p:sp>
        <p:nvSpPr>
          <p:cNvPr id="9" name="Shape 7"/>
          <p:cNvSpPr/>
          <p:nvPr/>
        </p:nvSpPr>
        <p:spPr>
          <a:xfrm>
            <a:off x="731520" y="2871216"/>
            <a:ext cx="82296" cy="1792224"/>
          </a:xfrm>
          <a:prstGeom prst="rect">
            <a:avLst/>
          </a:prstGeom>
          <a:solidFill>
            <a:srgbClr val="6E8472"/>
          </a:solidFill>
          <a:ln/>
        </p:spPr>
      </p:sp>
      <p:sp>
        <p:nvSpPr>
          <p:cNvPr id="10" name="Text 8"/>
          <p:cNvSpPr txBox="1"/>
          <p:nvPr/>
        </p:nvSpPr>
        <p:spPr>
          <a:xfrm>
            <a:off x="941832" y="2980944"/>
            <a:ext cx="7351776" cy="237744"/>
          </a:xfrm>
          <a:prstGeom prst="rect">
            <a:avLst/>
          </a:prstGeom>
          <a:noFill/>
          <a:ln/>
        </p:spPr>
        <p:txBody>
          <a:bodyPr wrap="square" lIns="0" tIns="0" rIns="0" bIns="0" rtlCol="0" anchor="t"/>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1" name="Text 9"/>
          <p:cNvSpPr txBox="1"/>
          <p:nvPr/>
        </p:nvSpPr>
        <p:spPr>
          <a:xfrm>
            <a:off x="941832" y="3255264"/>
            <a:ext cx="7351776" cy="1316736"/>
          </a:xfrm>
          <a:prstGeom prst="rect">
            <a:avLst/>
          </a:prstGeom>
          <a:noFill/>
          <a:ln/>
        </p:spPr>
        <p:txBody>
          <a:bodyPr wrap="square" lIns="0" tIns="0" rIns="0" bIns="0" rtlCol="0" anchor="t"/>
          <a:lstStyle/>
          <a:p>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A hash value is like a tamper-evident seal on an evidence bag: a broken seal shows that something changed.</a:t>
            </a:r>
            <a:endParaRPr lang="en-US" sz="1400" dirty="0"/>
          </a:p>
          <a:p>
            <a:pPr indent="0" marL="0">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a seal resists opening and is hard to replace. A hash only detects, and anyone who changes the data can calculate a new one.</a:t>
            </a:r>
            <a:endParaRPr lang="en-US" sz="1400" dirty="0"/>
          </a:p>
          <a:p>
            <a:pPr indent="0" marL="0">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write the first value where nobody can quietly change it - the custody record.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Chain of custody: the record that holds it together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1371600"/>
          </a:xfrm>
          <a:prstGeom prst="rect">
            <a:avLst/>
          </a:prstGeom>
          <a:solidFill>
            <a:srgbClr val="DCE6DE"/>
          </a:solidFill>
          <a:ln/>
        </p:spPr>
      </p:sp>
      <p:sp>
        <p:nvSpPr>
          <p:cNvPr id="7" name="Text 5"/>
          <p:cNvSpPr txBox="1"/>
          <p:nvPr/>
        </p:nvSpPr>
        <p:spPr>
          <a:xfrm>
            <a:off x="896112" y="1527048"/>
            <a:ext cx="7360920" cy="1152144"/>
          </a:xfrm>
          <a:prstGeom prst="rect">
            <a:avLst/>
          </a:prstGeom>
          <a:noFill/>
          <a:ln/>
        </p:spPr>
        <p:txBody>
          <a:bodyPr wrap="square" lIns="0" tIns="0" rIns="0" bIns="0" rtlCol="0" anchor="ctr"/>
          <a:lstStyle/>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Who held the item, when, where and why - from collection to court</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One entry for every handover, opening and storage</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Written at the moment, never from memory</a:t>
            </a:r>
            <a:endParaRPr lang="en-US" sz="1600" dirty="0"/>
          </a:p>
        </p:txBody>
      </p:sp>
      <p:sp>
        <p:nvSpPr>
          <p:cNvPr id="8" name="Shape 6"/>
          <p:cNvSpPr/>
          <p:nvPr/>
        </p:nvSpPr>
        <p:spPr>
          <a:xfrm>
            <a:off x="731520" y="2916936"/>
            <a:ext cx="7690104" cy="1746504"/>
          </a:xfrm>
          <a:prstGeom prst="rect">
            <a:avLst/>
          </a:prstGeom>
          <a:solidFill>
            <a:srgbClr val="F1E8F2"/>
          </a:solidFill>
          <a:ln/>
        </p:spPr>
      </p:sp>
      <p:sp>
        <p:nvSpPr>
          <p:cNvPr id="9" name="Shape 7"/>
          <p:cNvSpPr/>
          <p:nvPr/>
        </p:nvSpPr>
        <p:spPr>
          <a:xfrm>
            <a:off x="731520" y="2916936"/>
            <a:ext cx="82296" cy="1746504"/>
          </a:xfrm>
          <a:prstGeom prst="rect">
            <a:avLst/>
          </a:prstGeom>
          <a:solidFill>
            <a:srgbClr val="8A4E8F"/>
          </a:solidFill>
          <a:ln/>
        </p:spPr>
      </p:sp>
      <p:sp>
        <p:nvSpPr>
          <p:cNvPr id="10" name="Text 8"/>
          <p:cNvSpPr txBox="1"/>
          <p:nvPr/>
        </p:nvSpPr>
        <p:spPr>
          <a:xfrm>
            <a:off x="941832" y="3026664"/>
            <a:ext cx="7351776" cy="237744"/>
          </a:xfrm>
          <a:prstGeom prst="rect">
            <a:avLst/>
          </a:prstGeom>
          <a:noFill/>
          <a:ln/>
        </p:spPr>
        <p:txBody>
          <a:bodyPr wrap="square" lIns="0" tIns="0" rIns="0" bIns="0" rtlCol="0" anchor="t"/>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11" name="Text 9"/>
          <p:cNvSpPr txBox="1"/>
          <p:nvPr/>
        </p:nvSpPr>
        <p:spPr>
          <a:xfrm>
            <a:off x="941832" y="3300984"/>
            <a:ext cx="7351776" cy="1271016"/>
          </a:xfrm>
          <a:prstGeom prst="rect">
            <a:avLst/>
          </a:prstGeom>
          <a:noFill/>
          <a:ln/>
        </p:spPr>
        <p:txBody>
          <a:bodyPr wrap="square" lIns="0" tIns="0" rIns="0" bIns="0" rtlCol="0" anchor="t"/>
          <a:lstStyle/>
          <a:p>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Memento: a man who cannot form new memories investigates a crime through photographs with handwritten notes, and tattoos. His record is only as honest as the moment and the hand that wrote each note. One false note sends him after the wrong man.</a:t>
            </a:r>
            <a:endParaRPr lang="en-US" sz="1400" dirty="0"/>
          </a:p>
          <a:p>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What would his notes need before you trusted them?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1423B"/>
          </a:solidFill>
          <a:ln/>
        </p:spPr>
      </p:sp>
      <p:sp>
        <p:nvSpPr>
          <p:cNvPr id="3" name="Shape 1"/>
          <p:cNvSpPr/>
          <p:nvPr/>
        </p:nvSpPr>
        <p:spPr>
          <a:xfrm>
            <a:off x="731520" y="731520"/>
            <a:ext cx="502920" cy="64008"/>
          </a:xfrm>
          <a:prstGeom prst="rect">
            <a:avLst/>
          </a:prstGeom>
          <a:solidFill>
            <a:srgbClr val="6E8472"/>
          </a:solidFill>
          <a:ln/>
        </p:spPr>
      </p:sp>
      <p:sp>
        <p:nvSpPr>
          <p:cNvPr id="4" name="Shape 2"/>
          <p:cNvSpPr/>
          <p:nvPr/>
        </p:nvSpPr>
        <p:spPr>
          <a:xfrm>
            <a:off x="1280160" y="731520"/>
            <a:ext cx="256032" cy="64008"/>
          </a:xfrm>
          <a:prstGeom prst="rect">
            <a:avLst/>
          </a:prstGeom>
          <a:solidFill>
            <a:srgbClr val="8A4E8F"/>
          </a:solidFill>
          <a:ln/>
        </p:spPr>
      </p:sp>
      <p:sp>
        <p:nvSpPr>
          <p:cNvPr id="5" name="Text 3"/>
          <p:cNvSpPr txBox="1"/>
          <p:nvPr/>
        </p:nvSpPr>
        <p:spPr>
          <a:xfrm>
            <a:off x="731520" y="987552"/>
            <a:ext cx="7680960" cy="365760"/>
          </a:xfrm>
          <a:prstGeom prst="rect">
            <a:avLst/>
          </a:prstGeom>
          <a:noFill/>
          <a:ln/>
        </p:spPr>
        <p:txBody>
          <a:bodyPr wrap="square" lIns="0" tIns="0" rIns="0" bIns="0" rtlCol="0" anchor="t"/>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6" name="Text 4"/>
          <p:cNvSpPr txBox="1"/>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An evidence chain is only as strong as its weakest link; one break can void everything after it.</a:t>
            </a:r>
            <a:endParaRPr lang="en-US" sz="3200" dirty="0"/>
          </a:p>
        </p:txBody>
      </p:sp>
      <p:sp>
        <p:nvSpPr>
          <p:cNvPr id="7" name="Text 5"/>
          <p:cNvSpPr txBox="1"/>
          <p:nvPr/>
        </p:nvSpPr>
        <p:spPr>
          <a:xfrm>
            <a:off x="731520" y="3703320"/>
            <a:ext cx="7680960" cy="1005840"/>
          </a:xfrm>
          <a:prstGeom prst="rect">
            <a:avLst/>
          </a:prstGeom>
          <a:noFill/>
          <a:ln/>
        </p:spPr>
        <p:txBody>
          <a:bodyPr wrap="square" lIns="0" tIns="0" rIns="0" bIns="0" rtlCol="0" anchor="t"/>
          <a:lstStyle/>
          <a:p>
            <a:pPr indent="0" marL="0">
              <a:buNone/>
            </a:pPr>
            <a:r>
              <a:rPr lang="en-US" sz="1600" b="1" i="1" dirty="0">
                <a:solidFill>
                  <a:srgbClr val="E8F0EA"/>
                </a:solidFill>
                <a:latin typeface="Open Sans" pitchFamily="34" charset="0"/>
                <a:ea typeface="Open Sans" pitchFamily="34" charset="-122"/>
                <a:cs typeface="Open Sans" pitchFamily="34" charset="-120"/>
              </a:rPr>
              <a:t>A gap cannot be repaired later. Write each entry when the action happens.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Four stages of a forensic investigation - NIST SP 800-86</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1600200"/>
                <a:gridCol w="3803904"/>
                <a:gridCol w="228600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Stage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you do</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comes out</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 Collection</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 label and acquire the data. Keep it unchanged. Start the custody record.</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Verified images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 Examination</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Process the data with tools. Pull out what matters to the case.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Extracted files, records, log lines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 Analysis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Connect the extracted items. Answer the questions of the case.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and conclusions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 Reporting</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Present the findings, the methods and their limits.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report the reader can act on</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731520" y="3886200"/>
            <a:ext cx="7690104" cy="731520"/>
          </a:xfrm>
          <a:prstGeom prst="rect">
            <a:avLst/>
          </a:prstGeom>
          <a:solidFill>
            <a:srgbClr val="F1E8F2"/>
          </a:solidFill>
          <a:ln/>
        </p:spPr>
      </p:sp>
      <p:sp>
        <p:nvSpPr>
          <p:cNvPr id="8" name="Text 5"/>
          <p:cNvSpPr txBox="1"/>
          <p:nvPr/>
        </p:nvSpPr>
        <p:spPr>
          <a:xfrm>
            <a:off x="896112" y="3886200"/>
            <a:ext cx="7360920" cy="73152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Tools examine. People analyse.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Incident response - SP 800-61 Rev 2: four phases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2240280"/>
                <a:gridCol w="2798064"/>
                <a:gridCol w="2651760"/>
              </a:tblGrid>
              <a:tr h="47548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Rev 2 phase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happens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 our case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 Preparation</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Build the ability to respond: people, tools, playbooks, logging</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client decides who to call and what its computers record</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2. Detection and Analysis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Notice the problem, confirm it, understand its size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Confidential documents are seen outside the company</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3. Containment, Eradication and Recovery</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Stop the damage, remove the cause, return to normal</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Accounts locked, access removed, systems checked</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4. Post-Incident Activity</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Review what happened and improve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New rules for removable media</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731520" y="3986784"/>
            <a:ext cx="7690104" cy="640080"/>
          </a:xfrm>
          <a:prstGeom prst="rect">
            <a:avLst/>
          </a:prstGeom>
          <a:solidFill>
            <a:srgbClr val="E8F0EA"/>
          </a:solidFill>
          <a:ln/>
        </p:spPr>
      </p:sp>
      <p:sp>
        <p:nvSpPr>
          <p:cNvPr id="8" name="Text 5"/>
          <p:cNvSpPr txBox="1"/>
          <p:nvPr/>
        </p:nvSpPr>
        <p:spPr>
          <a:xfrm>
            <a:off x="896112" y="3986784"/>
            <a:ext cx="7360920" cy="640080"/>
          </a:xfrm>
          <a:prstGeom prst="rect">
            <a:avLst/>
          </a:prstGeom>
          <a:noFill/>
          <a:ln/>
        </p:spPr>
        <p:txBody>
          <a:bodyPr wrap="square" lIns="0" tIns="0" rIns="0" bIns="0"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A loop: what is learned in phase 4 improves phase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SP 800-61 Rev 3: six CSF 2.0 Functions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3749040" cy="2240280"/>
          </a:xfrm>
          <a:prstGeom prst="rect">
            <a:avLst/>
          </a:prstGeom>
          <a:solidFill>
            <a:srgbClr val="FFFFFF"/>
          </a:solidFill>
          <a:ln w="9525">
            <a:solidFill>
              <a:srgbClr val="CBD6CE"/>
            </a:solidFill>
            <a:prstDash val="solid"/>
          </a:ln>
        </p:spPr>
      </p:sp>
      <p:sp>
        <p:nvSpPr>
          <p:cNvPr id="7" name="Text 5"/>
          <p:cNvSpPr txBox="1"/>
          <p:nvPr/>
        </p:nvSpPr>
        <p:spPr>
          <a:xfrm>
            <a:off x="868680" y="1490472"/>
            <a:ext cx="3474720" cy="274320"/>
          </a:xfrm>
          <a:prstGeom prst="rect">
            <a:avLst/>
          </a:prstGeom>
          <a:noFill/>
          <a:ln/>
        </p:spPr>
        <p:txBody>
          <a:bodyPr wrap="square" lIns="0" tIns="0" rIns="0" bIns="0" rtlCol="0" anchor="ctr"/>
          <a:lstStyle/>
          <a:p>
            <a:pPr indent="0" marL="0">
              <a:buNone/>
            </a:pPr>
            <a:r>
              <a:rPr lang="en-US" sz="1100" b="1" dirty="0">
                <a:solidFill>
                  <a:srgbClr val="5C6B63"/>
                </a:solidFill>
                <a:latin typeface="Open Sans" pitchFamily="34" charset="0"/>
                <a:ea typeface="Open Sans" pitchFamily="34" charset="-122"/>
                <a:cs typeface="Open Sans" pitchFamily="34" charset="-120"/>
              </a:rPr>
              <a:t>PREPARATION LAYER - ALWAYS RUNNING</a:t>
            </a:r>
            <a:endParaRPr lang="en-US" sz="1100" dirty="0"/>
          </a:p>
        </p:txBody>
      </p:sp>
      <p:sp>
        <p:nvSpPr>
          <p:cNvPr id="8" name="Shape 6"/>
          <p:cNvSpPr/>
          <p:nvPr/>
        </p:nvSpPr>
        <p:spPr>
          <a:xfrm>
            <a:off x="868680" y="1828800"/>
            <a:ext cx="3474720" cy="493776"/>
          </a:xfrm>
          <a:prstGeom prst="rect">
            <a:avLst/>
          </a:prstGeom>
          <a:solidFill>
            <a:srgbClr val="4F6356"/>
          </a:solidFill>
          <a:ln/>
        </p:spPr>
      </p:sp>
      <p:sp>
        <p:nvSpPr>
          <p:cNvPr id="9" name="Text 7"/>
          <p:cNvSpPr txBox="1"/>
          <p:nvPr/>
        </p:nvSpPr>
        <p:spPr>
          <a:xfrm>
            <a:off x="1005840" y="1828800"/>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Govern</a:t>
            </a:r>
            <a:endParaRPr lang="en-US" sz="1600" dirty="0"/>
          </a:p>
        </p:txBody>
      </p:sp>
      <p:sp>
        <p:nvSpPr>
          <p:cNvPr id="10" name="Shape 8"/>
          <p:cNvSpPr/>
          <p:nvPr/>
        </p:nvSpPr>
        <p:spPr>
          <a:xfrm>
            <a:off x="868680" y="2414016"/>
            <a:ext cx="3474720" cy="493776"/>
          </a:xfrm>
          <a:prstGeom prst="rect">
            <a:avLst/>
          </a:prstGeom>
          <a:solidFill>
            <a:srgbClr val="4F6356"/>
          </a:solidFill>
          <a:ln/>
        </p:spPr>
      </p:sp>
      <p:sp>
        <p:nvSpPr>
          <p:cNvPr id="11" name="Text 9"/>
          <p:cNvSpPr txBox="1"/>
          <p:nvPr/>
        </p:nvSpPr>
        <p:spPr>
          <a:xfrm>
            <a:off x="1005840" y="2414016"/>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Identify</a:t>
            </a:r>
            <a:endParaRPr lang="en-US" sz="1600" dirty="0"/>
          </a:p>
        </p:txBody>
      </p:sp>
      <p:sp>
        <p:nvSpPr>
          <p:cNvPr id="12" name="Shape 10"/>
          <p:cNvSpPr/>
          <p:nvPr/>
        </p:nvSpPr>
        <p:spPr>
          <a:xfrm>
            <a:off x="868680" y="2999232"/>
            <a:ext cx="3474720" cy="493776"/>
          </a:xfrm>
          <a:prstGeom prst="rect">
            <a:avLst/>
          </a:prstGeom>
          <a:solidFill>
            <a:srgbClr val="4F6356"/>
          </a:solidFill>
          <a:ln/>
        </p:spPr>
      </p:sp>
      <p:sp>
        <p:nvSpPr>
          <p:cNvPr id="13" name="Text 11"/>
          <p:cNvSpPr txBox="1"/>
          <p:nvPr/>
        </p:nvSpPr>
        <p:spPr>
          <a:xfrm>
            <a:off x="1005840" y="2999232"/>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Protect</a:t>
            </a:r>
            <a:endParaRPr lang="en-US" sz="1600" dirty="0"/>
          </a:p>
        </p:txBody>
      </p:sp>
      <p:sp>
        <p:nvSpPr>
          <p:cNvPr id="14" name="Shape 12"/>
          <p:cNvSpPr/>
          <p:nvPr/>
        </p:nvSpPr>
        <p:spPr>
          <a:xfrm>
            <a:off x="4672584" y="1417320"/>
            <a:ext cx="3749040" cy="2240280"/>
          </a:xfrm>
          <a:prstGeom prst="rect">
            <a:avLst/>
          </a:prstGeom>
          <a:solidFill>
            <a:srgbClr val="FFFFFF"/>
          </a:solidFill>
          <a:ln w="9525">
            <a:solidFill>
              <a:srgbClr val="CBD6CE"/>
            </a:solidFill>
            <a:prstDash val="solid"/>
          </a:ln>
        </p:spPr>
      </p:sp>
      <p:sp>
        <p:nvSpPr>
          <p:cNvPr id="15" name="Text 13"/>
          <p:cNvSpPr txBox="1"/>
          <p:nvPr/>
        </p:nvSpPr>
        <p:spPr>
          <a:xfrm>
            <a:off x="4809744" y="1490472"/>
            <a:ext cx="3474720" cy="274320"/>
          </a:xfrm>
          <a:prstGeom prst="rect">
            <a:avLst/>
          </a:prstGeom>
          <a:noFill/>
          <a:ln/>
        </p:spPr>
        <p:txBody>
          <a:bodyPr wrap="square" lIns="0" tIns="0" rIns="0" bIns="0" rtlCol="0" anchor="ctr"/>
          <a:lstStyle/>
          <a:p>
            <a:pPr indent="0" marL="0">
              <a:buNone/>
            </a:pPr>
            <a:r>
              <a:rPr lang="en-US" sz="1100" b="1" dirty="0">
                <a:solidFill>
                  <a:srgbClr val="5C6B63"/>
                </a:solidFill>
                <a:latin typeface="Open Sans" pitchFamily="34" charset="0"/>
                <a:ea typeface="Open Sans" pitchFamily="34" charset="-122"/>
                <a:cs typeface="Open Sans" pitchFamily="34" charset="-120"/>
              </a:rPr>
              <a:t>INCIDENT LAYER - ACTS ON EACH INCIDENT</a:t>
            </a:r>
            <a:endParaRPr lang="en-US" sz="1100" dirty="0"/>
          </a:p>
        </p:txBody>
      </p:sp>
      <p:sp>
        <p:nvSpPr>
          <p:cNvPr id="16" name="Shape 14"/>
          <p:cNvSpPr/>
          <p:nvPr/>
        </p:nvSpPr>
        <p:spPr>
          <a:xfrm>
            <a:off x="4809744" y="1828800"/>
            <a:ext cx="3474720" cy="493776"/>
          </a:xfrm>
          <a:prstGeom prst="rect">
            <a:avLst/>
          </a:prstGeom>
          <a:solidFill>
            <a:srgbClr val="8A4E8F"/>
          </a:solidFill>
          <a:ln/>
        </p:spPr>
      </p:sp>
      <p:sp>
        <p:nvSpPr>
          <p:cNvPr id="17" name="Text 15"/>
          <p:cNvSpPr txBox="1"/>
          <p:nvPr/>
        </p:nvSpPr>
        <p:spPr>
          <a:xfrm>
            <a:off x="4946904" y="1828800"/>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Detect</a:t>
            </a:r>
            <a:endParaRPr lang="en-US" sz="1600" dirty="0"/>
          </a:p>
        </p:txBody>
      </p:sp>
      <p:sp>
        <p:nvSpPr>
          <p:cNvPr id="18" name="Shape 16"/>
          <p:cNvSpPr/>
          <p:nvPr/>
        </p:nvSpPr>
        <p:spPr>
          <a:xfrm>
            <a:off x="4809744" y="2414016"/>
            <a:ext cx="3474720" cy="493776"/>
          </a:xfrm>
          <a:prstGeom prst="rect">
            <a:avLst/>
          </a:prstGeom>
          <a:solidFill>
            <a:srgbClr val="8A4E8F"/>
          </a:solidFill>
          <a:ln/>
        </p:spPr>
      </p:sp>
      <p:sp>
        <p:nvSpPr>
          <p:cNvPr id="19" name="Text 17"/>
          <p:cNvSpPr txBox="1"/>
          <p:nvPr/>
        </p:nvSpPr>
        <p:spPr>
          <a:xfrm>
            <a:off x="4946904" y="2414016"/>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Respond</a:t>
            </a:r>
            <a:endParaRPr lang="en-US" sz="1600" dirty="0"/>
          </a:p>
        </p:txBody>
      </p:sp>
      <p:sp>
        <p:nvSpPr>
          <p:cNvPr id="20" name="Shape 18"/>
          <p:cNvSpPr/>
          <p:nvPr/>
        </p:nvSpPr>
        <p:spPr>
          <a:xfrm>
            <a:off x="4809744" y="2999232"/>
            <a:ext cx="3474720" cy="493776"/>
          </a:xfrm>
          <a:prstGeom prst="rect">
            <a:avLst/>
          </a:prstGeom>
          <a:solidFill>
            <a:srgbClr val="8A4E8F"/>
          </a:solidFill>
          <a:ln/>
        </p:spPr>
      </p:sp>
      <p:sp>
        <p:nvSpPr>
          <p:cNvPr id="21" name="Text 19"/>
          <p:cNvSpPr txBox="1"/>
          <p:nvPr/>
        </p:nvSpPr>
        <p:spPr>
          <a:xfrm>
            <a:off x="4946904" y="2999232"/>
            <a:ext cx="3200400" cy="493776"/>
          </a:xfrm>
          <a:prstGeom prst="rect">
            <a:avLst/>
          </a:prstGeom>
          <a:noFill/>
          <a:ln/>
        </p:spPr>
        <p:txBody>
          <a:bodyPr wrap="square" lIns="0" tIns="0" rIns="0" bIns="0" rtlCol="0" anchor="ctr"/>
          <a:lstStyle/>
          <a:p>
            <a:pPr indent="0" marL="0">
              <a:buNone/>
            </a:pPr>
            <a:r>
              <a:rPr lang="en-US" sz="1600" b="1" dirty="0">
                <a:solidFill>
                  <a:srgbClr val="FFFFFF"/>
                </a:solidFill>
                <a:latin typeface="Open Sans" pitchFamily="34" charset="0"/>
                <a:ea typeface="Open Sans" pitchFamily="34" charset="-122"/>
                <a:cs typeface="Open Sans" pitchFamily="34" charset="-120"/>
              </a:rPr>
              <a:t>Recover</a:t>
            </a:r>
            <a:endParaRPr lang="en-US" sz="1600" dirty="0"/>
          </a:p>
        </p:txBody>
      </p:sp>
      <p:sp>
        <p:nvSpPr>
          <p:cNvPr id="22" name="Shape 20"/>
          <p:cNvSpPr/>
          <p:nvPr/>
        </p:nvSpPr>
        <p:spPr>
          <a:xfrm>
            <a:off x="731520" y="3794760"/>
            <a:ext cx="7690104" cy="777240"/>
          </a:xfrm>
          <a:prstGeom prst="rect">
            <a:avLst/>
          </a:prstGeom>
          <a:solidFill>
            <a:srgbClr val="31423B"/>
          </a:solidFill>
          <a:ln/>
        </p:spPr>
      </p:sp>
      <p:sp>
        <p:nvSpPr>
          <p:cNvPr id="23" name="Text 21"/>
          <p:cNvSpPr txBox="1"/>
          <p:nvPr/>
        </p:nvSpPr>
        <p:spPr>
          <a:xfrm>
            <a:off x="896112" y="3794760"/>
            <a:ext cx="7360920" cy="777240"/>
          </a:xfrm>
          <a:prstGeom prst="rect">
            <a:avLst/>
          </a:prstGeom>
          <a:noFill/>
          <a:ln/>
        </p:spPr>
        <p:txBody>
          <a:bodyPr wrap="square" lIns="0" tIns="0" rIns="0" bIns="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Improvement, inside Identify, takes lessons from every activity and feeds all six Functions.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Four phases become six Functions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3566160"/>
                <a:gridCol w="4123944"/>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Rev 2 phase</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Where the work sits in Rev 3</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Preparation</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Govern, Identify, Protect</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Detection and Analysis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Detect, and the first part of Respond</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Containment, Eradication and Recovery</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Respond, then Recover</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Post-Incident Activity</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Identify (Improvement), feeding all Functions</a:t>
                      </a:r>
                      <a:endParaRPr lang="en-US" sz="1200" dirty="0">
                        <a:latin typeface="Open Sans" charset="0"/>
                        <a:ea typeface="Open Sans" charset="0"/>
                        <a:cs typeface="Open Sans" charset="0"/>
                      </a:endParaRPr>
                    </a:p>
                  </a:txBody>
                  <a:tcPr marL="91440" marR="91440" marT="36576" marB="36576"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731520" y="3154680"/>
            <a:ext cx="7690104" cy="1371600"/>
          </a:xfrm>
          <a:prstGeom prst="rect">
            <a:avLst/>
          </a:prstGeom>
          <a:solidFill>
            <a:srgbClr val="E8F0EA"/>
          </a:solidFill>
          <a:ln/>
        </p:spPr>
      </p:sp>
      <p:sp>
        <p:nvSpPr>
          <p:cNvPr id="8" name="Shape 5"/>
          <p:cNvSpPr/>
          <p:nvPr/>
        </p:nvSpPr>
        <p:spPr>
          <a:xfrm>
            <a:off x="731520" y="3154680"/>
            <a:ext cx="82296" cy="1371600"/>
          </a:xfrm>
          <a:prstGeom prst="rect">
            <a:avLst/>
          </a:prstGeom>
          <a:solidFill>
            <a:srgbClr val="6E8472"/>
          </a:solidFill>
          <a:ln/>
        </p:spPr>
      </p:sp>
      <p:sp>
        <p:nvSpPr>
          <p:cNvPr id="9" name="Text 6"/>
          <p:cNvSpPr txBox="1"/>
          <p:nvPr/>
        </p:nvSpPr>
        <p:spPr>
          <a:xfrm>
            <a:off x="941832" y="3264408"/>
            <a:ext cx="7351776" cy="237744"/>
          </a:xfrm>
          <a:prstGeom prst="rect">
            <a:avLst/>
          </a:prstGeom>
          <a:noFill/>
          <a:ln/>
        </p:spPr>
        <p:txBody>
          <a:bodyPr wrap="square" lIns="0" tIns="0" rIns="0" bIns="0" rtlCol="0" anchor="t"/>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txBox="1"/>
          <p:nvPr/>
        </p:nvSpPr>
        <p:spPr>
          <a:xfrm>
            <a:off x="941832" y="3538728"/>
            <a:ext cx="7351776" cy="896112"/>
          </a:xfrm>
          <a:prstGeom prst="rect">
            <a:avLst/>
          </a:prstGeom>
          <a:noFill/>
          <a:ln/>
        </p:spPr>
        <p:txBody>
          <a:bodyPr wrap="square" lIns="0" tIns="0" rIns="0" bIns="0" rtlCol="0" anchor="t"/>
          <a:lstStyle/>
          <a:p>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Two maps of one city: Rev 2 shows a route, Rev 3 shows the departments.</a:t>
            </a:r>
            <a:endParaRPr lang="en-US" sz="1400" dirty="0"/>
          </a:p>
          <a:p>
            <a:pPr indent="0" marL="0">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Rev 3 also adds Govern and makes learning continuous.</a:t>
            </a:r>
            <a:endParaRPr lang="en-US" sz="1400" dirty="0"/>
          </a:p>
          <a:p>
            <a:pPr indent="0" marL="0">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500"/>
              </a:spcAft>
              <a:buNone/>
            </a:pPr>
            <a:r>
              <a:rPr lang="en-US" sz="1400" dirty="0">
                <a:solidFill>
                  <a:srgbClr val="31423B"/>
                </a:solidFill>
                <a:latin typeface="Open Sans" pitchFamily="34" charset="0"/>
                <a:ea typeface="Open Sans" pitchFamily="34" charset="-122"/>
                <a:cs typeface="Open Sans" pitchFamily="34" charset="-120"/>
              </a:rPr>
              <a:t>name the revision. Four phases: Rev 2. Six Functions: Rev 3.</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Incident response and disaster recovery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4133088" cy="402336"/>
          </a:xfrm>
          <a:prstGeom prst="rect">
            <a:avLst/>
          </a:prstGeom>
          <a:solidFill>
            <a:srgbClr val="6E8472"/>
          </a:solidFill>
          <a:ln/>
        </p:spPr>
      </p:sp>
      <p:sp>
        <p:nvSpPr>
          <p:cNvPr id="7" name="Text 5"/>
          <p:cNvSpPr txBox="1"/>
          <p:nvPr/>
        </p:nvSpPr>
        <p:spPr>
          <a:xfrm>
            <a:off x="539496" y="1417320"/>
            <a:ext cx="3877056"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Incident response</a:t>
            </a:r>
            <a:endParaRPr lang="en-US" sz="1500" dirty="0"/>
          </a:p>
        </p:txBody>
      </p:sp>
      <p:sp>
        <p:nvSpPr>
          <p:cNvPr id="8" name="Shape 6"/>
          <p:cNvSpPr/>
          <p:nvPr/>
        </p:nvSpPr>
        <p:spPr>
          <a:xfrm>
            <a:off x="411480" y="1819656"/>
            <a:ext cx="4133088" cy="2011680"/>
          </a:xfrm>
          <a:prstGeom prst="rect">
            <a:avLst/>
          </a:prstGeom>
          <a:solidFill>
            <a:srgbClr val="FFFFFF"/>
          </a:solidFill>
          <a:ln w="9525">
            <a:solidFill>
              <a:srgbClr val="CBD6CE"/>
            </a:solidFill>
            <a:prstDash val="solid"/>
          </a:ln>
        </p:spPr>
      </p:sp>
      <p:sp>
        <p:nvSpPr>
          <p:cNvPr id="9" name="Text 7"/>
          <p:cNvSpPr txBox="1"/>
          <p:nvPr/>
        </p:nvSpPr>
        <p:spPr>
          <a:xfrm>
            <a:off x="539496" y="1892808"/>
            <a:ext cx="3877056" cy="1865376"/>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Starts when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Someone or something threatens security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Main question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What is happening, how do we stop it, what did it do?</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Treats the systems as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place to protect and study</a:t>
            </a:r>
            <a:endParaRPr lang="en-US" sz="1300" dirty="0"/>
          </a:p>
        </p:txBody>
      </p:sp>
      <p:sp>
        <p:nvSpPr>
          <p:cNvPr id="10" name="Shape 8"/>
          <p:cNvSpPr/>
          <p:nvPr/>
        </p:nvSpPr>
        <p:spPr>
          <a:xfrm>
            <a:off x="4645152" y="1417320"/>
            <a:ext cx="4133088" cy="402336"/>
          </a:xfrm>
          <a:prstGeom prst="rect">
            <a:avLst/>
          </a:prstGeom>
          <a:solidFill>
            <a:srgbClr val="8A4E8F"/>
          </a:solidFill>
          <a:ln/>
        </p:spPr>
      </p:sp>
      <p:sp>
        <p:nvSpPr>
          <p:cNvPr id="11" name="Text 9"/>
          <p:cNvSpPr txBox="1"/>
          <p:nvPr/>
        </p:nvSpPr>
        <p:spPr>
          <a:xfrm>
            <a:off x="4773168" y="1417320"/>
            <a:ext cx="3877056"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Disaster recovery</a:t>
            </a:r>
            <a:endParaRPr lang="en-US" sz="1500" dirty="0"/>
          </a:p>
        </p:txBody>
      </p:sp>
      <p:sp>
        <p:nvSpPr>
          <p:cNvPr id="12" name="Shape 10"/>
          <p:cNvSpPr/>
          <p:nvPr/>
        </p:nvSpPr>
        <p:spPr>
          <a:xfrm>
            <a:off x="4645152" y="1819656"/>
            <a:ext cx="4133088" cy="2011680"/>
          </a:xfrm>
          <a:prstGeom prst="rect">
            <a:avLst/>
          </a:prstGeom>
          <a:solidFill>
            <a:srgbClr val="FFFFFF"/>
          </a:solidFill>
          <a:ln w="9525">
            <a:solidFill>
              <a:srgbClr val="CBD6CE"/>
            </a:solidFill>
            <a:prstDash val="solid"/>
          </a:ln>
        </p:spPr>
      </p:sp>
      <p:sp>
        <p:nvSpPr>
          <p:cNvPr id="13" name="Text 11"/>
          <p:cNvSpPr txBox="1"/>
          <p:nvPr/>
        </p:nvSpPr>
        <p:spPr>
          <a:xfrm>
            <a:off x="4773168" y="1892808"/>
            <a:ext cx="3877056" cy="1865376"/>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Starts when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IT services are lost, for any reason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Main question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How do we get services running again?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Treats the systems as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Equipment to replace or restore</a:t>
            </a:r>
            <a:endParaRPr lang="en-US" sz="1300" dirty="0"/>
          </a:p>
        </p:txBody>
      </p:sp>
      <p:sp>
        <p:nvSpPr>
          <p:cNvPr id="14" name="Shape 12"/>
          <p:cNvSpPr/>
          <p:nvPr/>
        </p:nvSpPr>
        <p:spPr>
          <a:xfrm>
            <a:off x="411480" y="3959352"/>
            <a:ext cx="8366760" cy="658368"/>
          </a:xfrm>
          <a:prstGeom prst="rect">
            <a:avLst/>
          </a:prstGeom>
          <a:solidFill>
            <a:srgbClr val="F1E8F2"/>
          </a:solidFill>
          <a:ln/>
        </p:spPr>
      </p:sp>
      <p:sp>
        <p:nvSpPr>
          <p:cNvPr id="15" name="Text 13"/>
          <p:cNvSpPr txBox="1"/>
          <p:nvPr/>
        </p:nvSpPr>
        <p:spPr>
          <a:xfrm>
            <a:off x="576072" y="3959352"/>
            <a:ext cx="8037576" cy="658368"/>
          </a:xfrm>
          <a:prstGeom prst="rect">
            <a:avLst/>
          </a:prstGeom>
          <a:noFill/>
          <a:ln/>
        </p:spPr>
        <p:txBody>
          <a:bodyPr wrap="square" lIns="0" tIns="0" rIns="0" bIns="0"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When an attack also destroys services, both plans want the same servers. Preserve first, then restore.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Learning from the incident, ready for the next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731520" y="1417320"/>
            <a:ext cx="7690104" cy="2057400"/>
          </a:xfrm>
          <a:prstGeom prst="rect">
            <a:avLst/>
          </a:prstGeom>
          <a:solidFill>
            <a:srgbClr val="DCE6DE"/>
          </a:solidFill>
          <a:ln/>
        </p:spPr>
      </p:sp>
      <p:sp>
        <p:nvSpPr>
          <p:cNvPr id="7" name="Text 5"/>
          <p:cNvSpPr txBox="1"/>
          <p:nvPr/>
        </p:nvSpPr>
        <p:spPr>
          <a:xfrm>
            <a:off x="896112" y="1527048"/>
            <a:ext cx="7360920" cy="1837944"/>
          </a:xfrm>
          <a:prstGeom prst="rect">
            <a:avLst/>
          </a:prstGeom>
          <a:noFill/>
          <a:ln/>
        </p:spPr>
        <p:txBody>
          <a:bodyPr wrap="square" lIns="0" tIns="0" rIns="0" bIns="0" rtlCol="0" anchor="ctr"/>
          <a:lstStyle/>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Post-incident activity reviews what happened, why, and how the response went</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It must produce change: a lessons-learned report, new rules, new alerts, updated playbooks</a:t>
            </a:r>
            <a:endParaRPr lang="en-US" sz="1600" dirty="0"/>
          </a:p>
          <a:p>
            <a:pPr marL="342900" indent="-342900">
              <a:spcAft>
                <a:spcPts val="800"/>
              </a:spcAft>
              <a:buSzPct val="100000"/>
              <a:buChar char="•"/>
            </a:pPr>
            <a:r>
              <a:rPr lang="en-US" sz="1600" b="1" dirty="0">
                <a:solidFill>
                  <a:srgbClr val="31423B"/>
                </a:solidFill>
                <a:latin typeface="Open Sans" pitchFamily="34" charset="0"/>
                <a:ea typeface="Open Sans" pitchFamily="34" charset="-122"/>
                <a:cs typeface="Open Sans" pitchFamily="34" charset="-120"/>
              </a:rPr>
              <a:t>Forensic readiness: the ability to collect trustworthy evidence quickly when something happens</a:t>
            </a:r>
            <a:endParaRPr lang="en-US" sz="1600" dirty="0"/>
          </a:p>
        </p:txBody>
      </p:sp>
      <p:sp>
        <p:nvSpPr>
          <p:cNvPr id="8" name="Shape 6"/>
          <p:cNvSpPr/>
          <p:nvPr/>
        </p:nvSpPr>
        <p:spPr>
          <a:xfrm>
            <a:off x="731520" y="3611880"/>
            <a:ext cx="7690104" cy="914400"/>
          </a:xfrm>
          <a:prstGeom prst="rect">
            <a:avLst/>
          </a:prstGeom>
          <a:solidFill>
            <a:srgbClr val="F1E8F2"/>
          </a:solidFill>
          <a:ln/>
        </p:spPr>
      </p:sp>
      <p:sp>
        <p:nvSpPr>
          <p:cNvPr id="9" name="Text 7"/>
          <p:cNvSpPr txBox="1"/>
          <p:nvPr/>
        </p:nvSpPr>
        <p:spPr>
          <a:xfrm>
            <a:off x="896112" y="3611880"/>
            <a:ext cx="7360920" cy="91440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An examiner can only find what the organisation recorded and kept.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A4E8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txBox="1"/>
          <p:nvPr/>
        </p:nvSpPr>
        <p:spPr>
          <a:xfrm>
            <a:off x="731520" y="768096"/>
            <a:ext cx="4389120" cy="10972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Lab: image, verify and record</a:t>
            </a:r>
            <a:endParaRPr lang="en-US" sz="3600" dirty="0"/>
          </a:p>
        </p:txBody>
      </p:sp>
      <p:sp>
        <p:nvSpPr>
          <p:cNvPr id="5" name="Shape 3"/>
          <p:cNvSpPr/>
          <p:nvPr/>
        </p:nvSpPr>
        <p:spPr>
          <a:xfrm>
            <a:off x="731520" y="1920240"/>
            <a:ext cx="4206240" cy="2560320"/>
          </a:xfrm>
          <a:prstGeom prst="rect">
            <a:avLst/>
          </a:prstGeom>
          <a:solidFill>
            <a:srgbClr val="31423B"/>
          </a:solidFill>
          <a:ln/>
        </p:spPr>
      </p:sp>
      <p:sp>
        <p:nvSpPr>
          <p:cNvPr id="6" name="Text 4"/>
          <p:cNvSpPr txBox="1"/>
          <p:nvPr/>
        </p:nvSpPr>
        <p:spPr>
          <a:xfrm>
            <a:off x="896112" y="1920240"/>
            <a:ext cx="3877056" cy="2560320"/>
          </a:xfrm>
          <a:prstGeom prst="rect">
            <a:avLst/>
          </a:prstGeom>
          <a:noFill/>
          <a:ln/>
        </p:spPr>
        <p:txBody>
          <a:bodyPr wrap="square" lIns="0" tIns="0" rIns="0" bIns="0" rtlCol="0" anchor="ctr"/>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1.  Run the verify script</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2.  Receive exhibit S01-001</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3.  Verify it in FTK Imager</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4.  Make a working copy</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5.  Check with a second tool</a:t>
            </a:r>
            <a:endParaRPr lang="en-US" sz="1600" dirty="0"/>
          </a:p>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6.  Close the custody record</a:t>
            </a:r>
            <a:endParaRPr lang="en-US" sz="1600" dirty="0"/>
          </a:p>
        </p:txBody>
      </p:sp>
      <p:pic>
        <p:nvPicPr>
          <p:cNvPr id="7" name="Image 0" descr="preencoded.png">    </p:cNvPr>
          <p:cNvPicPr>
            <a:picLocks noChangeAspect="1"/>
          </p:cNvPicPr>
          <p:nvPr/>
        </p:nvPicPr>
        <p:blipFill>
          <a:blip r:embed="rId1"/>
          <a:stretch>
            <a:fillRect/>
          </a:stretch>
        </p:blipFill>
        <p:spPr>
          <a:xfrm>
            <a:off x="5897880" y="1508760"/>
            <a:ext cx="2194560" cy="21945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E847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txBox="1"/>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371600" y="2011680"/>
            <a:ext cx="6400800" cy="1554480"/>
          </a:xfrm>
          <a:prstGeom prst="rect">
            <a:avLst/>
          </a:prstGeom>
          <a:solidFill>
            <a:srgbClr val="FFFFFF"/>
          </a:solidFill>
          <a:ln/>
        </p:spPr>
      </p:sp>
      <p:sp>
        <p:nvSpPr>
          <p:cNvPr id="6" name="Text 4"/>
          <p:cNvSpPr txBox="1"/>
          <p:nvPr/>
        </p:nvSpPr>
        <p:spPr>
          <a:xfrm>
            <a:off x="1536192" y="2011680"/>
            <a:ext cx="6071616" cy="15544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The hash values match, but one custody entry is missing. How much should a court trust this evidence?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standards behind this session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417320"/>
            <a:ext cx="1737360" cy="1554480"/>
          </a:xfrm>
          <a:prstGeom prst="rect">
            <a:avLst/>
          </a:prstGeom>
          <a:solidFill>
            <a:srgbClr val="4F6356"/>
          </a:solidFill>
          <a:ln/>
        </p:spPr>
      </p:sp>
      <p:pic>
        <p:nvPicPr>
          <p:cNvPr id="7" name="Image 0" descr="preencoded.png">    </p:cNvPr>
          <p:cNvPicPr>
            <a:picLocks noChangeAspect="1"/>
          </p:cNvPicPr>
          <p:nvPr/>
        </p:nvPicPr>
        <p:blipFill>
          <a:blip r:embed="rId1"/>
          <a:stretch>
            <a:fillRect/>
          </a:stretch>
        </p:blipFill>
        <p:spPr>
          <a:xfrm>
            <a:off x="822960" y="1737360"/>
            <a:ext cx="914400" cy="914400"/>
          </a:xfrm>
          <a:prstGeom prst="rect">
            <a:avLst/>
          </a:prstGeom>
        </p:spPr>
      </p:pic>
      <p:sp>
        <p:nvSpPr>
          <p:cNvPr id="8" name="Shape 5"/>
          <p:cNvSpPr/>
          <p:nvPr/>
        </p:nvSpPr>
        <p:spPr>
          <a:xfrm>
            <a:off x="2148840" y="1417320"/>
            <a:ext cx="6446520" cy="1554480"/>
          </a:xfrm>
          <a:prstGeom prst="rect">
            <a:avLst/>
          </a:prstGeom>
          <a:solidFill>
            <a:srgbClr val="FFFFFF"/>
          </a:solidFill>
          <a:ln w="9525">
            <a:solidFill>
              <a:srgbClr val="CBD6CE"/>
            </a:solidFill>
            <a:prstDash val="solid"/>
          </a:ln>
        </p:spPr>
      </p:sp>
      <p:sp>
        <p:nvSpPr>
          <p:cNvPr id="9" name="Text 6"/>
          <p:cNvSpPr txBox="1"/>
          <p:nvPr/>
        </p:nvSpPr>
        <p:spPr>
          <a:xfrm>
            <a:off x="2286000" y="1508760"/>
            <a:ext cx="6172200" cy="1371600"/>
          </a:xfrm>
          <a:prstGeom prst="rect">
            <a:avLst/>
          </a:prstGeom>
          <a:noFill/>
          <a:ln/>
        </p:spPr>
        <p:txBody>
          <a:bodyPr wrap="square" lIns="0" tIns="0" rIns="0" bIns="0" rtlCol="0" anchor="ctr"/>
          <a:lstStyle/>
          <a:p>
            <a:pPr indent="0" marL="0">
              <a:spcAft>
                <a:spcPts val="300"/>
              </a:spcAft>
              <a:buNone/>
            </a:pPr>
            <a:r>
              <a:rPr lang="en-US" sz="1500" b="1" dirty="0">
                <a:solidFill>
                  <a:srgbClr val="31423B"/>
                </a:solidFill>
                <a:latin typeface="Open Sans" pitchFamily="34" charset="0"/>
                <a:ea typeface="Open Sans" pitchFamily="34" charset="-122"/>
                <a:cs typeface="Open Sans" pitchFamily="34" charset="-120"/>
              </a:rPr>
              <a:t>Guide to Integrating Forensic Techniques into Incident Response</a:t>
            </a:r>
            <a:endParaRPr lang="en-US" sz="1500" dirty="0"/>
          </a:p>
          <a:p>
            <a:pPr indent="0" marL="0">
              <a:spcAft>
                <a:spcPts val="300"/>
              </a:spcAft>
              <a:buNone/>
            </a:pPr>
            <a:r>
              <a:rPr lang="en-US" sz="1300" i="1" dirty="0">
                <a:solidFill>
                  <a:srgbClr val="4F6356"/>
                </a:solidFill>
                <a:latin typeface="Open Sans" pitchFamily="34" charset="0"/>
                <a:ea typeface="Open Sans" pitchFamily="34" charset="-122"/>
                <a:cs typeface="Open Sans" pitchFamily="34" charset="-120"/>
              </a:rPr>
              <a:t>NIST Special Publication 800-86 (2006)</a:t>
            </a:r>
            <a:endParaRPr lang="en-US" sz="1500" dirty="0"/>
          </a:p>
          <a:p>
            <a:pPr indent="0" marL="0">
              <a:spcAft>
                <a:spcPts val="300"/>
              </a:spcAft>
              <a:buNone/>
            </a:pPr>
            <a:r>
              <a:rPr lang="en-US" sz="1300" dirty="0">
                <a:solidFill>
                  <a:srgbClr val="31423B"/>
                </a:solidFill>
                <a:latin typeface="Open Sans" pitchFamily="34" charset="0"/>
                <a:ea typeface="Open Sans" pitchFamily="34" charset="-122"/>
                <a:cs typeface="Open Sans" pitchFamily="34" charset="-120"/>
              </a:rPr>
              <a:t>Kent, Chevalier, Grance and Dang</a:t>
            </a:r>
            <a:endParaRPr lang="en-US" sz="1500" dirty="0"/>
          </a:p>
          <a:p>
            <a:pPr indent="0" marL="0">
              <a:buNone/>
            </a:pPr>
            <a:r>
              <a:rPr lang="en-US" sz="1200" i="1" dirty="0">
                <a:solidFill>
                  <a:srgbClr val="4F6356"/>
                </a:solidFill>
                <a:latin typeface="Open Sans" pitchFamily="34" charset="0"/>
                <a:ea typeface="Open Sans" pitchFamily="34" charset="-122"/>
                <a:cs typeface="Open Sans" pitchFamily="34" charset="-120"/>
              </a:rPr>
              <a:t>The four forensic stages: collection, examination, analysis, reporting</a:t>
            </a:r>
            <a:endParaRPr lang="en-US" sz="1500" dirty="0"/>
          </a:p>
        </p:txBody>
      </p:sp>
      <p:sp>
        <p:nvSpPr>
          <p:cNvPr id="10" name="Shape 7"/>
          <p:cNvSpPr/>
          <p:nvPr/>
        </p:nvSpPr>
        <p:spPr>
          <a:xfrm>
            <a:off x="411480" y="3099816"/>
            <a:ext cx="1737360" cy="1554480"/>
          </a:xfrm>
          <a:prstGeom prst="rect">
            <a:avLst/>
          </a:prstGeom>
          <a:solidFill>
            <a:srgbClr val="6E8472"/>
          </a:solidFill>
          <a:ln/>
        </p:spPr>
      </p:sp>
      <p:pic>
        <p:nvPicPr>
          <p:cNvPr id="11" name="Image 1" descr="preencoded.png">    </p:cNvPr>
          <p:cNvPicPr>
            <a:picLocks noChangeAspect="1"/>
          </p:cNvPicPr>
          <p:nvPr/>
        </p:nvPicPr>
        <p:blipFill>
          <a:blip r:embed="rId2"/>
          <a:stretch>
            <a:fillRect/>
          </a:stretch>
        </p:blipFill>
        <p:spPr>
          <a:xfrm>
            <a:off x="822960" y="3419856"/>
            <a:ext cx="914400" cy="914400"/>
          </a:xfrm>
          <a:prstGeom prst="rect">
            <a:avLst/>
          </a:prstGeom>
        </p:spPr>
      </p:pic>
      <p:sp>
        <p:nvSpPr>
          <p:cNvPr id="12" name="Shape 8"/>
          <p:cNvSpPr/>
          <p:nvPr/>
        </p:nvSpPr>
        <p:spPr>
          <a:xfrm>
            <a:off x="2148840" y="3099816"/>
            <a:ext cx="6446520" cy="1554480"/>
          </a:xfrm>
          <a:prstGeom prst="rect">
            <a:avLst/>
          </a:prstGeom>
          <a:solidFill>
            <a:srgbClr val="FFFFFF"/>
          </a:solidFill>
          <a:ln w="9525">
            <a:solidFill>
              <a:srgbClr val="CBD6CE"/>
            </a:solidFill>
            <a:prstDash val="solid"/>
          </a:ln>
        </p:spPr>
      </p:sp>
      <p:sp>
        <p:nvSpPr>
          <p:cNvPr id="13" name="Text 9"/>
          <p:cNvSpPr txBox="1"/>
          <p:nvPr/>
        </p:nvSpPr>
        <p:spPr>
          <a:xfrm>
            <a:off x="2286000" y="3191256"/>
            <a:ext cx="6172200" cy="1371600"/>
          </a:xfrm>
          <a:prstGeom prst="rect">
            <a:avLst/>
          </a:prstGeom>
          <a:noFill/>
          <a:ln/>
        </p:spPr>
        <p:txBody>
          <a:bodyPr wrap="square" lIns="0" tIns="0" rIns="0" bIns="0" rtlCol="0" anchor="ctr"/>
          <a:lstStyle/>
          <a:p>
            <a:pPr indent="0" marL="0">
              <a:spcAft>
                <a:spcPts val="300"/>
              </a:spcAft>
              <a:buNone/>
            </a:pPr>
            <a:r>
              <a:rPr lang="en-US" sz="1500" b="1" dirty="0">
                <a:solidFill>
                  <a:srgbClr val="31423B"/>
                </a:solidFill>
                <a:latin typeface="Open Sans" pitchFamily="34" charset="0"/>
                <a:ea typeface="Open Sans" pitchFamily="34" charset="-122"/>
                <a:cs typeface="Open Sans" pitchFamily="34" charset="-120"/>
              </a:rPr>
              <a:t>Incident Response Recommendations and Considerations for Cybersecurity Risk Management</a:t>
            </a:r>
            <a:endParaRPr lang="en-US" sz="1500" dirty="0"/>
          </a:p>
          <a:p>
            <a:pPr indent="0" marL="0">
              <a:spcAft>
                <a:spcPts val="300"/>
              </a:spcAft>
              <a:buNone/>
            </a:pPr>
            <a:r>
              <a:rPr lang="en-US" sz="1300" i="1" dirty="0">
                <a:solidFill>
                  <a:srgbClr val="4F6356"/>
                </a:solidFill>
                <a:latin typeface="Open Sans" pitchFamily="34" charset="0"/>
                <a:ea typeface="Open Sans" pitchFamily="34" charset="-122"/>
                <a:cs typeface="Open Sans" pitchFamily="34" charset="-120"/>
              </a:rPr>
              <a:t>NIST Special Publication 800-61 Revision 3 (2025) - a CSF 2.0 Community Profile</a:t>
            </a:r>
            <a:endParaRPr lang="en-US" sz="1500" dirty="0"/>
          </a:p>
          <a:p>
            <a:pPr indent="0" marL="0">
              <a:spcAft>
                <a:spcPts val="300"/>
              </a:spcAft>
              <a:buNone/>
            </a:pPr>
            <a:r>
              <a:rPr lang="en-US" sz="1300" dirty="0">
                <a:solidFill>
                  <a:srgbClr val="31423B"/>
                </a:solidFill>
                <a:latin typeface="Open Sans" pitchFamily="34" charset="0"/>
                <a:ea typeface="Open Sans" pitchFamily="34" charset="-122"/>
                <a:cs typeface="Open Sans" pitchFamily="34" charset="-120"/>
              </a:rPr>
              <a:t>Nelson, Rekhi, Souppaya and Scarfone</a:t>
            </a:r>
            <a:endParaRPr lang="en-US" sz="1500" dirty="0"/>
          </a:p>
          <a:p>
            <a:pPr indent="0" marL="0">
              <a:buNone/>
            </a:pPr>
            <a:r>
              <a:rPr lang="en-US" sz="1200" i="1" dirty="0">
                <a:solidFill>
                  <a:srgbClr val="4F6356"/>
                </a:solidFill>
                <a:latin typeface="Open Sans" pitchFamily="34" charset="0"/>
                <a:ea typeface="Open Sans" pitchFamily="34" charset="-122"/>
                <a:cs typeface="Open Sans" pitchFamily="34" charset="-120"/>
              </a:rPr>
              <a:t>Replaces Revision 2 (2012), which described the four-phase lifecycle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675120" y="1645920"/>
            <a:ext cx="1828800" cy="1828800"/>
          </a:xfrm>
          <a:prstGeom prst="rect">
            <a:avLst/>
          </a:prstGeom>
        </p:spPr>
      </p:pic>
      <p:sp>
        <p:nvSpPr>
          <p:cNvPr id="4" name="Text 1"/>
          <p:cNvSpPr txBox="1"/>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txBox="1"/>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txBox="1"/>
          <p:nvPr/>
        </p:nvSpPr>
        <p:spPr>
          <a:xfrm>
            <a:off x="384048" y="3035808"/>
            <a:ext cx="5303520" cy="658368"/>
          </a:xfrm>
          <a:prstGeom prst="rect">
            <a:avLst/>
          </a:prstGeom>
          <a:noFill/>
          <a:ln/>
        </p:spPr>
        <p:txBody>
          <a:bodyPr wrap="square" lIns="0" tIns="0" rIns="0" bIns="0" rtlCol="0" anchor="t"/>
          <a:lstStyle/>
          <a:p>
            <a:pPr indent="0" marL="0">
              <a:buNone/>
            </a:pPr>
            <a:r>
              <a:rPr lang="en-US" sz="1600" i="1" dirty="0">
                <a:solidFill>
                  <a:srgbClr val="5C6B63"/>
                </a:solidFill>
                <a:latin typeface="Open Sans" pitchFamily="34" charset="0"/>
                <a:ea typeface="Open Sans" pitchFamily="34" charset="-122"/>
                <a:cs typeface="Open Sans" pitchFamily="34" charset="-120"/>
              </a:rPr>
              <a:t>Next: Session 2 - Storage, file systems and first recoveries. The case opens.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txBox="1"/>
          <p:nvPr/>
        </p:nvSpPr>
        <p:spPr>
          <a:xfrm>
            <a:off x="731520" y="1508760"/>
            <a:ext cx="7863840" cy="228600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4059936"/>
            <a:ext cx="54864" cy="621792"/>
          </a:xfrm>
          <a:prstGeom prst="rect">
            <a:avLst/>
          </a:prstGeom>
          <a:solidFill>
            <a:srgbClr val="E8F0EA"/>
          </a:solidFill>
          <a:ln/>
        </p:spPr>
      </p:sp>
      <p:sp>
        <p:nvSpPr>
          <p:cNvPr id="8" name="Text 6"/>
          <p:cNvSpPr txBox="1"/>
          <p:nvPr/>
        </p:nvSpPr>
        <p:spPr>
          <a:xfrm>
            <a:off x="859536" y="4059936"/>
            <a:ext cx="7735824" cy="621792"/>
          </a:xfrm>
          <a:prstGeom prst="rect">
            <a:avLst/>
          </a:prstGeom>
          <a:noFill/>
          <a:ln/>
        </p:spPr>
        <p:txBody>
          <a:bodyPr wrap="square" lIns="0" tIns="0" rIns="0" bIns="0" rtlCol="0" anchor="ctr"/>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S01 - Forensic Readiness and the Investigation Lifecycle</dc:title>
  <dc:subject>NB6018CEM Data Recovery and Advanced Digital Forensic Analysis</dc:subject>
  <dc:creator>Niranga Dharmaratna</dc:creator>
  <cp:lastModifiedBy>Niranga Dharmaratna</cp:lastModifiedBy>
  <cp:revision>1</cp:revision>
  <dcterms:created xsi:type="dcterms:W3CDTF">2026-10-03T14:05:44Z</dcterms:created>
  <dcterms:modified xsi:type="dcterms:W3CDTF">2026-10-03T14:05:44Z</dcterms:modified>
</cp:coreProperties>
</file>