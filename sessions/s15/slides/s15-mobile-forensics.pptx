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15 opens Day 8 and the lean mobile strand (D2): examination only, on a provided extraction, no device and no acquisition. LO3 is assessed only by the phase test, so every examined idea is taught by name on the page. The portal page is the content master; every slide points to a section of it. No quiz today: Session 16 closes Day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LO1 through the principles of mobile file systems and protection; LO3 through mobile file systems and artefacts. LO3's sole instrument is the phase test, so the names on the page matter: extraction kinds, BFU and AFU, file-based encryption, sandbox, APFS container, protection classes, app containers, SQLite and property lists, parsers.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bridging sentence from the page once: Session 14 promised the suspect's phone; the client's evidence holds none, so the unit trains on Joshua Hickman's published test phone (D49). Names, accounts and dates are the dataset's own. Never present it as the suspect's phone. Keep phone numbers and e-mail addresses off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Four differences: always on, always with one person, encrypted by default, full of app records. Provider copies need legal process, as in Session 14. Quick check: a phone is not just a small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and demo S15-D1. Define extraction against Session 1's acquisition; never as a replacement. The test phone's extraction is full file system: confirmed in the lab from its layout. Misconception: physical always has the most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box of section 2, in four parts. Spend the time on where it breaks: depth of copy is no longer amount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Keys come from the passcode plus a hardware key that never leaves the phone. Students do not seize phones in this module, but they read the state in the extraction's record. Quick check: the battery that ran flat at the laboratory.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The calculator vault's package name says what the label hides. Two layers of encryption: the system's, removed by an AFU extraction, and the app's own, which stays: threema4.db starts with random-looking bytes, not 'SQLite format 3', and its key is key.dat in the same sandbox. Sandbox comparison: flats, the landlord's keys, the shared 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and demo S15-D3. Keep Session 2's word volume and say what APFS changes; never redefine it. Locker comparison: number, tag, ledger; where it breaks: reinstall and missing tags. Quick check: two extractions a month apart, different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The boundary: S15 reads databases read-only; WAL, free pages and deleted-row recovery are Session 16's. The settings file also holds a mobile number: leave it out of notes and off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The last row is the dangerous one; section 9 returns to it. Chat messages carry clocks from two phones and a server: created, delivered, read. Students must write which time they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S15-D4. The researcher's notes give local time; the phone's record is microseconds since 1601 in UTC, as Chrome's was in Session 14. Both agree. Verified by this build on the dataset's own History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page section 8. Name and paraphrase only; give the one-line gist. About three minutes. The break is the point: a report sentence should name the author of the record ('the browser recorded a typed visit'). Her is left to Session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Let the room read it. Bridge to section 9: a candid witness still needs an honest interpreter, and the parser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and demo S15-D5. Links: Session 8's alert as a hypothesis, Session 13's two records. Interpreter comparison: a parser can add precision without warning, and the original can always be read again. Name the tool and version in every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10, about 105 minutes: A 10, B 5, C 20, D 10, E 25, F 20, G 15. ALEAPP runs during Part C; if it is still running at the end of Part C or fails, students use the pre-computed report. Walk the room at step 13 (the 1601 conversion) and step 14 (the mobile number stays out of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the author of the record: 'the app recorded the message as read at ...', which describes the phone, not the person. What else: the phone's state and use at that time, other records of the same minute. This is the lens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No quiz today: the Day 8 quiz closes Session 16 and spans both sessions. Collect s15-findings.csv and s15-notes.txt.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Test-phone names, accounts and times are the Hickman dataset's own, shown as recorded; the iPhone container IDs are invented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Mobile forensics: file systems and examination</a:t>
            </a:r>
            <a:endParaRPr lang="en-US" sz="32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15 - Day 8: Mobile forensics and reporting</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000" b="1" dirty="0">
                <a:solidFill>
                  <a:srgbClr val="31423B"/>
                </a:solidFill>
                <a:latin typeface="Open Sans" pitchFamily="34" charset="0"/>
                <a:ea typeface="Open Sans" pitchFamily="34" charset="-122"/>
                <a:cs typeface="Open Sans" pitchFamily="34" charset="-120"/>
              </a:rPr>
              <a:t>S15 Mobile forensics: file systems and examination</a:t>
            </a:r>
            <a:endParaRPr lang="en-US" sz="30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62786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LO1</a:t>
            </a:r>
            <a:endParaRPr lang="en-US" sz="1400" dirty="0"/>
          </a:p>
        </p:txBody>
      </p:sp>
      <p:sp>
        <p:nvSpPr>
          <p:cNvPr id="8" name="Shape 6"/>
          <p:cNvSpPr/>
          <p:nvPr/>
        </p:nvSpPr>
        <p:spPr>
          <a:xfrm>
            <a:off x="1463040" y="3108960"/>
            <a:ext cx="640080" cy="347472"/>
          </a:xfrm>
          <a:prstGeom prst="rect">
            <a:avLst/>
          </a:prstGeom>
          <a:solidFill>
            <a:srgbClr val="31423B"/>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LO3</a:t>
            </a:r>
            <a:endParaRPr lang="en-US" sz="1400" dirty="0"/>
          </a:p>
        </p:txBody>
      </p:sp>
      <p:sp>
        <p:nvSpPr>
          <p:cNvPr id="10" name="Text 8"/>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Phase test (LO3 is assessed only there)  |  Day 8's quiz closes Session 16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508760"/>
          </a:xfrm>
          <a:prstGeom prst="rect">
            <a:avLst/>
          </a:prstGeom>
          <a:solidFill>
            <a:srgbClr val="F1E8F2"/>
          </a:solidFill>
          <a:ln/>
        </p:spPr>
      </p:sp>
      <p:sp>
        <p:nvSpPr>
          <p:cNvPr id="7" name="Text 5"/>
          <p:cNvSpPr/>
          <p:nvPr/>
        </p:nvSpPr>
        <p:spPr>
          <a:xfrm>
            <a:off x="521208" y="1371600"/>
            <a:ext cx="4535424" cy="150876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case holds no phone, so the unit trains on a documented test phone: a researcher's Pixel 7a on Android 14, with its own owner, accounts and dates. How was it extracted, how is its data laid out, and what do its records say, each with its file and its clock?</a:t>
            </a:r>
            <a:endParaRPr lang="en-US" sz="1300" dirty="0"/>
          </a:p>
        </p:txBody>
      </p:sp>
      <p:sp>
        <p:nvSpPr>
          <p:cNvPr id="8" name="Shape 6"/>
          <p:cNvSpPr/>
          <p:nvPr/>
        </p:nvSpPr>
        <p:spPr>
          <a:xfrm>
            <a:off x="411480" y="2971800"/>
            <a:ext cx="4754880" cy="1828800"/>
          </a:xfrm>
          <a:prstGeom prst="rect">
            <a:avLst/>
          </a:prstGeom>
          <a:solidFill>
            <a:srgbClr val="DCE6DE"/>
          </a:solidFill>
          <a:ln/>
        </p:spPr>
      </p:sp>
      <p:sp>
        <p:nvSpPr>
          <p:cNvPr id="9" name="Text 7"/>
          <p:cNvSpPr/>
          <p:nvPr/>
        </p:nvSpPr>
        <p:spPr>
          <a:xfrm>
            <a:off x="502920" y="2971800"/>
            <a:ext cx="4572000" cy="1828800"/>
          </a:xfrm>
          <a:prstGeom prst="rect">
            <a:avLst/>
          </a:prstGeom>
          <a:noFill/>
          <a:ln/>
        </p:spPr>
        <p:txBody>
          <a:bodyPr wrap="square" rtlCol="0" anchor="ctr"/>
          <a:lstStyle/>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Why a phone is different evidence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Three kinds of extraction</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Before and after first unlock</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Android storage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iOS storage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How apps keep their records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Artefacts and their clocks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most candid witness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Parsing and checking</a:t>
            </a:r>
            <a:endParaRPr lang="en-US" sz="1200" dirty="0"/>
          </a:p>
        </p:txBody>
      </p:sp>
      <p:pic>
        <p:nvPicPr>
          <p:cNvPr id="10" name="Image 0" descr="preencoded.png">    </p:cNvPr>
          <p:cNvPicPr>
            <a:picLocks noChangeAspect="1"/>
          </p:cNvPicPr>
          <p:nvPr/>
        </p:nvPicPr>
        <p:blipFill>
          <a:blip r:embed="rId1"/>
          <a:stretch>
            <a:fillRect/>
          </a:stretch>
        </p:blipFill>
        <p:spPr>
          <a:xfrm>
            <a:off x="6126480" y="1371600"/>
            <a:ext cx="1737360" cy="1737360"/>
          </a:xfrm>
          <a:prstGeom prst="rect">
            <a:avLst/>
          </a:prstGeom>
        </p:spPr>
      </p:pic>
      <p:sp>
        <p:nvSpPr>
          <p:cNvPr id="11" name="Text 8"/>
          <p:cNvSpPr/>
          <p:nvPr/>
        </p:nvSpPr>
        <p:spPr>
          <a:xfrm>
            <a:off x="5349240" y="3337560"/>
            <a:ext cx="3383280" cy="128016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Examination only: you receive an extraction and never touch a phone.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Why a phone is different evidence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463040"/>
                <a:gridCol w="3200400"/>
                <a:gridCol w="3657600"/>
              </a:tblGrid>
              <a:tr h="438912">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The suspect's computer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 modern phone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Power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Off when not in use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 almost all the time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Users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Possibly several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Usually one person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Storage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disk you remove and image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soldered chip you do not remove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Encryption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Optional, set by the user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 from the start, tied to the hardware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Records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System and a few programs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System and dozens of apps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Location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Rarely recorded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Recorded by the system and many apps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The principles of Session 1 still hold; getting the data out and reading it change.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Extraction: the mobile word for an acquisition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1371600"/>
                <a:gridCol w="2560320"/>
                <a:gridCol w="2560320"/>
                <a:gridCol w="1828800"/>
              </a:tblGrid>
              <a:tr h="5029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Kind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Holds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Misses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029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Logical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phone or its backup hands over what it shares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Contacts, messages, photos, apps that allow backup</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Many apps' private data</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Full file system</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Extra rights on the running phone copy the user data's file tree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Every file, every app sandbox, readable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Unused space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029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Physical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Bit-for-bit copy of the storage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Every block</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keys: user data stays encrypted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858768"/>
            <a:ext cx="8321040" cy="731520"/>
          </a:xfrm>
          <a:prstGeom prst="rect">
            <a:avLst/>
          </a:prstGeom>
          <a:solidFill>
            <a:srgbClr val="F1E8F2"/>
          </a:solidFill>
          <a:ln/>
        </p:spPr>
      </p:sp>
      <p:sp>
        <p:nvSpPr>
          <p:cNvPr id="8" name="Text 5"/>
          <p:cNvSpPr/>
          <p:nvPr/>
        </p:nvSpPr>
        <p:spPr>
          <a:xfrm>
            <a:off x="521208" y="3858768"/>
            <a:ext cx="8101584" cy="731520"/>
          </a:xfrm>
          <a:prstGeom prst="rect">
            <a:avLst/>
          </a:prstGeom>
          <a:noFill/>
          <a:ln/>
        </p:spPr>
        <p:txBody>
          <a:bodyPr wrap="square" rtlCol="0" anchor="ctr"/>
          <a:lstStyle/>
          <a:p>
            <a:pPr indent="0" marL="0">
              <a:buNone/>
            </a:pPr>
            <a:r>
              <a:rPr lang="en-US" sz="1100" b="1" dirty="0">
                <a:solidFill>
                  <a:srgbClr val="31423B"/>
                </a:solidFill>
                <a:latin typeface="Open Sans" pitchFamily="34" charset="0"/>
                <a:ea typeface="Open Sans" pitchFamily="34" charset="-122"/>
                <a:cs typeface="Open Sans" pitchFamily="34" charset="-120"/>
              </a:rPr>
              <a:t>An extraction is an acquisition: hash it, register it, keep custody, examine a copy. Commercial extraction tools (Cellebrite, GrayKey, XRY, Oxygen) are named for awareness; the module reads their output with ALEAPP, iLEAPP and Autopsy.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ways to collect an office's papers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E8F0EA"/>
          </a:solidFill>
          <a:ln/>
        </p:spPr>
      </p:sp>
      <p:sp>
        <p:nvSpPr>
          <p:cNvPr id="7" name="Shape 5"/>
          <p:cNvSpPr/>
          <p:nvPr/>
        </p:nvSpPr>
        <p:spPr>
          <a:xfrm>
            <a:off x="411480" y="1371600"/>
            <a:ext cx="82296" cy="301752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Logical: the receptionist hands over the folders she may share. Full file system: the keys to every office, every drawer copied. Physical: the whole building, brick by brick.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on a modern phone every office keeps its papers in a locked safe, and the keys stay with the owner. The bricks give you the safes, still locked. And the choice is made once, at extraction.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record the kind of extraction before you read it; the kind decides what can be missing.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Before and after first unlock</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286000"/>
                <a:gridCol w="3291840"/>
                <a:gridCol w="2743200"/>
              </a:tblGrid>
              <a:tr h="56692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Available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Android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iPhone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From start-up (BFU)</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Device-encrypted storage: alarms, some settings, SMS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Class D: no protection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After first unlock, until restart (AFU)</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Credential-encrypted storage: almost all app data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Class C: the default for app data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6692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Only while unlocked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 a separate class in normal use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Class A: complete protection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429000"/>
            <a:ext cx="8321040" cy="777240"/>
          </a:xfrm>
          <a:prstGeom prst="rect">
            <a:avLst/>
          </a:prstGeom>
          <a:solidFill>
            <a:srgbClr val="F1E8F2"/>
          </a:solidFill>
          <a:ln/>
        </p:spPr>
      </p:sp>
      <p:sp>
        <p:nvSpPr>
          <p:cNvPr id="8" name="Text 5"/>
          <p:cNvSpPr/>
          <p:nvPr/>
        </p:nvSpPr>
        <p:spPr>
          <a:xfrm>
            <a:off x="521208" y="3429000"/>
            <a:ext cx="8101584" cy="77724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A restart or a flat battery returns a phone to BFU. Since iOS 18, an iPhone not unlocked for three days restarts by itself. So a seized phone is kept powered and off the network.</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and demo S15-D2. The test phone was extracted after first unlock.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Android storage: one folder per app</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1371600"/>
                <a:gridCol w="3154680"/>
                <a:gridCol w="379476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On the screen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Package name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Private folder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000" b="1" dirty="0">
                          <a:solidFill>
                            <a:srgbClr val="31423B"/>
                          </a:solidFill>
                          <a:latin typeface="Open Sans" pitchFamily="34" charset="0"/>
                          <a:ea typeface="Open Sans" pitchFamily="34" charset="-122"/>
                          <a:cs typeface="Open Sans" pitchFamily="34" charset="-120"/>
                        </a:rPr>
                        <a:t>Threema</a:t>
                      </a:r>
                      <a:endParaRPr lang="en-US" sz="10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000" dirty="0">
                          <a:solidFill>
                            <a:srgbClr val="31423B"/>
                          </a:solidFill>
                          <a:latin typeface="Consolas" pitchFamily="34" charset="0"/>
                          <a:ea typeface="Consolas" pitchFamily="34" charset="-122"/>
                          <a:cs typeface="Consolas" pitchFamily="34" charset="-120"/>
                        </a:rPr>
                        <a:t>ch.threema.app</a:t>
                      </a:r>
                      <a:endParaRPr lang="en-US" sz="10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000" dirty="0">
                          <a:solidFill>
                            <a:srgbClr val="31423B"/>
                          </a:solidFill>
                          <a:latin typeface="Consolas" pitchFamily="34" charset="0"/>
                          <a:ea typeface="Consolas" pitchFamily="34" charset="-122"/>
                          <a:cs typeface="Consolas" pitchFamily="34" charset="-120"/>
                        </a:rPr>
                        <a:t>data/data/ch.threema.app/</a:t>
                      </a:r>
                      <a:endParaRPr lang="en-US" sz="10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31423B"/>
                          </a:solidFill>
                          <a:latin typeface="Open Sans" pitchFamily="34" charset="0"/>
                          <a:ea typeface="Open Sans" pitchFamily="34" charset="-122"/>
                          <a:cs typeface="Open Sans" pitchFamily="34" charset="-120"/>
                        </a:rPr>
                        <a:t>Opera</a:t>
                      </a:r>
                      <a:endParaRPr lang="en-US" sz="10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000" dirty="0">
                          <a:solidFill>
                            <a:srgbClr val="31423B"/>
                          </a:solidFill>
                          <a:latin typeface="Consolas" pitchFamily="34" charset="0"/>
                          <a:ea typeface="Consolas" pitchFamily="34" charset="-122"/>
                          <a:cs typeface="Consolas" pitchFamily="34" charset="-120"/>
                        </a:rPr>
                        <a:t>com.opera.browser</a:t>
                      </a:r>
                      <a:endParaRPr lang="en-US" sz="10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000" dirty="0">
                          <a:solidFill>
                            <a:srgbClr val="31423B"/>
                          </a:solidFill>
                          <a:latin typeface="Consolas" pitchFamily="34" charset="0"/>
                          <a:ea typeface="Consolas" pitchFamily="34" charset="-122"/>
                          <a:cs typeface="Consolas" pitchFamily="34" charset="-120"/>
                        </a:rPr>
                        <a:t>data/data/com.opera.browser/</a:t>
                      </a:r>
                      <a:endParaRPr lang="en-US" sz="10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000" b="1" dirty="0">
                          <a:solidFill>
                            <a:srgbClr val="31423B"/>
                          </a:solidFill>
                          <a:latin typeface="Open Sans" pitchFamily="34" charset="0"/>
                          <a:ea typeface="Open Sans" pitchFamily="34" charset="-122"/>
                          <a:cs typeface="Open Sans" pitchFamily="34" charset="-120"/>
                        </a:rPr>
                        <a:t>"Calculator" (a vault)</a:t>
                      </a:r>
                      <a:endParaRPr lang="en-US" sz="10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000" dirty="0">
                          <a:solidFill>
                            <a:srgbClr val="31423B"/>
                          </a:solidFill>
                          <a:latin typeface="Consolas" pitchFamily="34" charset="0"/>
                          <a:ea typeface="Consolas" pitchFamily="34" charset="-122"/>
                          <a:cs typeface="Consolas" pitchFamily="34" charset="-120"/>
                        </a:rPr>
                        <a:t>com.calculator.lock.hide.photo.video</a:t>
                      </a:r>
                      <a:endParaRPr lang="en-US" sz="10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000" dirty="0">
                          <a:solidFill>
                            <a:srgbClr val="31423B"/>
                          </a:solidFill>
                          <a:latin typeface="Consolas" pitchFamily="34" charset="0"/>
                          <a:ea typeface="Consolas" pitchFamily="34" charset="-122"/>
                          <a:cs typeface="Consolas" pitchFamily="34" charset="-120"/>
                        </a:rPr>
                        <a:t>data/data/com.calculator.lock.hide.photo.video/</a:t>
                      </a:r>
                      <a:endParaRPr lang="en-US" sz="10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017520"/>
            <a:ext cx="8321040" cy="1325880"/>
          </a:xfrm>
          <a:prstGeom prst="rect">
            <a:avLst/>
          </a:prstGeom>
          <a:solidFill>
            <a:srgbClr val="DCE6DE"/>
          </a:solidFill>
          <a:ln/>
        </p:spPr>
      </p:sp>
      <p:sp>
        <p:nvSpPr>
          <p:cNvPr id="8" name="Text 5"/>
          <p:cNvSpPr/>
          <p:nvPr/>
        </p:nvSpPr>
        <p:spPr>
          <a:xfrm>
            <a:off x="502920" y="3017520"/>
            <a:ext cx="8138160" cy="1325880"/>
          </a:xfrm>
          <a:prstGeom prst="rect">
            <a:avLst/>
          </a:prstGeom>
          <a:noFill/>
          <a:ln/>
        </p:spPr>
        <p:txBody>
          <a:bodyPr wrap="square" rtlCol="0" anchor="ctr"/>
          <a:lstStyle/>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User data partition at /data: ext4 or F2FS</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File-based encryption: Session 4's file-level encryption, applied by the system to every file and name</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Inside a sandbox: databases/, shared_prefs/, files/, cache/</a:t>
            </a:r>
            <a:endParaRPr lang="en-US" sz="1200" dirty="0"/>
          </a:p>
          <a:p>
            <a:pPr marL="342900" indent="-342900">
              <a:spcAft>
                <a:spcPts val="300"/>
              </a:spcAft>
              <a:buSzPct val="100000"/>
              <a:buChar char="•"/>
            </a:pPr>
            <a:r>
              <a:rPr lang="en-US" sz="1200" b="1" dirty="0">
                <a:solidFill>
                  <a:srgbClr val="31423B"/>
                </a:solidFill>
                <a:latin typeface="Open Sans" pitchFamily="34" charset="0"/>
                <a:ea typeface="Open Sans" pitchFamily="34" charset="-122"/>
                <a:cs typeface="Open Sans" pitchFamily="34" charset="-120"/>
              </a:rPr>
              <a:t>Shared storage at data/media/0 (DCIM, Download)</a:t>
            </a:r>
            <a:endParaRPr lang="en-US" sz="12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Threema adds its own encryption: its database has no SQLite signature (Session 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iOS storage: a container, volumes, generated names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APFS</a:t>
            </a:r>
            <a:endParaRPr lang="en-US" sz="1500" dirty="0"/>
          </a:p>
        </p:txBody>
      </p:sp>
      <p:sp>
        <p:nvSpPr>
          <p:cNvPr id="8" name="Shape 6"/>
          <p:cNvSpPr/>
          <p:nvPr/>
        </p:nvSpPr>
        <p:spPr>
          <a:xfrm>
            <a:off x="411480" y="1728216"/>
            <a:ext cx="4133088" cy="2880360"/>
          </a:xfrm>
          <a:prstGeom prst="rect">
            <a:avLst/>
          </a:prstGeom>
          <a:solidFill>
            <a:srgbClr val="FFFFFF"/>
          </a:solidFill>
          <a:ln w="9525">
            <a:solidFill>
              <a:srgbClr val="CBD6CE"/>
            </a:solidFill>
            <a:prstDash val="solid"/>
          </a:ln>
        </p:spPr>
      </p:sp>
      <p:sp>
        <p:nvSpPr>
          <p:cNvPr id="9" name="Text 7"/>
          <p:cNvSpPr/>
          <p:nvPr/>
        </p:nvSpPr>
        <p:spPr>
          <a:xfrm>
            <a:off x="539496" y="1783080"/>
            <a:ext cx="3877056" cy="27706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One container, several volumes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Volumes share the container's free space instead of owning a partition, unlike Session 2's volumes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System and Data</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System is sealed and signed; Data at /private/var holds the user's files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Protection classes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Each file's key is available always, after first unlock, or only while unlocked</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App containers</a:t>
            </a:r>
            <a:endParaRPr lang="en-US" sz="1500" dirty="0"/>
          </a:p>
        </p:txBody>
      </p:sp>
      <p:sp>
        <p:nvSpPr>
          <p:cNvPr id="12" name="Shape 10"/>
          <p:cNvSpPr/>
          <p:nvPr/>
        </p:nvSpPr>
        <p:spPr>
          <a:xfrm>
            <a:off x="4645152" y="1728216"/>
            <a:ext cx="4133088" cy="288036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7706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Named by a generated ID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Data/Application/4F1C2E9A-7B3D-... says nothing about the app</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 metadata file inside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Holds the bundle identifier; iLEAPP reads it for every container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True for this extraction only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reinstall gives new IDs and removes the old data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How apps keep their records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206240" cy="2834640"/>
          </a:xfrm>
          <a:prstGeom prst="rect">
            <a:avLst/>
          </a:prstGeom>
          <a:solidFill>
            <a:srgbClr val="DCE6DE"/>
          </a:solidFill>
          <a:ln/>
        </p:spPr>
      </p:sp>
      <p:sp>
        <p:nvSpPr>
          <p:cNvPr id="7" name="Text 5"/>
          <p:cNvSpPr/>
          <p:nvPr/>
        </p:nvSpPr>
        <p:spPr>
          <a:xfrm>
            <a:off x="502920" y="1325880"/>
            <a:ext cx="4023360" cy="283464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SQLite database: tables of rows in one file, with its -journal or -wal and -shm companions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Property list: Apple's settings format, XML or binary (bplist00)</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Shared preferences: an Android app's XML settings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Named only today: protobuf, LevelDB, Realm, JSON</a:t>
            </a:r>
            <a:endParaRPr lang="en-US" sz="1300" dirty="0"/>
          </a:p>
        </p:txBody>
      </p:sp>
      <p:sp>
        <p:nvSpPr>
          <p:cNvPr id="8" name="Shape 6"/>
          <p:cNvSpPr/>
          <p:nvPr/>
        </p:nvSpPr>
        <p:spPr>
          <a:xfrm>
            <a:off x="4800600" y="1325880"/>
            <a:ext cx="3931920" cy="1097280"/>
          </a:xfrm>
          <a:prstGeom prst="rect">
            <a:avLst/>
          </a:prstGeom>
          <a:solidFill>
            <a:srgbClr val="FFFFFF"/>
          </a:solidFill>
          <a:ln w="9525">
            <a:solidFill>
              <a:srgbClr val="CBD6CE"/>
            </a:solidFill>
            <a:prstDash val="solid"/>
          </a:ln>
        </p:spPr>
      </p:sp>
      <p:sp>
        <p:nvSpPr>
          <p:cNvPr id="9" name="Text 7"/>
          <p:cNvSpPr/>
          <p:nvPr/>
        </p:nvSpPr>
        <p:spPr>
          <a:xfrm>
            <a:off x="4892040" y="1325880"/>
            <a:ext cx="3749040" cy="109728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&lt;string name="identity"&gt;T4UFS63T&lt;/string&gt;</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&lt;string name="nickname"&gt;Liz D&lt;/string&gt;</a:t>
            </a:r>
            <a:endParaRPr lang="en-US" sz="1100" dirty="0"/>
          </a:p>
        </p:txBody>
      </p:sp>
      <p:sp>
        <p:nvSpPr>
          <p:cNvPr id="10" name="Text 8"/>
          <p:cNvSpPr/>
          <p:nvPr/>
        </p:nvSpPr>
        <p:spPr>
          <a:xfrm>
            <a:off x="4800600" y="2514600"/>
            <a:ext cx="3931920" cy="731520"/>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Threema's shared preferences on the test phone: the file names its values.</a:t>
            </a:r>
            <a:endParaRPr lang="en-US" sz="1300" dirty="0"/>
          </a:p>
        </p:txBody>
      </p:sp>
      <p:sp>
        <p:nvSpPr>
          <p:cNvPr id="11" name="Text 9"/>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6. Copy a database with its companions. Session 16 opens the database itself.</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Artefacts and their clocks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828800"/>
                <a:gridCol w="3291840"/>
                <a:gridCol w="3200400"/>
              </a:tblGrid>
              <a:tr h="43891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see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It is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On the test phone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13 digits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Milliseconds since 1970, 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Private Photo Vault last_update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17 digits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Microseconds since 1601, UTC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Opera's History (Chromium)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About 9 digits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Seconds since 2001, UTC (Apple)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Common on iPhones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Text with an offset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Local time, offset written in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Private Photo Vault creation_date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Text, no zone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Whatever the app wrote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Calculator vault: 04-02-2024</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7: questions, typical sources and clocks for messages, calls, contacts, locations, usage, accounts, Wi-Fi, photos.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From the screen to the row</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2377440"/>
          </a:xfrm>
          <a:prstGeom prst="rect">
            <a:avLst/>
          </a:prstGeom>
          <a:solidFill>
            <a:srgbClr val="FFFFFF"/>
          </a:solidFill>
          <a:ln w="9525">
            <a:solidFill>
              <a:srgbClr val="CBD6CE"/>
            </a:solidFill>
            <a:prstDash val="solid"/>
          </a:ln>
        </p:spPr>
      </p:sp>
      <p:sp>
        <p:nvSpPr>
          <p:cNvPr id="7" name="Text 5"/>
          <p:cNvSpPr/>
          <p:nvPr/>
        </p:nvSpPr>
        <p:spPr>
          <a:xfrm>
            <a:off x="502920" y="1325880"/>
            <a:ext cx="8138160" cy="237744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Screen:  mlb.com typed in Opera, 16:12 EDT (UTC-4), 13 July 2024</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File:    Dump/data/data/com.opera.browser/app_opera/History</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Row:     urls id 1  typed_count 1  last_visit_time 13365375162964931</a:t>
            </a:r>
            <a:endParaRPr lang="en-US" sz="1100" dirty="0"/>
          </a:p>
          <a:p>
            <a:pPr algn="l" indent="0" marL="0">
              <a:buNone/>
            </a:pP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13365375162964931 / 1,000,000 = 13365375162.964931 s since 1601</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- 11644473600 = 1720901562.964931 s since 1970</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 2024-07-13 20:12:42 UTC   (16:12 at UTC-4 = 20:12 UTC: agrees)</a:t>
            </a:r>
            <a:endParaRPr lang="en-US" sz="11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Demo S15-D4. In the lab, Part F: run this conversion yourself in DB Browser, read-only.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the extended mind</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F1E8F2"/>
          </a:solidFill>
          <a:ln/>
        </p:spPr>
      </p:sp>
      <p:sp>
        <p:nvSpPr>
          <p:cNvPr id="7" name="Shape 5"/>
          <p:cNvSpPr/>
          <p:nvPr/>
        </p:nvSpPr>
        <p:spPr>
          <a:xfrm>
            <a:off x="411480" y="1371600"/>
            <a:ext cx="82296" cy="301752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Clark and Chalmers (1998): Otto, who has a memory illness, relies on a notebook as Inga relies on her memory, so the notebook is part of how he thinks. A phone is that notebook for almost everyone.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Otto chooses what he writes. The test phone's Opera history holds 25 addresses for one afternoon: 7 pages the user opened, 18 hidden rows the pages requested by themselves. A message's read time is reported by the other phone. Much of what the phone remembers was written by apps, not by the person.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when a report says "she visited" or "she read", whose record is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463040"/>
            <a:ext cx="7680960" cy="128016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The phone is the most candid witness a person carries.</a:t>
            </a:r>
            <a:endParaRPr lang="en-US" sz="3200" dirty="0"/>
          </a:p>
        </p:txBody>
      </p:sp>
      <p:sp>
        <p:nvSpPr>
          <p:cNvPr id="6" name="Text 4"/>
          <p:cNvSpPr/>
          <p:nvPr/>
        </p:nvSpPr>
        <p:spPr>
          <a:xfrm>
            <a:off x="731520" y="2743200"/>
            <a:ext cx="7680960" cy="1280160"/>
          </a:xfrm>
          <a:prstGeom prst="rect">
            <a:avLst/>
          </a:prstGeom>
          <a:noFill/>
          <a:ln/>
        </p:spPr>
        <p:txBody>
          <a:bodyPr wrap="square" lIns="0" tIns="0" rIns="0" bIns="0" rtlCol="0" anchor="t"/>
          <a:lstStyle/>
          <a:p>
            <a:pPr indent="0" marL="0">
              <a:buNone/>
            </a:pPr>
            <a:r>
              <a:rPr lang="en-US" sz="2200" i="1" dirty="0">
                <a:solidFill>
                  <a:srgbClr val="E8F0EA"/>
                </a:solidFill>
                <a:latin typeface="Open Sans" pitchFamily="34" charset="0"/>
                <a:ea typeface="Open Sans" pitchFamily="34" charset="-122"/>
                <a:cs typeface="Open Sans" pitchFamily="34" charset="-120"/>
              </a:rPr>
              <a:t>It records more than its owner chose to remember, and much of it was written by apps, not by the person.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report line is a claim</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Three ways a parser misleads</a:t>
            </a:r>
            <a:endParaRPr lang="en-US" sz="1500" dirty="0"/>
          </a:p>
        </p:txBody>
      </p:sp>
      <p:sp>
        <p:nvSpPr>
          <p:cNvPr id="8" name="Shape 6"/>
          <p:cNvSpPr/>
          <p:nvPr/>
        </p:nvSpPr>
        <p:spPr>
          <a:xfrm>
            <a:off x="411480" y="1728216"/>
            <a:ext cx="4133088" cy="2880360"/>
          </a:xfrm>
          <a:prstGeom prst="rect">
            <a:avLst/>
          </a:prstGeom>
          <a:solidFill>
            <a:srgbClr val="FFFFFF"/>
          </a:solidFill>
          <a:ln w="9525">
            <a:solidFill>
              <a:srgbClr val="CBD6CE"/>
            </a:solidFill>
            <a:prstDash val="solid"/>
          </a:ln>
        </p:spPr>
      </p:sp>
      <p:sp>
        <p:nvSpPr>
          <p:cNvPr id="9" name="Text 7"/>
          <p:cNvSpPr/>
          <p:nvPr/>
        </p:nvSpPr>
        <p:spPr>
          <a:xfrm>
            <a:off x="539496" y="1783080"/>
            <a:ext cx="3877056" cy="27706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It adds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Calculator note: report 2024-02-04 00:00:00 UTC; source text 04-02-2024, no time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It misses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new app version, an unknown app: no section is not no data</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It labels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Session 14: Internet Explorer rows shown as Microsoft Edge</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Checking one line</a:t>
            </a:r>
            <a:endParaRPr lang="en-US" sz="1500" dirty="0"/>
          </a:p>
        </p:txBody>
      </p:sp>
      <p:sp>
        <p:nvSpPr>
          <p:cNvPr id="12" name="Shape 10"/>
          <p:cNvSpPr/>
          <p:nvPr/>
        </p:nvSpPr>
        <p:spPr>
          <a:xfrm>
            <a:off x="4645152" y="1728216"/>
            <a:ext cx="4133088" cy="288036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7706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Find and copy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'located at' file, with companions; hash the copy</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Open read-only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Find the row; read the raw value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Convert and compare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Your clock, your conversion; no more, no less than the source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The lab: examine the test phone's extraction</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900"/>
              </a:spcAft>
              <a:buNone/>
            </a:pPr>
            <a:r>
              <a:rPr lang="en-US" sz="1800" b="1" dirty="0">
                <a:solidFill>
                  <a:srgbClr val="FFFFFF"/>
                </a:solidFill>
                <a:latin typeface="Open Sans" pitchFamily="34" charset="0"/>
                <a:ea typeface="Open Sans" pitchFamily="34" charset="-122"/>
                <a:cs typeface="Open Sans" pitchFamily="34" charset="-120"/>
              </a:rPr>
              <a:t>Three rules</a:t>
            </a:r>
            <a:endParaRPr lang="en-US" sz="1400" dirty="0"/>
          </a:p>
          <a:p>
            <a:pPr indent="0" marL="0">
              <a:spcAft>
                <a:spcPts val="900"/>
              </a:spcAft>
              <a:buNone/>
            </a:pPr>
            <a:r>
              <a:rPr lang="en-US" sz="1400" b="1" dirty="0">
                <a:solidFill>
                  <a:srgbClr val="FFFFFF"/>
                </a:solidFill>
                <a:latin typeface="Open Sans" pitchFamily="34" charset="0"/>
                <a:ea typeface="Open Sans" pitchFamily="34" charset="-122"/>
                <a:cs typeface="Open Sans" pitchFamily="34" charset="-120"/>
              </a:rPr>
              <a:t>The subset is read only: hash every copy</a:t>
            </a:r>
            <a:endParaRPr lang="en-US" sz="1400" dirty="0"/>
          </a:p>
          <a:p>
            <a:pPr indent="0" marL="0">
              <a:spcAft>
                <a:spcPts val="900"/>
              </a:spcAft>
              <a:buNone/>
            </a:pPr>
            <a:r>
              <a:rPr lang="en-US" sz="1400" b="1" dirty="0">
                <a:solidFill>
                  <a:srgbClr val="FFFFFF"/>
                </a:solidFill>
                <a:latin typeface="Open Sans" pitchFamily="34" charset="0"/>
                <a:ea typeface="Open Sans" pitchFamily="34" charset="-122"/>
                <a:cs typeface="Open Sans" pitchFamily="34" charset="-120"/>
              </a:rPr>
              <a:t>Never contact anything from the evidence</a:t>
            </a:r>
            <a:endParaRPr lang="en-US" sz="1400" dirty="0"/>
          </a:p>
          <a:p>
            <a:pPr indent="0" marL="0">
              <a:spcAft>
                <a:spcPts val="900"/>
              </a:spcAft>
              <a:buNone/>
            </a:pPr>
            <a:r>
              <a:rPr lang="en-US" sz="1400" b="1" dirty="0">
                <a:solidFill>
                  <a:srgbClr val="FFFFFF"/>
                </a:solidFill>
                <a:latin typeface="Open Sans" pitchFamily="34" charset="0"/>
                <a:ea typeface="Open Sans" pitchFamily="34" charset="-122"/>
                <a:cs typeface="Open Sans" pitchFamily="34" charset="-120"/>
              </a:rPr>
              <a:t>Write only what the question needs</a:t>
            </a:r>
            <a:endParaRPr lang="en-US" sz="14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A  Verify the subset; record its kind</a:t>
            </a:r>
            <a:endParaRPr lang="en-US" sz="1300" dirty="0"/>
          </a:p>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B  Start ALEAPP early</a:t>
            </a:r>
            <a:endParaRPr lang="en-US" sz="1300" dirty="0"/>
          </a:p>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C  The layout: partition, sandboxes</a:t>
            </a:r>
            <a:endParaRPr lang="en-US" sz="1300" dirty="0"/>
          </a:p>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D  Read the report</a:t>
            </a:r>
            <a:endParaRPr lang="en-US" sz="1300" dirty="0"/>
          </a:p>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E  Six questions, each with file and clock</a:t>
            </a:r>
            <a:endParaRPr lang="en-US" sz="1300" dirty="0"/>
          </a:p>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F  Check two lines in their sources</a:t>
            </a:r>
            <a:endParaRPr lang="en-US" sz="1300" dirty="0"/>
          </a:p>
          <a:p>
            <a:pPr indent="0" marL="0">
              <a:spcAft>
                <a:spcPts val="600"/>
              </a:spcAft>
              <a:buNone/>
            </a:pPr>
            <a:r>
              <a:rPr lang="en-US" sz="1300" b="1" dirty="0">
                <a:solidFill>
                  <a:srgbClr val="FFFFFF"/>
                </a:solidFill>
                <a:latin typeface="Open Sans" pitchFamily="34" charset="0"/>
                <a:ea typeface="Open Sans" pitchFamily="34" charset="-122"/>
                <a:cs typeface="Open Sans" pitchFamily="34" charset="-120"/>
              </a:rPr>
              <a:t>G  Findings with confidence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700" b="1" dirty="0">
                <a:solidFill>
                  <a:srgbClr val="31423B"/>
                </a:solidFill>
                <a:latin typeface="Open Sans" pitchFamily="34" charset="0"/>
                <a:ea typeface="Open Sans" pitchFamily="34" charset="-122"/>
                <a:cs typeface="Open Sans" pitchFamily="34" charset="-120"/>
              </a:rPr>
              <a:t>A report says: "She read the message at 15:13 UTC." The time comes from the message's read column, reported back by the other phone. Rewrite the sentence, and say what you would need before writing "she read".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Record the kind of extraction and the device state</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Name the app by its package name or bundle identifier</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Every time with its file and its clock</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A report line is a claim: check it in the source</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Session 16, inside the database, and the report's second pass.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S15 - Mobile Forensics: File Systems and Examination</dc:title>
  <dc:subject>PptxGenJS Presentation</dc:subject>
  <dc:creator>Niranga Dharmaratna</dc:creator>
  <cp:lastModifiedBy>Niranga Dharmaratna</cp:lastModifiedBy>
  <cp:revision>1</cp:revision>
  <dcterms:created xsi:type="dcterms:W3CDTF">2026-10-15T20:04:14Z</dcterms:created>
  <dcterms:modified xsi:type="dcterms:W3CDTF">2026-10-15T20:04:14Z</dcterms:modified>
</cp:coreProperties>
</file>