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7 opens Day 4. The page on the portal is the content master: every slide points to a section of it. This is the first class of the day, so there is no quiz at the end: the day's quiz closes Session 8. Before the concept part, ask students to copy folder S07 and the Tools folder from the lab share: together they need less than 1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LO2 and LO5. The lab checkpoint, a sheet of ten findings judged against the unit's key, feeds the coursework and the phase test. In the coursework students read cloud logs that are flow summaries in all but name: who, to where, when,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hook from the page, then the seven outcomes in short form. Link back to Session 6: memory showed one end of a network connection, a process on one computer and an address and a port on another. It told us which program was talking. It could not tell us what was said. Today we move to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once, before any concept. The NIST material for the case contains disk images and nothing from the network. A packet exists on the wire for less than a second: if nobody recorded it, it is gone. That is why the missing capture cannot be made later, and why Session 1 asked for forensic readiness. M57-Patents is from the same teaching library as the rehearsal case of Session 3. The one bridging sentence is on the slide: do not claim more than it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sections 1 and 2. A packet has addressing information at the front and, behind it, the data that the packet carries. Each layer adds its own packet header. Read from the bottom up and ask at each layer: what does this tell me, and what can it not tell me? A MAC address is used only inside one local network: beyond a router, every frame seems to come from the router. A port number is a custom, not a proof. TCP numbers its data, which is what lets a tool rebuild a transfer later. Tool of the day: Wireshark, with tshark on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of page section 2. Let the room map the four parts before you reveal the right-hand column. The page gives one more break: nobody at the post office can copy every letter without opening an envelope, and a recorder on a network does exactly that. So what: a MAC address is good for one local network, an IP address for one journey at one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S07-D1. The first question about any capture is where it was taken, and how. A mirror port is one port that must carry the copies of both directions: two directions at 600 Mbit/s each are offered to a port that sends 1,000. The switch throws the rest away and tells nobody. Each lost copy is a dropped packet. Wireshark's note 'TCP ACKed unseen segment' means the data crossed the network and only the copy is missing. A packet that is missing from a capture is not proof that it was never sent. Neither method is better in every case: the examiner records the device, the ports, the directions and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and demo S07-D3. The suspect in a network case did not send packets, he sent a file. Three jobs: pick out the conversation, put the data back in sending order, cut the file out. A display filter hides packets and deletes nothing. A stream is the data of one TCP connection, exactly as the sending program wrote it: Follow, TCP Stream. File carving is the method of Session 3 on a new source: search for the file signature. What can go wrong: one dropped packet leaves a hole, encrypted traffic gives no files, and two tools may give two names to the same content. The hash value decides, as it has since Session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S07-D2. A flow is all the packets that share five values: source address, destination address, source port, destination port and protocol. NetFlow is the format that Cisco introduced. IPFIX is the open internet standard that grew out of NetFlow version 9. Students must know both names. A classic record describes one direction, so a conversation gives two records: side by side they show whether a computer mostly received or mostly sent. The page's example: 13.8 MB out, 0.3 MB back. Who, to where, when, how much, by which protocol: that is the flow summary the checkpoint asks for. In the lab, Zeek's conn.log is a flow record made after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and demo S07-D4. The page's comparison is an armoured van watched from the street: you cannot see the cargo, you can see the depot, the stops, the times and how low it sits. The handshake begins in the clear because two programs cannot encrypt before they have agreed on keys. The server name is in the first message, the ClientHello. TLS 1.3 encrypts everything after the server's first message, and the certificate comes after it: many books are out of date here. With Encrypted Client Hello only a shared outer name is readable. The examiner writes which of these facts the capture really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Four questions do most of the work: how much, in which direction, to where, and when. An office computer mostly receives. The Conversations window of Wireshark and the two byte columns of a flow record show the shape of an upload in one look. Network times, in UTC, can be laid beside the timeline of Session 5. Keep the caution: backups and video calls are large uploads too, and people try new services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and demo S07-D5. Nearly every network lets DNS queries out, and few people read them. A program cuts a file into pieces, writes each piece as letters, and asks for a name that begins with those letters, under a domain whose name server the attacker controls. Why must every name be new? A resolver remembers answers, so a repeated name would never reach the attacker's server. That makes many unique names under one domain the most telling indicator. TXT has honest uses: mail systems read TXT records all day. In the lab the practice capture was generated by the unit with a script, under a reserved example domain, without any tunnelling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the most important idea of today. Session 14 returns to it. Walk the chain and ask at each link: what supports it, and how can it fail? Addresses are lent for a time and then given to another device. Many devices share one public address. Software can change a MAC address. Accounts are shared. The page's comparison is a number plate on a traffic camera: it shows that the car passed, not who was driving. Write 'the device that held this address at this time in UTC', and never 'the suspect'. The words 'at a time' matter as much as the word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class, at the end of page section 8. Give the gist of the film in two sentences: never assume that everyone has seen it. Name and paraphrase only: no line from the film, no still, no poster. Then the idea, then where the parallel breaks. The page adds one more break: he could listen for tone of voice, and a packet has no tone at all. The question on the slide is the one to carry into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of the class. One sentence: let the room read it. It answers the hook: the wire would have recorded a great deal, and it would still not have given the client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about two hours. Kali first, for the verification, Nitroba, the slice in Wireshark, Zeek and the DNS practice capture. Then Windows, for the second extraction with NetworkMiner. Low-spec hosts run one VM at a time. Content note: Nitroba is a made-up harassment case, and the capture contains the text of unkind messages. Recovered files are unknown files: no double-click. If Zeek cannot be installed, the unit's pre-computed logs are the fallback. Checkpoint: the findings sheet, the two hash lists, the notes and the custody record. The last row of the sheet names devices, addresses and times, and no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the chain: the router's translation table or log, the log of the service that lends addresses (DHCP), flow records, the resolver's and the proxy's logs, the inventory, the device itself with its logon records, and evidence from outside the network such as door records. Then the point about time: many of these are kept for days only. Agreement between independent sources is what strengthens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with formal references. RFC 3954 is edited by Benoit Claise alone; RFC 7011 is edited by Claise and Trammell, with Aitken. The film of the lens, The Conversation, directed by Francis Ford Coppola, 1974, is named on its own slide. The tools of the lab, Wireshark, NetworkMiner and Zeek, are named on the page with their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next, from the page. Today students read traffic by hand, one conversation at a time. That does not scale to hundreds of computers, so in Session 8 a machine does the first reading. Remind students to keep the timeline file that they saved in Session 5: they need it there. Session 8 closes Day 4 and ends with the day's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Network evidence and exfiltration</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7 - Day 4: Network 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S07 Network evidence and exfiltration</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phase test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754880" cy="1143000"/>
          </a:xfrm>
          <a:prstGeom prst="rect">
            <a:avLst/>
          </a:prstGeom>
          <a:solidFill>
            <a:srgbClr val="F1E8F2"/>
          </a:solidFill>
          <a:ln/>
        </p:spPr>
      </p:sp>
      <p:sp>
        <p:nvSpPr>
          <p:cNvPr id="7" name="Text 5"/>
          <p:cNvSpPr/>
          <p:nvPr/>
        </p:nvSpPr>
        <p:spPr>
          <a:xfrm>
            <a:off x="521208" y="1417320"/>
            <a:ext cx="4535424" cy="11430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Confidential files left our client's building. The disk showed what the suspect prepared. If the network had been watched, what would the wire have recorded, and how far would that record take us towards a name?</a:t>
            </a:r>
            <a:endParaRPr lang="en-US" sz="1300" dirty="0"/>
          </a:p>
        </p:txBody>
      </p:sp>
      <p:sp>
        <p:nvSpPr>
          <p:cNvPr id="8" name="Shape 6"/>
          <p:cNvSpPr/>
          <p:nvPr/>
        </p:nvSpPr>
        <p:spPr>
          <a:xfrm>
            <a:off x="411480" y="2651760"/>
            <a:ext cx="4754880" cy="2057400"/>
          </a:xfrm>
          <a:prstGeom prst="rect">
            <a:avLst/>
          </a:prstGeom>
          <a:solidFill>
            <a:srgbClr val="DCE6DE"/>
          </a:solidFill>
          <a:ln/>
        </p:spPr>
      </p:sp>
      <p:sp>
        <p:nvSpPr>
          <p:cNvPr id="9" name="Text 7"/>
          <p:cNvSpPr/>
          <p:nvPr/>
        </p:nvSpPr>
        <p:spPr>
          <a:xfrm>
            <a:off x="502920" y="2651760"/>
            <a:ext cx="4572000" cy="2057400"/>
          </a:xfrm>
          <a:prstGeom prst="rect">
            <a:avLst/>
          </a:prstGeom>
          <a:noFill/>
          <a:ln/>
        </p:spPr>
        <p:txBody>
          <a:bodyPr wrap="square" rtlCol="0" anchor="ctr"/>
          <a:lstStyle/>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Say what a capture holds, layer by layer</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Compare SPAN with a TAP as capture points</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Say what a flow record holds, and what it does not</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Say what TLS leaves visible</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Rebuild a stream, recover files, verify by hash value</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Spot exfiltration and DNS tunnelling</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Justify: an address is a device, not a person</a:t>
            </a:r>
            <a:endParaRPr lang="en-US" sz="12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097280"/>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Today's captures are from the unit's teaching library. Neither is the suspect's traffic.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Our case has no capture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103120"/>
          </a:xfrm>
          <a:prstGeom prst="rect">
            <a:avLst/>
          </a:prstGeom>
          <a:solidFill>
            <a:srgbClr val="DCE6DE"/>
          </a:solidFill>
          <a:ln/>
        </p:spPr>
      </p:sp>
      <p:sp>
        <p:nvSpPr>
          <p:cNvPr id="7" name="Text 5"/>
          <p:cNvSpPr/>
          <p:nvPr/>
        </p:nvSpPr>
        <p:spPr>
          <a:xfrm>
            <a:off x="502920" y="1371600"/>
            <a:ext cx="8138160" cy="210312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The client was not recording its network. Nobody can replay what the suspect's computer sent</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So today is method training, on two networks that were recorded in full</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Nitroba: a small made-up university case. The warm-up</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M57-Patents: a slice of a made-up company's traffic. The main exercise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Neither capture is the suspect's traffic</a:t>
            </a:r>
            <a:endParaRPr lang="en-US" sz="1400" dirty="0"/>
          </a:p>
        </p:txBody>
      </p:sp>
      <p:sp>
        <p:nvSpPr>
          <p:cNvPr id="8" name="Shape 6"/>
          <p:cNvSpPr/>
          <p:nvPr/>
        </p:nvSpPr>
        <p:spPr>
          <a:xfrm>
            <a:off x="411480" y="3611880"/>
            <a:ext cx="8321040" cy="1051560"/>
          </a:xfrm>
          <a:prstGeom prst="rect">
            <a:avLst/>
          </a:prstGeom>
          <a:solidFill>
            <a:srgbClr val="F1E8F2"/>
          </a:solidFill>
          <a:ln/>
        </p:spPr>
      </p:sp>
      <p:sp>
        <p:nvSpPr>
          <p:cNvPr id="9" name="Text 7"/>
          <p:cNvSpPr/>
          <p:nvPr/>
        </p:nvSpPr>
        <p:spPr>
          <a:xfrm>
            <a:off x="521208" y="3611880"/>
            <a:ext cx="8101584" cy="10515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bridge to the case: the suspect's own channels, email and a personal cloud storage service, are the kind of traffic that this session teaches you to find. Session 14 examines them from his disk.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a capture holds, layer by layer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188720"/>
                <a:gridCol w="2194560"/>
                <a:gridCol w="2651760"/>
                <a:gridCol w="228600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Layer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capture shows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 can tell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 cannot tell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Data link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Frames, two MAC addresses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adapter sent the frame on this local 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Anything beyond the nearest router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IP addresses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two ends of the journey, as numbered at that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physical device held the 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Transport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ports, TCP or UDP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likely service, and how much went which way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program really sent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Application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protocol and, if not encrypted, the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was said, which files were sent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purpose. A person or a program?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840480"/>
            <a:ext cx="8321040" cy="822960"/>
          </a:xfrm>
          <a:prstGeom prst="rect">
            <a:avLst/>
          </a:prstGeom>
          <a:solidFill>
            <a:srgbClr val="F1E8F2"/>
          </a:solidFill>
          <a:ln/>
        </p:spPr>
      </p:sp>
      <p:sp>
        <p:nvSpPr>
          <p:cNvPr id="8" name="Text 5"/>
          <p:cNvSpPr/>
          <p:nvPr/>
        </p:nvSpPr>
        <p:spPr>
          <a:xfrm>
            <a:off x="521208" y="3840480"/>
            <a:ext cx="8101584" cy="8229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Each layer answers one question and no more. A packet capture holds every packet that passed one point, with its time. It is silent about everything else.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letter, an envelope, a courier's bag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3657600"/>
                <a:gridCol w="466344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 the post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On the 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letter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data that the packet carries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postal addresses on the envelope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IP addresses: the same for the whole journey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"For the accounts office"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port: who in the building should get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courier's bag, for one stage 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frame, with its MAC addresses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108960"/>
            <a:ext cx="8321040" cy="1554480"/>
          </a:xfrm>
          <a:prstGeom prst="rect">
            <a:avLst/>
          </a:prstGeom>
          <a:solidFill>
            <a:srgbClr val="E8F0EA"/>
          </a:solidFill>
          <a:ln/>
        </p:spPr>
      </p:sp>
      <p:sp>
        <p:nvSpPr>
          <p:cNvPr id="8" name="Shape 5"/>
          <p:cNvSpPr/>
          <p:nvPr/>
        </p:nvSpPr>
        <p:spPr>
          <a:xfrm>
            <a:off x="411480" y="3108960"/>
            <a:ext cx="82296" cy="1554480"/>
          </a:xfrm>
          <a:prstGeom prst="rect">
            <a:avLst/>
          </a:prstGeom>
          <a:solidFill>
            <a:srgbClr val="6E8472"/>
          </a:solidFill>
          <a:ln/>
        </p:spPr>
      </p:sp>
      <p:sp>
        <p:nvSpPr>
          <p:cNvPr id="9" name="Text 6"/>
          <p:cNvSpPr/>
          <p:nvPr/>
        </p:nvSpPr>
        <p:spPr>
          <a:xfrm>
            <a:off x="621792" y="318211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438144"/>
            <a:ext cx="7955280" cy="11521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packet is like a letter inside an envelope inside a courier's bag. The bag's label names only this depot and the next.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router may rewrite the sender's address on the envelope itself, so a whole office appears under one shared address. And a file is thousands of packets, not one letter.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before you write down an address, ask which layer it belongs to and where the capture was taken.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the capture was taken: SPAN and TAP</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Port mirroring (SPAN)</a:t>
            </a:r>
            <a:endParaRPr lang="en-US" sz="1500" dirty="0"/>
          </a:p>
        </p:txBody>
      </p:sp>
      <p:sp>
        <p:nvSpPr>
          <p:cNvPr id="8" name="Shape 6"/>
          <p:cNvSpPr/>
          <p:nvPr/>
        </p:nvSpPr>
        <p:spPr>
          <a:xfrm>
            <a:off x="411480" y="1773936"/>
            <a:ext cx="4133088" cy="1965960"/>
          </a:xfrm>
          <a:prstGeom prst="rect">
            <a:avLst/>
          </a:prstGeom>
          <a:solidFill>
            <a:srgbClr val="FFFFFF"/>
          </a:solidFill>
          <a:ln w="9525">
            <a:solidFill>
              <a:srgbClr val="CBD6CE"/>
            </a:solidFill>
            <a:prstDash val="solid"/>
          </a:ln>
        </p:spPr>
      </p:sp>
      <p:sp>
        <p:nvSpPr>
          <p:cNvPr id="9" name="Text 7"/>
          <p:cNvSpPr/>
          <p:nvPr/>
        </p:nvSpPr>
        <p:spPr>
          <a:xfrm>
            <a:off x="539496" y="1828800"/>
            <a:ext cx="3877056" cy="18562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What it is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function of a switch that is already there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Under heavy load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Drops copies silently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Wrong set-up</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Easy: wrong port, one direction only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Typical use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quick or short-term capture</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Network TAP</a:t>
            </a:r>
            <a:endParaRPr lang="en-US" sz="1500" dirty="0"/>
          </a:p>
        </p:txBody>
      </p:sp>
      <p:sp>
        <p:nvSpPr>
          <p:cNvPr id="12" name="Shape 10"/>
          <p:cNvSpPr/>
          <p:nvPr/>
        </p:nvSpPr>
        <p:spPr>
          <a:xfrm>
            <a:off x="4645152" y="1773936"/>
            <a:ext cx="4133088" cy="196596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18562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What it is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separate device placed in the cable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Under heavy load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Keeps every frame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Wrong set-up</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Hardly: it copies what is on the cable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Typical use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permanent capture point on an important link</a:t>
            </a:r>
            <a:endParaRPr lang="en-US" sz="1300" dirty="0"/>
          </a:p>
        </p:txBody>
      </p:sp>
      <p:sp>
        <p:nvSpPr>
          <p:cNvPr id="14" name="Shape 12"/>
          <p:cNvSpPr/>
          <p:nvPr/>
        </p:nvSpPr>
        <p:spPr>
          <a:xfrm>
            <a:off x="411480" y="3867912"/>
            <a:ext cx="8321040" cy="795528"/>
          </a:xfrm>
          <a:prstGeom prst="rect">
            <a:avLst/>
          </a:prstGeom>
          <a:solidFill>
            <a:srgbClr val="F1E8F2"/>
          </a:solidFill>
          <a:ln/>
        </p:spPr>
      </p:sp>
      <p:sp>
        <p:nvSpPr>
          <p:cNvPr id="15" name="Text 13"/>
          <p:cNvSpPr/>
          <p:nvPr/>
        </p:nvSpPr>
        <p:spPr>
          <a:xfrm>
            <a:off x="521208" y="3867912"/>
            <a:ext cx="8101584" cy="795528"/>
          </a:xfrm>
          <a:prstGeom prst="rect">
            <a:avLst/>
          </a:prstGeom>
          <a:noFill/>
          <a:ln/>
        </p:spPr>
        <p:txBody>
          <a:bodyPr wrap="square"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A capture is only as complete as its capture point. Write down which was used.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From packets to a file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240280"/>
          </a:xfrm>
          <a:prstGeom prst="rect">
            <a:avLst/>
          </a:prstGeom>
          <a:solidFill>
            <a:srgbClr val="DCE6DE"/>
          </a:solidFill>
          <a:ln/>
        </p:spPr>
      </p:sp>
      <p:sp>
        <p:nvSpPr>
          <p:cNvPr id="7" name="Text 5"/>
          <p:cNvSpPr/>
          <p:nvPr/>
        </p:nvSpPr>
        <p:spPr>
          <a:xfrm>
            <a:off x="502920" y="1371600"/>
            <a:ext cx="8138160" cy="224028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Pick out the conversation: all traffic between two endpoints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Reassembly: sort by TCP's numbering, join the data into a stream</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Wireshark Export Objects: HTTP, IMF, SMB, FTP-DATA, TFTP, DICOM</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NetworkMiner: rebuilds the files of the protocols it knows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Neither knows the protocol? File carving from the stream</a:t>
            </a:r>
            <a:endParaRPr lang="en-US" sz="1400" dirty="0"/>
          </a:p>
        </p:txBody>
      </p:sp>
      <p:sp>
        <p:nvSpPr>
          <p:cNvPr id="8" name="Shape 6"/>
          <p:cNvSpPr/>
          <p:nvPr/>
        </p:nvSpPr>
        <p:spPr>
          <a:xfrm>
            <a:off x="411480" y="3749040"/>
            <a:ext cx="8321040" cy="914400"/>
          </a:xfrm>
          <a:prstGeom prst="rect">
            <a:avLst/>
          </a:prstGeom>
          <a:solidFill>
            <a:srgbClr val="F1E8F2"/>
          </a:solidFill>
          <a:ln/>
        </p:spPr>
      </p:sp>
      <p:sp>
        <p:nvSpPr>
          <p:cNvPr id="9" name="Text 7"/>
          <p:cNvSpPr/>
          <p:nvPr/>
        </p:nvSpPr>
        <p:spPr>
          <a:xfrm>
            <a:off x="521208" y="3749040"/>
            <a:ext cx="8101584" cy="91440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Then hash it. A recovered file is a new item that you created. Two tools, one capture, the same file: the two hash values must be equal.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Flow records: NetFlow and IPFIX</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3931920"/>
                <a:gridCol w="4389120"/>
              </a:tblGrid>
              <a:tr h="30175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 flow record holds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 flow record does not hold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01752">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Source and destination IP address and port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Any content: no file, no message, no web 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protocol, such as TCP or UDP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size or time of any single packet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01752">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time of the first and the last packet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Names of users or programs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number of packets and of bytes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flow that did not pass the device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017520"/>
            <a:ext cx="8321040" cy="1645920"/>
          </a:xfrm>
          <a:prstGeom prst="rect">
            <a:avLst/>
          </a:prstGeom>
          <a:solidFill>
            <a:srgbClr val="E8F0EA"/>
          </a:solidFill>
          <a:ln/>
        </p:spPr>
      </p:sp>
      <p:sp>
        <p:nvSpPr>
          <p:cNvPr id="8" name="Shape 5"/>
          <p:cNvSpPr/>
          <p:nvPr/>
        </p:nvSpPr>
        <p:spPr>
          <a:xfrm>
            <a:off x="411480" y="3017520"/>
            <a:ext cx="82296" cy="1645920"/>
          </a:xfrm>
          <a:prstGeom prst="rect">
            <a:avLst/>
          </a:prstGeom>
          <a:solidFill>
            <a:srgbClr val="6E8472"/>
          </a:solidFill>
          <a:ln/>
        </p:spPr>
      </p:sp>
      <p:sp>
        <p:nvSpPr>
          <p:cNvPr id="9" name="Text 6"/>
          <p:cNvSpPr/>
          <p:nvPr/>
        </p:nvSpPr>
        <p:spPr>
          <a:xfrm>
            <a:off x="621792" y="309067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346704"/>
            <a:ext cx="7955280" cy="12435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One line of an itemised phone bill: the two numbers, the start time, the length of the call. Not one spoken word. Small enough to keep for years.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phone number stays with a named person. An IP address is lent to a device and may be lent to another tomorrow. A busy router may look at one packet in a hundred.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flow records show that a device sent much data to an address at a time. They never show what the data was.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TLS leaves visible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743200"/>
                <a:gridCol w="1463040"/>
                <a:gridCol w="1463040"/>
                <a:gridCol w="265176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an observer wants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TLS 1.2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TLS 1.3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TLS 1.3 with Encrypted Client Hello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server name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Hidden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server's certificate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Destination, sizes, timing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74720"/>
            <a:ext cx="8321040" cy="1188720"/>
          </a:xfrm>
          <a:prstGeom prst="rect">
            <a:avLst/>
          </a:prstGeom>
          <a:solidFill>
            <a:srgbClr val="F1E8F2"/>
          </a:solidFill>
          <a:ln/>
        </p:spPr>
      </p:sp>
      <p:sp>
        <p:nvSpPr>
          <p:cNvPr id="8" name="Text 5"/>
          <p:cNvSpPr/>
          <p:nvPr/>
        </p:nvSpPr>
        <p:spPr>
          <a:xfrm>
            <a:off x="521208" y="3474720"/>
            <a:ext cx="8101584" cy="118872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Encryption hides the content, not the fact of the conversation. Do not stop at "it is encrypted": record the server name if the capture has one, the address, the times and the amounts. Then say plainly that the content is unknown.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Spotting exfiltration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103120"/>
          </a:xfrm>
          <a:prstGeom prst="rect">
            <a:avLst/>
          </a:prstGeom>
          <a:solidFill>
            <a:srgbClr val="DCE6DE"/>
          </a:solidFill>
          <a:ln/>
        </p:spPr>
      </p:sp>
      <p:sp>
        <p:nvSpPr>
          <p:cNvPr id="7" name="Text 5"/>
          <p:cNvSpPr/>
          <p:nvPr/>
        </p:nvSpPr>
        <p:spPr>
          <a:xfrm>
            <a:off x="502920" y="1371600"/>
            <a:ext cx="8138160" cy="210312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Volume and direction: a workstation that sends much and receives little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Unusual destinations: an address nobody in the office contacted before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Unusual times: a large upload at three in the morning</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 protocol that does not fit: a name lookup far larger than it needs to be</a:t>
            </a:r>
            <a:endParaRPr lang="en-US" sz="1400" dirty="0"/>
          </a:p>
        </p:txBody>
      </p:sp>
      <p:sp>
        <p:nvSpPr>
          <p:cNvPr id="8" name="Shape 6"/>
          <p:cNvSpPr/>
          <p:nvPr/>
        </p:nvSpPr>
        <p:spPr>
          <a:xfrm>
            <a:off x="411480" y="3611880"/>
            <a:ext cx="8321040" cy="1051560"/>
          </a:xfrm>
          <a:prstGeom prst="rect">
            <a:avLst/>
          </a:prstGeom>
          <a:solidFill>
            <a:srgbClr val="F1E8F2"/>
          </a:solidFill>
          <a:ln/>
        </p:spPr>
      </p:sp>
      <p:sp>
        <p:nvSpPr>
          <p:cNvPr id="9" name="Text 7"/>
          <p:cNvSpPr/>
          <p:nvPr/>
        </p:nvSpPr>
        <p:spPr>
          <a:xfrm>
            <a:off x="521208" y="3611880"/>
            <a:ext cx="8101584" cy="10515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Exfiltration uses the same protocols as honest work. Look for traffic that does not fit the normal life of that device and that office. Each sign is a question. None is proof.</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DNS tunnelling: the indicators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743200"/>
                <a:gridCol w="2651760"/>
                <a:gridCol w="292608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Indicator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Normal lookups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Tunnelling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labels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Short and readable: www, mail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Long, with high entropy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Unique names under one domain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Few, asked again and again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Hundreds or thousands, each asked once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Record types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Mostly A and AAAA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Unusual types such as TXT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 bursts, when a person acts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Steady, like a clock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74720"/>
            <a:ext cx="8321040" cy="1188720"/>
          </a:xfrm>
          <a:prstGeom prst="rect">
            <a:avLst/>
          </a:prstGeom>
          <a:solidFill>
            <a:srgbClr val="F1E8F2"/>
          </a:solidFill>
          <a:ln/>
        </p:spPr>
      </p:sp>
      <p:sp>
        <p:nvSpPr>
          <p:cNvPr id="8" name="Text 5"/>
          <p:cNvSpPr/>
          <p:nvPr/>
        </p:nvSpPr>
        <p:spPr>
          <a:xfrm>
            <a:off x="521208" y="3474720"/>
            <a:ext cx="8101584" cy="11887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One indicator is a question. Several together are a pattern. The report describes the pattern with its numbers. It does not say what was sent.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Attribution: a chain, link by link</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548640" y="1673352"/>
            <a:ext cx="8046720" cy="36576"/>
          </a:xfrm>
          <a:prstGeom prst="rect">
            <a:avLst/>
          </a:prstGeom>
          <a:solidFill>
            <a:srgbClr val="6E8472"/>
          </a:solidFill>
          <a:ln/>
        </p:spPr>
      </p:sp>
      <p:sp>
        <p:nvSpPr>
          <p:cNvPr id="7" name="Shape 5"/>
          <p:cNvSpPr/>
          <p:nvPr/>
        </p:nvSpPr>
        <p:spPr>
          <a:xfrm>
            <a:off x="411480" y="1371600"/>
            <a:ext cx="1097280" cy="640080"/>
          </a:xfrm>
          <a:prstGeom prst="rect">
            <a:avLst/>
          </a:prstGeom>
          <a:solidFill>
            <a:srgbClr val="DCE6DE"/>
          </a:solidFill>
          <a:ln w="9525">
            <a:solidFill>
              <a:srgbClr val="6E8472"/>
            </a:solidFill>
            <a:prstDash val="solid"/>
          </a:ln>
        </p:spPr>
      </p:sp>
      <p:sp>
        <p:nvSpPr>
          <p:cNvPr id="8" name="Text 6"/>
          <p:cNvSpPr/>
          <p:nvPr/>
        </p:nvSpPr>
        <p:spPr>
          <a:xfrm>
            <a:off x="41148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Packets</a:t>
            </a:r>
            <a:endParaRPr lang="en-US" sz="1300" dirty="0"/>
          </a:p>
        </p:txBody>
      </p:sp>
      <p:sp>
        <p:nvSpPr>
          <p:cNvPr id="9" name="Shape 7"/>
          <p:cNvSpPr/>
          <p:nvPr/>
        </p:nvSpPr>
        <p:spPr>
          <a:xfrm>
            <a:off x="1600200" y="1371600"/>
            <a:ext cx="1097280" cy="640080"/>
          </a:xfrm>
          <a:prstGeom prst="rect">
            <a:avLst/>
          </a:prstGeom>
          <a:solidFill>
            <a:srgbClr val="DCE6DE"/>
          </a:solidFill>
          <a:ln w="9525">
            <a:solidFill>
              <a:srgbClr val="6E8472"/>
            </a:solidFill>
            <a:prstDash val="solid"/>
          </a:ln>
        </p:spPr>
      </p:sp>
      <p:sp>
        <p:nvSpPr>
          <p:cNvPr id="10" name="Text 8"/>
          <p:cNvSpPr/>
          <p:nvPr/>
        </p:nvSpPr>
        <p:spPr>
          <a:xfrm>
            <a:off x="160020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IP address</a:t>
            </a:r>
            <a:endParaRPr lang="en-US" sz="1300" dirty="0"/>
          </a:p>
        </p:txBody>
      </p:sp>
      <p:sp>
        <p:nvSpPr>
          <p:cNvPr id="11" name="Shape 9"/>
          <p:cNvSpPr/>
          <p:nvPr/>
        </p:nvSpPr>
        <p:spPr>
          <a:xfrm>
            <a:off x="2788920" y="1371600"/>
            <a:ext cx="1097280" cy="640080"/>
          </a:xfrm>
          <a:prstGeom prst="rect">
            <a:avLst/>
          </a:prstGeom>
          <a:solidFill>
            <a:srgbClr val="DCE6DE"/>
          </a:solidFill>
          <a:ln w="9525">
            <a:solidFill>
              <a:srgbClr val="6E8472"/>
            </a:solidFill>
            <a:prstDash val="solid"/>
          </a:ln>
        </p:spPr>
      </p:sp>
      <p:sp>
        <p:nvSpPr>
          <p:cNvPr id="12" name="Text 10"/>
          <p:cNvSpPr/>
          <p:nvPr/>
        </p:nvSpPr>
        <p:spPr>
          <a:xfrm>
            <a:off x="278892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Device inside</a:t>
            </a:r>
            <a:endParaRPr lang="en-US" sz="1300" dirty="0"/>
          </a:p>
        </p:txBody>
      </p:sp>
      <p:sp>
        <p:nvSpPr>
          <p:cNvPr id="13" name="Shape 11"/>
          <p:cNvSpPr/>
          <p:nvPr/>
        </p:nvSpPr>
        <p:spPr>
          <a:xfrm>
            <a:off x="3977640" y="1371600"/>
            <a:ext cx="1097280" cy="640080"/>
          </a:xfrm>
          <a:prstGeom prst="rect">
            <a:avLst/>
          </a:prstGeom>
          <a:solidFill>
            <a:srgbClr val="DCE6DE"/>
          </a:solidFill>
          <a:ln w="9525">
            <a:solidFill>
              <a:srgbClr val="6E8472"/>
            </a:solidFill>
            <a:prstDash val="solid"/>
          </a:ln>
        </p:spPr>
      </p:sp>
      <p:sp>
        <p:nvSpPr>
          <p:cNvPr id="14" name="Text 12"/>
          <p:cNvSpPr/>
          <p:nvPr/>
        </p:nvSpPr>
        <p:spPr>
          <a:xfrm>
            <a:off x="397764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MAC address</a:t>
            </a:r>
            <a:endParaRPr lang="en-US" sz="1300" dirty="0"/>
          </a:p>
        </p:txBody>
      </p:sp>
      <p:sp>
        <p:nvSpPr>
          <p:cNvPr id="15" name="Shape 13"/>
          <p:cNvSpPr/>
          <p:nvPr/>
        </p:nvSpPr>
        <p:spPr>
          <a:xfrm>
            <a:off x="5166360" y="1371600"/>
            <a:ext cx="1097280" cy="640080"/>
          </a:xfrm>
          <a:prstGeom prst="rect">
            <a:avLst/>
          </a:prstGeom>
          <a:solidFill>
            <a:srgbClr val="DCE6DE"/>
          </a:solidFill>
          <a:ln w="9525">
            <a:solidFill>
              <a:srgbClr val="6E8472"/>
            </a:solidFill>
            <a:prstDash val="solid"/>
          </a:ln>
        </p:spPr>
      </p:sp>
      <p:sp>
        <p:nvSpPr>
          <p:cNvPr id="16" name="Text 14"/>
          <p:cNvSpPr/>
          <p:nvPr/>
        </p:nvSpPr>
        <p:spPr>
          <a:xfrm>
            <a:off x="516636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Physical device</a:t>
            </a:r>
            <a:endParaRPr lang="en-US" sz="1300" dirty="0"/>
          </a:p>
        </p:txBody>
      </p:sp>
      <p:sp>
        <p:nvSpPr>
          <p:cNvPr id="17" name="Shape 15"/>
          <p:cNvSpPr/>
          <p:nvPr/>
        </p:nvSpPr>
        <p:spPr>
          <a:xfrm>
            <a:off x="6355080" y="1371600"/>
            <a:ext cx="1097280" cy="640080"/>
          </a:xfrm>
          <a:prstGeom prst="rect">
            <a:avLst/>
          </a:prstGeom>
          <a:solidFill>
            <a:srgbClr val="DCE6DE"/>
          </a:solidFill>
          <a:ln w="9525">
            <a:solidFill>
              <a:srgbClr val="6E8472"/>
            </a:solidFill>
            <a:prstDash val="solid"/>
          </a:ln>
        </p:spPr>
      </p:sp>
      <p:sp>
        <p:nvSpPr>
          <p:cNvPr id="18" name="Text 16"/>
          <p:cNvSpPr/>
          <p:nvPr/>
        </p:nvSpPr>
        <p:spPr>
          <a:xfrm>
            <a:off x="635508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31423B"/>
                </a:solidFill>
                <a:latin typeface="Open Sans" pitchFamily="34" charset="0"/>
                <a:ea typeface="Open Sans" pitchFamily="34" charset="-122"/>
                <a:cs typeface="Open Sans" pitchFamily="34" charset="-120"/>
              </a:rPr>
              <a:t>Account</a:t>
            </a:r>
            <a:endParaRPr lang="en-US" sz="1300" dirty="0"/>
          </a:p>
        </p:txBody>
      </p:sp>
      <p:sp>
        <p:nvSpPr>
          <p:cNvPr id="19" name="Shape 17"/>
          <p:cNvSpPr/>
          <p:nvPr/>
        </p:nvSpPr>
        <p:spPr>
          <a:xfrm>
            <a:off x="7543800" y="1371600"/>
            <a:ext cx="1097280" cy="640080"/>
          </a:xfrm>
          <a:prstGeom prst="rect">
            <a:avLst/>
          </a:prstGeom>
          <a:solidFill>
            <a:srgbClr val="6E3D72"/>
          </a:solidFill>
          <a:ln/>
        </p:spPr>
      </p:sp>
      <p:sp>
        <p:nvSpPr>
          <p:cNvPr id="20" name="Text 18"/>
          <p:cNvSpPr/>
          <p:nvPr/>
        </p:nvSpPr>
        <p:spPr>
          <a:xfrm>
            <a:off x="7543800" y="1371600"/>
            <a:ext cx="109728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Person</a:t>
            </a:r>
            <a:endParaRPr lang="en-US" sz="1300" dirty="0"/>
          </a:p>
        </p:txBody>
      </p:sp>
      <p:sp>
        <p:nvSpPr>
          <p:cNvPr id="21" name="Shape 19"/>
          <p:cNvSpPr/>
          <p:nvPr/>
        </p:nvSpPr>
        <p:spPr>
          <a:xfrm>
            <a:off x="411480" y="2148840"/>
            <a:ext cx="8321040" cy="1645920"/>
          </a:xfrm>
          <a:prstGeom prst="rect">
            <a:avLst/>
          </a:prstGeom>
          <a:solidFill>
            <a:srgbClr val="DCE6DE"/>
          </a:solidFill>
          <a:ln/>
        </p:spPr>
      </p:sp>
      <p:sp>
        <p:nvSpPr>
          <p:cNvPr id="22" name="Text 20"/>
          <p:cNvSpPr/>
          <p:nvPr/>
        </p:nvSpPr>
        <p:spPr>
          <a:xfrm>
            <a:off x="502920" y="2148840"/>
            <a:ext cx="8138160" cy="164592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Each step needs its own evidence: a router's table, the log of the service that lends addresses, an inventory, logon records, evidence from outside the network</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 capture alone reaches the IP address. Most other sources are short-lived, or were never recorded</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Ask early for the records, before they are overwritten</a:t>
            </a:r>
            <a:endParaRPr lang="en-US" sz="1300" dirty="0"/>
          </a:p>
        </p:txBody>
      </p:sp>
      <p:sp>
        <p:nvSpPr>
          <p:cNvPr id="23" name="Shape 21"/>
          <p:cNvSpPr/>
          <p:nvPr/>
        </p:nvSpPr>
        <p:spPr>
          <a:xfrm>
            <a:off x="411480" y="3931920"/>
            <a:ext cx="8321040" cy="731520"/>
          </a:xfrm>
          <a:prstGeom prst="rect">
            <a:avLst/>
          </a:prstGeom>
          <a:solidFill>
            <a:srgbClr val="F1E8F2"/>
          </a:solidFill>
          <a:ln/>
        </p:spPr>
      </p:sp>
      <p:sp>
        <p:nvSpPr>
          <p:cNvPr id="24" name="Text 22"/>
          <p:cNvSpPr/>
          <p:nvPr/>
        </p:nvSpPr>
        <p:spPr>
          <a:xfrm>
            <a:off x="521208" y="3931920"/>
            <a:ext cx="8101584" cy="731520"/>
          </a:xfrm>
          <a:prstGeom prst="rect">
            <a:avLst/>
          </a:prstGeom>
          <a:noFill/>
          <a:ln/>
        </p:spPr>
        <p:txBody>
          <a:bodyPr wrap="square"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An address identifies a device on a network at a time, not a person.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recording is exact. The reading is not.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331720"/>
          </a:xfrm>
          <a:prstGeom prst="rect">
            <a:avLst/>
          </a:prstGeom>
          <a:solidFill>
            <a:srgbClr val="F1E8F2"/>
          </a:solidFill>
          <a:ln/>
        </p:spPr>
      </p:sp>
      <p:sp>
        <p:nvSpPr>
          <p:cNvPr id="7" name="Shape 5"/>
          <p:cNvSpPr/>
          <p:nvPr/>
        </p:nvSpPr>
        <p:spPr>
          <a:xfrm>
            <a:off x="411480" y="1371600"/>
            <a:ext cx="82296" cy="23317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19293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Conversation (Coppola, 1974). A surveillance expert is paid to record a young couple who walk and talk in a crowded square. He works on the tapes until every word is clear. Listening again and again, he becomes sure of what the words mean, and he acts on it. He is wrong.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The idea: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recording was perfect. The meaning depended on things that no microphone could record. A packet capture is that tape: exact in every byte, time and address. Say who sent it, or why, and you are making an inference.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he worked alone and nobody checked his reading. An examiner writes down every step, so that another person can test each one.</a:t>
            </a:r>
            <a:endParaRPr lang="en-US" sz="1300" dirty="0"/>
          </a:p>
        </p:txBody>
      </p:sp>
      <p:sp>
        <p:nvSpPr>
          <p:cNvPr id="10" name="Shape 8"/>
          <p:cNvSpPr/>
          <p:nvPr/>
        </p:nvSpPr>
        <p:spPr>
          <a:xfrm>
            <a:off x="411480" y="3840480"/>
            <a:ext cx="8321040" cy="841248"/>
          </a:xfrm>
          <a:prstGeom prst="rect">
            <a:avLst/>
          </a:prstGeom>
          <a:solidFill>
            <a:srgbClr val="F1E8F2"/>
          </a:solidFill>
          <a:ln/>
        </p:spPr>
      </p:sp>
      <p:sp>
        <p:nvSpPr>
          <p:cNvPr id="11" name="Text 9"/>
          <p:cNvSpPr/>
          <p:nvPr/>
        </p:nvSpPr>
        <p:spPr>
          <a:xfrm>
            <a:off x="521208" y="3840480"/>
            <a:ext cx="8101584" cy="841248"/>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When you write a sentence about this traffic, which part did the capture record, and which part did you add?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Every packet leaves a trace, yet attribution is inference, not proof.</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Each step from an address to a person needs its own evidence.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5120640" cy="109728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Lab: read two captured networks</a:t>
            </a:r>
            <a:endParaRPr lang="en-US" sz="3200" dirty="0"/>
          </a:p>
        </p:txBody>
      </p:sp>
      <p:sp>
        <p:nvSpPr>
          <p:cNvPr id="5" name="Shape 3"/>
          <p:cNvSpPr/>
          <p:nvPr/>
        </p:nvSpPr>
        <p:spPr>
          <a:xfrm>
            <a:off x="731520" y="1920240"/>
            <a:ext cx="5120640" cy="2651760"/>
          </a:xfrm>
          <a:prstGeom prst="rect">
            <a:avLst/>
          </a:prstGeom>
          <a:solidFill>
            <a:srgbClr val="31423B"/>
          </a:solidFill>
          <a:ln/>
        </p:spPr>
      </p:sp>
      <p:sp>
        <p:nvSpPr>
          <p:cNvPr id="6" name="Text 4"/>
          <p:cNvSpPr/>
          <p:nvPr/>
        </p:nvSpPr>
        <p:spPr>
          <a:xfrm>
            <a:off x="868680" y="1920240"/>
            <a:ext cx="4846320" cy="265176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Kali: verify the three captures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Nitroba: from an address to a device</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M57-Patents slice: find the channel</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Recover files: Wireshark, NetworkMiner</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Compare the hash values of both tools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Zeek flow summary, DNS practice capture</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Checkpoint: s07-findings.csv</a:t>
            </a:r>
            <a:endParaRPr lang="en-US" sz="1600" dirty="0"/>
          </a:p>
        </p:txBody>
      </p:sp>
      <p:pic>
        <p:nvPicPr>
          <p:cNvPr id="7" name="Image 0" descr="preencoded.png">    </p:cNvPr>
          <p:cNvPicPr>
            <a:picLocks noChangeAspect="1"/>
          </p:cNvPicPr>
          <p:nvPr/>
        </p:nvPicPr>
        <p:blipFill>
          <a:blip r:embed="rId1"/>
          <a:stretch>
            <a:fillRect/>
          </a:stretch>
        </p:blipFill>
        <p:spPr>
          <a:xfrm>
            <a:off x="6400800" y="1554480"/>
            <a:ext cx="2011680" cy="20116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1920240"/>
            <a:ext cx="6400800" cy="1737360"/>
          </a:xfrm>
          <a:prstGeom prst="rect">
            <a:avLst/>
          </a:prstGeom>
          <a:solidFill>
            <a:srgbClr val="FFFFFF"/>
          </a:solidFill>
          <a:ln/>
        </p:spPr>
      </p:sp>
      <p:sp>
        <p:nvSpPr>
          <p:cNvPr id="6" name="Text 4"/>
          <p:cNvSpPr/>
          <p:nvPr/>
        </p:nvSpPr>
        <p:spPr>
          <a:xfrm>
            <a:off x="1508760" y="1920240"/>
            <a:ext cx="6126480" cy="173736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The capture shows the address. The client wants a name. What else would you ask the client for, today, before it is overwritten?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1737360" cy="1042416"/>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941832" y="1554480"/>
            <a:ext cx="676656" cy="676656"/>
          </a:xfrm>
          <a:prstGeom prst="rect">
            <a:avLst/>
          </a:prstGeom>
        </p:spPr>
      </p:pic>
      <p:sp>
        <p:nvSpPr>
          <p:cNvPr id="8" name="Shape 5"/>
          <p:cNvSpPr/>
          <p:nvPr/>
        </p:nvSpPr>
        <p:spPr>
          <a:xfrm>
            <a:off x="2148840" y="1371600"/>
            <a:ext cx="6583680" cy="1042416"/>
          </a:xfrm>
          <a:prstGeom prst="rect">
            <a:avLst/>
          </a:prstGeom>
          <a:solidFill>
            <a:srgbClr val="FFFFFF"/>
          </a:solidFill>
          <a:ln w="9525">
            <a:solidFill>
              <a:srgbClr val="CBD6CE"/>
            </a:solidFill>
            <a:prstDash val="solid"/>
          </a:ln>
        </p:spPr>
      </p:sp>
      <p:sp>
        <p:nvSpPr>
          <p:cNvPr id="9" name="Text 6"/>
          <p:cNvSpPr/>
          <p:nvPr/>
        </p:nvSpPr>
        <p:spPr>
          <a:xfrm>
            <a:off x="2286000" y="1417320"/>
            <a:ext cx="6309360" cy="950976"/>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Flow records: NetFlow version 9 and IPFIX</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RFC 3954, 2004, and RFC 7011, Internet Standard 77, 2013</a:t>
            </a:r>
            <a:endParaRPr lang="en-US" sz="1600" dirty="0"/>
          </a:p>
          <a:p>
            <a:pPr indent="0" marL="0">
              <a:buNone/>
            </a:pPr>
            <a:r>
              <a:rPr lang="en-US" sz="1200" dirty="0">
                <a:solidFill>
                  <a:srgbClr val="31423B"/>
                </a:solidFill>
                <a:latin typeface="Open Sans" pitchFamily="34" charset="0"/>
                <a:ea typeface="Open Sans" pitchFamily="34" charset="-122"/>
                <a:cs typeface="Open Sans" pitchFamily="34" charset="-120"/>
              </a:rPr>
              <a:t>Benoit Claise, Brian Trammell and Paul Aitken</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The two names under which flow records appear, and the fields they hold</a:t>
            </a:r>
            <a:endParaRPr lang="en-US" sz="1600" dirty="0"/>
          </a:p>
        </p:txBody>
      </p:sp>
      <p:sp>
        <p:nvSpPr>
          <p:cNvPr id="10" name="Shape 7"/>
          <p:cNvSpPr/>
          <p:nvPr/>
        </p:nvSpPr>
        <p:spPr>
          <a:xfrm>
            <a:off x="411480" y="2487168"/>
            <a:ext cx="1737360" cy="1042416"/>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941832" y="2670048"/>
            <a:ext cx="676656" cy="676656"/>
          </a:xfrm>
          <a:prstGeom prst="rect">
            <a:avLst/>
          </a:prstGeom>
        </p:spPr>
      </p:pic>
      <p:sp>
        <p:nvSpPr>
          <p:cNvPr id="12" name="Shape 8"/>
          <p:cNvSpPr/>
          <p:nvPr/>
        </p:nvSpPr>
        <p:spPr>
          <a:xfrm>
            <a:off x="2148840" y="2487168"/>
            <a:ext cx="6583680" cy="1042416"/>
          </a:xfrm>
          <a:prstGeom prst="rect">
            <a:avLst/>
          </a:prstGeom>
          <a:solidFill>
            <a:srgbClr val="FFFFFF"/>
          </a:solidFill>
          <a:ln w="9525">
            <a:solidFill>
              <a:srgbClr val="CBD6CE"/>
            </a:solidFill>
            <a:prstDash val="solid"/>
          </a:ln>
        </p:spPr>
      </p:sp>
      <p:sp>
        <p:nvSpPr>
          <p:cNvPr id="13" name="Text 9"/>
          <p:cNvSpPr/>
          <p:nvPr/>
        </p:nvSpPr>
        <p:spPr>
          <a:xfrm>
            <a:off x="2286000" y="2532888"/>
            <a:ext cx="6309360" cy="950976"/>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The Transport Layer Security (TLS) Protocol Version 1.3</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RFC 8446, 2018</a:t>
            </a:r>
            <a:endParaRPr lang="en-US" sz="1600" dirty="0"/>
          </a:p>
          <a:p>
            <a:pPr indent="0" marL="0">
              <a:buNone/>
            </a:pPr>
            <a:r>
              <a:rPr lang="en-US" sz="1200" dirty="0">
                <a:solidFill>
                  <a:srgbClr val="31423B"/>
                </a:solidFill>
                <a:latin typeface="Open Sans" pitchFamily="34" charset="0"/>
                <a:ea typeface="Open Sans" pitchFamily="34" charset="-122"/>
                <a:cs typeface="Open Sans" pitchFamily="34" charset="-120"/>
              </a:rPr>
              <a:t>Eric Rescorla</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Why the certificate is encrypted in TLS 1.3 and the server name is not</a:t>
            </a:r>
            <a:endParaRPr lang="en-US" sz="1600" dirty="0"/>
          </a:p>
        </p:txBody>
      </p:sp>
      <p:sp>
        <p:nvSpPr>
          <p:cNvPr id="14" name="Shape 10"/>
          <p:cNvSpPr/>
          <p:nvPr/>
        </p:nvSpPr>
        <p:spPr>
          <a:xfrm>
            <a:off x="411480" y="3602736"/>
            <a:ext cx="1737360" cy="1042416"/>
          </a:xfrm>
          <a:prstGeom prst="rect">
            <a:avLst/>
          </a:prstGeom>
          <a:solidFill>
            <a:srgbClr val="4F6356"/>
          </a:solidFill>
          <a:ln/>
        </p:spPr>
      </p:sp>
      <p:pic>
        <p:nvPicPr>
          <p:cNvPr id="15" name="Image 2" descr="preencoded.png">    </p:cNvPr>
          <p:cNvPicPr>
            <a:picLocks noChangeAspect="1"/>
          </p:cNvPicPr>
          <p:nvPr/>
        </p:nvPicPr>
        <p:blipFill>
          <a:blip r:embed="rId3"/>
          <a:stretch>
            <a:fillRect/>
          </a:stretch>
        </p:blipFill>
        <p:spPr>
          <a:xfrm>
            <a:off x="941832" y="3785616"/>
            <a:ext cx="676656" cy="676656"/>
          </a:xfrm>
          <a:prstGeom prst="rect">
            <a:avLst/>
          </a:prstGeom>
        </p:spPr>
      </p:pic>
      <p:sp>
        <p:nvSpPr>
          <p:cNvPr id="16" name="Shape 11"/>
          <p:cNvSpPr/>
          <p:nvPr/>
        </p:nvSpPr>
        <p:spPr>
          <a:xfrm>
            <a:off x="2148840" y="3602736"/>
            <a:ext cx="6583680" cy="1042416"/>
          </a:xfrm>
          <a:prstGeom prst="rect">
            <a:avLst/>
          </a:prstGeom>
          <a:solidFill>
            <a:srgbClr val="FFFFFF"/>
          </a:solidFill>
          <a:ln w="9525">
            <a:solidFill>
              <a:srgbClr val="CBD6CE"/>
            </a:solidFill>
            <a:prstDash val="solid"/>
          </a:ln>
        </p:spPr>
      </p:sp>
      <p:sp>
        <p:nvSpPr>
          <p:cNvPr id="17" name="Text 12"/>
          <p:cNvSpPr/>
          <p:nvPr/>
        </p:nvSpPr>
        <p:spPr>
          <a:xfrm>
            <a:off x="2286000" y="3648456"/>
            <a:ext cx="6309360" cy="950976"/>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Digital Corpora scenarios: Nitroba and M57-Patents</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Teaching library of made-up cases</a:t>
            </a:r>
            <a:endParaRPr lang="en-US" sz="1600" dirty="0"/>
          </a:p>
          <a:p>
            <a:pPr indent="0" marL="0">
              <a:buNone/>
            </a:pPr>
            <a:r>
              <a:rPr lang="en-US" sz="1200" dirty="0">
                <a:solidFill>
                  <a:srgbClr val="31423B"/>
                </a:solidFill>
                <a:latin typeface="Open Sans" pitchFamily="34" charset="0"/>
                <a:ea typeface="Open Sans" pitchFamily="34" charset="-122"/>
                <a:cs typeface="Open Sans" pitchFamily="34" charset="-120"/>
              </a:rPr>
              <a:t>Digital Corpora</a:t>
            </a:r>
            <a:endParaRPr lang="en-US" sz="1600" dirty="0"/>
          </a:p>
          <a:p>
            <a:pPr indent="0" marL="0">
              <a:buNone/>
            </a:pPr>
            <a:r>
              <a:rPr lang="en-US" sz="1200" i="1" dirty="0">
                <a:solidFill>
                  <a:srgbClr val="4F6356"/>
                </a:solidFill>
                <a:latin typeface="Open Sans" pitchFamily="34" charset="0"/>
                <a:ea typeface="Open Sans" pitchFamily="34" charset="-122"/>
                <a:cs typeface="Open Sans" pitchFamily="34" charset="-120"/>
              </a:rPr>
              <a:t>The two captured networks of today's lab</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03520" cy="100584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8 - Intrusion detection and log correlation. An intrusion detection system reads the traffic first, and its alerts are set beside your Session 5 timeline.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S07 - Network Evidence and Exfiltration</dc:title>
  <dc:subject>PptxGenJS Presentation</dc:subject>
  <dc:creator>Niranga Dharmaratna</dc:creator>
  <cp:lastModifiedBy>Niranga Dharmaratna</cp:lastModifiedBy>
  <cp:revision>1</cp:revision>
  <dcterms:created xsi:type="dcterms:W3CDTF">2026-10-10T16:32:14Z</dcterms:created>
  <dcterms:modified xsi:type="dcterms:W3CDTF">2026-10-10T16:32:14Z</dcterms:modified>
</cp:coreProperties>
</file>