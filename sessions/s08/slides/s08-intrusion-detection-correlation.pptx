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8 closes Day 4. The page on the portal is the content master: every slide points to a section of it. Link back to Session 7: there students read traffic by hand, one conversation at a time. That does not work for hundreds of computers that talk all day. Today a machine does the first reading, and the class learns how far its reading can be trusted. Before the concept part, ask students to copy folder S08 from the lab share and to find their own s05-timeline-utc.csv from Session 5. Misconception to watch for: that a machine which reads everything also decides everything. It only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LO2 and LO5. The lab checkpoint feeds the coursework and the phase test. In the coursework students correlate two kinds of cloud log into one timeline and must say what the logs confirm and what they cannot show. The habit of marking each claim as confirmed, false or unclear is the same. Misconception to watch for: that today is about writing rules. In this module students read rules. They do not write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hook from the page, word for word, then the eight outcomes in short form. Read the hook aloud: it holds three questions, and the lab answers them in order. Is the computer really infected: sections 1 to 4. What exactly happened: section 5. Can this infection explain the leak: section 6. Misconception to watch for: that the alerts are about the suspect. They are not, and the next slide says so plainly.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of the page: the three plain statements that the unit owes the class. Say them once, before any concept. Session 7 said that our case has no network traffic, because the client was not recording. That is still true for the days of the leak. The method is real and the storyline around it is ours, as with every dataset of this module. The author of the site, Brad Duncan, shares captures of malware traffic for training. Then the defence's sentence: an infected computer at the same client makes it sound possible. Misconception to watch for: that this capture shows the suspect's traffic, or the days of the leak. It shows neither.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The page's picture is a night guard who cannot look at every person, so the building gets a machine at the door that calls the guard only when something fits a description. The computer or device that receives the copy of the traffic is the sensor. Everything that Session 7 said about a packet capture is true here: a sensor at the internet gateway sees nothing that stays between two computers of the same office, and if the mirror port drops copies, no alert is raised for those packets. The two kinds complete each other: the network side says that something crossed the wire, the host side says what it did after it arrived. Session 6 took the host side by hand, from memory. Misconception to watch for: that an IDS decides that an attack happened. It does not. Section 4 is built on that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the table of detection against prevention and the comparison. An IDS gets a copy, so it cannot stop anything: by the time the alert is written, the packet has arrived. An intrusion prevention system uses the same rules and stands in the path. The page has a fourth row: if an IDS fails, the network goes on unwatched, and if an IPS fails, the network may slow down or stop. That is why organisations often run new rules in detection mode first. The tool of today is Suricata, which can work either way and can read a capture file. Snort has the same kind of rules. Zeek writes logs and judges little. Misconception to watch for: that prevention is always better. A rule that is wrong costs far more in an 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and demo S08-D1. Students must know both names. The first answer: somebody has seen this attack before and written down what it looks like. On the portal, and in the tools, such a line of text is a rule. The second answer: nobody describes any attack. The system first measures what is normal, the baseline, and then reports a difference larger than a set threshold. It catches attacks that nobody has seen, and it also misses anything that was already there while the baseline was measured. Suricata works mainly by rules, so today's alerts come from signature-based detection. The page's comparison is a guard with a book of wanted posters and a doorman who knows the regulars. It breaks in two places: an attacker can often read the public rule collections and change the attack until no rule matches, and the doorman's idea of the regulars may already include the intruder. Then the two ways to be wrong. Students know the false positive from Session 3. The false negative is new: no alert was written, so nobody looks. Every detector has a setting that decides how easily it raises an alert: how broad a rule is, or how high a threshold is. Somebody chooses the balance, and the examiner should know which way. No alert means only that no rule matched and no threshold was crossed, at the capture point, with the rules of that day. Run the demo here: both detectors read the same events, each catches what the other misses. The page's deeper layer has the numbers: a million connections a day, ten of them an attack, and a detector that is right 99.9 per cent of the time still raises a thousand false alerts a day. Misconceptions to watch for: "unusual" is not "malicious", a monthly backup is unusual. And a false positive does not mean that the IDS is broken: it is the price of a sensitive setting. Also correct the word: the text that an IDS matches is a rule, and the method is signature-based detection.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and demo S08-D2. This is a rule that the unit wrote for training: complete, valid, and not from the lab's capture. A rule has three areas, always in the same order: what to do, which traffic to look at, and what must be inside that traffic. Read it from left to right with the class. The words with a dollar sign are variables: the person who sets up the IDS says once which addresses are ours. Inside the round brackets, keep two kinds of option apart. Some test the traffic: first a word that says where to look, then content with what to find there. The others only label the alert: msg is the message, the author's opinion of what a match means. Suricata calls the rule ID the sid. The classtype gives the alert a class and a priority. So an alert from this rule means exactly: a computer of our network sent a GET request with this path to an outside address, on an open connection. It does not test whether the server answered. Misconception to watch for: "the alert says it is a Trojan". The message of the rule says so. The tested options are the facts. Say "the first part of the rule" for action, protocol, addresses, ports and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"What an alert looks like". Suricata writes each alert in two files. fast.log has one line for each alert, made for human eyes. Read the line in four pieces: the time; the three numbers and the message, which come from the rule; the class and the priority, which also come from the rule; and the protocol, the two addresses and the two ports, which come from the traffic. The time in fast.log is the local time of the computer that ran Suricata, so in the lab students start Suricata with its clock set to UTC. eve.json holds one record for each alert, in the JSON form, made for programs, and states its zone in every record. All values on this slide are the page's own example values, from reserved example addresses. Misconception to watch for: that the class "A Network Trojan was detected" is something Suricata observed. It is a label that the rule carries.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"The check". An alert is a hypothesis: a statement that may be true and has not been tested yet. A finding is a statement that you have tested and can show to another person. The page's comparison is a medical screening test and a diagnosis: the test is cheap, fast and sensitive, and nobody is treated on the screening result alone. It breaks because an illness does not study the test and change itself to pass it, and because a packet that was not recorded is gone, so sometimes the deciding examination is no longer possible. Then the honest mark is "unclear". An attempt and a completed exchange are different facts. A rule can also match correctly and be unimportant, such as a Windows computer asking for its update list: in the sheet that is a false positive for the question "is this part of the attack?". Misconception to watch for: copying the message of an alert into a report as a 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of the class, in page section 4. Give the gist in two or three sentences and never assume that anyone has read Foucault. Name and paraphrase only: no picture of the building. For honest users visibility really does work as control: staff know that traffic may be recorded, cannot tell when anyone reads it, and most of them behave. Then the break, because that is the lesson: the attacker uses a road that does not pass the capture point, hides inside encryption, or changes the attack until no rule matches. Link the two lenses of Day 4: Session 7's was a film about a listener who heard every word and still misread the meaning. Today's is the other half: a watcher who believes that he sees everything. Misconception to watch for: that more monitoring means complete 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of the class, from the key box of page section 4. Let the room read it. It pairs with Session 7's sentence that attribution is inference, not proof: on Day 4 the machine's reading and the examiner's reading are both inferences until the evidence carries them. Misconception to watch for: that a priority 1 alert needs less checking. The priority comes from the rule's class, which the author chose.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and demo S08-D3. Correlation is setting records from two or more sources side by side, to see whether they agree, complete each other or rule each other out. Today the class correlates twice: first inside the capture, then against the timeline. Zeek's conn.log has one flow record for each connection. dns.log has the names, http.log the web requests, ssl.log the server names of TLS connections. The five values are the two addresses, the two ports and the protocol. The two tools may write them in a different order, so every tool sorts the two ends in the same fixed order and calculates a hash value over them. The code on the slide is the page's example. Flows with no alert matter most: the contact with the attacker's server may match no rule at all, so correlation finds false negatives of the IDS. Not every attack shows all three steps in a capture: then say so. Misconception to watch for: that one Community ID names one connection. It names five values, so the time still chooses between two connections that share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and demo S08-D4. Back to the defence's sentence. Students hold two records: the alerts that they confirm today, and the timeline of the suspect's computer from Session 5. Each confirmed alert becomes one row in the seven columns of the unit's timeline format. Only confirmed alerts go in: a row in a timeline looks like a fact to everybody who reads it later. The result goes into a new file, and the Session 5 file is shown unchanged by its hash value before and after. Then the two pictures. A program cannot send files from a computer that it is not on, ten years before it arrived on a different one. That is a result, as real as a match, and it goes into the report. Say the limits in the same breath: it does not show that the suspect's own computer was free of malware in 2015. A gap of ten years is safe against any time zone mistake, and a gap of five hours would not be. The capture shows what this computer did at the gateway during the recording. Misconception to watch for: that a correlation which finds no match has failed. The evidence answered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and demo S08-D5. The client's next question is practical: is any other computer affected, and how will we know if it comes back? An indicator of compromise, IOC for short, is a piece of evidence from one attack that can be searched for elsewhere. The page's picture is the description that the police send out after a robbery: some parts stay true for weeks, others are changed within the hour. What the attacker changes least willingly is the way the attack works, and that behaviour lasts longest. Addresses and names of honest services that the infected computer also used do not belong on the list. Today no file is taken out of the capture, so students cannot calculate a hash value themselves. The pyramid of pain is in the page's deeper layer: it ranks by cost to the attacker, not by how sure a match is. Misconception to watch for: "every address in the capture is an IOC", and "block the IP address and the problem is solved".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about two hours, in the Kali VM only. One VM is enough today. Read the four safety rules aloud before anyone unpacks the archive, and say why: the programs that this computer downloaded are inside the capture, as data in packets. While they stay there they can do nothing, because a packet tool does not run what it reads. The moment a tool writes one of them to disk as a file, a real malicious program exists on that computer. So no Export Objects, although Session 7 taught it, no NetworkMiner, no carving, and no stream saved as a file. If a virus scanner on a host machine warns about the archive or removes it, that is the scanner doing its job: the student writes down the message, tells the lecturer and continues with the unit's pre-computed logs. The lecturer gives the password of the archive in class. Do not run suricata-update: the alerts would then differ from everybody else's. Hand in: s08-findings.csv, s08-ioc-list.csv, s08-triage.csv, s08-joined.csv, s08-merged-timeline.csv, the notes and the custody record. No answer names a person as responsible for anything. Misconception to watch for: "I only want to see whether the file opens". No file leaves this capture until Sessions 9 and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two layers. First: silence from a sensor that did not exist is not silence at all. There was no capture point, so nothing was seen and nothing was judged. Second: even with a sensor, no alert means only that no rule matched and no threshold was crossed, at the capture point, with the rules of that day. What the report may say: today's infection was on another computer, in January 2025, and cannot explain a leak of March 2015. What it may not say: that no malware was involved in the leak. The evidence for that question is the suspect's own disk, examined in Sessions 2 to 5. Misconception to watch for: treating the manager's sentence and today's exclusion as the same claim. One is an absence of records. The other is a tested comparison with stated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ten minutes. This quiz closes Day 4. The questions are on the session page on the portal, under End-of-day quiz, and never on a slide. Students mark themselves on the points made, not on length. Misconception to watch for: that the quiz covers only today. It covers Sessions 7 and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and coming next, from the page. Coming next, in the sense of the page: today the class never looked inside the programs that the infected computer downloaded. They saw that something arrived and what the computer did afterwards, and left every file where it was. Day 5 opens the question that the wire cannot answer. Session 9 begins with safe handling, in an isolated network with a snapshot to return to, and then reads a training sample without running it. Misconception to watch for: that Session 9 opens the files of today's capture. The page does not say that, and nobody should take anything out of the capture in the meantime.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Nothing to teach here. The teaching rule, the alert line and every address on these slides are the page's own example values, not values from the lab's capture.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4000" b="1" dirty="0">
                <a:solidFill>
                  <a:srgbClr val="31423B"/>
                </a:solidFill>
                <a:latin typeface="Open Sans" pitchFamily="34" charset="0"/>
                <a:ea typeface="Open Sans" pitchFamily="34" charset="-122"/>
                <a:cs typeface="Open Sans" pitchFamily="34" charset="-120"/>
              </a:rPr>
              <a:t>Intrusion detection and log correlation</a:t>
            </a:r>
            <a:endParaRPr lang="en-US" sz="40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8 - Day 4: Network forensics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600" b="1" dirty="0">
                <a:solidFill>
                  <a:srgbClr val="31423B"/>
                </a:solidFill>
                <a:latin typeface="Open Sans" pitchFamily="34" charset="0"/>
                <a:ea typeface="Open Sans" pitchFamily="34" charset="-122"/>
                <a:cs typeface="Open Sans" pitchFamily="34" charset="-120"/>
              </a:rPr>
              <a:t>S08 Intrusion detection and log correlation</a:t>
            </a:r>
            <a:endParaRPr lang="en-US" sz="36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4F635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8" name="Shape 6"/>
          <p:cNvSpPr/>
          <p:nvPr/>
        </p:nvSpPr>
        <p:spPr>
          <a:xfrm>
            <a:off x="1463040" y="3108960"/>
            <a:ext cx="640080" cy="347472"/>
          </a:xfrm>
          <a:prstGeom prst="rect">
            <a:avLst/>
          </a:prstGeom>
          <a:solidFill>
            <a:srgbClr val="6E3D72"/>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0" name="Text 8"/>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phase test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207008"/>
          </a:xfrm>
          <a:prstGeom prst="rect">
            <a:avLst/>
          </a:prstGeom>
          <a:solidFill>
            <a:srgbClr val="F1E8F2"/>
          </a:solidFill>
          <a:ln/>
        </p:spPr>
      </p:sp>
      <p:sp>
        <p:nvSpPr>
          <p:cNvPr id="7" name="Text 5"/>
          <p:cNvSpPr/>
          <p:nvPr/>
        </p:nvSpPr>
        <p:spPr>
          <a:xfrm>
            <a:off x="521208" y="1371600"/>
            <a:ext cx="4535424" cy="1207008"/>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Our own sensor has raised alerts about another computer at the client. Is that computer really infected, what exactly happened on it, and can this infection explain how the confidential files left the building?</a:t>
            </a:r>
            <a:endParaRPr lang="en-US" sz="1300" dirty="0"/>
          </a:p>
        </p:txBody>
      </p:sp>
      <p:sp>
        <p:nvSpPr>
          <p:cNvPr id="8" name="Shape 6"/>
          <p:cNvSpPr/>
          <p:nvPr/>
        </p:nvSpPr>
        <p:spPr>
          <a:xfrm>
            <a:off x="411480" y="2670048"/>
            <a:ext cx="4754880" cy="2011680"/>
          </a:xfrm>
          <a:prstGeom prst="rect">
            <a:avLst/>
          </a:prstGeom>
          <a:solidFill>
            <a:srgbClr val="DCE6DE"/>
          </a:solidFill>
          <a:ln/>
        </p:spPr>
      </p:sp>
      <p:sp>
        <p:nvSpPr>
          <p:cNvPr id="9" name="Text 7"/>
          <p:cNvSpPr/>
          <p:nvPr/>
        </p:nvSpPr>
        <p:spPr>
          <a:xfrm>
            <a:off x="502920" y="2670048"/>
            <a:ext cx="4572000" cy="2011680"/>
          </a:xfrm>
          <a:prstGeom prst="rect">
            <a:avLst/>
          </a:prstGeom>
          <a:noFill/>
          <a:ln/>
        </p:spPr>
        <p:txBody>
          <a:bodyPr wrap="square" rtlCol="0" anchor="ctr"/>
          <a:lstStyle/>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Say what an IDS is and where it sits</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Network-based or host-based, IDS or IPS</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Signature-based or anomaly-based detection</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Read the parts of a Suricata rule</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Justify why an alert is a hypothesis, and check it</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Join alerts to flow records, rebuild the chain</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Merge alerts with a timeline in UTC, and judge it</a:t>
            </a:r>
            <a:endParaRPr lang="en-US" sz="1200" dirty="0"/>
          </a:p>
          <a:p>
            <a:pPr marL="342900" indent="-342900">
              <a:spcAft>
                <a:spcPts val="400"/>
              </a:spcAft>
              <a:buSzPct val="100000"/>
              <a:buChar char="•"/>
            </a:pPr>
            <a:r>
              <a:rPr lang="en-US" sz="1200" b="1" dirty="0">
                <a:solidFill>
                  <a:srgbClr val="31423B"/>
                </a:solidFill>
                <a:latin typeface="Open Sans" pitchFamily="34" charset="0"/>
                <a:ea typeface="Open Sans" pitchFamily="34" charset="-122"/>
                <a:cs typeface="Open Sans" pitchFamily="34" charset="-120"/>
              </a:rPr>
              <a:t>Pick good indicators of compromise</a:t>
            </a:r>
            <a:endParaRPr lang="en-US" sz="1200" dirty="0"/>
          </a:p>
        </p:txBody>
      </p:sp>
      <p:pic>
        <p:nvPicPr>
          <p:cNvPr id="10" name="Image 0" descr="preencoded.png">    </p:cNvPr>
          <p:cNvPicPr>
            <a:picLocks noChangeAspect="1"/>
          </p:cNvPicPr>
          <p:nvPr/>
        </p:nvPicPr>
        <p:blipFill>
          <a:blip r:embed="rId1"/>
          <a:stretch>
            <a:fillRect/>
          </a:stretch>
        </p:blipFill>
        <p:spPr>
          <a:xfrm>
            <a:off x="6126480" y="1463040"/>
            <a:ext cx="1737360" cy="1737360"/>
          </a:xfrm>
          <a:prstGeom prst="rect">
            <a:avLst/>
          </a:prstGeom>
        </p:spPr>
      </p:pic>
      <p:sp>
        <p:nvSpPr>
          <p:cNvPr id="11" name="Text 8"/>
          <p:cNvSpPr/>
          <p:nvPr/>
        </p:nvSpPr>
        <p:spPr>
          <a:xfrm>
            <a:off x="5349240" y="3429000"/>
            <a:ext cx="3383280" cy="1097280"/>
          </a:xfrm>
          <a:prstGeom prst="rect">
            <a:avLst/>
          </a:prstGeom>
          <a:noFill/>
          <a:ln/>
        </p:spPr>
        <p:txBody>
          <a:bodyPr wrap="square" lIns="0" tIns="0" rIns="0" bIns="0" rtlCol="0" anchor="t"/>
          <a:lstStyle/>
          <a:p>
            <a:pPr indent="0" marL="0">
              <a:buNone/>
            </a:pPr>
            <a:r>
              <a:rPr lang="en-US" sz="1300" i="1" dirty="0">
                <a:solidFill>
                  <a:srgbClr val="5C6B63"/>
                </a:solidFill>
                <a:latin typeface="Open Sans" pitchFamily="34" charset="0"/>
                <a:ea typeface="Open Sans" pitchFamily="34" charset="-122"/>
                <a:cs typeface="Open Sans" pitchFamily="34" charset="-120"/>
              </a:rPr>
              <a:t>Today's capture is about another computer at the client. It is not the suspect's computer.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Whose computer, whose sensor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194560"/>
          </a:xfrm>
          <a:prstGeom prst="rect">
            <a:avLst/>
          </a:prstGeom>
          <a:solidFill>
            <a:srgbClr val="DCE6DE"/>
          </a:solidFill>
          <a:ln/>
        </p:spPr>
      </p:sp>
      <p:sp>
        <p:nvSpPr>
          <p:cNvPr id="7" name="Text 5"/>
          <p:cNvSpPr/>
          <p:nvPr/>
        </p:nvSpPr>
        <p:spPr>
          <a:xfrm>
            <a:off x="502920" y="1371600"/>
            <a:ext cx="8138160" cy="219456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Whose sensor: the unit's own. The unit connected it at the client's internet gateway after the engagement began, because the client had recorded nothing before</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Whose computer: another computer at the client. It is NOT the suspect's computer. Its dates, host names and addresses are its own</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What the capture really is: a published teaching exercise from malware-traffic-analysis.net, dated 22 January 2025, called "Download from Fake Software Site". The office network in it is a training network. The malware in it is real</a:t>
            </a:r>
            <a:endParaRPr lang="en-US" sz="1300" dirty="0"/>
          </a:p>
        </p:txBody>
      </p:sp>
      <p:sp>
        <p:nvSpPr>
          <p:cNvPr id="8" name="Shape 6"/>
          <p:cNvSpPr/>
          <p:nvPr/>
        </p:nvSpPr>
        <p:spPr>
          <a:xfrm>
            <a:off x="411480" y="3703320"/>
            <a:ext cx="8321040" cy="960120"/>
          </a:xfrm>
          <a:prstGeom prst="rect">
            <a:avLst/>
          </a:prstGeom>
          <a:solidFill>
            <a:srgbClr val="F1E8F2"/>
          </a:solidFill>
          <a:ln/>
        </p:spPr>
      </p:sp>
      <p:sp>
        <p:nvSpPr>
          <p:cNvPr id="9" name="Text 7"/>
          <p:cNvSpPr/>
          <p:nvPr/>
        </p:nvSpPr>
        <p:spPr>
          <a:xfrm>
            <a:off x="521208" y="3703320"/>
            <a:ext cx="8101584" cy="96012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The question comes from the defence: "I did not send those files. Malware did." By the end of today you can answer it for this infection, with evidence.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An IDS, and where it sits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1005840"/>
          </a:xfrm>
          <a:prstGeom prst="rect">
            <a:avLst/>
          </a:prstGeom>
          <a:solidFill>
            <a:srgbClr val="DCE6DE"/>
          </a:solidFill>
          <a:ln/>
        </p:spPr>
      </p:sp>
      <p:sp>
        <p:nvSpPr>
          <p:cNvPr id="7" name="Text 5"/>
          <p:cNvSpPr/>
          <p:nvPr/>
        </p:nvSpPr>
        <p:spPr>
          <a:xfrm>
            <a:off x="502920" y="1371600"/>
            <a:ext cx="8138160" cy="100584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An intrusion detection system reads a copy of the traffic at a capture point and raises alerts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It sees only what passes that point. It says: "this looks like an attack, come and look"</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It reads live, or a capture file afterwards. Today: the file</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2487168"/>
          <a:ext cx="8321040" cy="914400"/>
        </p:xfrm>
        <a:graphic>
          <a:graphicData uri="http://schemas.openxmlformats.org/drawingml/2006/table">
            <a:tbl>
              <a:tblPr/>
              <a:tblGrid>
                <a:gridCol w="1463040"/>
                <a:gridCol w="3429000"/>
                <a:gridCol w="3429000"/>
              </a:tblGrid>
              <a:tr h="420624">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Network-based IDS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Host-based IDS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Where it runs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 a sensor at a capture point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 the computer that it protects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 it reads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Packets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That computer's files, programs, logs and settings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Sees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Every computer whose traffic passes the point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One computer, in depth</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20624">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Does not see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What happens inside a computer. The content of encrypted traffic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Other computers. Anything, if the attacker switches it off</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Detection and prevention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103120"/>
                <a:gridCol w="3108960"/>
                <a:gridCol w="3108960"/>
              </a:tblGrid>
              <a:tr h="310896">
                <a:tc>
                  <a:txBody>
                    <a:bodyPr/>
                    <a:lstStyle/>
                    <a:p>
                      <a:pPr indent="0" marL="0">
                        <a:buNone/>
                      </a:pP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IDS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Position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Beside the traffic, on a copy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In the path of the traffic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When a rule matches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Writes an alert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Writes an alert and can block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If it is wrong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person loses time on a false alarm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Honest traffic is blocked and work stops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Shape 4"/>
          <p:cNvSpPr/>
          <p:nvPr/>
        </p:nvSpPr>
        <p:spPr>
          <a:xfrm>
            <a:off x="411480" y="2761488"/>
            <a:ext cx="8321040" cy="1901952"/>
          </a:xfrm>
          <a:prstGeom prst="rect">
            <a:avLst/>
          </a:prstGeom>
          <a:solidFill>
            <a:srgbClr val="E8F0EA"/>
          </a:solidFill>
          <a:ln/>
        </p:spPr>
      </p:sp>
      <p:sp>
        <p:nvSpPr>
          <p:cNvPr id="8" name="Shape 5"/>
          <p:cNvSpPr/>
          <p:nvPr/>
        </p:nvSpPr>
        <p:spPr>
          <a:xfrm>
            <a:off x="411480" y="2761488"/>
            <a:ext cx="82296" cy="1901952"/>
          </a:xfrm>
          <a:prstGeom prst="rect">
            <a:avLst/>
          </a:prstGeom>
          <a:solidFill>
            <a:srgbClr val="6E8472"/>
          </a:solidFill>
          <a:ln/>
        </p:spPr>
      </p:sp>
      <p:sp>
        <p:nvSpPr>
          <p:cNvPr id="9" name="Text 6"/>
          <p:cNvSpPr/>
          <p:nvPr/>
        </p:nvSpPr>
        <p:spPr>
          <a:xfrm>
            <a:off x="621792" y="2834640"/>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0" name="Text 7"/>
          <p:cNvSpPr/>
          <p:nvPr/>
        </p:nvSpPr>
        <p:spPr>
          <a:xfrm>
            <a:off x="621792" y="3090672"/>
            <a:ext cx="7955280" cy="1499616"/>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An IDS is like a smoke alarm. An IPS is like a sprinkler system. The alarm watches the air in one room and makes a noise: a person must come and look. The sprinkler has the same kind of sensor and also acts.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smoke alarm reacts to smoke, whoever caused it. An IDS reacts to descriptions that people wrote, and an attacker can read them and change the attack. A wrong rule in an IPS can block the same honest traffic for a whole company until somebody notices. And smoke does not try to hide from the alarm.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ask where the sensor was, so what could it see at all? And was the system only watching, or could it have blocked?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Two ways to detect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Signature-based detection</a:t>
            </a:r>
            <a:endParaRPr lang="en-US" sz="1500" dirty="0"/>
          </a:p>
        </p:txBody>
      </p:sp>
      <p:sp>
        <p:nvSpPr>
          <p:cNvPr id="8" name="Shape 6"/>
          <p:cNvSpPr/>
          <p:nvPr/>
        </p:nvSpPr>
        <p:spPr>
          <a:xfrm>
            <a:off x="411480" y="1728216"/>
            <a:ext cx="4133088" cy="1920240"/>
          </a:xfrm>
          <a:prstGeom prst="rect">
            <a:avLst/>
          </a:prstGeom>
          <a:solidFill>
            <a:srgbClr val="FFFFFF"/>
          </a:solidFill>
          <a:ln w="9525">
            <a:solidFill>
              <a:srgbClr val="CBD6CE"/>
            </a:solidFill>
            <a:prstDash val="solid"/>
          </a:ln>
        </p:spPr>
      </p:sp>
      <p:sp>
        <p:nvSpPr>
          <p:cNvPr id="9" name="Text 7"/>
          <p:cNvSpPr/>
          <p:nvPr/>
        </p:nvSpPr>
        <p:spPr>
          <a:xfrm>
            <a:off x="539496" y="1783080"/>
            <a:ext cx="3877056" cy="18105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Compares traffic with</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Rules: written descriptions of known patterns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Catches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Attacks that somebody has seen and described</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Misses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New attacks, and changed versions of old ones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Typical false positive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Honest traffic that happens to contain the pattern</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Anomaly-based detection</a:t>
            </a:r>
            <a:endParaRPr lang="en-US" sz="1500" dirty="0"/>
          </a:p>
        </p:txBody>
      </p:sp>
      <p:sp>
        <p:nvSpPr>
          <p:cNvPr id="12" name="Shape 10"/>
          <p:cNvSpPr/>
          <p:nvPr/>
        </p:nvSpPr>
        <p:spPr>
          <a:xfrm>
            <a:off x="4645152" y="1728216"/>
            <a:ext cx="4133088" cy="192024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18105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Compares traffic with</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 baseline of what is normal here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Catches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Departures from normal, even new attacks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Misses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Attacks that look like normal traffic</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Typical false positive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Honest activity that is merely unusual</a:t>
            </a:r>
            <a:endParaRPr lang="en-US" sz="1300" dirty="0"/>
          </a:p>
        </p:txBody>
      </p:sp>
      <p:sp>
        <p:nvSpPr>
          <p:cNvPr id="14" name="Shape 12"/>
          <p:cNvSpPr/>
          <p:nvPr/>
        </p:nvSpPr>
        <p:spPr>
          <a:xfrm>
            <a:off x="411480" y="3703320"/>
            <a:ext cx="8321040" cy="978408"/>
          </a:xfrm>
          <a:prstGeom prst="rect">
            <a:avLst/>
          </a:prstGeom>
          <a:solidFill>
            <a:srgbClr val="F1E8F2"/>
          </a:solidFill>
          <a:ln/>
        </p:spPr>
      </p:sp>
      <p:sp>
        <p:nvSpPr>
          <p:cNvPr id="15" name="Text 13"/>
          <p:cNvSpPr/>
          <p:nvPr/>
        </p:nvSpPr>
        <p:spPr>
          <a:xfrm>
            <a:off x="521208" y="3703320"/>
            <a:ext cx="8101584" cy="978408"/>
          </a:xfrm>
          <a:prstGeom prst="rect">
            <a:avLst/>
          </a:prstGeom>
          <a:noFill/>
          <a:ln/>
        </p:spPr>
        <p:txBody>
          <a:bodyPr wrap="square" lIns="0" tIns="0" rIns="0" bIns="0" rtlCol="0" anchor="ctr"/>
          <a:lstStyle/>
          <a:p>
            <a:pPr indent="0" marL="0">
              <a:buNone/>
            </a:pPr>
            <a:r>
              <a:rPr lang="en-US" sz="1200" dirty="0">
                <a:solidFill>
                  <a:srgbClr val="31423B"/>
                </a:solidFill>
                <a:latin typeface="Open Sans" pitchFamily="34" charset="0"/>
                <a:ea typeface="Open Sans" pitchFamily="34" charset="-122"/>
                <a:cs typeface="Open Sans" pitchFamily="34" charset="-120"/>
              </a:rPr>
              <a:t>False positive: an alert when there was no attack. It costs time.</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False negative: a real attack that the tool did not report. It costs the case.</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The trade: fewer of one means more of the other. You cannot push both to zero.</a:t>
            </a:r>
            <a:endParaRPr lang="en-US" sz="1200" dirty="0"/>
          </a:p>
          <a:p>
            <a:pPr indent="0" marL="0">
              <a:buNone/>
            </a:pPr>
            <a:r>
              <a:rPr lang="en-US" sz="1200" b="1" dirty="0">
                <a:solidFill>
                  <a:srgbClr val="31423B"/>
                </a:solidFill>
                <a:latin typeface="Open Sans" pitchFamily="34" charset="0"/>
                <a:ea typeface="Open Sans" pitchFamily="34" charset="-122"/>
                <a:cs typeface="Open Sans" pitchFamily="34" charset="-120"/>
              </a:rPr>
              <a:t>"The IDS raised no alert" does not mean "nothing happened".</a:t>
            </a:r>
            <a:endParaRPr lang="en-US" sz="1200" dirty="0"/>
          </a:p>
          <a:p>
            <a:pPr indent="0" marL="0">
              <a:buNone/>
            </a:pPr>
            <a:r>
              <a:rPr lang="en-US" sz="1200" i="1" dirty="0">
                <a:solidFill>
                  <a:srgbClr val="5C6B63"/>
                </a:solidFill>
                <a:latin typeface="Open Sans" pitchFamily="34" charset="0"/>
                <a:ea typeface="Open Sans" pitchFamily="34" charset="-122"/>
                <a:cs typeface="Open Sans" pitchFamily="34" charset="-120"/>
              </a:rPr>
              <a:t>On the page: demo S08-D1, Two detectors, the same traffic.</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How a Suricata rule reads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53312"/>
            <a:ext cx="8321040" cy="676656"/>
          </a:xfrm>
          <a:prstGeom prst="rect">
            <a:avLst/>
          </a:prstGeom>
          <a:solidFill>
            <a:srgbClr val="FFFFFF"/>
          </a:solidFill>
          <a:ln w="9525">
            <a:solidFill>
              <a:srgbClr val="CBD6CE"/>
            </a:solidFill>
            <a:prstDash val="solid"/>
          </a:ln>
        </p:spPr>
      </p:sp>
      <p:sp>
        <p:nvSpPr>
          <p:cNvPr id="7" name="Text 5"/>
          <p:cNvSpPr/>
          <p:nvPr/>
        </p:nvSpPr>
        <p:spPr>
          <a:xfrm>
            <a:off x="502920" y="1353312"/>
            <a:ext cx="8138160" cy="676656"/>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alert http $HOME_NET any -&gt; $EXTERNAL_NET any (msg:"NB6018 TRAINING Request for update script"; flow:established,to_server; http.method; content:"GET"; http.uri; content:"/download/update.ps1"; classtype:trojan-activity; sid:9000001; rev:1;)</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11480" y="2103120"/>
          <a:ext cx="8321040" cy="914400"/>
        </p:xfrm>
        <a:graphic>
          <a:graphicData uri="http://schemas.openxmlformats.org/drawingml/2006/table">
            <a:tbl>
              <a:tblPr/>
              <a:tblGrid>
                <a:gridCol w="2286000"/>
                <a:gridCol w="3108960"/>
                <a:gridCol w="2926080"/>
              </a:tblGrid>
              <a:tr h="2743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Part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In this rule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What it means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The action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alert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Write an alert and let the traffic pass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The protocol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http</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Look only at web traffic</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Source address and port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$HOME_NET any</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From any of our computers, any port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The direction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-&gt;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From the left side to the right side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Destination address and port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$EXTERNAL_NET any</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To any outside address, any port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Options that test the traffic</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flow, http.method, http.uri, content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Decide the match: where, then what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Options that only label</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msg, sid, rev</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Label only: message, rule ID, revision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On the page: demo S08-D2, A rule reads the traffic. An alert fires only when every part matches.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an alert looks like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53312"/>
            <a:ext cx="8321040" cy="548640"/>
          </a:xfrm>
          <a:prstGeom prst="rect">
            <a:avLst/>
          </a:prstGeom>
          <a:solidFill>
            <a:srgbClr val="FFFFFF"/>
          </a:solidFill>
          <a:ln w="9525">
            <a:solidFill>
              <a:srgbClr val="CBD6CE"/>
            </a:solidFill>
            <a:prstDash val="solid"/>
          </a:ln>
        </p:spPr>
      </p:sp>
      <p:sp>
        <p:nvSpPr>
          <p:cNvPr id="7" name="Text 5"/>
          <p:cNvSpPr/>
          <p:nvPr/>
        </p:nvSpPr>
        <p:spPr>
          <a:xfrm>
            <a:off x="502920" y="1353312"/>
            <a:ext cx="8138160" cy="548640"/>
          </a:xfrm>
          <a:prstGeom prst="rect">
            <a:avLst/>
          </a:prstGeom>
          <a:noFill/>
          <a:ln/>
        </p:spPr>
        <p:txBody>
          <a:bodyPr wrap="square" lIns="0" tIns="0" rIns="0" bIns="0" rtlCol="0" anchor="ctr"/>
          <a:lstStyle/>
          <a:p>
            <a:pPr algn="l" indent="0" marL="0">
              <a:buNone/>
            </a:pPr>
            <a:r>
              <a:rPr lang="en-US" sz="1100" dirty="0">
                <a:solidFill>
                  <a:srgbClr val="31423B"/>
                </a:solidFill>
                <a:latin typeface="Consolas" pitchFamily="34" charset="0"/>
                <a:ea typeface="Consolas" pitchFamily="34" charset="-122"/>
                <a:cs typeface="Consolas" pitchFamily="34" charset="-120"/>
              </a:rPr>
              <a:t>01/22/2025-19:45:56.530137  [**] [1:9000001:1] NB6018 TRAINING Request for update script [**] [Classification: A Network Trojan was detected] [Priority: 1] {TCP} 192.0.2.10:49731 -&gt; 203.0.113.80:80</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11480" y="2011680"/>
          <a:ext cx="8321040" cy="914400"/>
        </p:xfrm>
        <a:graphic>
          <a:graphicData uri="http://schemas.openxmlformats.org/drawingml/2006/table">
            <a:tbl>
              <a:tblPr/>
              <a:tblGrid>
                <a:gridCol w="1600200"/>
                <a:gridCol w="2971800"/>
                <a:gridCol w="3749040"/>
              </a:tblGrid>
              <a:tr h="36576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Field in eve.json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On the page's example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Why it matters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6576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timestamp</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2025-01-22T19:45:56.530137+0000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It ends with +0000, the offset from UTC</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6576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pcap_cnt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31</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number of the packet that fired the rule: open exactly that packet in Wireshark</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6576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community_id</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1:lEICeLw60WvS6WALAkcCuZPvFeU=</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code that joins this alert to other records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Shape 6"/>
          <p:cNvSpPr/>
          <p:nvPr/>
        </p:nvSpPr>
        <p:spPr>
          <a:xfrm>
            <a:off x="411480" y="3611880"/>
            <a:ext cx="8321040" cy="1051560"/>
          </a:xfrm>
          <a:prstGeom prst="rect">
            <a:avLst/>
          </a:prstGeom>
          <a:solidFill>
            <a:srgbClr val="F1E8F2"/>
          </a:solidFill>
          <a:ln/>
        </p:spPr>
      </p:sp>
      <p:sp>
        <p:nvSpPr>
          <p:cNvPr id="10" name="Text 7"/>
          <p:cNvSpPr/>
          <p:nvPr/>
        </p:nvSpPr>
        <p:spPr>
          <a:xfrm>
            <a:off x="521208" y="3611880"/>
            <a:ext cx="8101584" cy="105156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line above is from fast.log. Only the time and the two ends are observations: the middle is the rule author's labelling. fast.log writes no time zone. Suricata's field names say signature and signature_id where the page says message and rule ID.</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From alert to finding: five checks, three marks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1554480"/>
          </a:xfrm>
          <a:prstGeom prst="rect">
            <a:avLst/>
          </a:prstGeom>
          <a:solidFill>
            <a:srgbClr val="DCE6DE"/>
          </a:solidFill>
          <a:ln/>
        </p:spPr>
      </p:sp>
      <p:sp>
        <p:nvSpPr>
          <p:cNvPr id="7" name="Text 5"/>
          <p:cNvSpPr/>
          <p:nvPr/>
        </p:nvSpPr>
        <p:spPr>
          <a:xfrm>
            <a:off x="502920" y="1371600"/>
            <a:ext cx="8138160" cy="1554480"/>
          </a:xfrm>
          <a:prstGeom prst="rect">
            <a:avLst/>
          </a:prstGeom>
          <a:noFill/>
          <a:ln/>
        </p:spPr>
        <p:txBody>
          <a:bodyPr wrap="square" rtlCol="0" anchor="ctr"/>
          <a:lstStyle/>
          <a:p>
            <a:pPr indent="0" marL="0">
              <a:spcAft>
                <a:spcPts val="600"/>
              </a:spcAft>
              <a:buNone/>
            </a:pPr>
            <a:r>
              <a:rPr lang="en-US" sz="1300" b="1" dirty="0">
                <a:solidFill>
                  <a:srgbClr val="31423B"/>
                </a:solidFill>
                <a:latin typeface="Open Sans" pitchFamily="34" charset="0"/>
                <a:ea typeface="Open Sans" pitchFamily="34" charset="-122"/>
                <a:cs typeface="Open Sans" pitchFamily="34" charset="-120"/>
              </a:rPr>
              <a:t>1.  Read the rule: what did it test, and what does its message claim beyond that?</a:t>
            </a:r>
            <a:endParaRPr lang="en-US" sz="1300" dirty="0"/>
          </a:p>
          <a:p>
            <a:pPr indent="0" marL="0">
              <a:spcAft>
                <a:spcPts val="600"/>
              </a:spcAft>
              <a:buNone/>
            </a:pPr>
            <a:r>
              <a:rPr lang="en-US" sz="1300" b="1" dirty="0">
                <a:solidFill>
                  <a:srgbClr val="31423B"/>
                </a:solidFill>
                <a:latin typeface="Open Sans" pitchFamily="34" charset="0"/>
                <a:ea typeface="Open Sans" pitchFamily="34" charset="-122"/>
                <a:cs typeface="Open Sans" pitchFamily="34" charset="-120"/>
              </a:rPr>
              <a:t>2.  Open the packet: is the matched text really there, in the place the rule names?</a:t>
            </a:r>
            <a:endParaRPr lang="en-US" sz="1300" dirty="0"/>
          </a:p>
          <a:p>
            <a:pPr indent="0" marL="0">
              <a:spcAft>
                <a:spcPts val="600"/>
              </a:spcAft>
              <a:buNone/>
            </a:pPr>
            <a:r>
              <a:rPr lang="en-US" sz="1300" b="1" dirty="0">
                <a:solidFill>
                  <a:srgbClr val="31423B"/>
                </a:solidFill>
                <a:latin typeface="Open Sans" pitchFamily="34" charset="0"/>
                <a:ea typeface="Open Sans" pitchFamily="34" charset="-122"/>
                <a:cs typeface="Open Sans" pitchFamily="34" charset="-120"/>
              </a:rPr>
              <a:t>3.  Read the direction and the ends: which computer sent this, to which address and port?</a:t>
            </a:r>
            <a:endParaRPr lang="en-US" sz="1300" dirty="0"/>
          </a:p>
          <a:p>
            <a:pPr indent="0" marL="0">
              <a:spcAft>
                <a:spcPts val="600"/>
              </a:spcAft>
              <a:buNone/>
            </a:pPr>
            <a:r>
              <a:rPr lang="en-US" sz="1300" b="1" dirty="0">
                <a:solidFill>
                  <a:srgbClr val="31423B"/>
                </a:solidFill>
                <a:latin typeface="Open Sans" pitchFamily="34" charset="0"/>
                <a:ea typeface="Open Sans" pitchFamily="34" charset="-122"/>
                <a:cs typeface="Open Sans" pitchFamily="34" charset="-120"/>
              </a:rPr>
              <a:t>4.  Read what followed: did the server answer, and with what size?</a:t>
            </a:r>
            <a:endParaRPr lang="en-US" sz="1300" dirty="0"/>
          </a:p>
          <a:p>
            <a:pPr indent="0" marL="0">
              <a:spcAft>
                <a:spcPts val="600"/>
              </a:spcAft>
              <a:buNone/>
            </a:pPr>
            <a:r>
              <a:rPr lang="en-US" sz="1300" b="1" dirty="0">
                <a:solidFill>
                  <a:srgbClr val="31423B"/>
                </a:solidFill>
                <a:latin typeface="Open Sans" pitchFamily="34" charset="0"/>
                <a:ea typeface="Open Sans" pitchFamily="34" charset="-122"/>
                <a:cs typeface="Open Sans" pitchFamily="34" charset="-120"/>
              </a:rPr>
              <a:t>5.  Look for a second source: a flow record, a name lookup just before</a:t>
            </a:r>
            <a:endParaRPr lang="en-US" sz="13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11480" y="3035808"/>
          <a:ext cx="8321040" cy="914400"/>
        </p:xfrm>
        <a:graphic>
          <a:graphicData uri="http://schemas.openxmlformats.org/drawingml/2006/table">
            <a:tbl>
              <a:tblPr/>
              <a:tblGrid>
                <a:gridCol w="1645920"/>
                <a:gridCol w="6675120"/>
              </a:tblGrid>
              <a:tr h="310896">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Mark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Confirmed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traffic contains what the rule describes, and what followed fits the rule's claim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False positive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rule matched, and there was no attack in that traffic</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10896">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Unclear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You cannot decide with this evidence: encryption, gaps, or behaviour that could be either</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9" name="Text 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"Unclear" is an honest mark. Write the reason for each mark in a few words, so that another person can test it.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the Panopticon</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377440"/>
          </a:xfrm>
          <a:prstGeom prst="rect">
            <a:avLst/>
          </a:prstGeom>
          <a:solidFill>
            <a:srgbClr val="F1E8F2"/>
          </a:solidFill>
          <a:ln/>
        </p:spPr>
      </p:sp>
      <p:sp>
        <p:nvSpPr>
          <p:cNvPr id="7" name="Shape 5"/>
          <p:cNvSpPr/>
          <p:nvPr/>
        </p:nvSpPr>
        <p:spPr>
          <a:xfrm>
            <a:off x="411480" y="1371600"/>
            <a:ext cx="82296" cy="237744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19751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In the eighteenth century Jeremy Bentham designed a prison with the cells in a ring around one watchtower. The guard can see into every cell. The prisoners cannot see into the tower. In 1975 Michel Foucault used this building to explain power: people who may be watched at any time behave as if they are always watched. The watcher sees and is not seen, and being visible is enough to control. A monitored network looks like this building: the sensor is the tower.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an attacker is not a prisoner in a cell. The tower does not discipline him. He studies it, and then he works in its blind spots. And the real tower is smaller than Bentham's: the sensor sees one capture point, not every cell.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quiet screen is not an innocent network, and a loud alert is not a proven attack.</a:t>
            </a:r>
            <a:endParaRPr lang="en-US" sz="1300" dirty="0"/>
          </a:p>
        </p:txBody>
      </p:sp>
      <p:sp>
        <p:nvSpPr>
          <p:cNvPr id="10" name="Shape 8"/>
          <p:cNvSpPr/>
          <p:nvPr/>
        </p:nvSpPr>
        <p:spPr>
          <a:xfrm>
            <a:off x="411480" y="3877056"/>
            <a:ext cx="8321040" cy="786384"/>
          </a:xfrm>
          <a:prstGeom prst="rect">
            <a:avLst/>
          </a:prstGeom>
          <a:solidFill>
            <a:srgbClr val="F1E8F2"/>
          </a:solidFill>
          <a:ln/>
        </p:spPr>
      </p:sp>
      <p:sp>
        <p:nvSpPr>
          <p:cNvPr id="11" name="Text 9"/>
          <p:cNvSpPr/>
          <p:nvPr/>
        </p:nvSpPr>
        <p:spPr>
          <a:xfrm>
            <a:off x="521208" y="3877056"/>
            <a:ext cx="8101584" cy="786384"/>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For each alert in the lab: what did the tower really see, and what are you adding?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554480"/>
            <a:ext cx="7680960" cy="1920240"/>
          </a:xfrm>
          <a:prstGeom prst="rect">
            <a:avLst/>
          </a:prstGeom>
          <a:noFill/>
          <a:ln/>
        </p:spPr>
        <p:txBody>
          <a:bodyPr wrap="square" lIns="0" tIns="0" rIns="0" bIns="0" rtlCol="0" anchor="t"/>
          <a:lstStyle/>
          <a:p>
            <a:pPr indent="0" marL="0">
              <a:buNone/>
            </a:pPr>
            <a:r>
              <a:rPr lang="en-US" sz="3200" b="1" dirty="0">
                <a:solidFill>
                  <a:srgbClr val="FFFFFF"/>
                </a:solidFill>
                <a:latin typeface="Open Sans" pitchFamily="34" charset="0"/>
                <a:ea typeface="Open Sans" pitchFamily="34" charset="-122"/>
                <a:cs typeface="Open Sans" pitchFamily="34" charset="-120"/>
              </a:rPr>
              <a:t>An alert is an inference, not proof. It becomes a finding only when the evidence confirms it.</a:t>
            </a:r>
            <a:endParaRPr lang="en-US" sz="3200" dirty="0"/>
          </a:p>
        </p:txBody>
      </p:sp>
      <p:sp>
        <p:nvSpPr>
          <p:cNvPr id="6" name="Text 4"/>
          <p:cNvSpPr/>
          <p:nvPr/>
        </p:nvSpPr>
        <p:spPr>
          <a:xfrm>
            <a:off x="731520" y="3703320"/>
            <a:ext cx="7680960" cy="1005840"/>
          </a:xfrm>
          <a:prstGeom prst="rect">
            <a:avLst/>
          </a:prstGeom>
          <a:noFill/>
          <a:ln/>
        </p:spPr>
        <p:txBody>
          <a:bodyPr wrap="square" lIns="0" tIns="0" rIns="0" bIns="0" rtlCol="0" anchor="t"/>
          <a:lstStyle/>
          <a:p>
            <a:pPr indent="0" marL="0">
              <a:buNone/>
            </a:pPr>
            <a:r>
              <a:rPr lang="en-US" sz="1600" i="1" dirty="0">
                <a:solidFill>
                  <a:srgbClr val="E8F0EA"/>
                </a:solidFill>
                <a:latin typeface="Open Sans" pitchFamily="34" charset="0"/>
                <a:ea typeface="Open Sans" pitchFamily="34" charset="-122"/>
                <a:cs typeface="Open Sans" pitchFamily="34" charset="-120"/>
              </a:rPr>
              <a:t>Read the rule, open the packet, read what followed, and give each rule a mark with a reason.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Correlation inside the capture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960120"/>
          </a:xfrm>
          <a:prstGeom prst="rect">
            <a:avLst/>
          </a:prstGeom>
          <a:solidFill>
            <a:srgbClr val="DCE6DE"/>
          </a:solidFill>
          <a:ln/>
        </p:spPr>
      </p:sp>
      <p:sp>
        <p:nvSpPr>
          <p:cNvPr id="7" name="Text 5"/>
          <p:cNvSpPr/>
          <p:nvPr/>
        </p:nvSpPr>
        <p:spPr>
          <a:xfrm>
            <a:off x="502920" y="1371600"/>
            <a:ext cx="8138160" cy="96012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Suricata judged the traffic and said little about each connection. Zeek describes every connection and judges nothing</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The join key is the Community ID. Every tool calculates it from the same five values, and both directions give the same code</a:t>
            </a:r>
            <a:endParaRPr lang="en-US" sz="1300" dirty="0"/>
          </a:p>
        </p:txBody>
      </p:sp>
      <p:sp>
        <p:nvSpPr>
          <p:cNvPr id="8" name="Shape 6"/>
          <p:cNvSpPr/>
          <p:nvPr/>
        </p:nvSpPr>
        <p:spPr>
          <a:xfrm>
            <a:off x="411480" y="2423160"/>
            <a:ext cx="8321040" cy="365760"/>
          </a:xfrm>
          <a:prstGeom prst="rect">
            <a:avLst/>
          </a:prstGeom>
          <a:solidFill>
            <a:srgbClr val="FFFFFF"/>
          </a:solidFill>
          <a:ln w="9525">
            <a:solidFill>
              <a:srgbClr val="CBD6CE"/>
            </a:solidFill>
            <a:prstDash val="solid"/>
          </a:ln>
        </p:spPr>
      </p:sp>
      <p:sp>
        <p:nvSpPr>
          <p:cNvPr id="9" name="Text 7"/>
          <p:cNvSpPr/>
          <p:nvPr/>
        </p:nvSpPr>
        <p:spPr>
          <a:xfrm>
            <a:off x="502920" y="2423160"/>
            <a:ext cx="8138160" cy="365760"/>
          </a:xfrm>
          <a:prstGeom prst="rect">
            <a:avLst/>
          </a:prstGeom>
          <a:noFill/>
          <a:ln/>
        </p:spPr>
        <p:txBody>
          <a:bodyPr wrap="square" lIns="0" tIns="0" rIns="0" bIns="0" rtlCol="0" anchor="ctr"/>
          <a:lstStyle/>
          <a:p>
            <a:pPr algn="ctr" indent="0" marL="0">
              <a:buNone/>
            </a:pPr>
            <a:r>
              <a:rPr lang="en-US" sz="1600" dirty="0">
                <a:solidFill>
                  <a:srgbClr val="31423B"/>
                </a:solidFill>
                <a:latin typeface="Consolas" pitchFamily="34" charset="0"/>
                <a:ea typeface="Consolas" pitchFamily="34" charset="-122"/>
                <a:cs typeface="Consolas" pitchFamily="34" charset="-120"/>
              </a:rPr>
              <a:t>1:lEICeLw60WvS6WALAkcCuZPvFeU=</a:t>
            </a:r>
            <a:endParaRPr lang="en-US" sz="1600" dirty="0"/>
          </a:p>
        </p:txBody>
      </p:sp>
      <p:sp>
        <p:nvSpPr>
          <p:cNvPr id="10" name="Shape 8"/>
          <p:cNvSpPr/>
          <p:nvPr/>
        </p:nvSpPr>
        <p:spPr>
          <a:xfrm>
            <a:off x="411480" y="2898648"/>
            <a:ext cx="2688336" cy="713232"/>
          </a:xfrm>
          <a:prstGeom prst="rect">
            <a:avLst/>
          </a:prstGeom>
          <a:solidFill>
            <a:srgbClr val="DCE6DE"/>
          </a:solidFill>
          <a:ln w="9525">
            <a:solidFill>
              <a:srgbClr val="6E8472"/>
            </a:solidFill>
            <a:prstDash val="solid"/>
          </a:ln>
        </p:spPr>
      </p:sp>
      <p:sp>
        <p:nvSpPr>
          <p:cNvPr id="11" name="Text 9"/>
          <p:cNvSpPr/>
          <p:nvPr/>
        </p:nvSpPr>
        <p:spPr>
          <a:xfrm>
            <a:off x="484632" y="2898648"/>
            <a:ext cx="2542032" cy="713232"/>
          </a:xfrm>
          <a:prstGeom prst="rect">
            <a:avLst/>
          </a:prstGeom>
          <a:noFill/>
          <a:ln/>
        </p:spPr>
        <p:txBody>
          <a:bodyPr wrap="square" lIns="0" tIns="0" rIns="0" bIns="0" rtlCol="0" anchor="ctr"/>
          <a:lstStyle/>
          <a:p>
            <a:pPr algn="ctr" indent="0" marL="0">
              <a:buNone/>
            </a:pPr>
            <a:r>
              <a:rPr lang="en-US" sz="1400" b="1" dirty="0">
                <a:solidFill>
                  <a:srgbClr val="31423B"/>
                </a:solidFill>
                <a:latin typeface="Open Sans" pitchFamily="34" charset="0"/>
                <a:ea typeface="Open Sans" pitchFamily="34" charset="-122"/>
                <a:cs typeface="Open Sans" pitchFamily="34" charset="-120"/>
              </a:rPr>
              <a:t>1  The lookup</a:t>
            </a:r>
            <a:endParaRPr lang="en-US" sz="1400" dirty="0"/>
          </a:p>
          <a:p>
            <a:pPr algn="ctr" indent="0" marL="0">
              <a:buNone/>
            </a:pPr>
            <a:r>
              <a:rPr lang="en-US" sz="1200" dirty="0">
                <a:solidFill>
                  <a:srgbClr val="31423B"/>
                </a:solidFill>
                <a:latin typeface="Open Sans" pitchFamily="34" charset="0"/>
                <a:ea typeface="Open Sans" pitchFamily="34" charset="-122"/>
                <a:cs typeface="Open Sans" pitchFamily="34" charset="-120"/>
              </a:rPr>
              <a:t>The computer asks for a name</a:t>
            </a:r>
            <a:endParaRPr lang="en-US" sz="1400" dirty="0"/>
          </a:p>
        </p:txBody>
      </p:sp>
      <p:sp>
        <p:nvSpPr>
          <p:cNvPr id="12" name="Shape 10"/>
          <p:cNvSpPr/>
          <p:nvPr/>
        </p:nvSpPr>
        <p:spPr>
          <a:xfrm>
            <a:off x="3227832" y="2898648"/>
            <a:ext cx="2688336" cy="713232"/>
          </a:xfrm>
          <a:prstGeom prst="rect">
            <a:avLst/>
          </a:prstGeom>
          <a:solidFill>
            <a:srgbClr val="DCE6DE"/>
          </a:solidFill>
          <a:ln w="9525">
            <a:solidFill>
              <a:srgbClr val="6E8472"/>
            </a:solidFill>
            <a:prstDash val="solid"/>
          </a:ln>
        </p:spPr>
      </p:sp>
      <p:sp>
        <p:nvSpPr>
          <p:cNvPr id="13" name="Text 11"/>
          <p:cNvSpPr/>
          <p:nvPr/>
        </p:nvSpPr>
        <p:spPr>
          <a:xfrm>
            <a:off x="3300984" y="2898648"/>
            <a:ext cx="2542032" cy="713232"/>
          </a:xfrm>
          <a:prstGeom prst="rect">
            <a:avLst/>
          </a:prstGeom>
          <a:noFill/>
          <a:ln/>
        </p:spPr>
        <p:txBody>
          <a:bodyPr wrap="square" lIns="0" tIns="0" rIns="0" bIns="0" rtlCol="0" anchor="ctr"/>
          <a:lstStyle/>
          <a:p>
            <a:pPr algn="ctr" indent="0" marL="0">
              <a:buNone/>
            </a:pPr>
            <a:r>
              <a:rPr lang="en-US" sz="1400" b="1" dirty="0">
                <a:solidFill>
                  <a:srgbClr val="31423B"/>
                </a:solidFill>
                <a:latin typeface="Open Sans" pitchFamily="34" charset="0"/>
                <a:ea typeface="Open Sans" pitchFamily="34" charset="-122"/>
                <a:cs typeface="Open Sans" pitchFamily="34" charset="-120"/>
              </a:rPr>
              <a:t>2  The download</a:t>
            </a:r>
            <a:endParaRPr lang="en-US" sz="1400" dirty="0"/>
          </a:p>
          <a:p>
            <a:pPr algn="ctr" indent="0" marL="0">
              <a:buNone/>
            </a:pPr>
            <a:r>
              <a:rPr lang="en-US" sz="1200" dirty="0">
                <a:solidFill>
                  <a:srgbClr val="31423B"/>
                </a:solidFill>
                <a:latin typeface="Open Sans" pitchFamily="34" charset="0"/>
                <a:ea typeface="Open Sans" pitchFamily="34" charset="-122"/>
                <a:cs typeface="Open Sans" pitchFamily="34" charset="-120"/>
              </a:rPr>
              <a:t>It receives far more than it sends</a:t>
            </a:r>
            <a:endParaRPr lang="en-US" sz="1400" dirty="0"/>
          </a:p>
        </p:txBody>
      </p:sp>
      <p:sp>
        <p:nvSpPr>
          <p:cNvPr id="14" name="Shape 12"/>
          <p:cNvSpPr/>
          <p:nvPr/>
        </p:nvSpPr>
        <p:spPr>
          <a:xfrm>
            <a:off x="6044184" y="2898648"/>
            <a:ext cx="2688336" cy="713232"/>
          </a:xfrm>
          <a:prstGeom prst="rect">
            <a:avLst/>
          </a:prstGeom>
          <a:solidFill>
            <a:srgbClr val="DCE6DE"/>
          </a:solidFill>
          <a:ln w="9525">
            <a:solidFill>
              <a:srgbClr val="6E8472"/>
            </a:solidFill>
            <a:prstDash val="solid"/>
          </a:ln>
        </p:spPr>
      </p:sp>
      <p:sp>
        <p:nvSpPr>
          <p:cNvPr id="15" name="Text 13"/>
          <p:cNvSpPr/>
          <p:nvPr/>
        </p:nvSpPr>
        <p:spPr>
          <a:xfrm>
            <a:off x="6117336" y="2898648"/>
            <a:ext cx="2542032" cy="713232"/>
          </a:xfrm>
          <a:prstGeom prst="rect">
            <a:avLst/>
          </a:prstGeom>
          <a:noFill/>
          <a:ln/>
        </p:spPr>
        <p:txBody>
          <a:bodyPr wrap="square" lIns="0" tIns="0" rIns="0" bIns="0" rtlCol="0" anchor="ctr"/>
          <a:lstStyle/>
          <a:p>
            <a:pPr algn="ctr" indent="0" marL="0">
              <a:buNone/>
            </a:pPr>
            <a:r>
              <a:rPr lang="en-US" sz="1400" b="1" dirty="0">
                <a:solidFill>
                  <a:srgbClr val="31423B"/>
                </a:solidFill>
                <a:latin typeface="Open Sans" pitchFamily="34" charset="0"/>
                <a:ea typeface="Open Sans" pitchFamily="34" charset="-122"/>
                <a:cs typeface="Open Sans" pitchFamily="34" charset="-120"/>
              </a:rPr>
              <a:t>3  The contact</a:t>
            </a:r>
            <a:endParaRPr lang="en-US" sz="1400" dirty="0"/>
          </a:p>
          <a:p>
            <a:pPr algn="ctr" indent="0" marL="0">
              <a:buNone/>
            </a:pPr>
            <a:r>
              <a:rPr lang="en-US" sz="1200" dirty="0">
                <a:solidFill>
                  <a:srgbClr val="31423B"/>
                </a:solidFill>
                <a:latin typeface="Open Sans" pitchFamily="34" charset="0"/>
                <a:ea typeface="Open Sans" pitchFamily="34" charset="-122"/>
                <a:cs typeface="Open Sans" pitchFamily="34" charset="-120"/>
              </a:rPr>
              <a:t>It reports to the attacker's server, again and again</a:t>
            </a:r>
            <a:endParaRPr lang="en-US" sz="1400" dirty="0"/>
          </a:p>
        </p:txBody>
      </p:sp>
      <p:sp>
        <p:nvSpPr>
          <p:cNvPr id="16" name="Shape 14"/>
          <p:cNvSpPr/>
          <p:nvPr/>
        </p:nvSpPr>
        <p:spPr>
          <a:xfrm>
            <a:off x="411480" y="3721608"/>
            <a:ext cx="8321040" cy="621792"/>
          </a:xfrm>
          <a:prstGeom prst="rect">
            <a:avLst/>
          </a:prstGeom>
          <a:solidFill>
            <a:srgbClr val="F1E8F2"/>
          </a:solidFill>
          <a:ln/>
        </p:spPr>
      </p:sp>
      <p:sp>
        <p:nvSpPr>
          <p:cNvPr id="17" name="Text 15"/>
          <p:cNvSpPr/>
          <p:nvPr/>
        </p:nvSpPr>
        <p:spPr>
          <a:xfrm>
            <a:off x="521208" y="3721608"/>
            <a:ext cx="8101584" cy="621792"/>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The join adds size and duration, flows with no alert, and a check on the alert. It does not add a person: the chain is still about a device.</a:t>
            </a:r>
            <a:endParaRPr lang="en-US" sz="1300" dirty="0"/>
          </a:p>
        </p:txBody>
      </p:sp>
      <p:sp>
        <p:nvSpPr>
          <p:cNvPr id="18" name="Text 16"/>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On the page: demo S08-D3, From one alert to the chain.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Correlation against the timeline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069080" cy="1481328"/>
          </a:xfrm>
          <a:prstGeom prst="rect">
            <a:avLst/>
          </a:prstGeom>
          <a:solidFill>
            <a:srgbClr val="DCE6DE"/>
          </a:solidFill>
          <a:ln/>
        </p:spPr>
      </p:sp>
      <p:sp>
        <p:nvSpPr>
          <p:cNvPr id="7" name="Text 5"/>
          <p:cNvSpPr/>
          <p:nvPr/>
        </p:nvSpPr>
        <p:spPr>
          <a:xfrm>
            <a:off x="502920" y="1371600"/>
            <a:ext cx="3886200" cy="1481328"/>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Confirmed alerts into seven columns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Normalise to UTC</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Merge into a NEW file, then sort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Rows interleave: support</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Two blocks: exclude a link</a:t>
            </a:r>
            <a:endParaRPr lang="en-US" sz="1300" dirty="0"/>
          </a:p>
        </p:txBody>
      </p:sp>
      <p:sp>
        <p:nvSpPr>
          <p:cNvPr id="8" name="Shape 6"/>
          <p:cNvSpPr/>
          <p:nvPr/>
        </p:nvSpPr>
        <p:spPr>
          <a:xfrm>
            <a:off x="4572000" y="1371600"/>
            <a:ext cx="4160520" cy="1481328"/>
          </a:xfrm>
          <a:prstGeom prst="rect">
            <a:avLst/>
          </a:prstGeom>
          <a:solidFill>
            <a:srgbClr val="F1E8F2"/>
          </a:solidFill>
          <a:ln/>
        </p:spPr>
      </p:sp>
      <p:sp>
        <p:nvSpPr>
          <p:cNvPr id="9" name="Text 7"/>
          <p:cNvSpPr/>
          <p:nvPr/>
        </p:nvSpPr>
        <p:spPr>
          <a:xfrm>
            <a:off x="4681728" y="1371600"/>
            <a:ext cx="3941064" cy="1481328"/>
          </a:xfrm>
          <a:prstGeom prst="rect">
            <a:avLst/>
          </a:prstGeom>
          <a:noFill/>
          <a:ln/>
        </p:spPr>
        <p:txBody>
          <a:bodyPr wrap="square" lIns="0" tIns="0" rIns="0" bIns="0" rtlCol="0" anchor="ctr"/>
          <a:lstStyle/>
          <a:p>
            <a:pPr indent="0" marL="0">
              <a:spcAft>
                <a:spcPts val="500"/>
              </a:spcAft>
              <a:buNone/>
            </a:pPr>
            <a:r>
              <a:rPr lang="en-US" sz="1300" b="1" dirty="0">
                <a:solidFill>
                  <a:srgbClr val="31423B"/>
                </a:solidFill>
                <a:latin typeface="Open Sans" pitchFamily="34" charset="0"/>
                <a:ea typeface="Open Sans" pitchFamily="34" charset="-122"/>
                <a:cs typeface="Open Sans" pitchFamily="34" charset="-120"/>
              </a:rPr>
              <a:t>Our case: another computer, and January 2025 against March 2015. Almost ten years. This infection cannot explain the leak.</a:t>
            </a:r>
            <a:endParaRPr lang="en-US" sz="1300" dirty="0"/>
          </a:p>
          <a:p>
            <a:pPr indent="0" marL="0">
              <a:buNone/>
            </a:pPr>
            <a:r>
              <a:rPr lang="en-US" sz="1300" dirty="0">
                <a:solidFill>
                  <a:srgbClr val="31423B"/>
                </a:solidFill>
                <a:latin typeface="Open Sans" pitchFamily="34" charset="0"/>
                <a:ea typeface="Open Sans" pitchFamily="34" charset="-122"/>
                <a:cs typeface="Open Sans" pitchFamily="34" charset="-120"/>
              </a:rPr>
              <a:t>Three limits: it excludes this infection only. It depends on both clocks. It depends on the sensor's view.</a:t>
            </a:r>
            <a:endParaRPr lang="en-US" sz="1300" dirty="0"/>
          </a:p>
        </p:txBody>
      </p:sp>
      <p:sp>
        <p:nvSpPr>
          <p:cNvPr id="10" name="Shape 8"/>
          <p:cNvSpPr/>
          <p:nvPr/>
        </p:nvSpPr>
        <p:spPr>
          <a:xfrm>
            <a:off x="411480" y="2962656"/>
            <a:ext cx="8321040" cy="1371600"/>
          </a:xfrm>
          <a:prstGeom prst="rect">
            <a:avLst/>
          </a:prstGeom>
          <a:solidFill>
            <a:srgbClr val="E8F0EA"/>
          </a:solidFill>
          <a:ln/>
        </p:spPr>
      </p:sp>
      <p:sp>
        <p:nvSpPr>
          <p:cNvPr id="11" name="Shape 9"/>
          <p:cNvSpPr/>
          <p:nvPr/>
        </p:nvSpPr>
        <p:spPr>
          <a:xfrm>
            <a:off x="411480" y="2962656"/>
            <a:ext cx="82296" cy="1371600"/>
          </a:xfrm>
          <a:prstGeom prst="rect">
            <a:avLst/>
          </a:prstGeom>
          <a:solidFill>
            <a:srgbClr val="6E8472"/>
          </a:solidFill>
          <a:ln/>
        </p:spPr>
      </p:sp>
      <p:sp>
        <p:nvSpPr>
          <p:cNvPr id="12" name="Text 10"/>
          <p:cNvSpPr/>
          <p:nvPr/>
        </p:nvSpPr>
        <p:spPr>
          <a:xfrm>
            <a:off x="621792" y="3035808"/>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13" name="Text 11"/>
          <p:cNvSpPr/>
          <p:nvPr/>
        </p:nvSpPr>
        <p:spPr>
          <a:xfrm>
            <a:off x="621792" y="3291840"/>
            <a:ext cx="7955280" cy="96926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An excluding correlation is like an alibi. It does not say who did something. It says who could not have done it: in another place, at that time, and here is the record.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an alibi clears a person completely for that act. Your exclusion clears one infection only, and your records are about devices, not about a person.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write the exclusion as narrowly as the evidence is.</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On the page: demo S08-D4, Two timelines on one clock.</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Indicators of compromise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411480" y="1371600"/>
          <a:ext cx="8321040" cy="914400"/>
        </p:xfrm>
        <a:graphic>
          <a:graphicData uri="http://schemas.openxmlformats.org/drawingml/2006/table">
            <a:tbl>
              <a:tblPr/>
              <a:tblGrid>
                <a:gridCol w="2011680"/>
                <a:gridCol w="1920240"/>
                <a:gridCol w="4389120"/>
              </a:tblGrid>
              <a:tr h="27432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Kind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How long it stays useful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Why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IP address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Days to weeks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Renting another server takes minutes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Domain name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Weeks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 new name costs little, but it must be registered and set up</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URL path</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Weeks to months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attacker's own tools must be changed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Hash value of a file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Until one byte changes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While it lasts, it is exact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Certificate of a server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Often months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Until the attacker makes a new one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274320">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JA3 or JA4 value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Months</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But many honest programs may share it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401568"/>
            <a:ext cx="8321040" cy="566928"/>
          </a:xfrm>
          <a:prstGeom prst="rect">
            <a:avLst/>
          </a:prstGeom>
          <a:solidFill>
            <a:srgbClr val="F1E8F2"/>
          </a:solidFill>
          <a:ln/>
        </p:spPr>
      </p:sp>
      <p:sp>
        <p:nvSpPr>
          <p:cNvPr id="8" name="Text 5"/>
          <p:cNvSpPr/>
          <p:nvPr/>
        </p:nvSpPr>
        <p:spPr>
          <a:xfrm>
            <a:off x="521208" y="3401568"/>
            <a:ext cx="8101584" cy="566928"/>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A good indicator: comes from confirmed evidence, is specific, says where and when, can be searched for, and has an end.</a:t>
            </a:r>
            <a:endParaRPr lang="en-US" sz="1300" dirty="0"/>
          </a:p>
        </p:txBody>
      </p:sp>
      <p:sp>
        <p:nvSpPr>
          <p:cNvPr id="9" name="Text 6"/>
          <p:cNvSpPr/>
          <p:nvPr/>
        </p:nvSpPr>
        <p:spPr>
          <a:xfrm>
            <a:off x="411480" y="4023360"/>
            <a:ext cx="8321040" cy="365760"/>
          </a:xfrm>
          <a:prstGeom prst="rect">
            <a:avLst/>
          </a:prstGeom>
          <a:noFill/>
          <a:ln/>
        </p:spPr>
        <p:txBody>
          <a:bodyPr wrap="square" lIns="0" tIns="0" rIns="0" bIns="0" rtlCol="0" anchor="ctr"/>
          <a:lstStyle/>
          <a:p>
            <a:pPr indent="0" marL="0">
              <a:buNone/>
            </a:pPr>
            <a:r>
              <a:rPr lang="en-US" sz="1300" dirty="0">
                <a:solidFill>
                  <a:srgbClr val="31423B"/>
                </a:solidFill>
                <a:latin typeface="Open Sans" pitchFamily="34" charset="0"/>
                <a:ea typeface="Open Sans" pitchFamily="34" charset="-122"/>
                <a:cs typeface="Open Sans" pitchFamily="34" charset="-120"/>
              </a:rPr>
              <a:t>The cheaper an indicator is for the attacker to change, the shorter its life. Going deeper on the page: the pyramid of pain.</a:t>
            </a:r>
            <a:endParaRPr lang="en-US" sz="1300" dirty="0"/>
          </a:p>
        </p:txBody>
      </p:sp>
      <p:sp>
        <p:nvSpPr>
          <p:cNvPr id="10" name="Text 7"/>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On the page: demo S08-D5, How long an indicator stays useful.</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600" b="1" dirty="0">
                <a:solidFill>
                  <a:srgbClr val="FFFFFF"/>
                </a:solidFill>
                <a:latin typeface="Open Sans" pitchFamily="34" charset="0"/>
                <a:ea typeface="Open Sans" pitchFamily="34" charset="-122"/>
                <a:cs typeface="Open Sans" pitchFamily="34" charset="-120"/>
              </a:rPr>
              <a:t>The lab: from alerts to a judgement</a:t>
            </a:r>
            <a:endParaRPr lang="en-US" sz="26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700"/>
              </a:spcAft>
              <a:buNone/>
            </a:pPr>
            <a:r>
              <a:rPr lang="en-US" sz="1800" b="1" dirty="0">
                <a:solidFill>
                  <a:srgbClr val="FFFFFF"/>
                </a:solidFill>
                <a:latin typeface="Open Sans" pitchFamily="34" charset="0"/>
                <a:ea typeface="Open Sans" pitchFamily="34" charset="-122"/>
                <a:cs typeface="Open Sans" pitchFamily="34" charset="-120"/>
              </a:rPr>
              <a:t>Live malware: four rules</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1.  The capture stays in Kali</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2.  Packet tools only</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3.  Nothing is taken out: no Export Objects</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4.  No protection is switched off</a:t>
            </a:r>
            <a:endParaRPr lang="en-US" sz="16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1.  Run Suricata, read the alerts</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2.  Check the top alerts, mark each one</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3.  Join to Zeek's flow records: the chain</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4.  Merge with your Session 5 timeline</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5.  List indicators, confirmed only</a:t>
            </a:r>
            <a:endParaRPr lang="en-US" sz="1600" dirty="0"/>
          </a:p>
          <a:p>
            <a:pPr indent="0" marL="0">
              <a:spcAft>
                <a:spcPts val="700"/>
              </a:spcAft>
              <a:buNone/>
            </a:pPr>
            <a:r>
              <a:rPr lang="en-US" sz="1600" b="1" dirty="0">
                <a:solidFill>
                  <a:srgbClr val="FFFFFF"/>
                </a:solidFill>
                <a:latin typeface="Open Sans" pitchFamily="34" charset="0"/>
                <a:ea typeface="Open Sans" pitchFamily="34" charset="-122"/>
                <a:cs typeface="Open Sans" pitchFamily="34" charset="-120"/>
              </a:rPr>
              <a:t>Hand in: s08-findings.csv, s08-ioc-list.csv, s08-triage.csv, s08-joined.csv, s08-merged-timeline.csv, notes and custody record</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800" b="1" dirty="0">
                <a:solidFill>
                  <a:srgbClr val="31423B"/>
                </a:solidFill>
                <a:latin typeface="Open Sans" pitchFamily="34" charset="0"/>
                <a:ea typeface="Open Sans" pitchFamily="34" charset="-122"/>
                <a:cs typeface="Open Sans" pitchFamily="34" charset="-120"/>
              </a:rPr>
              <a:t>The IDS on the client's network was silent on the days of the leak, because no sensor existed then. A manager writes: "No alerts, so no malware was involved." What may our report say, and what may it not?</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80960" cy="1097280"/>
          </a:xfrm>
          <a:prstGeom prst="rect">
            <a:avLst/>
          </a:prstGeom>
          <a:noFill/>
          <a:ln/>
        </p:spPr>
        <p:txBody>
          <a:bodyPr wrap="square" lIns="0" tIns="0" rIns="0" bIns="0" rtlCol="0" anchor="t"/>
          <a:lstStyle/>
          <a:p>
            <a:pPr indent="0" marL="0">
              <a:buNone/>
            </a:pPr>
            <a:r>
              <a:rPr lang="en-US" sz="3400" b="1" dirty="0">
                <a:solidFill>
                  <a:srgbClr val="FFFFFF"/>
                </a:solidFill>
                <a:latin typeface="Open Sans" pitchFamily="34" charset="0"/>
                <a:ea typeface="Open Sans" pitchFamily="34" charset="-122"/>
                <a:cs typeface="Open Sans" pitchFamily="34" charset="-120"/>
              </a:rPr>
              <a:t>Day-closing micro-quiz</a:t>
            </a:r>
            <a:endParaRPr lang="en-US" sz="3400" dirty="0"/>
          </a:p>
        </p:txBody>
      </p:sp>
      <p:sp>
        <p:nvSpPr>
          <p:cNvPr id="5" name="Shape 3"/>
          <p:cNvSpPr/>
          <p:nvPr/>
        </p:nvSpPr>
        <p:spPr>
          <a:xfrm>
            <a:off x="731520" y="1920240"/>
            <a:ext cx="7680960" cy="2011680"/>
          </a:xfrm>
          <a:prstGeom prst="rect">
            <a:avLst/>
          </a:prstGeom>
          <a:solidFill>
            <a:srgbClr val="31423B"/>
          </a:solidFill>
          <a:ln/>
        </p:spPr>
      </p:sp>
      <p:sp>
        <p:nvSpPr>
          <p:cNvPr id="6" name="Text 4"/>
          <p:cNvSpPr/>
          <p:nvPr/>
        </p:nvSpPr>
        <p:spPr>
          <a:xfrm>
            <a:off x="868680" y="1920240"/>
            <a:ext cx="7406640" cy="2011680"/>
          </a:xfrm>
          <a:prstGeom prst="rect">
            <a:avLst/>
          </a:prstGeom>
          <a:noFill/>
          <a:ln/>
        </p:spPr>
        <p:txBody>
          <a:bodyPr wrap="square" lIns="0" tIns="0" rIns="0" bIns="0" rtlCol="0" anchor="ctr"/>
          <a:lstStyle/>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Five short answers, on Sessions 7 and 8</a:t>
            </a:r>
            <a:endParaRPr lang="en-US" sz="1800" dirty="0"/>
          </a:p>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About two sentences each, in ten minutes</a:t>
            </a:r>
            <a:endParaRPr lang="en-US" sz="1800" dirty="0"/>
          </a:p>
          <a:p>
            <a:pPr marL="342900" indent="-342900">
              <a:spcAft>
                <a:spcPts val="600"/>
              </a:spcAft>
              <a:buSzPct val="100000"/>
              <a:buChar char="•"/>
            </a:pPr>
            <a:r>
              <a:rPr lang="en-US" sz="1800" b="1" dirty="0">
                <a:solidFill>
                  <a:srgbClr val="FFFFFF"/>
                </a:solidFill>
                <a:latin typeface="Open Sans" pitchFamily="34" charset="0"/>
                <a:ea typeface="Open Sans" pitchFamily="34" charset="-122"/>
                <a:cs typeface="Open Sans" pitchFamily="34" charset="-120"/>
              </a:rPr>
              <a:t>Mark yourself against the model answers on the session page</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An IDS sees only what passes its capture point</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An alert is a hypothesis until the packets confirm it</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Correlation can exclude as well as confirm, with limits</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Good indicators are confirmed, specific, sourced and dated</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Day 5 - what is such a program, and what can it do? Session 9 begins with the rules for handling a suspicious program safely, in isolation, and then reads a training sample without running it.</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S08 - Intrusion Detection and Log Correlation</dc:title>
  <dc:subject>PptxGenJS Presentation</dc:subject>
  <dc:creator>Niranga Dharmaratna</dc:creator>
  <cp:lastModifiedBy>Niranga Dharmaratna</cp:lastModifiedBy>
  <cp:revision>1</cp:revision>
  <dcterms:created xsi:type="dcterms:W3CDTF">2026-10-10T18:17:15Z</dcterms:created>
  <dcterms:modified xsi:type="dcterms:W3CDTF">2026-10-10T18:17:15Z</dcterms:modified>
</cp:coreProperties>
</file>