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9 opens with the whole case, then the frame of law and ethics. Two halves: the timed integration exercise on the S17 pack (about 90 minutes) and the ethics debate (35 minutes). The portal page is the content master; every slide points to a section of it. No new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LO4 through methodology, ethics and professionalism; LO5 through incident response. Examined ideas named on the page by name: incident response versus disaster recovery, post-incident activity, containing a compromised server, MFA for administrative access (D28). Day 9 closes with the mock, issued on the LMS, not a quiz.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S16's Coming next promised this. Say once why the network thread is what the suspect's own records carry: the client recorded no traffic (S7), and the S7-S8 captures were other networks (D45, D46, D51).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1. The share times come from answer key questions 24 and 27 at UTC-4; the key's Part C says to confirm them on the first build. 10.11.11.129 is a private address behind NAT: Google never saw it (S7's address-is-a-device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four-part comparison of section 1. Spend the time on where it breaks: independence and the shared clock.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2. Three rules: traces are evidence, absence of evidence is not proof of absence, confidence says so. Use S16's three phrases.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3. NIST SP 800-61 Rev 3 (April 2025) is current; Rev 2's four phases are named as Rev 2 (D28). S13's promise: response actions versus recommendations.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4. S14 Part 2 is on hold (O23), so this is principle only, on a described scenario, with no technical artefacts. S1 promised this decision. Quick checks: first actions; what MFA does not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4. Phishing-resistant authentication (a security key) checks the real site's address. Forgotten accounts and recovery paths without MFA need their own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5. Verified at build on legislation.gov.uk and gov.uk; the private companion lists what was checked. S7 (interception) and S9 (samples) promises closed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PDPA: the Amendment Act No. 22 of 2025 moved commencement to Minister's Orders; Gazette Extraordinary 2498/16 brings Parts I and III into operation on 1 January 2027; Parts II and VII await an Order. The DPA's own site still shows the superseded 2025 date: check the Gazette.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6. The comparison: an expert is like a doctor paid by an employer to certify fitness; where it breaks, the court is adversarial and the duty is written into the rules (CrimPR 19.2).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lens, page section 7. Name and paraphrase only; no stills, no poster. Give the one-line gist. About three minutes. Then frame the ethics half with the privacy-versus-security debate.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pivotal idea (S17 row of Teaching Plan Section 7). Let the room read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7. A serious crime found in collateral data (for example a risk to a child) goes through the organisation's procedure, not the examiner's own judgement.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8, Part A. Walk the room at step 5 (headers and Drive-log addresses: present or a limitation), step 7 (the -0400 offset) and step 11 (who wrote each record before tagging). An honest gap beats an unfinished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8, Part B. Each side 3 minutes, 1-minute replies, 7 minutes for the room to test both arguments against section 7, CrimPR 19.2 and the data protection laws. Each team writes down the strongest argument against its own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Take-aways. Collect the timeline and the summary for the checkpoint; judge the timeline with the checker and the summary against the model in the key. Day 9 closes with the mock, issued on the LMS.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House disclaimer, unchanged. CFReDS names, accounts and times are the case's own, shown as recorded; the web-server scenario is described, with no artefacts.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8F4"/>
        </a:solidFill>
      </p:bgPr>
    </p:bg>
    <p:spTree>
      <p:nvGrpSpPr>
        <p:cNvPr id="1" name=""/>
        <p:cNvGrpSpPr/>
        <p:nvPr/>
      </p:nvGrpSpPr>
      <p:grpSpPr>
        <a:xfrm>
          <a:off x="0" y="0"/>
          <a:ext cx="0" cy="0"/>
          <a:chOff x="0" y="0"/>
          <a:chExt cx="0" cy="0"/>
        </a:xfrm>
      </p:grpSpPr>
      <p:sp>
        <p:nvSpPr>
          <p:cNvPr id="2" name="Text 0"/>
          <p:cNvSpPr/>
          <p:nvPr/>
        </p:nvSpPr>
        <p:spPr>
          <a:xfrm>
            <a:off x="384048" y="292608"/>
            <a:ext cx="5486400" cy="548640"/>
          </a:xfrm>
          <a:prstGeom prst="rect">
            <a:avLst/>
          </a:prstGeom>
          <a:noFill/>
          <a:ln/>
        </p:spPr>
        <p:txBody>
          <a:bodyPr wrap="square" lIns="0" tIns="0" rIns="0" bIns="0" rtlCol="0" anchor="ctr"/>
          <a:lstStyle/>
          <a:p>
            <a:pPr indent="0" marL="0">
              <a:buNone/>
            </a:pPr>
            <a:r>
              <a:rPr lang="en-US" sz="1300" b="1" dirty="0">
                <a:solidFill>
                  <a:srgbClr val="31423B"/>
                </a:solidFill>
                <a:latin typeface="Open Sans" pitchFamily="34" charset="0"/>
                <a:ea typeface="Open Sans" pitchFamily="34" charset="-122"/>
                <a:cs typeface="Open Sans" pitchFamily="34" charset="-120"/>
              </a:rPr>
              <a:t>BSc (Hons) Ethical Hacking &amp; Network Security</a:t>
            </a:r>
            <a:endParaRPr lang="en-US" sz="1300" dirty="0"/>
          </a:p>
          <a:p>
            <a:pPr indent="0" marL="0">
              <a:buNone/>
            </a:pPr>
            <a:r>
              <a:rPr lang="en-US" sz="1300" b="1" dirty="0">
                <a:solidFill>
                  <a:srgbClr val="31423B"/>
                </a:solidFill>
                <a:latin typeface="Open Sans" pitchFamily="34" charset="0"/>
                <a:ea typeface="Open Sans" pitchFamily="34" charset="-122"/>
                <a:cs typeface="Open Sans" pitchFamily="34" charset="-120"/>
              </a:rPr>
              <a:t>Coventry University (CU) - NIBM</a:t>
            </a:r>
            <a:endParaRPr lang="en-US" sz="1300" dirty="0"/>
          </a:p>
        </p:txBody>
      </p:sp>
      <p:sp>
        <p:nvSpPr>
          <p:cNvPr id="3" name="Text 1"/>
          <p:cNvSpPr/>
          <p:nvPr/>
        </p:nvSpPr>
        <p:spPr>
          <a:xfrm>
            <a:off x="384048" y="886968"/>
            <a:ext cx="4572000" cy="256032"/>
          </a:xfrm>
          <a:prstGeom prst="rect">
            <a:avLst/>
          </a:prstGeom>
          <a:noFill/>
          <a:ln/>
        </p:spPr>
        <p:txBody>
          <a:bodyPr wrap="square" lIns="0" tIns="0" rIns="0" bIns="0" rtlCol="0" anchor="ctr"/>
          <a:lstStyle/>
          <a:p>
            <a:pPr indent="0" marL="0">
              <a:buNone/>
            </a:pPr>
            <a:r>
              <a:rPr lang="en-US" sz="1300" b="1" dirty="0">
                <a:solidFill>
                  <a:srgbClr val="4F6356"/>
                </a:solidFill>
                <a:latin typeface="Open Sans" pitchFamily="34" charset="0"/>
                <a:ea typeface="Open Sans" pitchFamily="34" charset="-122"/>
                <a:cs typeface="Open Sans" pitchFamily="34" charset="-120"/>
              </a:rPr>
              <a:t>NB6018CEM  |  Level 6  |  20 Credits</a:t>
            </a:r>
            <a:endParaRPr lang="en-US" sz="1300" dirty="0"/>
          </a:p>
        </p:txBody>
      </p:sp>
      <p:sp>
        <p:nvSpPr>
          <p:cNvPr id="4" name="Text 2"/>
          <p:cNvSpPr/>
          <p:nvPr/>
        </p:nvSpPr>
        <p:spPr>
          <a:xfrm>
            <a:off x="384048" y="1188720"/>
            <a:ext cx="5486400" cy="1920240"/>
          </a:xfrm>
          <a:prstGeom prst="rect">
            <a:avLst/>
          </a:prstGeom>
          <a:noFill/>
          <a:ln/>
        </p:spPr>
        <p:txBody>
          <a:bodyPr wrap="square" lIns="0" tIns="0" rIns="0" bIns="0" rtlCol="0" anchor="ctr"/>
          <a:lstStyle/>
          <a:p>
            <a:pPr indent="0" marL="0">
              <a:buNone/>
            </a:pPr>
            <a:r>
              <a:rPr lang="en-US" sz="3200" b="1" dirty="0">
                <a:solidFill>
                  <a:srgbClr val="31423B"/>
                </a:solidFill>
                <a:latin typeface="Open Sans" pitchFamily="34" charset="0"/>
                <a:ea typeface="Open Sans" pitchFamily="34" charset="-122"/>
                <a:cs typeface="Open Sans" pitchFamily="34" charset="-120"/>
              </a:rPr>
              <a:t>End-to-end investigation, ethics and law</a:t>
            </a:r>
            <a:endParaRPr lang="en-US" sz="3200" dirty="0"/>
          </a:p>
        </p:txBody>
      </p:sp>
      <p:sp>
        <p:nvSpPr>
          <p:cNvPr id="5" name="Shape 3"/>
          <p:cNvSpPr/>
          <p:nvPr/>
        </p:nvSpPr>
        <p:spPr>
          <a:xfrm>
            <a:off x="384048" y="3145536"/>
            <a:ext cx="749808" cy="82296"/>
          </a:xfrm>
          <a:prstGeom prst="rect">
            <a:avLst/>
          </a:prstGeom>
          <a:solidFill>
            <a:srgbClr val="6E8472"/>
          </a:solidFill>
          <a:ln/>
        </p:spPr>
      </p:sp>
      <p:sp>
        <p:nvSpPr>
          <p:cNvPr id="6" name="Shape 4"/>
          <p:cNvSpPr/>
          <p:nvPr/>
        </p:nvSpPr>
        <p:spPr>
          <a:xfrm>
            <a:off x="1188720" y="3145536"/>
            <a:ext cx="384048" cy="82296"/>
          </a:xfrm>
          <a:prstGeom prst="rect">
            <a:avLst/>
          </a:prstGeom>
          <a:solidFill>
            <a:srgbClr val="8A4E8F"/>
          </a:solidFill>
          <a:ln/>
        </p:spPr>
      </p:sp>
      <p:sp>
        <p:nvSpPr>
          <p:cNvPr id="7" name="Text 5"/>
          <p:cNvSpPr/>
          <p:nvPr/>
        </p:nvSpPr>
        <p:spPr>
          <a:xfrm>
            <a:off x="384048" y="3310128"/>
            <a:ext cx="5303520" cy="640080"/>
          </a:xfrm>
          <a:prstGeom prst="rect">
            <a:avLst/>
          </a:prstGeom>
          <a:noFill/>
          <a:ln/>
        </p:spPr>
        <p:txBody>
          <a:bodyPr wrap="square" lIns="0" tIns="0" rIns="0" bIns="0" rtlCol="0" anchor="t"/>
          <a:lstStyle/>
          <a:p>
            <a:pPr indent="0" marL="0">
              <a:buNone/>
            </a:pPr>
            <a:r>
              <a:rPr lang="en-US" sz="1800" i="1" dirty="0">
                <a:solidFill>
                  <a:srgbClr val="5C6B63"/>
                </a:solidFill>
                <a:latin typeface="Open Sans" pitchFamily="34" charset="0"/>
                <a:ea typeface="Open Sans" pitchFamily="34" charset="-122"/>
                <a:cs typeface="Open Sans" pitchFamily="34" charset="-120"/>
              </a:rPr>
              <a:t>Session 17 - Day 9: Integration and assessment readiness</a:t>
            </a:r>
            <a:endParaRPr lang="en-US" sz="1800" dirty="0"/>
          </a:p>
        </p:txBody>
      </p:sp>
      <p:sp>
        <p:nvSpPr>
          <p:cNvPr id="8" name="Text 6"/>
          <p:cNvSpPr/>
          <p:nvPr/>
        </p:nvSpPr>
        <p:spPr>
          <a:xfrm>
            <a:off x="384048" y="4681728"/>
            <a:ext cx="5029200" cy="329184"/>
          </a:xfrm>
          <a:prstGeom prst="rect">
            <a:avLst/>
          </a:prstGeom>
          <a:noFill/>
          <a:ln/>
        </p:spPr>
        <p:txBody>
          <a:bodyPr wrap="square" lIns="0" tIns="0" rIns="0" bIns="0" rtlCol="0" anchor="ctr"/>
          <a:lstStyle/>
          <a:p>
            <a:pPr indent="0" marL="0">
              <a:buNone/>
            </a:pPr>
            <a:r>
              <a:rPr lang="en-US" sz="1300" dirty="0">
                <a:solidFill>
                  <a:srgbClr val="5C6B63"/>
                </a:solidFill>
                <a:latin typeface="Open Sans" pitchFamily="34" charset="0"/>
                <a:ea typeface="Open Sans" pitchFamily="34" charset="-122"/>
                <a:cs typeface="Open Sans" pitchFamily="34" charset="-120"/>
              </a:rPr>
              <a:t>Niranga Dharmaratna - niranga@nibm.lk</a:t>
            </a:r>
            <a:endParaRPr lang="en-US" sz="1300" dirty="0"/>
          </a:p>
        </p:txBody>
      </p:sp>
      <p:pic>
        <p:nvPicPr>
          <p:cNvPr id="9" name="Image 0" descr="preencoded.png">    </p:cNvPr>
          <p:cNvPicPr>
            <a:picLocks noChangeAspect="1"/>
          </p:cNvPicPr>
          <p:nvPr/>
        </p:nvPicPr>
        <p:blipFill>
          <a:blip r:embed="rId1"/>
          <a:stretch>
            <a:fillRect/>
          </a:stretch>
        </p:blipFill>
        <p:spPr>
          <a:xfrm>
            <a:off x="6309360" y="1463040"/>
            <a:ext cx="2194560" cy="21945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F0EA"/>
        </a:solidFill>
      </p:bgPr>
    </p:bg>
    <p:spTree>
      <p:nvGrpSpPr>
        <p:cNvPr id="1" name=""/>
        <p:cNvGrpSpPr/>
        <p:nvPr/>
      </p:nvGrpSpPr>
      <p:grpSpPr>
        <a:xfrm>
          <a:off x="0" y="0"/>
          <a:ext cx="0" cy="0"/>
          <a:chOff x="0" y="0"/>
          <a:chExt cx="0" cy="0"/>
        </a:xfrm>
      </p:grpSpPr>
      <p:sp>
        <p:nvSpPr>
          <p:cNvPr id="2" name="Shape 0"/>
          <p:cNvSpPr/>
          <p:nvPr/>
        </p:nvSpPr>
        <p:spPr>
          <a:xfrm>
            <a:off x="731520" y="1097280"/>
            <a:ext cx="502920" cy="45720"/>
          </a:xfrm>
          <a:prstGeom prst="rect">
            <a:avLst/>
          </a:prstGeom>
          <a:solidFill>
            <a:srgbClr val="6E8472"/>
          </a:solidFill>
          <a:ln/>
        </p:spPr>
      </p:sp>
      <p:sp>
        <p:nvSpPr>
          <p:cNvPr id="3" name="Text 1"/>
          <p:cNvSpPr/>
          <p:nvPr/>
        </p:nvSpPr>
        <p:spPr>
          <a:xfrm>
            <a:off x="731520" y="1325880"/>
            <a:ext cx="7690104" cy="1371600"/>
          </a:xfrm>
          <a:prstGeom prst="rect">
            <a:avLst/>
          </a:prstGeom>
          <a:noFill/>
          <a:ln/>
        </p:spPr>
        <p:txBody>
          <a:bodyPr wrap="square" lIns="0" tIns="0" rIns="0" bIns="0" rtlCol="0" anchor="ctr"/>
          <a:lstStyle/>
          <a:p>
            <a:pPr indent="0" marL="0">
              <a:buNone/>
            </a:pPr>
            <a:r>
              <a:rPr lang="en-US" sz="3000" b="1" dirty="0">
                <a:solidFill>
                  <a:srgbClr val="31423B"/>
                </a:solidFill>
                <a:latin typeface="Open Sans" pitchFamily="34" charset="0"/>
                <a:ea typeface="Open Sans" pitchFamily="34" charset="-122"/>
                <a:cs typeface="Open Sans" pitchFamily="34" charset="-120"/>
              </a:rPr>
              <a:t>S17 End-to-end investigation, ethics and law</a:t>
            </a:r>
            <a:endParaRPr lang="en-US" sz="3000" dirty="0"/>
          </a:p>
        </p:txBody>
      </p:sp>
      <p:sp>
        <p:nvSpPr>
          <p:cNvPr id="4" name="Shape 2"/>
          <p:cNvSpPr/>
          <p:nvPr/>
        </p:nvSpPr>
        <p:spPr>
          <a:xfrm>
            <a:off x="731520" y="2788920"/>
            <a:ext cx="749808" cy="82296"/>
          </a:xfrm>
          <a:prstGeom prst="rect">
            <a:avLst/>
          </a:prstGeom>
          <a:solidFill>
            <a:srgbClr val="6E8472"/>
          </a:solidFill>
          <a:ln/>
        </p:spPr>
      </p:sp>
      <p:sp>
        <p:nvSpPr>
          <p:cNvPr id="5" name="Shape 3"/>
          <p:cNvSpPr/>
          <p:nvPr/>
        </p:nvSpPr>
        <p:spPr>
          <a:xfrm>
            <a:off x="1536192" y="2788920"/>
            <a:ext cx="384048" cy="82296"/>
          </a:xfrm>
          <a:prstGeom prst="rect">
            <a:avLst/>
          </a:prstGeom>
          <a:solidFill>
            <a:srgbClr val="8A4E8F"/>
          </a:solidFill>
          <a:ln/>
        </p:spPr>
      </p:sp>
      <p:sp>
        <p:nvSpPr>
          <p:cNvPr id="6" name="Shape 4"/>
          <p:cNvSpPr/>
          <p:nvPr/>
        </p:nvSpPr>
        <p:spPr>
          <a:xfrm>
            <a:off x="731520" y="3108960"/>
            <a:ext cx="640080" cy="347472"/>
          </a:xfrm>
          <a:prstGeom prst="rect">
            <a:avLst/>
          </a:prstGeom>
          <a:solidFill>
            <a:srgbClr val="8A4E8F"/>
          </a:solidFill>
          <a:ln/>
        </p:spPr>
      </p:sp>
      <p:sp>
        <p:nvSpPr>
          <p:cNvPr id="7" name="Text 5"/>
          <p:cNvSpPr/>
          <p:nvPr/>
        </p:nvSpPr>
        <p:spPr>
          <a:xfrm>
            <a:off x="731520" y="3108960"/>
            <a:ext cx="64008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Open Sans" pitchFamily="34" charset="0"/>
                <a:ea typeface="Open Sans" pitchFamily="34" charset="-122"/>
                <a:cs typeface="Open Sans" pitchFamily="34" charset="-120"/>
              </a:rPr>
              <a:t>LO4</a:t>
            </a:r>
            <a:endParaRPr lang="en-US" sz="1400" dirty="0"/>
          </a:p>
        </p:txBody>
      </p:sp>
      <p:sp>
        <p:nvSpPr>
          <p:cNvPr id="8" name="Shape 6"/>
          <p:cNvSpPr/>
          <p:nvPr/>
        </p:nvSpPr>
        <p:spPr>
          <a:xfrm>
            <a:off x="1463040" y="3108960"/>
            <a:ext cx="640080" cy="347472"/>
          </a:xfrm>
          <a:prstGeom prst="rect">
            <a:avLst/>
          </a:prstGeom>
          <a:solidFill>
            <a:srgbClr val="4F6356"/>
          </a:solidFill>
          <a:ln/>
        </p:spPr>
      </p:sp>
      <p:sp>
        <p:nvSpPr>
          <p:cNvPr id="9" name="Text 7"/>
          <p:cNvSpPr/>
          <p:nvPr/>
        </p:nvSpPr>
        <p:spPr>
          <a:xfrm>
            <a:off x="1463040" y="3108960"/>
            <a:ext cx="64008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Open Sans" pitchFamily="34" charset="0"/>
                <a:ea typeface="Open Sans" pitchFamily="34" charset="-122"/>
                <a:cs typeface="Open Sans" pitchFamily="34" charset="-120"/>
              </a:rPr>
              <a:t>LO5</a:t>
            </a:r>
            <a:endParaRPr lang="en-US" sz="1400" dirty="0"/>
          </a:p>
        </p:txBody>
      </p:sp>
      <p:sp>
        <p:nvSpPr>
          <p:cNvPr id="10" name="Text 8"/>
          <p:cNvSpPr/>
          <p:nvPr/>
        </p:nvSpPr>
        <p:spPr>
          <a:xfrm>
            <a:off x="731520" y="3584448"/>
            <a:ext cx="7690104" cy="457200"/>
          </a:xfrm>
          <a:prstGeom prst="rect">
            <a:avLst/>
          </a:prstGeom>
          <a:noFill/>
          <a:ln/>
        </p:spPr>
        <p:txBody>
          <a:bodyPr wrap="square" lIns="0" tIns="0" rIns="0" bIns="0" rtlCol="0" anchor="ctr"/>
          <a:lstStyle/>
          <a:p>
            <a:pPr indent="0" marL="0">
              <a:buNone/>
            </a:pPr>
            <a:r>
              <a:rPr lang="en-US" sz="1400" dirty="0">
                <a:solidFill>
                  <a:srgbClr val="5C6B63"/>
                </a:solidFill>
                <a:latin typeface="Open Sans" pitchFamily="34" charset="0"/>
                <a:ea typeface="Open Sans" pitchFamily="34" charset="-122"/>
                <a:cs typeface="Open Sans" pitchFamily="34" charset="-120"/>
              </a:rPr>
              <a:t>Feeds: Coursework (analysis, incident response, ethical conduct)  |  Phase test (methodology, response and recovery)</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The case today</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71600"/>
            <a:ext cx="4754880" cy="1554480"/>
          </a:xfrm>
          <a:prstGeom prst="rect">
            <a:avLst/>
          </a:prstGeom>
          <a:solidFill>
            <a:srgbClr val="F1E8F2"/>
          </a:solidFill>
          <a:ln/>
        </p:spPr>
      </p:sp>
      <p:sp>
        <p:nvSpPr>
          <p:cNvPr id="7" name="Text 5"/>
          <p:cNvSpPr/>
          <p:nvPr/>
        </p:nvSpPr>
        <p:spPr>
          <a:xfrm>
            <a:off x="521208" y="1371600"/>
            <a:ext cx="4535424" cy="1554480"/>
          </a:xfrm>
          <a:prstGeom prst="rect">
            <a:avLst/>
          </a:prstGeom>
          <a:noFill/>
          <a:ln/>
        </p:spPr>
        <p:txBody>
          <a:bodyPr wrap="square" rtlCol="0" anchor="ctr"/>
          <a:lstStyle/>
          <a:p>
            <a:pPr indent="0" marL="0">
              <a:buNone/>
            </a:pPr>
            <a:r>
              <a:rPr lang="en-US" sz="1300" b="1" dirty="0">
                <a:solidFill>
                  <a:srgbClr val="31423B"/>
                </a:solidFill>
                <a:latin typeface="Open Sans" pitchFamily="34" charset="0"/>
                <a:ea typeface="Open Sans" pitchFamily="34" charset="-122"/>
                <a:cs typeface="Open Sans" pitchFamily="34" charset="-120"/>
              </a:rPr>
              <a:t>The unit has read the suspect's computer, his mail, his browsers and his cloud program, one session at a time. Today it puts them on one clock, decides how sure it can be, and asks what the law and its own conscience allow it to do with what it saw.</a:t>
            </a:r>
            <a:endParaRPr lang="en-US" sz="1300" dirty="0"/>
          </a:p>
        </p:txBody>
      </p:sp>
      <p:sp>
        <p:nvSpPr>
          <p:cNvPr id="8" name="Shape 6"/>
          <p:cNvSpPr/>
          <p:nvPr/>
        </p:nvSpPr>
        <p:spPr>
          <a:xfrm>
            <a:off x="411480" y="3017520"/>
            <a:ext cx="4754880" cy="1783080"/>
          </a:xfrm>
          <a:prstGeom prst="rect">
            <a:avLst/>
          </a:prstGeom>
          <a:solidFill>
            <a:srgbClr val="DCE6DE"/>
          </a:solidFill>
          <a:ln/>
        </p:spPr>
      </p:sp>
      <p:sp>
        <p:nvSpPr>
          <p:cNvPr id="9" name="Text 7"/>
          <p:cNvSpPr/>
          <p:nvPr/>
        </p:nvSpPr>
        <p:spPr>
          <a:xfrm>
            <a:off x="502920" y="3017520"/>
            <a:ext cx="4572000" cy="1783080"/>
          </a:xfrm>
          <a:prstGeom prst="rect">
            <a:avLst/>
          </a:prstGeom>
          <a:noFill/>
          <a:ln/>
        </p:spPr>
        <p:txBody>
          <a:bodyPr wrap="square" rtlCol="0" anchor="ctr"/>
          <a:lstStyle/>
          <a:p>
            <a:pPr marL="342900" indent="-342900">
              <a:spcAft>
                <a:spcPts val="100"/>
              </a:spcAft>
              <a:buSzPct val="100000"/>
              <a:buChar char="•"/>
            </a:pPr>
            <a:r>
              <a:rPr lang="en-US" sz="1200" b="1" dirty="0">
                <a:solidFill>
                  <a:srgbClr val="31423B"/>
                </a:solidFill>
                <a:latin typeface="Open Sans" pitchFamily="34" charset="0"/>
                <a:ea typeface="Open Sans" pitchFamily="34" charset="-122"/>
                <a:cs typeface="Open Sans" pitchFamily="34" charset="-120"/>
              </a:rPr>
              <a:t>One case, one clock: three threads</a:t>
            </a:r>
            <a:endParaRPr lang="en-US" sz="1200" dirty="0"/>
          </a:p>
          <a:p>
            <a:pPr marL="342900" indent="-342900">
              <a:spcAft>
                <a:spcPts val="100"/>
              </a:spcAft>
              <a:buSzPct val="100000"/>
              <a:buChar char="•"/>
            </a:pPr>
            <a:r>
              <a:rPr lang="en-US" sz="1200" b="1" dirty="0">
                <a:solidFill>
                  <a:srgbClr val="31423B"/>
                </a:solidFill>
                <a:latin typeface="Open Sans" pitchFamily="34" charset="0"/>
                <a:ea typeface="Open Sans" pitchFamily="34" charset="-122"/>
                <a:cs typeface="Open Sans" pitchFamily="34" charset="-120"/>
              </a:rPr>
              <a:t>What anti-forensics does to a conclusion</a:t>
            </a:r>
            <a:endParaRPr lang="en-US" sz="1200" dirty="0"/>
          </a:p>
          <a:p>
            <a:pPr marL="342900" indent="-342900">
              <a:spcAft>
                <a:spcPts val="100"/>
              </a:spcAft>
              <a:buSzPct val="100000"/>
              <a:buChar char="•"/>
            </a:pPr>
            <a:r>
              <a:rPr lang="en-US" sz="1200" b="1" dirty="0">
                <a:solidFill>
                  <a:srgbClr val="31423B"/>
                </a:solidFill>
                <a:latin typeface="Open Sans" pitchFamily="34" charset="0"/>
                <a:ea typeface="Open Sans" pitchFamily="34" charset="-122"/>
                <a:cs typeface="Open Sans" pitchFamily="34" charset="-120"/>
              </a:rPr>
              <a:t>Response and recovery, revisited</a:t>
            </a:r>
            <a:endParaRPr lang="en-US" sz="1200" dirty="0"/>
          </a:p>
          <a:p>
            <a:pPr marL="342900" indent="-342900">
              <a:spcAft>
                <a:spcPts val="100"/>
              </a:spcAft>
              <a:buSzPct val="100000"/>
              <a:buChar char="•"/>
            </a:pPr>
            <a:r>
              <a:rPr lang="en-US" sz="1200" b="1" dirty="0">
                <a:solidFill>
                  <a:srgbClr val="31423B"/>
                </a:solidFill>
                <a:latin typeface="Open Sans" pitchFamily="34" charset="0"/>
                <a:ea typeface="Open Sans" pitchFamily="34" charset="-122"/>
                <a:cs typeface="Open Sans" pitchFamily="34" charset="-120"/>
              </a:rPr>
              <a:t>Contain without destroying; MFA</a:t>
            </a:r>
            <a:endParaRPr lang="en-US" sz="1200" dirty="0"/>
          </a:p>
          <a:p>
            <a:pPr marL="342900" indent="-342900">
              <a:spcAft>
                <a:spcPts val="100"/>
              </a:spcAft>
              <a:buSzPct val="100000"/>
              <a:buChar char="•"/>
            </a:pPr>
            <a:r>
              <a:rPr lang="en-US" sz="1200" b="1" dirty="0">
                <a:solidFill>
                  <a:srgbClr val="31423B"/>
                </a:solidFill>
                <a:latin typeface="Open Sans" pitchFamily="34" charset="0"/>
                <a:ea typeface="Open Sans" pitchFamily="34" charset="-122"/>
                <a:cs typeface="Open Sans" pitchFamily="34" charset="-120"/>
              </a:rPr>
              <a:t>The law around the work</a:t>
            </a:r>
            <a:endParaRPr lang="en-US" sz="1200" dirty="0"/>
          </a:p>
          <a:p>
            <a:pPr marL="342900" indent="-342900">
              <a:spcAft>
                <a:spcPts val="100"/>
              </a:spcAft>
              <a:buSzPct val="100000"/>
              <a:buChar char="•"/>
            </a:pPr>
            <a:r>
              <a:rPr lang="en-US" sz="1200" b="1" dirty="0">
                <a:solidFill>
                  <a:srgbClr val="31423B"/>
                </a:solidFill>
                <a:latin typeface="Open Sans" pitchFamily="34" charset="0"/>
                <a:ea typeface="Open Sans" pitchFamily="34" charset="-122"/>
                <a:cs typeface="Open Sans" pitchFamily="34" charset="-120"/>
              </a:rPr>
              <a:t>Standards and the court</a:t>
            </a:r>
            <a:endParaRPr lang="en-US" sz="1200" dirty="0"/>
          </a:p>
          <a:p>
            <a:pPr marL="342900" indent="-342900">
              <a:spcAft>
                <a:spcPts val="100"/>
              </a:spcAft>
              <a:buSzPct val="100000"/>
              <a:buChar char="•"/>
            </a:pPr>
            <a:r>
              <a:rPr lang="en-US" sz="1200" b="1" dirty="0">
                <a:solidFill>
                  <a:srgbClr val="31423B"/>
                </a:solidFill>
                <a:latin typeface="Open Sans" pitchFamily="34" charset="0"/>
                <a:ea typeface="Open Sans" pitchFamily="34" charset="-122"/>
                <a:cs typeface="Open Sans" pitchFamily="34" charset="-120"/>
              </a:rPr>
              <a:t>Ethics: the power to see everything</a:t>
            </a:r>
            <a:endParaRPr lang="en-US" sz="1200" dirty="0"/>
          </a:p>
        </p:txBody>
      </p:sp>
      <p:pic>
        <p:nvPicPr>
          <p:cNvPr id="10" name="Image 0" descr="preencoded.png">    </p:cNvPr>
          <p:cNvPicPr>
            <a:picLocks noChangeAspect="1"/>
          </p:cNvPicPr>
          <p:nvPr/>
        </p:nvPicPr>
        <p:blipFill>
          <a:blip r:embed="rId1"/>
          <a:stretch>
            <a:fillRect/>
          </a:stretch>
        </p:blipFill>
        <p:spPr>
          <a:xfrm>
            <a:off x="6126480" y="1371600"/>
            <a:ext cx="1737360" cy="1737360"/>
          </a:xfrm>
          <a:prstGeom prst="rect">
            <a:avLst/>
          </a:prstGeom>
        </p:spPr>
      </p:pic>
      <p:sp>
        <p:nvSpPr>
          <p:cNvPr id="11" name="Text 8"/>
          <p:cNvSpPr/>
          <p:nvPr/>
        </p:nvSpPr>
        <p:spPr>
          <a:xfrm>
            <a:off x="5349240" y="3337560"/>
            <a:ext cx="3383280" cy="1280160"/>
          </a:xfrm>
          <a:prstGeom prst="rect">
            <a:avLst/>
          </a:prstGeom>
          <a:noFill/>
          <a:ln/>
        </p:spPr>
        <p:txBody>
          <a:bodyPr wrap="square" lIns="0" tIns="0" rIns="0" bIns="0" rtlCol="0" anchor="t"/>
          <a:lstStyle/>
          <a:p>
            <a:pPr indent="0" marL="0">
              <a:buNone/>
            </a:pPr>
            <a:r>
              <a:rPr lang="en-US" sz="1400" i="1" dirty="0">
                <a:solidFill>
                  <a:srgbClr val="5C6B63"/>
                </a:solidFill>
                <a:latin typeface="Open Sans" pitchFamily="34" charset="0"/>
                <a:ea typeface="Open Sans" pitchFamily="34" charset="-122"/>
                <a:cs typeface="Open Sans" pitchFamily="34" charset="-120"/>
              </a:rPr>
              <a:t>One case and one clock: every excerpt in the pack comes from the CFReDS case alone.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One clock, and who wrote each record</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11480" y="1298448"/>
          <a:ext cx="8321040" cy="914400"/>
        </p:xfrm>
        <a:graphic>
          <a:graphicData uri="http://schemas.openxmlformats.org/drawingml/2006/table">
            <a:tbl>
              <a:tblPr/>
              <a:tblGrid>
                <a:gridCol w="2011680"/>
                <a:gridCol w="1005840"/>
                <a:gridCol w="3566160"/>
                <a:gridCol w="1737360"/>
              </a:tblGrid>
              <a:tr h="329184">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UTC, 23 March 2015</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Thread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Record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Writer</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329184">
                <a:tc>
                  <a:txBody>
                    <a:bodyPr/>
                    <a:lstStyle/>
                    <a:p>
                      <a:pPr indent="0" marL="0">
                        <a:buNone/>
                      </a:pPr>
                      <a:r>
                        <a:rPr lang="en-US" sz="1100" b="1" dirty="0">
                          <a:solidFill>
                            <a:srgbClr val="31423B"/>
                          </a:solidFill>
                          <a:latin typeface="Open Sans" pitchFamily="34" charset="0"/>
                          <a:ea typeface="Open Sans" pitchFamily="34" charset="-122"/>
                          <a:cs typeface="Open Sans" pitchFamily="34" charset="-120"/>
                        </a:rPr>
                        <a:t>20:05:32</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Cloud</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Drive signs in with the personal account</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Google Drive</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31423B"/>
                          </a:solidFill>
                          <a:latin typeface="Open Sans" pitchFamily="34" charset="0"/>
                          <a:ea typeface="Open Sans" pitchFamily="34" charset="-122"/>
                          <a:cs typeface="Open Sans" pitchFamily="34" charset="-120"/>
                        </a:rPr>
                        <a:t>20:23:28 to 20:26:04</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Network</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\\10.11.11.128\secured_drive reached, mapped as V:</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Windows Explorer</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329184">
                <a:tc>
                  <a:txBody>
                    <a:bodyPr/>
                    <a:lstStyle/>
                    <a:p>
                      <a:pPr indent="0" marL="0">
                        <a:buNone/>
                      </a:pPr>
                      <a:r>
                        <a:rPr lang="en-US" sz="1100" b="1" dirty="0">
                          <a:solidFill>
                            <a:srgbClr val="31423B"/>
                          </a:solidFill>
                          <a:latin typeface="Open Sans" pitchFamily="34" charset="0"/>
                          <a:ea typeface="Open Sans" pitchFamily="34" charset="-122"/>
                          <a:cs typeface="Open Sans" pitchFamily="34" charset="-120"/>
                        </a:rPr>
                        <a:t>20:30:44, 20:31:02</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Computer</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Two client documents renamed</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NTFS change journal</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31423B"/>
                          </a:solidFill>
                          <a:latin typeface="Open Sans" pitchFamily="34" charset="0"/>
                          <a:ea typeface="Open Sans" pitchFamily="34" charset="-122"/>
                          <a:cs typeface="Open Sans" pitchFamily="34" charset="-120"/>
                        </a:rPr>
                        <a:t>20:32:35</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Cloud</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Both files uploaded</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Google Drive</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329184">
                <a:tc>
                  <a:txBody>
                    <a:bodyPr/>
                    <a:lstStyle/>
                    <a:p>
                      <a:pPr indent="0" marL="0">
                        <a:buNone/>
                      </a:pPr>
                      <a:r>
                        <a:rPr lang="en-US" sz="1100" b="1" dirty="0">
                          <a:solidFill>
                            <a:srgbClr val="31423B"/>
                          </a:solidFill>
                          <a:latin typeface="Open Sans" pitchFamily="34" charset="0"/>
                          <a:ea typeface="Open Sans" pitchFamily="34" charset="-122"/>
                          <a:cs typeface="Open Sans" pitchFamily="34" charset="-120"/>
                        </a:rPr>
                        <a:t>20:38:47</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Mail</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It's me, two links to the same files</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Outlook</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31423B"/>
                          </a:solidFill>
                          <a:latin typeface="Open Sans" pitchFamily="34" charset="0"/>
                          <a:ea typeface="Open Sans" pitchFamily="34" charset="-122"/>
                          <a:cs typeface="Open Sans" pitchFamily="34" charset="-120"/>
                        </a:rPr>
                        <a:t>20:42:17</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Cloud</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Both files deleted from Drive</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Google Drive</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bl>
          </a:graphicData>
        </a:graphic>
      </p:graphicFrame>
      <p:sp>
        <p:nvSpPr>
          <p:cNvPr id="7" name="Shape 4"/>
          <p:cNvSpPr/>
          <p:nvPr/>
        </p:nvSpPr>
        <p:spPr>
          <a:xfrm>
            <a:off x="411480" y="3858768"/>
            <a:ext cx="8321040" cy="512064"/>
          </a:xfrm>
          <a:prstGeom prst="rect">
            <a:avLst/>
          </a:prstGeom>
          <a:solidFill>
            <a:srgbClr val="F1E8F2"/>
          </a:solidFill>
          <a:ln/>
        </p:spPr>
      </p:sp>
      <p:sp>
        <p:nvSpPr>
          <p:cNvPr id="8" name="Text 5"/>
          <p:cNvSpPr/>
          <p:nvPr/>
        </p:nvSpPr>
        <p:spPr>
          <a:xfrm>
            <a:off x="521208" y="3858768"/>
            <a:ext cx="8101584" cy="512064"/>
          </a:xfrm>
          <a:prstGeom prst="rect">
            <a:avLst/>
          </a:prstGeom>
          <a:noFill/>
          <a:ln/>
        </p:spPr>
        <p:txBody>
          <a:bodyPr wrap="square" rtlCol="0" anchor="ctr"/>
          <a:lstStyle/>
          <a:p>
            <a:pPr indent="0" marL="0">
              <a:buNone/>
            </a:pPr>
            <a:r>
              <a:rPr lang="en-US" sz="1200" b="1" dirty="0">
                <a:solidFill>
                  <a:srgbClr val="31423B"/>
                </a:solidFill>
                <a:latin typeface="Open Sans" pitchFamily="34" charset="0"/>
                <a:ea typeface="Open Sans" pitchFamily="34" charset="-122"/>
                <a:cs typeface="Open Sans" pitchFamily="34" charset="-120"/>
              </a:rPr>
              <a:t>Upload: corroborated (Drive and Outlook are independent). Share access: single-source (one program, one computer; the server's records are missing).</a:t>
            </a:r>
            <a:endParaRPr lang="en-US" sz="1200" dirty="0"/>
          </a:p>
        </p:txBody>
      </p:sp>
      <p:sp>
        <p:nvSpPr>
          <p:cNvPr id="9" name="Text 6"/>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Page section 1 and demo S17-D1. snapshot.db adds detail, not independence: same writer as the log.</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A rope braided from three strands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71600"/>
            <a:ext cx="8321040" cy="3017520"/>
          </a:xfrm>
          <a:prstGeom prst="rect">
            <a:avLst/>
          </a:prstGeom>
          <a:solidFill>
            <a:srgbClr val="E8F0EA"/>
          </a:solidFill>
          <a:ln/>
        </p:spPr>
      </p:sp>
      <p:sp>
        <p:nvSpPr>
          <p:cNvPr id="7" name="Shape 5"/>
          <p:cNvSpPr/>
          <p:nvPr/>
        </p:nvSpPr>
        <p:spPr>
          <a:xfrm>
            <a:off x="411480" y="1371600"/>
            <a:ext cx="82296" cy="3017520"/>
          </a:xfrm>
          <a:prstGeom prst="rect">
            <a:avLst/>
          </a:prstGeom>
          <a:solidFill>
            <a:srgbClr val="6E8472"/>
          </a:solidFill>
          <a:ln/>
        </p:spPr>
      </p:sp>
      <p:sp>
        <p:nvSpPr>
          <p:cNvPr id="8" name="Text 6"/>
          <p:cNvSpPr/>
          <p:nvPr/>
        </p:nvSpPr>
        <p:spPr>
          <a:xfrm>
            <a:off x="621792" y="1444752"/>
            <a:ext cx="7955280" cy="237744"/>
          </a:xfrm>
          <a:prstGeom prst="rect">
            <a:avLst/>
          </a:prstGeom>
          <a:noFill/>
          <a:ln/>
        </p:spPr>
        <p:txBody>
          <a:bodyPr wrap="square" lIns="0" tIns="0" rIns="0" bIns="0" rtlCol="0" anchor="ctr"/>
          <a:lstStyle/>
          <a:p>
            <a:pPr indent="0" marL="0">
              <a:buNone/>
            </a:pPr>
            <a:r>
              <a:rPr lang="en-US" sz="1300" b="1" spc="200" kern="0" dirty="0">
                <a:solidFill>
                  <a:srgbClr val="4F6356"/>
                </a:solidFill>
                <a:latin typeface="Open Sans" pitchFamily="34" charset="0"/>
                <a:ea typeface="Open Sans" pitchFamily="34" charset="-122"/>
                <a:cs typeface="Open Sans" pitchFamily="34" charset="-120"/>
              </a:rPr>
              <a:t>ANALOGY</a:t>
            </a:r>
            <a:endParaRPr lang="en-US" sz="1300" dirty="0"/>
          </a:p>
        </p:txBody>
      </p:sp>
      <p:sp>
        <p:nvSpPr>
          <p:cNvPr id="9" name="Text 7"/>
          <p:cNvSpPr/>
          <p:nvPr/>
        </p:nvSpPr>
        <p:spPr>
          <a:xfrm>
            <a:off x="621792" y="1700784"/>
            <a:ext cx="7955280" cy="2615184"/>
          </a:xfrm>
          <a:prstGeom prst="rect">
            <a:avLst/>
          </a:prstGeom>
          <a:noFill/>
          <a:ln/>
        </p:spPr>
        <p:txBody>
          <a:bodyPr wrap="square" lIns="0" tIns="0" rIns="0" bIns="0" rtlCol="0" anchor="t"/>
          <a:lstStyle/>
          <a:p>
            <a:pPr indent="0" marL="0">
              <a:spcAft>
                <a:spcPts val="400"/>
              </a:spcAft>
              <a:buNone/>
            </a:pPr>
            <a:r>
              <a:rPr lang="en-US" sz="1400" dirty="0">
                <a:solidFill>
                  <a:srgbClr val="31423B"/>
                </a:solidFill>
                <a:latin typeface="Open Sans" pitchFamily="34" charset="0"/>
                <a:ea typeface="Open Sans" pitchFamily="34" charset="-122"/>
                <a:cs typeface="Open Sans" pitchFamily="34" charset="-120"/>
              </a:rPr>
              <a:t>The computer, network and cloud threads are strands; where they cross, at the same file names and minutes, they grip each other, and the braid holds what no strand could. </a:t>
            </a:r>
            <a:pPr indent="0" marL="0">
              <a:spcAft>
                <a:spcPts val="400"/>
              </a:spcAft>
              <a:buNone/>
            </a:pPr>
            <a:r>
              <a:rPr lang="en-US" sz="1400" b="1" dirty="0">
                <a:solidFill>
                  <a:srgbClr val="31423B"/>
                </a:solidFill>
                <a:latin typeface="Open Sans" pitchFamily="34" charset="0"/>
                <a:ea typeface="Open Sans" pitchFamily="34" charset="-122"/>
                <a:cs typeface="Open Sans" pitchFamily="34" charset="-120"/>
              </a:rPr>
              <a:t>Where it breaks: </a:t>
            </a:r>
            <a:pPr indent="0" marL="0">
              <a:spcAft>
                <a:spcPts val="400"/>
              </a:spcAft>
              <a:buNone/>
            </a:pPr>
            <a:r>
              <a:rPr lang="en-US" sz="1400" dirty="0">
                <a:solidFill>
                  <a:srgbClr val="31423B"/>
                </a:solidFill>
                <a:latin typeface="Open Sans" pitchFamily="34" charset="0"/>
                <a:ea typeface="Open Sans" pitchFamily="34" charset="-122"/>
                <a:cs typeface="Open Sans" pitchFamily="34" charset="-120"/>
              </a:rPr>
              <a:t>evidence does not promise separate strands. Two records written by one program are one strand counted twice, and strands keyed to one wrong clock slide together while the braid still looks tight. </a:t>
            </a:r>
            <a:pPr indent="0" marL="0">
              <a:spcAft>
                <a:spcPts val="400"/>
              </a:spcAft>
              <a:buNone/>
            </a:pPr>
            <a:r>
              <a:rPr lang="en-US" sz="1400" b="1" dirty="0">
                <a:solidFill>
                  <a:srgbClr val="31423B"/>
                </a:solidFill>
                <a:latin typeface="Open Sans" pitchFamily="34" charset="0"/>
                <a:ea typeface="Open Sans" pitchFamily="34" charset="-122"/>
                <a:cs typeface="Open Sans" pitchFamily="34" charset="-120"/>
              </a:rPr>
              <a:t>So what: </a:t>
            </a:r>
            <a:pPr indent="0" marL="0">
              <a:spcAft>
                <a:spcPts val="400"/>
              </a:spcAft>
              <a:buNone/>
            </a:pPr>
            <a:r>
              <a:rPr lang="en-US" sz="1400" dirty="0">
                <a:solidFill>
                  <a:srgbClr val="31423B"/>
                </a:solidFill>
                <a:latin typeface="Open Sans" pitchFamily="34" charset="0"/>
                <a:ea typeface="Open Sans" pitchFamily="34" charset="-122"/>
                <a:cs typeface="Open Sans" pitchFamily="34" charset="-120"/>
              </a:rPr>
              <a:t>write down who wrote each record; count only independent writers; normalise every clock first.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What anti-forensics does to a conclusion</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25880"/>
            <a:ext cx="4133088" cy="402336"/>
          </a:xfrm>
          <a:prstGeom prst="rect">
            <a:avLst/>
          </a:prstGeom>
          <a:solidFill>
            <a:srgbClr val="6E8472"/>
          </a:solidFill>
          <a:ln/>
        </p:spPr>
      </p:sp>
      <p:sp>
        <p:nvSpPr>
          <p:cNvPr id="7" name="Text 5"/>
          <p:cNvSpPr/>
          <p:nvPr/>
        </p:nvSpPr>
        <p:spPr>
          <a:xfrm>
            <a:off x="521208" y="132588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Built on surviving records</a:t>
            </a:r>
            <a:endParaRPr lang="en-US" sz="1500" dirty="0"/>
          </a:p>
        </p:txBody>
      </p:sp>
      <p:sp>
        <p:nvSpPr>
          <p:cNvPr id="8" name="Shape 6"/>
          <p:cNvSpPr/>
          <p:nvPr/>
        </p:nvSpPr>
        <p:spPr>
          <a:xfrm>
            <a:off x="411480" y="1728216"/>
            <a:ext cx="4133088" cy="2560320"/>
          </a:xfrm>
          <a:prstGeom prst="rect">
            <a:avLst/>
          </a:prstGeom>
          <a:solidFill>
            <a:srgbClr val="FFFFFF"/>
          </a:solidFill>
          <a:ln w="9525">
            <a:solidFill>
              <a:srgbClr val="CBD6CE"/>
            </a:solidFill>
            <a:prstDash val="solid"/>
          </a:ln>
        </p:spPr>
      </p:sp>
      <p:sp>
        <p:nvSpPr>
          <p:cNvPr id="9" name="Text 7"/>
          <p:cNvSpPr/>
          <p:nvPr/>
        </p:nvSpPr>
        <p:spPr>
          <a:xfrm>
            <a:off x="539496" y="1783080"/>
            <a:ext cx="3877056" cy="2450592"/>
          </a:xfrm>
          <a:prstGeom prst="rect">
            <a:avLst/>
          </a:prstGeom>
          <a:noFill/>
          <a:ln/>
        </p:spPr>
        <p:txBody>
          <a:bodyPr wrap="square" lIns="0" tIns="0" rIns="0" bIns="0" rtlCol="0" anchor="t"/>
          <a:lstStyle/>
          <a:p>
            <a:pPr indent="0" marL="0">
              <a:buNone/>
            </a:pPr>
            <a:r>
              <a:rPr lang="en-US" sz="1300" b="1" dirty="0">
                <a:solidFill>
                  <a:srgbClr val="4F6356"/>
                </a:solidFill>
                <a:latin typeface="Open Sans" pitchFamily="34" charset="0"/>
                <a:ea typeface="Open Sans" pitchFamily="34" charset="-122"/>
                <a:cs typeface="Open Sans" pitchFamily="34" charset="-120"/>
              </a:rPr>
              <a:t>The two documents left by Drive</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Renames, upload and an independent mail agree</a:t>
            </a:r>
            <a:endParaRPr lang="en-US" sz="1300" dirty="0"/>
          </a:p>
          <a:p>
            <a:pPr indent="0" marL="0">
              <a:buNone/>
            </a:pPr>
            <a:r>
              <a:rPr lang="en-US" sz="1300" b="1" dirty="0">
                <a:solidFill>
                  <a:srgbClr val="4F6356"/>
                </a:solidFill>
                <a:latin typeface="Open Sans" pitchFamily="34" charset="0"/>
                <a:ea typeface="Open Sans" pitchFamily="34" charset="-122"/>
                <a:cs typeface="Open Sans" pitchFamily="34" charset="-120"/>
              </a:rPr>
              <a:t>After the cleaning</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Unchanged: the evidence shows</a:t>
            </a:r>
            <a:endParaRPr lang="en-US" sz="1300" dirty="0"/>
          </a:p>
          <a:p>
            <a:pPr indent="0" marL="0">
              <a:buNone/>
            </a:pPr>
            <a:r>
              <a:rPr lang="en-US" sz="1300" b="1" dirty="0">
                <a:solidFill>
                  <a:srgbClr val="4F6356"/>
                </a:solidFill>
                <a:latin typeface="Open Sans" pitchFamily="34" charset="0"/>
                <a:ea typeface="Open Sans" pitchFamily="34" charset="-122"/>
                <a:cs typeface="Open Sans" pitchFamily="34" charset="-120"/>
              </a:rPr>
              <a:t>Why</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The cleaning did not reach these records</a:t>
            </a:r>
            <a:endParaRPr lang="en-US" sz="1300" dirty="0"/>
          </a:p>
        </p:txBody>
      </p:sp>
      <p:sp>
        <p:nvSpPr>
          <p:cNvPr id="10" name="Shape 8"/>
          <p:cNvSpPr/>
          <p:nvPr/>
        </p:nvSpPr>
        <p:spPr>
          <a:xfrm>
            <a:off x="4645152" y="1325880"/>
            <a:ext cx="4133088" cy="402336"/>
          </a:xfrm>
          <a:prstGeom prst="rect">
            <a:avLst/>
          </a:prstGeom>
          <a:solidFill>
            <a:srgbClr val="8A4E8F"/>
          </a:solidFill>
          <a:ln/>
        </p:spPr>
      </p:sp>
      <p:sp>
        <p:nvSpPr>
          <p:cNvPr id="11" name="Text 9"/>
          <p:cNvSpPr/>
          <p:nvPr/>
        </p:nvSpPr>
        <p:spPr>
          <a:xfrm>
            <a:off x="4754880" y="132588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Built on absence</a:t>
            </a:r>
            <a:endParaRPr lang="en-US" sz="1500" dirty="0"/>
          </a:p>
        </p:txBody>
      </p:sp>
      <p:sp>
        <p:nvSpPr>
          <p:cNvPr id="12" name="Shape 10"/>
          <p:cNvSpPr/>
          <p:nvPr/>
        </p:nvSpPr>
        <p:spPr>
          <a:xfrm>
            <a:off x="4645152" y="1728216"/>
            <a:ext cx="4133088" cy="2560320"/>
          </a:xfrm>
          <a:prstGeom prst="rect">
            <a:avLst/>
          </a:prstGeom>
          <a:solidFill>
            <a:srgbClr val="FFFFFF"/>
          </a:solidFill>
          <a:ln w="9525">
            <a:solidFill>
              <a:srgbClr val="CBD6CE"/>
            </a:solidFill>
            <a:prstDash val="solid"/>
          </a:ln>
        </p:spPr>
      </p:sp>
      <p:sp>
        <p:nvSpPr>
          <p:cNvPr id="13" name="Text 11"/>
          <p:cNvSpPr/>
          <p:nvPr/>
        </p:nvSpPr>
        <p:spPr>
          <a:xfrm>
            <a:off x="4773168" y="1783080"/>
            <a:ext cx="3877056" cy="2450592"/>
          </a:xfrm>
          <a:prstGeom prst="rect">
            <a:avLst/>
          </a:prstGeom>
          <a:noFill/>
          <a:ln/>
        </p:spPr>
        <p:txBody>
          <a:bodyPr wrap="square" lIns="0" tIns="0" rIns="0" bIns="0" rtlCol="0" anchor="t"/>
          <a:lstStyle/>
          <a:p>
            <a:pPr indent="0" marL="0">
              <a:buNone/>
            </a:pPr>
            <a:r>
              <a:rPr lang="en-US" sz="1300" b="1" dirty="0">
                <a:solidFill>
                  <a:srgbClr val="8A4E8F"/>
                </a:solidFill>
                <a:latin typeface="Open Sans" pitchFamily="34" charset="0"/>
                <a:ea typeface="Open Sans" pitchFamily="34" charset="-122"/>
                <a:cs typeface="Open Sans" pitchFamily="34" charset="-120"/>
              </a:rPr>
              <a:t>No other file left</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No record found of another upload or mail</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After the cleaning</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Drops: the evidence cannot show</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Why</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Eraser 15:13:30, CCleaner 15:15:50 UTC: a missing record may be a removed record</a:t>
            </a:r>
            <a:endParaRPr lang="en-US" sz="1300" dirty="0"/>
          </a:p>
        </p:txBody>
      </p:sp>
      <p:sp>
        <p:nvSpPr>
          <p:cNvPr id="14" name="Text 12"/>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Page section 2 and demo S17-D2. The trace of the tool is a finding in itself.</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Response and recovery, revisited</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11480" y="1325880"/>
          <a:ext cx="8321040" cy="914400"/>
        </p:xfrm>
        <a:graphic>
          <a:graphicData uri="http://schemas.openxmlformats.org/drawingml/2006/table">
            <a:tbl>
              <a:tblPr/>
              <a:tblGrid>
                <a:gridCol w="4023360"/>
                <a:gridCol w="1828800"/>
                <a:gridCol w="2468880"/>
              </a:tblGrid>
              <a:tr h="402336">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Decision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Rev 3 Function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Rev 2 phase (named as Rev 2)</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402336">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Lock his accounts, including the share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Respond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Containment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Preserve the file server's and mail server's records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Respond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Detection and Analysis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402336">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Remove the personal Drive program</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Respond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Eradication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Image, then return the computer to use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Recover</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System recovery</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402336">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Lessons learned; share logging; leaver playbook</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Identify (Improvement)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Post-incident activity</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bl>
          </a:graphicData>
        </a:graphic>
      </p:graphicFrame>
      <p:sp>
        <p:nvSpPr>
          <p:cNvPr id="7" name="Shape 4"/>
          <p:cNvSpPr/>
          <p:nvPr/>
        </p:nvSpPr>
        <p:spPr>
          <a:xfrm>
            <a:off x="411480" y="3703320"/>
            <a:ext cx="8321040" cy="594360"/>
          </a:xfrm>
          <a:prstGeom prst="rect">
            <a:avLst/>
          </a:prstGeom>
          <a:solidFill>
            <a:srgbClr val="F1E8F2"/>
          </a:solidFill>
          <a:ln/>
        </p:spPr>
      </p:sp>
      <p:sp>
        <p:nvSpPr>
          <p:cNvPr id="8" name="Text 5"/>
          <p:cNvSpPr/>
          <p:nvPr/>
        </p:nvSpPr>
        <p:spPr>
          <a:xfrm>
            <a:off x="521208" y="3703320"/>
            <a:ext cx="8101584" cy="594360"/>
          </a:xfrm>
          <a:prstGeom prst="rect">
            <a:avLst/>
          </a:prstGeom>
          <a:noFill/>
          <a:ln/>
        </p:spPr>
        <p:txBody>
          <a:bodyPr wrap="square" rtlCol="0" anchor="ctr"/>
          <a:lstStyle/>
          <a:p>
            <a:pPr indent="0" marL="0">
              <a:buNone/>
            </a:pPr>
            <a:r>
              <a:rPr lang="en-US" sz="1300" b="1" dirty="0">
                <a:solidFill>
                  <a:srgbClr val="31423B"/>
                </a:solidFill>
                <a:latin typeface="Open Sans" pitchFamily="34" charset="0"/>
                <a:ea typeface="Open Sans" pitchFamily="34" charset="-122"/>
                <a:cs typeface="Open Sans" pitchFamily="34" charset="-120"/>
              </a:rPr>
              <a:t>No service was lost, so disaster recovery has no part here. Post-incident activity produces changes, not a meeting.</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Contain without destroying</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11480" y="1325880"/>
          <a:ext cx="8321040" cy="914400"/>
        </p:xfrm>
        <a:graphic>
          <a:graphicData uri="http://schemas.openxmlformats.org/drawingml/2006/table">
            <a:tbl>
              <a:tblPr/>
              <a:tblGrid>
                <a:gridCol w="457200"/>
                <a:gridCol w="4937760"/>
                <a:gridCol w="2926080"/>
              </a:tblGrid>
              <a:tr h="384048">
                <a:tc>
                  <a:txBody>
                    <a:bodyPr/>
                    <a:lstStyle/>
                    <a:p>
                      <a:pPr indent="0" marL="0">
                        <a:buNone/>
                      </a:pP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Action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Keeps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38404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1</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Do not switch off; do not restore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Everything, for now</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2</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Replace the payment page; isolate the host while it runs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Stops the theft; memory stays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38404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3</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Capture connections, processes, memory (order of volatility)</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volatile evidence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4</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Copy logs off the server, with hash values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Logs an attacker could edit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38404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5</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Image the disk</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disk as found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6</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Only now: clean, rebuild, change every password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Copies of everything</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bl>
          </a:graphicData>
        </a:graphic>
      </p:graphicFrame>
      <p:sp>
        <p:nvSpPr>
          <p:cNvPr id="7" name="Text 4"/>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Page section 4 and demo S17-D3. A described scenario: the engagement's evidence will be added later.</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MFA for administrative access, and its limits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25880"/>
            <a:ext cx="4133088" cy="402336"/>
          </a:xfrm>
          <a:prstGeom prst="rect">
            <a:avLst/>
          </a:prstGeom>
          <a:solidFill>
            <a:srgbClr val="6E8472"/>
          </a:solidFill>
          <a:ln/>
        </p:spPr>
      </p:sp>
      <p:sp>
        <p:nvSpPr>
          <p:cNvPr id="7" name="Text 5"/>
          <p:cNvSpPr/>
          <p:nvPr/>
        </p:nvSpPr>
        <p:spPr>
          <a:xfrm>
            <a:off x="521208" y="132588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MFA stops</a:t>
            </a:r>
            <a:endParaRPr lang="en-US" sz="1500" dirty="0"/>
          </a:p>
        </p:txBody>
      </p:sp>
      <p:sp>
        <p:nvSpPr>
          <p:cNvPr id="8" name="Shape 6"/>
          <p:cNvSpPr/>
          <p:nvPr/>
        </p:nvSpPr>
        <p:spPr>
          <a:xfrm>
            <a:off x="411480" y="1728216"/>
            <a:ext cx="4133088" cy="2560320"/>
          </a:xfrm>
          <a:prstGeom prst="rect">
            <a:avLst/>
          </a:prstGeom>
          <a:solidFill>
            <a:srgbClr val="FFFFFF"/>
          </a:solidFill>
          <a:ln w="9525">
            <a:solidFill>
              <a:srgbClr val="CBD6CE"/>
            </a:solidFill>
            <a:prstDash val="solid"/>
          </a:ln>
        </p:spPr>
      </p:sp>
      <p:sp>
        <p:nvSpPr>
          <p:cNvPr id="9" name="Text 7"/>
          <p:cNvSpPr/>
          <p:nvPr/>
        </p:nvSpPr>
        <p:spPr>
          <a:xfrm>
            <a:off x="539496" y="1783080"/>
            <a:ext cx="3877056" cy="2450592"/>
          </a:xfrm>
          <a:prstGeom prst="rect">
            <a:avLst/>
          </a:prstGeom>
          <a:noFill/>
          <a:ln/>
        </p:spPr>
        <p:txBody>
          <a:bodyPr wrap="square" lIns="0" tIns="0" rIns="0" bIns="0" rtlCol="0" anchor="t"/>
          <a:lstStyle/>
          <a:p>
            <a:pPr indent="0" marL="0">
              <a:buNone/>
            </a:pPr>
            <a:r>
              <a:rPr lang="en-US" sz="1300" b="1" dirty="0">
                <a:solidFill>
                  <a:srgbClr val="4F6356"/>
                </a:solidFill>
                <a:latin typeface="Open Sans" pitchFamily="34" charset="0"/>
                <a:ea typeface="Open Sans" pitchFamily="34" charset="-122"/>
                <a:cs typeface="Open Sans" pitchFamily="34" charset="-120"/>
              </a:rPr>
              <a:t>A password used alone</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Stolen, guessed or bought</a:t>
            </a:r>
            <a:endParaRPr lang="en-US" sz="1300" dirty="0"/>
          </a:p>
          <a:p>
            <a:pPr indent="0" marL="0">
              <a:buNone/>
            </a:pPr>
            <a:r>
              <a:rPr lang="en-US" sz="1300" b="1" dirty="0">
                <a:solidFill>
                  <a:srgbClr val="4F6356"/>
                </a:solidFill>
                <a:latin typeface="Open Sans" pitchFamily="34" charset="0"/>
                <a:ea typeface="Open Sans" pitchFamily="34" charset="-122"/>
                <a:cs typeface="Open Sans" pitchFamily="34" charset="-120"/>
              </a:rPr>
              <a:t>Password reuse</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From another site's leak</a:t>
            </a:r>
            <a:endParaRPr lang="en-US" sz="1300" dirty="0"/>
          </a:p>
          <a:p>
            <a:pPr indent="0" marL="0">
              <a:buNone/>
            </a:pPr>
            <a:r>
              <a:rPr lang="en-US" sz="1300" b="1" dirty="0">
                <a:solidFill>
                  <a:srgbClr val="4F6356"/>
                </a:solidFill>
                <a:latin typeface="Open Sans" pitchFamily="34" charset="0"/>
                <a:ea typeface="Open Sans" pitchFamily="34" charset="-122"/>
                <a:cs typeface="Open Sans" pitchFamily="34" charset="-120"/>
              </a:rPr>
              <a:t>Automated guessing</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On the sign-in page</a:t>
            </a:r>
            <a:endParaRPr lang="en-US" sz="1300" dirty="0"/>
          </a:p>
        </p:txBody>
      </p:sp>
      <p:sp>
        <p:nvSpPr>
          <p:cNvPr id="10" name="Shape 8"/>
          <p:cNvSpPr/>
          <p:nvPr/>
        </p:nvSpPr>
        <p:spPr>
          <a:xfrm>
            <a:off x="4645152" y="1325880"/>
            <a:ext cx="4133088" cy="402336"/>
          </a:xfrm>
          <a:prstGeom prst="rect">
            <a:avLst/>
          </a:prstGeom>
          <a:solidFill>
            <a:srgbClr val="8A4E8F"/>
          </a:solidFill>
          <a:ln/>
        </p:spPr>
      </p:sp>
      <p:sp>
        <p:nvSpPr>
          <p:cNvPr id="11" name="Text 9"/>
          <p:cNvSpPr/>
          <p:nvPr/>
        </p:nvSpPr>
        <p:spPr>
          <a:xfrm>
            <a:off x="4754880" y="132588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MFA does not stop</a:t>
            </a:r>
            <a:endParaRPr lang="en-US" sz="1500" dirty="0"/>
          </a:p>
        </p:txBody>
      </p:sp>
      <p:sp>
        <p:nvSpPr>
          <p:cNvPr id="12" name="Shape 10"/>
          <p:cNvSpPr/>
          <p:nvPr/>
        </p:nvSpPr>
        <p:spPr>
          <a:xfrm>
            <a:off x="4645152" y="1728216"/>
            <a:ext cx="4133088" cy="2560320"/>
          </a:xfrm>
          <a:prstGeom prst="rect">
            <a:avLst/>
          </a:prstGeom>
          <a:solidFill>
            <a:srgbClr val="FFFFFF"/>
          </a:solidFill>
          <a:ln w="9525">
            <a:solidFill>
              <a:srgbClr val="CBD6CE"/>
            </a:solidFill>
            <a:prstDash val="solid"/>
          </a:ln>
        </p:spPr>
      </p:sp>
      <p:sp>
        <p:nvSpPr>
          <p:cNvPr id="13" name="Text 11"/>
          <p:cNvSpPr/>
          <p:nvPr/>
        </p:nvSpPr>
        <p:spPr>
          <a:xfrm>
            <a:off x="4773168" y="1783080"/>
            <a:ext cx="3877056" cy="2450592"/>
          </a:xfrm>
          <a:prstGeom prst="rect">
            <a:avLst/>
          </a:prstGeom>
          <a:noFill/>
          <a:ln/>
        </p:spPr>
        <p:txBody>
          <a:bodyPr wrap="square" lIns="0" tIns="0" rIns="0" bIns="0" rtlCol="0" anchor="t"/>
          <a:lstStyle/>
          <a:p>
            <a:pPr indent="0" marL="0">
              <a:buNone/>
            </a:pPr>
            <a:r>
              <a:rPr lang="en-US" sz="1300" b="1" dirty="0">
                <a:solidFill>
                  <a:srgbClr val="8A4E8F"/>
                </a:solidFill>
                <a:latin typeface="Open Sans" pitchFamily="34" charset="0"/>
                <a:ea typeface="Open Sans" pitchFamily="34" charset="-122"/>
                <a:cs typeface="Open Sans" pitchFamily="34" charset="-120"/>
              </a:rPr>
              <a:t>A web shell</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It runs as the web server; it never signs in</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A stolen session cookie</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Reused after the sign-in</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Relayed codes, push fatigue</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A security key resists the relay</a:t>
            </a:r>
            <a:endParaRPr lang="en-US" sz="1300" dirty="0"/>
          </a:p>
        </p:txBody>
      </p:sp>
      <p:sp>
        <p:nvSpPr>
          <p:cNvPr id="14" name="Text 12"/>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Page section 4. MFA protects the door, not the building: recommend it with its limits.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The law around the work: United Kingdom</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11480" y="1325880"/>
          <a:ext cx="8321040" cy="914400"/>
        </p:xfrm>
        <a:graphic>
          <a:graphicData uri="http://schemas.openxmlformats.org/drawingml/2006/table">
            <a:tbl>
              <a:tblPr/>
              <a:tblGrid>
                <a:gridCol w="3566160"/>
                <a:gridCol w="4754880"/>
              </a:tblGrid>
              <a:tr h="457200">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Law</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What it asks of an examiner</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457200">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Computer Misuse Act 1990</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Written authority for every access; no sign-in with a found password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Investigatory Powers Act 2016, s.3</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No interception of others' traffic without lawful authority</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457200">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Data Protection Act 2018 and UK GDPR (amended 2025)</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Lawful basis, minimum data, security, limited retention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FSR statutory Code of Practice, version 2</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Validated methods, declared limitations, disclosure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457200">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Criminal Procedure Rules 2025, Part 19</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expert's duty to the court overrides the duty to the payer</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bl>
          </a:graphicData>
        </a:graphic>
      </p:graphicFrame>
      <p:sp>
        <p:nvSpPr>
          <p:cNvPr id="7" name="Text 4"/>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Page section 5. Named, not lectured; not legal advice. Check the current text before relying on it.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Sri Lanka, and evidence across borders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11480" y="1325880"/>
          <a:ext cx="8321040" cy="914400"/>
        </p:xfrm>
        <a:graphic>
          <a:graphicData uri="http://schemas.openxmlformats.org/drawingml/2006/table">
            <a:tbl>
              <a:tblPr/>
              <a:tblGrid>
                <a:gridCol w="3291840"/>
                <a:gridCol w="5029200"/>
              </a:tblGrid>
              <a:tr h="502920">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Law</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What it asks of an examiner</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502920">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Computer Crime Act No. 24 of 2007</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Authority; interception and devices as offences; expert panel; preservation (s.19); confidentiality</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Evidence (Special Provisions) Act No. 14 of 1995</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Conditions before computer evidence is admitted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502920">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Personal Data Protection Act No. 9 of 2022</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Main duties brought into force in stages by Minister's Order; check what is in force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Budapest Convention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Preservation and mutual legal assistance between Parties: UK since 2011, Sri Lanka since 2015</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bl>
          </a:graphicData>
        </a:graphic>
      </p:graphicFrame>
      <p:sp>
        <p:nvSpPr>
          <p:cNvPr id="7" name="Text 4"/>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Page section 5. Preservation first, then mutual legal assistance: Sessions 11 and 14.</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Standards and the court</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25880"/>
            <a:ext cx="4133088" cy="402336"/>
          </a:xfrm>
          <a:prstGeom prst="rect">
            <a:avLst/>
          </a:prstGeom>
          <a:solidFill>
            <a:srgbClr val="6E8472"/>
          </a:solidFill>
          <a:ln/>
        </p:spPr>
      </p:sp>
      <p:sp>
        <p:nvSpPr>
          <p:cNvPr id="7" name="Text 5"/>
          <p:cNvSpPr/>
          <p:nvPr/>
        </p:nvSpPr>
        <p:spPr>
          <a:xfrm>
            <a:off x="521208" y="132588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Two kinds of witness</a:t>
            </a:r>
            <a:endParaRPr lang="en-US" sz="1500" dirty="0"/>
          </a:p>
        </p:txBody>
      </p:sp>
      <p:sp>
        <p:nvSpPr>
          <p:cNvPr id="8" name="Shape 6"/>
          <p:cNvSpPr/>
          <p:nvPr/>
        </p:nvSpPr>
        <p:spPr>
          <a:xfrm>
            <a:off x="411480" y="1728216"/>
            <a:ext cx="4133088" cy="2514600"/>
          </a:xfrm>
          <a:prstGeom prst="rect">
            <a:avLst/>
          </a:prstGeom>
          <a:solidFill>
            <a:srgbClr val="FFFFFF"/>
          </a:solidFill>
          <a:ln w="9525">
            <a:solidFill>
              <a:srgbClr val="CBD6CE"/>
            </a:solidFill>
            <a:prstDash val="solid"/>
          </a:ln>
        </p:spPr>
      </p:sp>
      <p:sp>
        <p:nvSpPr>
          <p:cNvPr id="9" name="Text 7"/>
          <p:cNvSpPr/>
          <p:nvPr/>
        </p:nvSpPr>
        <p:spPr>
          <a:xfrm>
            <a:off x="539496" y="1783080"/>
            <a:ext cx="3877056" cy="2404872"/>
          </a:xfrm>
          <a:prstGeom prst="rect">
            <a:avLst/>
          </a:prstGeom>
          <a:noFill/>
          <a:ln/>
        </p:spPr>
        <p:txBody>
          <a:bodyPr wrap="square" lIns="0" tIns="0" rIns="0" bIns="0" rtlCol="0" anchor="t"/>
          <a:lstStyle/>
          <a:p>
            <a:pPr indent="0" marL="0">
              <a:buNone/>
            </a:pPr>
            <a:r>
              <a:rPr lang="en-US" sz="1300" b="1" dirty="0">
                <a:solidFill>
                  <a:srgbClr val="4F6356"/>
                </a:solidFill>
                <a:latin typeface="Open Sans" pitchFamily="34" charset="0"/>
                <a:ea typeface="Open Sans" pitchFamily="34" charset="-122"/>
                <a:cs typeface="Open Sans" pitchFamily="34" charset="-120"/>
              </a:rPr>
              <a:t>Witness of fact</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What they saw or did: 'I imaged the disk and recorded this hash value'</a:t>
            </a:r>
            <a:endParaRPr lang="en-US" sz="1300" dirty="0"/>
          </a:p>
          <a:p>
            <a:pPr indent="0" marL="0">
              <a:buNone/>
            </a:pPr>
            <a:r>
              <a:rPr lang="en-US" sz="1300" b="1" dirty="0">
                <a:solidFill>
                  <a:srgbClr val="4F6356"/>
                </a:solidFill>
                <a:latin typeface="Open Sans" pitchFamily="34" charset="0"/>
                <a:ea typeface="Open Sans" pitchFamily="34" charset="-122"/>
                <a:cs typeface="Open Sans" pitchFamily="34" charset="-120"/>
              </a:rPr>
              <a:t>Expert witness</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What the evidence means, with reasons; duty to the court first</a:t>
            </a:r>
            <a:endParaRPr lang="en-US" sz="1300" dirty="0"/>
          </a:p>
          <a:p>
            <a:pPr indent="0" marL="0">
              <a:buNone/>
            </a:pPr>
            <a:r>
              <a:rPr lang="en-US" sz="1300" b="1" dirty="0">
                <a:solidFill>
                  <a:srgbClr val="4F6356"/>
                </a:solidFill>
                <a:latin typeface="Open Sans" pitchFamily="34" charset="0"/>
                <a:ea typeface="Open Sans" pitchFamily="34" charset="-122"/>
                <a:cs typeface="Open Sans" pitchFamily="34" charset="-120"/>
              </a:rPr>
              <a:t>Standards</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ISO/IEC 27037; the ACPO principles of Session 1</a:t>
            </a:r>
            <a:endParaRPr lang="en-US" sz="1300" dirty="0"/>
          </a:p>
        </p:txBody>
      </p:sp>
      <p:sp>
        <p:nvSpPr>
          <p:cNvPr id="10" name="Shape 8"/>
          <p:cNvSpPr/>
          <p:nvPr/>
        </p:nvSpPr>
        <p:spPr>
          <a:xfrm>
            <a:off x="4645152" y="1325880"/>
            <a:ext cx="4133088" cy="402336"/>
          </a:xfrm>
          <a:prstGeom prst="rect">
            <a:avLst/>
          </a:prstGeom>
          <a:solidFill>
            <a:srgbClr val="8A4E8F"/>
          </a:solidFill>
          <a:ln/>
        </p:spPr>
      </p:sp>
      <p:sp>
        <p:nvSpPr>
          <p:cNvPr id="11" name="Text 9"/>
          <p:cNvSpPr/>
          <p:nvPr/>
        </p:nvSpPr>
        <p:spPr>
          <a:xfrm>
            <a:off x="4754880" y="132588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How a defence tests a method</a:t>
            </a:r>
            <a:endParaRPr lang="en-US" sz="1500" dirty="0"/>
          </a:p>
        </p:txBody>
      </p:sp>
      <p:sp>
        <p:nvSpPr>
          <p:cNvPr id="12" name="Shape 10"/>
          <p:cNvSpPr/>
          <p:nvPr/>
        </p:nvSpPr>
        <p:spPr>
          <a:xfrm>
            <a:off x="4645152" y="1728216"/>
            <a:ext cx="4133088" cy="2514600"/>
          </a:xfrm>
          <a:prstGeom prst="rect">
            <a:avLst/>
          </a:prstGeom>
          <a:solidFill>
            <a:srgbClr val="FFFFFF"/>
          </a:solidFill>
          <a:ln w="9525">
            <a:solidFill>
              <a:srgbClr val="CBD6CE"/>
            </a:solidFill>
            <a:prstDash val="solid"/>
          </a:ln>
        </p:spPr>
      </p:sp>
      <p:sp>
        <p:nvSpPr>
          <p:cNvPr id="13" name="Text 11"/>
          <p:cNvSpPr/>
          <p:nvPr/>
        </p:nvSpPr>
        <p:spPr>
          <a:xfrm>
            <a:off x="4773168" y="1783080"/>
            <a:ext cx="3877056" cy="2404872"/>
          </a:xfrm>
          <a:prstGeom prst="rect">
            <a:avLst/>
          </a:prstGeom>
          <a:noFill/>
          <a:ln/>
        </p:spPr>
        <p:txBody>
          <a:bodyPr wrap="square" lIns="0" tIns="0" rIns="0" bIns="0" rtlCol="0" anchor="t"/>
          <a:lstStyle/>
          <a:p>
            <a:pPr indent="0" marL="0">
              <a:buNone/>
            </a:pPr>
            <a:r>
              <a:rPr lang="en-US" sz="1300" b="1" dirty="0">
                <a:solidFill>
                  <a:srgbClr val="8A4E8F"/>
                </a:solidFill>
                <a:latin typeface="Open Sans" pitchFamily="34" charset="0"/>
                <a:ea typeface="Open Sans" pitchFamily="34" charset="-122"/>
                <a:cs typeface="Open Sans" pitchFamily="34" charset="-120"/>
              </a:rPr>
              <a:t>The chain</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Session 1: a gap in custody</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The hypothesis and the clock</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Sessions 8 and 5: untested, unconverted</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The tools</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Session 16: a disagreement not disclosed</a:t>
            </a:r>
            <a:endParaRPr lang="en-US" sz="1300" dirty="0"/>
          </a:p>
        </p:txBody>
      </p:sp>
      <p:sp>
        <p:nvSpPr>
          <p:cNvPr id="14" name="Text 12"/>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Page section 6 and demo S17-D4. Tool validation gives the error rate; disclosure includes what helps the other side.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Through another lens: Minority Report</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71600"/>
            <a:ext cx="8321040" cy="3017520"/>
          </a:xfrm>
          <a:prstGeom prst="rect">
            <a:avLst/>
          </a:prstGeom>
          <a:solidFill>
            <a:srgbClr val="F1E8F2"/>
          </a:solidFill>
          <a:ln/>
        </p:spPr>
      </p:sp>
      <p:sp>
        <p:nvSpPr>
          <p:cNvPr id="7" name="Shape 5"/>
          <p:cNvSpPr/>
          <p:nvPr/>
        </p:nvSpPr>
        <p:spPr>
          <a:xfrm>
            <a:off x="411480" y="1371600"/>
            <a:ext cx="82296" cy="3017520"/>
          </a:xfrm>
          <a:prstGeom prst="rect">
            <a:avLst/>
          </a:prstGeom>
          <a:solidFill>
            <a:srgbClr val="8A4E8F"/>
          </a:solidFill>
          <a:ln/>
        </p:spPr>
      </p:sp>
      <p:sp>
        <p:nvSpPr>
          <p:cNvPr id="8" name="Text 6"/>
          <p:cNvSpPr/>
          <p:nvPr/>
        </p:nvSpPr>
        <p:spPr>
          <a:xfrm>
            <a:off x="621792" y="1444752"/>
            <a:ext cx="7955280" cy="237744"/>
          </a:xfrm>
          <a:prstGeom prst="rect">
            <a:avLst/>
          </a:prstGeom>
          <a:noFill/>
          <a:ln/>
        </p:spPr>
        <p:txBody>
          <a:bodyPr wrap="square" lIns="0" tIns="0" rIns="0" bIns="0" rtlCol="0" anchor="ctr"/>
          <a:lstStyle/>
          <a:p>
            <a:pPr indent="0" marL="0">
              <a:buNone/>
            </a:pPr>
            <a:r>
              <a:rPr lang="en-US" sz="1300" b="1" spc="200" kern="0" dirty="0">
                <a:solidFill>
                  <a:srgbClr val="8A4E8F"/>
                </a:solidFill>
                <a:latin typeface="Open Sans" pitchFamily="34" charset="0"/>
                <a:ea typeface="Open Sans" pitchFamily="34" charset="-122"/>
                <a:cs typeface="Open Sans" pitchFamily="34" charset="-120"/>
              </a:rPr>
              <a:t>THROUGH ANOTHER LENS</a:t>
            </a:r>
            <a:endParaRPr lang="en-US" sz="1300" dirty="0"/>
          </a:p>
        </p:txBody>
      </p:sp>
      <p:sp>
        <p:nvSpPr>
          <p:cNvPr id="9" name="Text 7"/>
          <p:cNvSpPr/>
          <p:nvPr/>
        </p:nvSpPr>
        <p:spPr>
          <a:xfrm>
            <a:off x="621792" y="1700784"/>
            <a:ext cx="7955280" cy="2615184"/>
          </a:xfrm>
          <a:prstGeom prst="rect">
            <a:avLst/>
          </a:prstGeom>
          <a:noFill/>
          <a:ln/>
        </p:spPr>
        <p:txBody>
          <a:bodyPr wrap="square" lIns="0" tIns="0" rIns="0" bIns="0" rtlCol="0" anchor="t"/>
          <a:lstStyle/>
          <a:p>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Steven Spielberg's 2002 film, from a Philip K. Dick story: police arrest people for murders not yet committed, on the visions of three 'precogs'. The system is trusted completely, and when one precog sees a different future, the 'minority report' is hidden.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Where it breaks: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forensics works on what happened, not on what will happen. But trusting a tool or a confident timeline without testing it is the same mistake, and hiding a disagreement or a limitation is the buried minority report.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The question: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the city could see everything. What will you allow yourself to do with what you see?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31423B"/>
        </a:solidFill>
      </p:bgPr>
    </p:bg>
    <p:spTree>
      <p:nvGrpSpPr>
        <p:cNvPr id="1" name=""/>
        <p:cNvGrpSpPr/>
        <p:nvPr/>
      </p:nvGrpSpPr>
      <p:grpSpPr>
        <a:xfrm>
          <a:off x="0" y="0"/>
          <a:ext cx="0" cy="0"/>
          <a:chOff x="0" y="0"/>
          <a:chExt cx="0" cy="0"/>
        </a:xfrm>
      </p:grpSpPr>
      <p:sp>
        <p:nvSpPr>
          <p:cNvPr id="2" name="Shape 0"/>
          <p:cNvSpPr/>
          <p:nvPr/>
        </p:nvSpPr>
        <p:spPr>
          <a:xfrm>
            <a:off x="731520" y="731520"/>
            <a:ext cx="502920" cy="64008"/>
          </a:xfrm>
          <a:prstGeom prst="rect">
            <a:avLst/>
          </a:prstGeom>
          <a:solidFill>
            <a:srgbClr val="6E8472"/>
          </a:solidFill>
          <a:ln/>
        </p:spPr>
      </p:sp>
      <p:sp>
        <p:nvSpPr>
          <p:cNvPr id="3" name="Shape 1"/>
          <p:cNvSpPr/>
          <p:nvPr/>
        </p:nvSpPr>
        <p:spPr>
          <a:xfrm>
            <a:off x="1280160" y="731520"/>
            <a:ext cx="256032" cy="64008"/>
          </a:xfrm>
          <a:prstGeom prst="rect">
            <a:avLst/>
          </a:prstGeom>
          <a:solidFill>
            <a:srgbClr val="8A4E8F"/>
          </a:solidFill>
          <a:ln/>
        </p:spPr>
      </p:sp>
      <p:sp>
        <p:nvSpPr>
          <p:cNvPr id="4" name="Text 2"/>
          <p:cNvSpPr/>
          <p:nvPr/>
        </p:nvSpPr>
        <p:spPr>
          <a:xfrm>
            <a:off x="731520" y="987552"/>
            <a:ext cx="7680960" cy="365760"/>
          </a:xfrm>
          <a:prstGeom prst="rect">
            <a:avLst/>
          </a:prstGeom>
          <a:noFill/>
          <a:ln/>
        </p:spPr>
        <p:txBody>
          <a:bodyPr wrap="square" lIns="0" tIns="0" rIns="0" bIns="0" rtlCol="0" anchor="ctr"/>
          <a:lstStyle/>
          <a:p>
            <a:pPr indent="0" marL="0">
              <a:buNone/>
            </a:pPr>
            <a:r>
              <a:rPr lang="en-US" sz="1300" b="1" spc="200" kern="0" dirty="0">
                <a:solidFill>
                  <a:srgbClr val="C9A6CC"/>
                </a:solidFill>
                <a:latin typeface="Open Sans" pitchFamily="34" charset="0"/>
                <a:ea typeface="Open Sans" pitchFamily="34" charset="-122"/>
                <a:cs typeface="Open Sans" pitchFamily="34" charset="-120"/>
              </a:rPr>
              <a:t>KEY CONCEPT</a:t>
            </a:r>
            <a:endParaRPr lang="en-US" sz="1300" dirty="0"/>
          </a:p>
        </p:txBody>
      </p:sp>
      <p:sp>
        <p:nvSpPr>
          <p:cNvPr id="5" name="Text 3"/>
          <p:cNvSpPr/>
          <p:nvPr/>
        </p:nvSpPr>
        <p:spPr>
          <a:xfrm>
            <a:off x="731520" y="1554480"/>
            <a:ext cx="7680960" cy="1920240"/>
          </a:xfrm>
          <a:prstGeom prst="rect">
            <a:avLst/>
          </a:prstGeom>
          <a:noFill/>
          <a:ln/>
        </p:spPr>
        <p:txBody>
          <a:bodyPr wrap="square" lIns="0" tIns="0" rIns="0" bIns="0" rtlCol="0" anchor="t"/>
          <a:lstStyle/>
          <a:p>
            <a:pPr indent="0" marL="0">
              <a:buNone/>
            </a:pPr>
            <a:r>
              <a:rPr lang="en-US" sz="3200" b="1" dirty="0">
                <a:solidFill>
                  <a:srgbClr val="FFFFFF"/>
                </a:solidFill>
                <a:latin typeface="Open Sans" pitchFamily="34" charset="0"/>
                <a:ea typeface="Open Sans" pitchFamily="34" charset="-122"/>
                <a:cs typeface="Open Sans" pitchFamily="34" charset="-120"/>
              </a:rPr>
              <a:t>The power to see everything imposes a duty over what you do with it.</a:t>
            </a:r>
            <a:endParaRPr lang="en-US" sz="3200" dirty="0"/>
          </a:p>
        </p:txBody>
      </p:sp>
      <p:sp>
        <p:nvSpPr>
          <p:cNvPr id="6" name="Text 4"/>
          <p:cNvSpPr/>
          <p:nvPr/>
        </p:nvSpPr>
        <p:spPr>
          <a:xfrm>
            <a:off x="731520" y="3703320"/>
            <a:ext cx="7680960" cy="1005840"/>
          </a:xfrm>
          <a:prstGeom prst="rect">
            <a:avLst/>
          </a:prstGeom>
          <a:noFill/>
          <a:ln/>
        </p:spPr>
        <p:txBody>
          <a:bodyPr wrap="square" lIns="0" tIns="0" rIns="0" bIns="0" rtlCol="0" anchor="t"/>
          <a:lstStyle/>
          <a:p>
            <a:pPr indent="0" marL="0">
              <a:buNone/>
            </a:pPr>
            <a:r>
              <a:rPr lang="en-US" sz="1600" i="1" dirty="0">
                <a:solidFill>
                  <a:srgbClr val="E8F0EA"/>
                </a:solidFill>
                <a:latin typeface="Open Sans" pitchFamily="34" charset="0"/>
                <a:ea typeface="Open Sans" pitchFamily="34" charset="-122"/>
                <a:cs typeface="Open Sans" pitchFamily="34" charset="-120"/>
              </a:rPr>
              <a:t>The law sets the outer limits; ethics decides what you do inside them.</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Ethics in practice: six duties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25880"/>
            <a:ext cx="8321040" cy="3017520"/>
          </a:xfrm>
          <a:prstGeom prst="rect">
            <a:avLst/>
          </a:prstGeom>
          <a:solidFill>
            <a:srgbClr val="DCE6DE"/>
          </a:solidFill>
          <a:ln/>
        </p:spPr>
      </p:sp>
      <p:sp>
        <p:nvSpPr>
          <p:cNvPr id="7" name="Text 5"/>
          <p:cNvSpPr/>
          <p:nvPr/>
        </p:nvSpPr>
        <p:spPr>
          <a:xfrm>
            <a:off x="502920" y="1325880"/>
            <a:ext cx="8138160" cy="3017520"/>
          </a:xfrm>
          <a:prstGeom prst="rect">
            <a:avLst/>
          </a:prstGeom>
          <a:noFill/>
          <a:ln/>
        </p:spPr>
        <p:txBody>
          <a:bodyPr wrap="square" rtlCol="0" anchor="ctr"/>
          <a:lstStyle/>
          <a:p>
            <a:pPr marL="342900" indent="-342900">
              <a:spcAft>
                <a:spcPts val="600"/>
              </a:spcAft>
              <a:buSzPct val="100000"/>
              <a:buChar char="•"/>
            </a:pPr>
            <a:r>
              <a:rPr lang="en-US" sz="1400" b="1" dirty="0">
                <a:solidFill>
                  <a:srgbClr val="31423B"/>
                </a:solidFill>
                <a:latin typeface="Open Sans" pitchFamily="34" charset="0"/>
                <a:ea typeface="Open Sans" pitchFamily="34" charset="-122"/>
                <a:cs typeface="Open Sans" pitchFamily="34" charset="-120"/>
              </a:rPr>
              <a:t>Authority and scope: only what the written authority allows</a:t>
            </a:r>
            <a:endParaRPr lang="en-US" sz="1400" dirty="0"/>
          </a:p>
          <a:p>
            <a:pPr marL="342900" indent="-342900">
              <a:spcAft>
                <a:spcPts val="600"/>
              </a:spcAft>
              <a:buSzPct val="100000"/>
              <a:buChar char="•"/>
            </a:pPr>
            <a:r>
              <a:rPr lang="en-US" sz="1400" b="1" dirty="0">
                <a:solidFill>
                  <a:srgbClr val="31423B"/>
                </a:solidFill>
                <a:latin typeface="Open Sans" pitchFamily="34" charset="0"/>
                <a:ea typeface="Open Sans" pitchFamily="34" charset="-122"/>
                <a:cs typeface="Open Sans" pitchFamily="34" charset="-120"/>
              </a:rPr>
              <a:t>Proportionality: no further than the question needs</a:t>
            </a:r>
            <a:endParaRPr lang="en-US" sz="1400" dirty="0"/>
          </a:p>
          <a:p>
            <a:pPr marL="342900" indent="-342900">
              <a:spcAft>
                <a:spcPts val="600"/>
              </a:spcAft>
              <a:buSzPct val="100000"/>
              <a:buChar char="•"/>
            </a:pPr>
            <a:r>
              <a:rPr lang="en-US" sz="1400" b="1" dirty="0">
                <a:solidFill>
                  <a:srgbClr val="31423B"/>
                </a:solidFill>
                <a:latin typeface="Open Sans" pitchFamily="34" charset="0"/>
                <a:ea typeface="Open Sans" pitchFamily="34" charset="-122"/>
                <a:cs typeface="Open Sans" pitchFamily="34" charset="-120"/>
              </a:rPr>
              <a:t>Collateral and third-party data: not reported, not discussed, not used</a:t>
            </a:r>
            <a:endParaRPr lang="en-US" sz="1400" dirty="0"/>
          </a:p>
          <a:p>
            <a:pPr marL="342900" indent="-342900">
              <a:spcAft>
                <a:spcPts val="600"/>
              </a:spcAft>
              <a:buSzPct val="100000"/>
              <a:buChar char="•"/>
            </a:pPr>
            <a:r>
              <a:rPr lang="en-US" sz="1400" b="1" dirty="0">
                <a:solidFill>
                  <a:srgbClr val="31423B"/>
                </a:solidFill>
                <a:latin typeface="Open Sans" pitchFamily="34" charset="0"/>
                <a:ea typeface="Open Sans" pitchFamily="34" charset="-122"/>
                <a:cs typeface="Open Sans" pitchFamily="34" charset="-120"/>
              </a:rPr>
              <a:t>Privacy even in public data: the test phone for training only; no contact details</a:t>
            </a:r>
            <a:endParaRPr lang="en-US" sz="1400" dirty="0"/>
          </a:p>
          <a:p>
            <a:pPr marL="342900" indent="-342900">
              <a:spcAft>
                <a:spcPts val="600"/>
              </a:spcAft>
              <a:buSzPct val="100000"/>
              <a:buChar char="•"/>
            </a:pPr>
            <a:r>
              <a:rPr lang="en-US" sz="1400" b="1" dirty="0">
                <a:solidFill>
                  <a:srgbClr val="31423B"/>
                </a:solidFill>
                <a:latin typeface="Open Sans" pitchFamily="34" charset="0"/>
                <a:ea typeface="Open Sans" pitchFamily="34" charset="-122"/>
                <a:cs typeface="Open Sans" pitchFamily="34" charset="-120"/>
              </a:rPr>
              <a:t>Retention and disposal: kept only as long as allowed; destruction recorded</a:t>
            </a:r>
            <a:endParaRPr lang="en-US" sz="1400" dirty="0"/>
          </a:p>
          <a:p>
            <a:pPr marL="342900" indent="-342900">
              <a:spcAft>
                <a:spcPts val="600"/>
              </a:spcAft>
              <a:buSzPct val="100000"/>
              <a:buChar char="•"/>
            </a:pPr>
            <a:r>
              <a:rPr lang="en-US" sz="1400" b="1" dirty="0">
                <a:solidFill>
                  <a:srgbClr val="31423B"/>
                </a:solidFill>
                <a:latin typeface="Open Sans" pitchFamily="34" charset="0"/>
                <a:ea typeface="Open Sans" pitchFamily="34" charset="-122"/>
                <a:cs typeface="Open Sans" pitchFamily="34" charset="-120"/>
              </a:rPr>
              <a:t>Bias, and the duty to report what does not fit</a:t>
            </a:r>
            <a:endParaRPr lang="en-US" sz="1400" dirty="0"/>
          </a:p>
        </p:txBody>
      </p:sp>
      <p:sp>
        <p:nvSpPr>
          <p:cNvPr id="8" name="Text 6"/>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Page section 7. S16's promise: what the unit may and may not do with evidence like the test phone's.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8A4E8F"/>
          </a:solidFill>
          <a:ln/>
        </p:spPr>
      </p:sp>
      <p:sp>
        <p:nvSpPr>
          <p:cNvPr id="3" name="Shape 1"/>
          <p:cNvSpPr/>
          <p:nvPr/>
        </p:nvSpPr>
        <p:spPr>
          <a:xfrm>
            <a:off x="731520" y="566928"/>
            <a:ext cx="502920" cy="45720"/>
          </a:xfrm>
          <a:prstGeom prst="rect">
            <a:avLst/>
          </a:prstGeom>
          <a:solidFill>
            <a:srgbClr val="FFFFFF"/>
          </a:solidFill>
          <a:ln/>
        </p:spPr>
      </p:sp>
      <p:sp>
        <p:nvSpPr>
          <p:cNvPr id="4" name="Text 2"/>
          <p:cNvSpPr/>
          <p:nvPr/>
        </p:nvSpPr>
        <p:spPr>
          <a:xfrm>
            <a:off x="731520" y="768096"/>
            <a:ext cx="6949440" cy="566928"/>
          </a:xfrm>
          <a:prstGeom prst="rect">
            <a:avLst/>
          </a:prstGeom>
          <a:noFill/>
          <a:ln/>
        </p:spPr>
        <p:txBody>
          <a:bodyPr wrap="square" lIns="0" tIns="0" rIns="0" bIns="0" rtlCol="0" anchor="t"/>
          <a:lstStyle/>
          <a:p>
            <a:pPr indent="0" marL="0">
              <a:buNone/>
            </a:pPr>
            <a:r>
              <a:rPr lang="en-US" sz="2400" b="1" dirty="0">
                <a:solidFill>
                  <a:srgbClr val="FFFFFF"/>
                </a:solidFill>
                <a:latin typeface="Open Sans" pitchFamily="34" charset="0"/>
                <a:ea typeface="Open Sans" pitchFamily="34" charset="-122"/>
                <a:cs typeface="Open Sans" pitchFamily="34" charset="-120"/>
              </a:rPr>
              <a:t>The timed investigation: 90 minutes</a:t>
            </a:r>
            <a:endParaRPr lang="en-US" sz="2400" dirty="0"/>
          </a:p>
        </p:txBody>
      </p:sp>
      <p:pic>
        <p:nvPicPr>
          <p:cNvPr id="5" name="Image 0" descr="preencoded.png">    </p:cNvPr>
          <p:cNvPicPr>
            <a:picLocks noChangeAspect="1"/>
          </p:cNvPicPr>
          <p:nvPr/>
        </p:nvPicPr>
        <p:blipFill>
          <a:blip r:embed="rId1"/>
          <a:stretch>
            <a:fillRect/>
          </a:stretch>
        </p:blipFill>
        <p:spPr>
          <a:xfrm>
            <a:off x="8001000" y="566928"/>
            <a:ext cx="731520" cy="731520"/>
          </a:xfrm>
          <a:prstGeom prst="rect">
            <a:avLst/>
          </a:prstGeom>
        </p:spPr>
      </p:pic>
      <p:sp>
        <p:nvSpPr>
          <p:cNvPr id="6" name="Shape 3"/>
          <p:cNvSpPr/>
          <p:nvPr/>
        </p:nvSpPr>
        <p:spPr>
          <a:xfrm>
            <a:off x="411480" y="1463040"/>
            <a:ext cx="3749040" cy="3246120"/>
          </a:xfrm>
          <a:prstGeom prst="rect">
            <a:avLst/>
          </a:prstGeom>
          <a:solidFill>
            <a:srgbClr val="31423B"/>
          </a:solidFill>
          <a:ln/>
        </p:spPr>
      </p:sp>
      <p:sp>
        <p:nvSpPr>
          <p:cNvPr id="7" name="Text 4"/>
          <p:cNvSpPr/>
          <p:nvPr/>
        </p:nvSpPr>
        <p:spPr>
          <a:xfrm>
            <a:off x="548640" y="1463040"/>
            <a:ext cx="3474720" cy="3246120"/>
          </a:xfrm>
          <a:prstGeom prst="rect">
            <a:avLst/>
          </a:prstGeom>
          <a:noFill/>
          <a:ln/>
        </p:spPr>
        <p:txBody>
          <a:bodyPr wrap="square" lIns="0" tIns="0" rIns="0" bIns="0" rtlCol="0" anchor="ctr"/>
          <a:lstStyle/>
          <a:p>
            <a:pPr indent="0" marL="0">
              <a:spcAft>
                <a:spcPts val="900"/>
              </a:spcAft>
              <a:buNone/>
            </a:pPr>
            <a:r>
              <a:rPr lang="en-US" sz="2000" b="1" dirty="0">
                <a:solidFill>
                  <a:srgbClr val="FFFFFF"/>
                </a:solidFill>
                <a:latin typeface="Open Sans" pitchFamily="34" charset="0"/>
                <a:ea typeface="Open Sans" pitchFamily="34" charset="-122"/>
                <a:cs typeface="Open Sans" pitchFamily="34" charset="-120"/>
              </a:rPr>
              <a:t>Three rules</a:t>
            </a:r>
            <a:endParaRPr lang="en-US" sz="1600" dirty="0"/>
          </a:p>
          <a:p>
            <a:pPr indent="0" marL="0">
              <a:spcAft>
                <a:spcPts val="900"/>
              </a:spcAft>
              <a:buNone/>
            </a:pPr>
            <a:r>
              <a:rPr lang="en-US" sz="1600" b="1" dirty="0">
                <a:solidFill>
                  <a:srgbClr val="FFFFFF"/>
                </a:solidFill>
                <a:latin typeface="Open Sans" pitchFamily="34" charset="0"/>
                <a:ea typeface="Open Sans" pitchFamily="34" charset="-122"/>
                <a:cs typeface="Open Sans" pitchFamily="34" charset="-120"/>
              </a:rPr>
              <a:t>Never open an original</a:t>
            </a:r>
            <a:endParaRPr lang="en-US" sz="1600" dirty="0"/>
          </a:p>
          <a:p>
            <a:pPr indent="0" marL="0">
              <a:spcAft>
                <a:spcPts val="900"/>
              </a:spcAft>
              <a:buNone/>
            </a:pPr>
            <a:r>
              <a:rPr lang="en-US" sz="1600" b="1" dirty="0">
                <a:solidFill>
                  <a:srgbClr val="FFFFFF"/>
                </a:solidFill>
                <a:latin typeface="Open Sans" pitchFamily="34" charset="0"/>
                <a:ea typeface="Open Sans" pitchFamily="34" charset="-122"/>
                <a:cs typeface="Open Sans" pitchFamily="34" charset="-120"/>
              </a:rPr>
              <a:t>Never open a link from the evidence</a:t>
            </a:r>
            <a:endParaRPr lang="en-US" sz="1600" dirty="0"/>
          </a:p>
          <a:p>
            <a:pPr indent="0" marL="0">
              <a:spcAft>
                <a:spcPts val="900"/>
              </a:spcAft>
              <a:buNone/>
            </a:pPr>
            <a:r>
              <a:rPr lang="en-US" sz="1600" b="1" dirty="0">
                <a:solidFill>
                  <a:srgbClr val="FFFFFF"/>
                </a:solidFill>
                <a:latin typeface="Open Sans" pitchFamily="34" charset="0"/>
                <a:ea typeface="Open Sans" pitchFamily="34" charset="-122"/>
                <a:cs typeface="Open Sans" pitchFamily="34" charset="-120"/>
              </a:rPr>
              <a:t>Collateral data stays out</a:t>
            </a:r>
            <a:endParaRPr lang="en-US" sz="1600" dirty="0"/>
          </a:p>
        </p:txBody>
      </p:sp>
      <p:sp>
        <p:nvSpPr>
          <p:cNvPr id="8" name="Shape 5"/>
          <p:cNvSpPr/>
          <p:nvPr/>
        </p:nvSpPr>
        <p:spPr>
          <a:xfrm>
            <a:off x="4297680" y="1463040"/>
            <a:ext cx="4434840" cy="3246120"/>
          </a:xfrm>
          <a:prstGeom prst="rect">
            <a:avLst/>
          </a:prstGeom>
          <a:solidFill>
            <a:srgbClr val="31423B"/>
          </a:solidFill>
          <a:ln/>
        </p:spPr>
      </p:sp>
      <p:sp>
        <p:nvSpPr>
          <p:cNvPr id="9" name="Text 6"/>
          <p:cNvSpPr/>
          <p:nvPr/>
        </p:nvSpPr>
        <p:spPr>
          <a:xfrm>
            <a:off x="4434840" y="1463040"/>
            <a:ext cx="4160520" cy="3246120"/>
          </a:xfrm>
          <a:prstGeom prst="rect">
            <a:avLst/>
          </a:prstGeom>
          <a:noFill/>
          <a:ln/>
        </p:spPr>
        <p:txBody>
          <a:bodyPr wrap="square" lIns="0" tIns="0" rIns="0" bIns="0" rtlCol="0" anchor="ctr"/>
          <a:lstStyle/>
          <a:p>
            <a:pPr indent="0" marL="0">
              <a:spcAft>
                <a:spcPts val="900"/>
              </a:spcAft>
              <a:buNone/>
            </a:pPr>
            <a:r>
              <a:rPr lang="en-US" sz="1600" b="1" dirty="0">
                <a:solidFill>
                  <a:srgbClr val="FFFFFF"/>
                </a:solidFill>
                <a:latin typeface="Open Sans" pitchFamily="34" charset="0"/>
                <a:ea typeface="Open Sans" pitchFamily="34" charset="-122"/>
                <a:cs typeface="Open Sans" pitchFamily="34" charset="-120"/>
              </a:rPr>
              <a:t>1  Receive and verify (10)</a:t>
            </a:r>
            <a:endParaRPr lang="en-US" sz="1600" dirty="0"/>
          </a:p>
          <a:p>
            <a:pPr indent="0" marL="0">
              <a:spcAft>
                <a:spcPts val="900"/>
              </a:spcAft>
              <a:buNone/>
            </a:pPr>
            <a:r>
              <a:rPr lang="en-US" sz="1600" b="1" dirty="0">
                <a:solidFill>
                  <a:srgbClr val="FFFFFF"/>
                </a:solidFill>
                <a:latin typeface="Open Sans" pitchFamily="34" charset="0"/>
                <a:ea typeface="Open Sans" pitchFamily="34" charset="-122"/>
                <a:cs typeface="Open Sans" pitchFamily="34" charset="-120"/>
              </a:rPr>
              <a:t>2  The network thread (20)</a:t>
            </a:r>
            <a:endParaRPr lang="en-US" sz="1600" dirty="0"/>
          </a:p>
          <a:p>
            <a:pPr indent="0" marL="0">
              <a:spcAft>
                <a:spcPts val="900"/>
              </a:spcAft>
              <a:buNone/>
            </a:pPr>
            <a:r>
              <a:rPr lang="en-US" sz="1600" b="1" dirty="0">
                <a:solidFill>
                  <a:srgbClr val="FFFFFF"/>
                </a:solidFill>
                <a:latin typeface="Open Sans" pitchFamily="34" charset="0"/>
                <a:ea typeface="Open Sans" pitchFamily="34" charset="-122"/>
                <a:cs typeface="Open Sans" pitchFamily="34" charset="-120"/>
              </a:rPr>
              <a:t>3  Computer, cloud, mail (25)</a:t>
            </a:r>
            <a:endParaRPr lang="en-US" sz="1600" dirty="0"/>
          </a:p>
          <a:p>
            <a:pPr indent="0" marL="0">
              <a:spcAft>
                <a:spcPts val="900"/>
              </a:spcAft>
              <a:buNone/>
            </a:pPr>
            <a:r>
              <a:rPr lang="en-US" sz="1600" b="1" dirty="0">
                <a:solidFill>
                  <a:srgbClr val="FFFFFF"/>
                </a:solidFill>
                <a:latin typeface="Open Sans" pitchFamily="34" charset="0"/>
                <a:ea typeface="Open Sans" pitchFamily="34" charset="-122"/>
                <a:cs typeface="Open Sans" pitchFamily="34" charset="-120"/>
              </a:rPr>
              <a:t>4  The last morning (15)</a:t>
            </a:r>
            <a:endParaRPr lang="en-US" sz="1600" dirty="0"/>
          </a:p>
          <a:p>
            <a:pPr indent="0" marL="0">
              <a:spcAft>
                <a:spcPts val="900"/>
              </a:spcAft>
              <a:buNone/>
            </a:pPr>
            <a:r>
              <a:rPr lang="en-US" sz="1600" b="1" dirty="0">
                <a:solidFill>
                  <a:srgbClr val="FFFFFF"/>
                </a:solidFill>
                <a:latin typeface="Open Sans" pitchFamily="34" charset="0"/>
                <a:ea typeface="Open Sans" pitchFamily="34" charset="-122"/>
                <a:cs typeface="Open Sans" pitchFamily="34" charset="-120"/>
              </a:rPr>
              <a:t>5  Timeline and summary (20)</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6E8472"/>
        </a:solidFill>
      </p:bgPr>
    </p:bg>
    <p:spTree>
      <p:nvGrpSpPr>
        <p:cNvPr id="1" name=""/>
        <p:cNvGrpSpPr/>
        <p:nvPr/>
      </p:nvGrpSpPr>
      <p:grpSpPr>
        <a:xfrm>
          <a:off x="0" y="0"/>
          <a:ext cx="0" cy="0"/>
          <a:chOff x="0" y="0"/>
          <a:chExt cx="0" cy="0"/>
        </a:xfrm>
      </p:grpSpPr>
      <p:sp>
        <p:nvSpPr>
          <p:cNvPr id="2" name="Shape 0"/>
          <p:cNvSpPr/>
          <p:nvPr/>
        </p:nvSpPr>
        <p:spPr>
          <a:xfrm>
            <a:off x="731520" y="566928"/>
            <a:ext cx="502920" cy="45720"/>
          </a:xfrm>
          <a:prstGeom prst="rect">
            <a:avLst/>
          </a:prstGeom>
          <a:solidFill>
            <a:srgbClr val="FFFFFF"/>
          </a:solidFill>
          <a:ln/>
        </p:spPr>
      </p:sp>
      <p:sp>
        <p:nvSpPr>
          <p:cNvPr id="3" name="Text 1"/>
          <p:cNvSpPr/>
          <p:nvPr/>
        </p:nvSpPr>
        <p:spPr>
          <a:xfrm>
            <a:off x="731520" y="768096"/>
            <a:ext cx="7690104" cy="640080"/>
          </a:xfrm>
          <a:prstGeom prst="rect">
            <a:avLst/>
          </a:prstGeom>
          <a:noFill/>
          <a:ln/>
        </p:spPr>
        <p:txBody>
          <a:bodyPr wrap="square" lIns="0" tIns="0" rIns="0" bIns="0" rtlCol="0" anchor="t"/>
          <a:lstStyle/>
          <a:p>
            <a:pPr indent="0" marL="0">
              <a:buNone/>
            </a:pPr>
            <a:r>
              <a:rPr lang="en-US" sz="3600" b="1" dirty="0">
                <a:solidFill>
                  <a:srgbClr val="FFFFFF"/>
                </a:solidFill>
                <a:latin typeface="Open Sans" pitchFamily="34" charset="0"/>
                <a:ea typeface="Open Sans" pitchFamily="34" charset="-122"/>
                <a:cs typeface="Open Sans" pitchFamily="34" charset="-120"/>
              </a:rPr>
              <a:t>The debate: 35 minutes</a:t>
            </a:r>
            <a:endParaRPr lang="en-US" sz="3600" dirty="0"/>
          </a:p>
        </p:txBody>
      </p:sp>
      <p:sp>
        <p:nvSpPr>
          <p:cNvPr id="4" name="Shape 2"/>
          <p:cNvSpPr/>
          <p:nvPr/>
        </p:nvSpPr>
        <p:spPr>
          <a:xfrm>
            <a:off x="914400" y="1691640"/>
            <a:ext cx="7315200" cy="3017520"/>
          </a:xfrm>
          <a:prstGeom prst="rect">
            <a:avLst/>
          </a:prstGeom>
          <a:solidFill>
            <a:srgbClr val="FFFFFF"/>
          </a:solidFill>
          <a:ln/>
        </p:spPr>
      </p:sp>
      <p:sp>
        <p:nvSpPr>
          <p:cNvPr id="5" name="Text 3"/>
          <p:cNvSpPr/>
          <p:nvPr/>
        </p:nvSpPr>
        <p:spPr>
          <a:xfrm>
            <a:off x="1051560" y="1691640"/>
            <a:ext cx="7040880" cy="3017520"/>
          </a:xfrm>
          <a:prstGeom prst="rect">
            <a:avLst/>
          </a:prstGeom>
          <a:noFill/>
          <a:ln/>
        </p:spPr>
        <p:txBody>
          <a:bodyPr wrap="square" lIns="0" tIns="0" rIns="0" bIns="0" rtlCol="0" anchor="ctr"/>
          <a:lstStyle/>
          <a:p>
            <a:pPr indent="0" marL="0">
              <a:buNone/>
            </a:pPr>
            <a:r>
              <a:rPr lang="en-US" sz="1600" b="1" dirty="0">
                <a:solidFill>
                  <a:srgbClr val="31423B"/>
                </a:solidFill>
                <a:latin typeface="Open Sans" pitchFamily="34" charset="0"/>
                <a:ea typeface="Open Sans" pitchFamily="34" charset="-122"/>
                <a:cs typeface="Open Sans" pitchFamily="34" charset="-120"/>
              </a:rPr>
              <a:t>A. Collateral data: </a:t>
            </a:r>
            <a:pPr indent="0" marL="0">
              <a:buNone/>
            </a:pPr>
            <a:r>
              <a:rPr lang="en-US" sz="1600" dirty="0">
                <a:solidFill>
                  <a:srgbClr val="31423B"/>
                </a:solidFill>
                <a:latin typeface="Open Sans" pitchFamily="34" charset="0"/>
                <a:ea typeface="Open Sans" pitchFamily="34" charset="-122"/>
                <a:cs typeface="Open Sans" pitchFamily="34" charset="-120"/>
              </a:rPr>
              <a:t>'Put the suspect's private family messages in an appendix: more context helps the client.'</a:t>
            </a:r>
            <a:endParaRPr lang="en-US" sz="1600" dirty="0"/>
          </a:p>
          <a:p>
            <a:pPr indent="0" marL="0">
              <a:buNone/>
            </a:pPr>
            <a:r>
              <a:rPr lang="en-US" sz="1600" dirty="0">
                <a:solidFill>
                  <a:srgbClr val="31423B"/>
                </a:solidFill>
                <a:latin typeface="Open Sans" pitchFamily="34" charset="0"/>
                <a:ea typeface="Open Sans" pitchFamily="34" charset="-122"/>
                <a:cs typeface="Open Sans" pitchFamily="34" charset="-120"/>
              </a:rPr>
              <a:t> </a:t>
            </a:r>
            <a:endParaRPr lang="en-US" sz="1600" dirty="0"/>
          </a:p>
          <a:p>
            <a:pPr indent="0" marL="0">
              <a:buNone/>
            </a:pPr>
            <a:r>
              <a:rPr lang="en-US" sz="1600" b="1" dirty="0">
                <a:solidFill>
                  <a:srgbClr val="31423B"/>
                </a:solidFill>
                <a:latin typeface="Open Sans" pitchFamily="34" charset="0"/>
                <a:ea typeface="Open Sans" pitchFamily="34" charset="-122"/>
                <a:cs typeface="Open Sans" pitchFamily="34" charset="-120"/>
              </a:rPr>
              <a:t>B. The client's request: </a:t>
            </a:r>
            <a:pPr indent="0" marL="0">
              <a:buNone/>
            </a:pPr>
            <a:r>
              <a:rPr lang="en-US" sz="1600" dirty="0">
                <a:solidFill>
                  <a:srgbClr val="31423B"/>
                </a:solidFill>
                <a:latin typeface="Open Sans" pitchFamily="34" charset="0"/>
                <a:ea typeface="Open Sans" pitchFamily="34" charset="-122"/>
                <a:cs typeface="Open Sans" pitchFamily="34" charset="-120"/>
              </a:rPr>
              <a:t>'Remove: the evidence cannot show who was at the keyboard. We are paying.'</a:t>
            </a:r>
            <a:endParaRPr lang="en-US" sz="1600" dirty="0"/>
          </a:p>
          <a:p>
            <a:pPr indent="0" marL="0">
              <a:buNone/>
            </a:pPr>
            <a:r>
              <a:rPr lang="en-US" sz="1600" dirty="0">
                <a:solidFill>
                  <a:srgbClr val="31423B"/>
                </a:solidFill>
                <a:latin typeface="Open Sans" pitchFamily="34" charset="0"/>
                <a:ea typeface="Open Sans" pitchFamily="34" charset="-122"/>
                <a:cs typeface="Open Sans" pitchFamily="34" charset="-120"/>
              </a:rPr>
              <a:t> </a:t>
            </a:r>
            <a:endParaRPr lang="en-US" sz="1600" dirty="0"/>
          </a:p>
          <a:p>
            <a:pPr indent="0" marL="0">
              <a:buNone/>
            </a:pPr>
            <a:r>
              <a:rPr lang="en-US" sz="1600" i="1" dirty="0">
                <a:solidFill>
                  <a:srgbClr val="5C6B63"/>
                </a:solidFill>
                <a:latin typeface="Open Sans" pitchFamily="34" charset="0"/>
                <a:ea typeface="Open Sans" pitchFamily="34" charset="-122"/>
                <a:cs typeface="Open Sans" pitchFamily="34" charset="-120"/>
              </a:rPr>
              <a:t>Four teams, for and against. Prepare 5; each scenario 15.</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6035040" y="0"/>
            <a:ext cx="3108960" cy="5143500"/>
          </a:xfrm>
          <a:prstGeom prst="rect">
            <a:avLst/>
          </a:prstGeom>
          <a:solidFill>
            <a:srgbClr val="6E8472"/>
          </a:solidFill>
          <a:ln/>
        </p:spPr>
      </p:sp>
      <p:pic>
        <p:nvPicPr>
          <p:cNvPr id="3" name="Image 0" descr="preencoded.png">    </p:cNvPr>
          <p:cNvPicPr>
            <a:picLocks noChangeAspect="1"/>
          </p:cNvPicPr>
          <p:nvPr/>
        </p:nvPicPr>
        <p:blipFill>
          <a:blip r:embed="rId1"/>
          <a:stretch>
            <a:fillRect/>
          </a:stretch>
        </p:blipFill>
        <p:spPr>
          <a:xfrm>
            <a:off x="6583680" y="1554480"/>
            <a:ext cx="2011680" cy="2011680"/>
          </a:xfrm>
          <a:prstGeom prst="rect">
            <a:avLst/>
          </a:prstGeom>
        </p:spPr>
      </p:pic>
      <p:sp>
        <p:nvSpPr>
          <p:cNvPr id="4" name="Text 1"/>
          <p:cNvSpPr/>
          <p:nvPr/>
        </p:nvSpPr>
        <p:spPr>
          <a:xfrm>
            <a:off x="384048" y="1097280"/>
            <a:ext cx="5303520" cy="868680"/>
          </a:xfrm>
          <a:prstGeom prst="rect">
            <a:avLst/>
          </a:prstGeom>
          <a:noFill/>
          <a:ln/>
        </p:spPr>
        <p:txBody>
          <a:bodyPr wrap="square" lIns="0" tIns="0" rIns="0" bIns="0" rtlCol="0" anchor="ctr"/>
          <a:lstStyle/>
          <a:p>
            <a:pPr indent="0" marL="0">
              <a:buNone/>
            </a:pPr>
            <a:r>
              <a:rPr lang="en-US" sz="4800" b="1" dirty="0">
                <a:solidFill>
                  <a:srgbClr val="31423B"/>
                </a:solidFill>
                <a:latin typeface="Open Sans" pitchFamily="34" charset="0"/>
                <a:ea typeface="Open Sans" pitchFamily="34" charset="-122"/>
                <a:cs typeface="Open Sans" pitchFamily="34" charset="-120"/>
              </a:rPr>
              <a:t>Questions &amp;</a:t>
            </a:r>
            <a:endParaRPr lang="en-US" sz="4800" dirty="0"/>
          </a:p>
        </p:txBody>
      </p:sp>
      <p:sp>
        <p:nvSpPr>
          <p:cNvPr id="5" name="Text 2"/>
          <p:cNvSpPr/>
          <p:nvPr/>
        </p:nvSpPr>
        <p:spPr>
          <a:xfrm>
            <a:off x="384048" y="1938528"/>
            <a:ext cx="5303520" cy="868680"/>
          </a:xfrm>
          <a:prstGeom prst="rect">
            <a:avLst/>
          </a:prstGeom>
          <a:noFill/>
          <a:ln/>
        </p:spPr>
        <p:txBody>
          <a:bodyPr wrap="square" lIns="0" tIns="0" rIns="0" bIns="0" rtlCol="0" anchor="ctr"/>
          <a:lstStyle/>
          <a:p>
            <a:pPr indent="0" marL="0">
              <a:buNone/>
            </a:pPr>
            <a:r>
              <a:rPr lang="en-US" sz="4800" b="1" dirty="0">
                <a:solidFill>
                  <a:srgbClr val="6E8472"/>
                </a:solidFill>
                <a:latin typeface="Open Sans" pitchFamily="34" charset="0"/>
                <a:ea typeface="Open Sans" pitchFamily="34" charset="-122"/>
                <a:cs typeface="Open Sans" pitchFamily="34" charset="-120"/>
              </a:rPr>
              <a:t>Discussion</a:t>
            </a:r>
            <a:endParaRPr lang="en-US" sz="4800" dirty="0"/>
          </a:p>
        </p:txBody>
      </p:sp>
      <p:sp>
        <p:nvSpPr>
          <p:cNvPr id="6" name="Shape 3"/>
          <p:cNvSpPr/>
          <p:nvPr/>
        </p:nvSpPr>
        <p:spPr>
          <a:xfrm>
            <a:off x="384048" y="2852928"/>
            <a:ext cx="749808" cy="73152"/>
          </a:xfrm>
          <a:prstGeom prst="rect">
            <a:avLst/>
          </a:prstGeom>
          <a:solidFill>
            <a:srgbClr val="6E8472"/>
          </a:solidFill>
          <a:ln/>
        </p:spPr>
      </p:sp>
      <p:sp>
        <p:nvSpPr>
          <p:cNvPr id="7" name="Shape 4"/>
          <p:cNvSpPr/>
          <p:nvPr/>
        </p:nvSpPr>
        <p:spPr>
          <a:xfrm>
            <a:off x="1188720" y="2852928"/>
            <a:ext cx="384048" cy="73152"/>
          </a:xfrm>
          <a:prstGeom prst="rect">
            <a:avLst/>
          </a:prstGeom>
          <a:solidFill>
            <a:srgbClr val="8A4E8F"/>
          </a:solidFill>
          <a:ln/>
        </p:spPr>
      </p:sp>
      <p:sp>
        <p:nvSpPr>
          <p:cNvPr id="8" name="Text 5"/>
          <p:cNvSpPr/>
          <p:nvPr/>
        </p:nvSpPr>
        <p:spPr>
          <a:xfrm>
            <a:off x="384048" y="3035808"/>
            <a:ext cx="5394960" cy="1691640"/>
          </a:xfrm>
          <a:prstGeom prst="rect">
            <a:avLst/>
          </a:prstGeom>
          <a:noFill/>
          <a:ln/>
        </p:spPr>
        <p:txBody>
          <a:bodyPr wrap="square" lIns="0" tIns="0" rIns="0" bIns="0" rtlCol="0" anchor="t"/>
          <a:lstStyle/>
          <a:p>
            <a:pPr marL="342900" indent="-342900">
              <a:spcAft>
                <a:spcPts val="300"/>
              </a:spcAft>
              <a:buSzPct val="100000"/>
              <a:buChar char="•"/>
            </a:pPr>
            <a:r>
              <a:rPr lang="en-US" sz="1300" b="1" dirty="0">
                <a:solidFill>
                  <a:srgbClr val="31423B"/>
                </a:solidFill>
                <a:latin typeface="Open Sans" pitchFamily="34" charset="0"/>
                <a:ea typeface="Open Sans" pitchFamily="34" charset="-122"/>
                <a:cs typeface="Open Sans" pitchFamily="34" charset="-120"/>
              </a:rPr>
              <a:t>One clock; count only independent writers</a:t>
            </a:r>
            <a:endParaRPr lang="en-US" sz="1300" dirty="0"/>
          </a:p>
          <a:p>
            <a:pPr marL="342900" indent="-342900">
              <a:spcAft>
                <a:spcPts val="300"/>
              </a:spcAft>
              <a:buSzPct val="100000"/>
              <a:buChar char="•"/>
            </a:pPr>
            <a:r>
              <a:rPr lang="en-US" sz="1300" b="1" dirty="0">
                <a:solidFill>
                  <a:srgbClr val="31423B"/>
                </a:solidFill>
                <a:latin typeface="Open Sans" pitchFamily="34" charset="0"/>
                <a:ea typeface="Open Sans" pitchFamily="34" charset="-122"/>
                <a:cs typeface="Open Sans" pitchFamily="34" charset="-120"/>
              </a:rPr>
              <a:t>Absence after cleaning is not proof</a:t>
            </a:r>
            <a:endParaRPr lang="en-US" sz="1300" dirty="0"/>
          </a:p>
          <a:p>
            <a:pPr marL="342900" indent="-342900">
              <a:spcAft>
                <a:spcPts val="300"/>
              </a:spcAft>
              <a:buSzPct val="100000"/>
              <a:buChar char="•"/>
            </a:pPr>
            <a:r>
              <a:rPr lang="en-US" sz="1300" b="1" dirty="0">
                <a:solidFill>
                  <a:srgbClr val="31423B"/>
                </a:solidFill>
                <a:latin typeface="Open Sans" pitchFamily="34" charset="0"/>
                <a:ea typeface="Open Sans" pitchFamily="34" charset="-122"/>
                <a:cs typeface="Open Sans" pitchFamily="34" charset="-120"/>
              </a:rPr>
              <a:t>Isolate and capture before any shutdown</a:t>
            </a:r>
            <a:endParaRPr lang="en-US" sz="1300" dirty="0"/>
          </a:p>
          <a:p>
            <a:pPr marL="342900" indent="-342900">
              <a:spcAft>
                <a:spcPts val="800"/>
              </a:spcAft>
              <a:buSzPct val="100000"/>
              <a:buChar char="•"/>
            </a:pPr>
            <a:r>
              <a:rPr lang="en-US" sz="1300" b="1" dirty="0">
                <a:solidFill>
                  <a:srgbClr val="31423B"/>
                </a:solidFill>
                <a:latin typeface="Open Sans" pitchFamily="34" charset="0"/>
                <a:ea typeface="Open Sans" pitchFamily="34" charset="-122"/>
                <a:cs typeface="Open Sans" pitchFamily="34" charset="-120"/>
              </a:rPr>
              <a:t>The duty to the court comes before the client</a:t>
            </a:r>
            <a:endParaRPr lang="en-US" sz="1300" dirty="0"/>
          </a:p>
          <a:p>
            <a:pPr indent="0" marL="0">
              <a:spcAft>
                <a:spcPts val="300"/>
              </a:spcAft>
              <a:buNone/>
            </a:pPr>
            <a:r>
              <a:rPr lang="en-US" sz="1300" i="1" dirty="0">
                <a:solidFill>
                  <a:srgbClr val="5C6B63"/>
                </a:solidFill>
                <a:latin typeface="Open Sans" pitchFamily="34" charset="0"/>
                <a:ea typeface="Open Sans" pitchFamily="34" charset="-122"/>
                <a:cs typeface="Open Sans" pitchFamily="34" charset="-120"/>
              </a:rPr>
              <a:t>Next: Session 18, the coursework workshop. The mock is on the LMS.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Disclaimer &amp; Copyrights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Text 4"/>
          <p:cNvSpPr/>
          <p:nvPr/>
        </p:nvSpPr>
        <p:spPr>
          <a:xfrm>
            <a:off x="731520" y="1417320"/>
            <a:ext cx="7863840" cy="2331720"/>
          </a:xfrm>
          <a:prstGeom prst="rect">
            <a:avLst/>
          </a:prstGeom>
          <a:noFill/>
          <a:ln/>
        </p:spPr>
        <p:txBody>
          <a:bodyPr wrap="square" lIns="0" tIns="0" rIns="0" bIns="0" rtlCol="0" anchor="t"/>
          <a:lstStyle/>
          <a:p>
            <a:pPr indent="0" marL="0">
              <a:spcAft>
                <a:spcPts val="1000"/>
              </a:spcAft>
              <a:buNone/>
            </a:pPr>
            <a:r>
              <a:rPr lang="en-US" sz="1200" dirty="0">
                <a:solidFill>
                  <a:srgbClr val="31423B"/>
                </a:solidFill>
                <a:latin typeface="Open Sans" pitchFamily="34" charset="0"/>
                <a:ea typeface="Open Sans" pitchFamily="34" charset="-122"/>
                <a:cs typeface="Open Sans" pitchFamily="34" charset="-120"/>
              </a:rPr>
              <a:t>The information presented in this presentation is intended for general informational purposes only. It is not meant to be comprehensive or to constitute professional advice. Any reliance you place on such information is strictly at your own risk. While I strive to keep the information accurate and up-to-date, I make no representations or warranties of any kind, express or implied, about the completeness, accuracy, reliability, suitability or availability concerning the content within this presentation.</a:t>
            </a:r>
            <a:endParaRPr lang="en-US" sz="1200" dirty="0"/>
          </a:p>
          <a:p>
            <a:pPr indent="0" marL="0">
              <a:spcAft>
                <a:spcPts val="1000"/>
              </a:spcAft>
              <a:buNone/>
            </a:pPr>
            <a:r>
              <a:rPr lang="en-US" sz="1200" dirty="0">
                <a:solidFill>
                  <a:srgbClr val="31423B"/>
                </a:solidFill>
                <a:latin typeface="Open Sans" pitchFamily="34" charset="0"/>
                <a:ea typeface="Open Sans" pitchFamily="34" charset="-122"/>
                <a:cs typeface="Open Sans" pitchFamily="34" charset="-120"/>
              </a:rPr>
              <a:t>This presentation may include references or links to third-party websites or content. I do not endorse the views expressed or the information provided on such external sites. I am not responsible for the content of any linked site or any link contained in a linked site.</a:t>
            </a:r>
            <a:endParaRPr lang="en-US" sz="1200" dirty="0"/>
          </a:p>
          <a:p>
            <a:pPr indent="0" marL="0">
              <a:spcAft>
                <a:spcPts val="1000"/>
              </a:spcAft>
              <a:buNone/>
            </a:pPr>
            <a:r>
              <a:rPr lang="en-US" sz="1200" dirty="0">
                <a:solidFill>
                  <a:srgbClr val="31423B"/>
                </a:solidFill>
                <a:latin typeface="Open Sans" pitchFamily="34" charset="0"/>
                <a:ea typeface="Open Sans" pitchFamily="34" charset="-122"/>
                <a:cs typeface="Open Sans" pitchFamily="34" charset="-120"/>
              </a:rPr>
              <a:t>Any action you take upon the information presented in this presentation is strictly at your own discretion. I will not be liable for any losses or damages in connection with the use of this information.</a:t>
            </a:r>
            <a:endParaRPr lang="en-US" sz="1200" dirty="0"/>
          </a:p>
          <a:p>
            <a:pPr indent="0" marL="0">
              <a:buNone/>
            </a:pPr>
            <a:r>
              <a:rPr lang="en-US" sz="1200" dirty="0">
                <a:solidFill>
                  <a:srgbClr val="31423B"/>
                </a:solidFill>
                <a:latin typeface="Open Sans" pitchFamily="34" charset="0"/>
                <a:ea typeface="Open Sans" pitchFamily="34" charset="-122"/>
                <a:cs typeface="Open Sans" pitchFamily="34" charset="-120"/>
              </a:rPr>
              <a:t>This disclaimer is subject to change without notice.</a:t>
            </a:r>
            <a:endParaRPr lang="en-US" sz="1200" dirty="0"/>
          </a:p>
        </p:txBody>
      </p:sp>
      <p:sp>
        <p:nvSpPr>
          <p:cNvPr id="7" name="Shape 5"/>
          <p:cNvSpPr/>
          <p:nvPr/>
        </p:nvSpPr>
        <p:spPr>
          <a:xfrm>
            <a:off x="731520" y="3931920"/>
            <a:ext cx="54864" cy="621792"/>
          </a:xfrm>
          <a:prstGeom prst="rect">
            <a:avLst/>
          </a:prstGeom>
          <a:solidFill>
            <a:srgbClr val="E8F0EA"/>
          </a:solidFill>
          <a:ln/>
        </p:spPr>
      </p:sp>
      <p:sp>
        <p:nvSpPr>
          <p:cNvPr id="8" name="Text 6"/>
          <p:cNvSpPr/>
          <p:nvPr/>
        </p:nvSpPr>
        <p:spPr>
          <a:xfrm>
            <a:off x="859536" y="3931920"/>
            <a:ext cx="7735824" cy="621792"/>
          </a:xfrm>
          <a:prstGeom prst="rect">
            <a:avLst/>
          </a:prstGeom>
          <a:noFill/>
          <a:ln/>
        </p:spPr>
        <p:txBody>
          <a:bodyPr wrap="square" lIns="0" tIns="0" rIns="0" bIns="0" rtlCol="0" anchor="t"/>
          <a:lstStyle/>
          <a:p>
            <a:pPr indent="0" marL="0">
              <a:buNone/>
            </a:pPr>
            <a:r>
              <a:rPr lang="en-US" sz="1100" dirty="0">
                <a:solidFill>
                  <a:srgbClr val="5C6B63"/>
                </a:solidFill>
                <a:latin typeface="Open Sans" pitchFamily="34" charset="0"/>
                <a:ea typeface="Open Sans" pitchFamily="34" charset="-122"/>
                <a:cs typeface="Open Sans" pitchFamily="34" charset="-120"/>
              </a:rPr>
              <a:t>@ Images and artworks used in this presentation are used for general informational purposes only. It may contain copyrighted material, the use of which may not have been specifically authorised by the copyright owner. This material is available in an effort to explain issues relevant to the topic. This should constitute a 'fair use' of any such copyrighted material.</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National Institute of Business Management (NIBM)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NB6018CEM S17 - End-to-end Investigation, Ethics and Law</dc:title>
  <dc:subject>PptxGenJS Presentation</dc:subject>
  <dc:creator>Niranga Dharmaratna</dc:creator>
  <cp:lastModifiedBy>Niranga Dharmaratna</cp:lastModifiedBy>
  <cp:revision>1</cp:revision>
  <dcterms:created xsi:type="dcterms:W3CDTF">2026-10-16T04:24:16Z</dcterms:created>
  <dcterms:modified xsi:type="dcterms:W3CDTF">2026-10-16T04:24:16Z</dcterms:modified>
</cp:coreProperties>
</file>