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5 opens Day 3. The page on the portal is the content master: every slide points to a section of it. Before this slide, students do lab steps 1 to 4, so that the Plaso job runs under the concept part. No end-of-day quiz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LO1 and LO4. The lab checkpoint, a timeline of the exfiltration day in UTC, feeds the phase test and the coursework. The final CSV file is used again in Session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hook from the page. Session 4 took the records of a tool on trust; today they are opened. One difference from earlier sessions: real dates and times from the evidence appear, because they are the subject. Evidence: the same CFReDS image as Sessions 2 and 4, through a triage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Start with the three searches of 23 March: 'what is windows system artifacts', 'windows event logs', 'external device and forensics'. He knew that records exist, and still left them. An artefact is a record that a system makes while it works. The lens for this session is implicit memory: give the gist of the patient, then the parallel, then where it breaks. The image is Windows 7: teach only what it can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the idea. A hive is a file; a key is like a folder; a value is like a file in it. Show the two keys from the page: CurrentVersion tells which Windows, so which artefacts to expect; TimeZoneInformation gives the offset used later. Students read both in the lab, with RegRipper and with Registry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how it works, and demo S05-D1. A key has one last-write time, in UTC, and no value has a time. Any change moves it. The second example on the page is WordWheelQuery: the search for 'secret', where the key's time is only close to the time of the search. Misconception to remove: 'the value was written at this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An event log only grows; each record has an event ID and a time in UTC. Five IDs carry this case: 4608, 4624, 4647, 1100 in Security, 20001 in System. The frame is the idea to keep: it is what exposes a wrong clock in section 8. The answer key lists ten 4624 events on 25 March; read account and logon type before calling one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This opens the prefetch files that Session 4 only named. On Windows 7 a prefetch file holds one time, the last run, and a run count; Windows 8 and later hold eight times. Row three is the lesson: neither record is wrong, they count different things. Together: prefetch proves the program ran here, UserAssist ties a start to the account informant.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Two minutes after he connects his stick he walks through the folders on it and opens one renamed file to check that it still works. Session 2 recovered these folders from the stick after the quick format; today the same names are on the computer, written before the format. Two exhibits, one story. Keep the last bullet: none of the three records a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and demo S05-D2. No single artefact gives the history of a USB device: each answers one question, and the device serial number joins them. Windows 7 limit: no clear record of later connections or of removal; Windows 8 and later add exact times. End on the last line: one record speaks in a different clock. That is the bridge to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Programs are treated here only as sources of dated events; mail content and headers belong to Session 14. Four records from four makers inside two and a half minutes: he reports that the job is done, then asks the internet whether a CD will pass the security check. No single source tells that. The order does. No chat program was found on this computer, so none is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the idea. Let the room find the impossibility before you name it. A defence lawyer needs one such line to make a court doubt the whole timeline. Then name the cause: two clocks in one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how it works, and demo S05-D3. The phrase 'normalise every source to UTC' is taught by name: students must be able to state it and give the reason. The offset comes from the image, not from the address of the company: the normal offset of that zone is five hours, and daylight saving was in force. The opposite mistake, converting sources that are already UTC, is as common. In a report: UTC first, local time in brackets with the offset, and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of the session, in page section 9. One sentence: let the room read it. Return to the lens: the suspect's own account of the day would be shorter than his computer's. Then turn it: a witness is questioned, and so is every row of a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9 and demo S05-D4. Plaso: log2timeline reads and stores, psort sorts and writes. The working method: start from an anchor, open a window around it, follow the leads, write down each filter. The comparison on the page is every security camera on one screen; where it breaks: a camera records all the time, an artefact only when its trigger fires, so silence proves nothing. Cite the artefact in a report, not 'the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10, about one hour and forty minutes after the concept part. Steps 1 to 4 were done at the start of the session. Kali first, then Windows, so that low-spec hosts run one VM at a time. Checkpoint: at least ten key events of 24 March 2015 in the unit's seven-column format, judged against the answer key of the case. The final file stays in the shared folder for Session 8. Timesketch is shown from the front, as a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five minutes. Draw out: silence in a timeline is not proof of no activity. The collection is a triage set; artefacts record only when a trigger fires; a browser history may have been cleaned. The defensible sentence names the sources that were read and says that they hold no record for that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slide with formal references. The tools of the lab, RegRipper, Eric Zimmerman's tools and Plaso, are named on the page with their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next, from the page. Remind students to keep s05-timeline-utc.csv in the shared folder for Session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4000" b="1" dirty="0">
                <a:solidFill>
                  <a:srgbClr val="31423B"/>
                </a:solidFill>
                <a:latin typeface="Open Sans" pitchFamily="34" charset="0"/>
                <a:ea typeface="Open Sans" pitchFamily="34" charset="-122"/>
                <a:cs typeface="Open Sans" pitchFamily="34" charset="-120"/>
              </a:rPr>
              <a:t>Windows Artefacts and Timelining</a:t>
            </a:r>
            <a:endParaRPr lang="en-US" sz="40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5 - Day 3: Host Depth: Windows and Memory</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600" b="1" dirty="0">
                <a:solidFill>
                  <a:srgbClr val="31423B"/>
                </a:solidFill>
                <a:latin typeface="Open Sans" pitchFamily="34" charset="0"/>
                <a:ea typeface="Open Sans" pitchFamily="34" charset="-122"/>
                <a:cs typeface="Open Sans" pitchFamily="34" charset="-120"/>
              </a:rPr>
              <a:t>S05 Windows Artefacts and Timelining</a:t>
            </a:r>
            <a:endParaRPr lang="en-US" sz="36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6E8472"/>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LO1</a:t>
            </a:r>
            <a:endParaRPr lang="en-US" sz="1400" dirty="0"/>
          </a:p>
        </p:txBody>
      </p:sp>
      <p:sp>
        <p:nvSpPr>
          <p:cNvPr id="8" name="Shape 6"/>
          <p:cNvSpPr/>
          <p:nvPr/>
        </p:nvSpPr>
        <p:spPr>
          <a:xfrm>
            <a:off x="1463040" y="3108960"/>
            <a:ext cx="640080" cy="347472"/>
          </a:xfrm>
          <a:prstGeom prst="rect">
            <a:avLst/>
          </a:prstGeom>
          <a:solidFill>
            <a:srgbClr val="8A4E8F"/>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LO4</a:t>
            </a:r>
            <a:endParaRPr lang="en-US" sz="1400" dirty="0"/>
          </a:p>
        </p:txBody>
      </p:sp>
      <p:sp>
        <p:nvSpPr>
          <p:cNvPr id="10" name="Text 8"/>
          <p:cNvSpPr/>
          <p:nvPr/>
        </p:nvSpPr>
        <p:spPr>
          <a:xfrm>
            <a:off x="731520" y="3584448"/>
            <a:ext cx="7690104" cy="329184"/>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PT, CW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4754880" cy="1097280"/>
          </a:xfrm>
          <a:prstGeom prst="rect">
            <a:avLst/>
          </a:prstGeom>
          <a:solidFill>
            <a:srgbClr val="F1E8F2"/>
          </a:solidFill>
          <a:ln/>
        </p:spPr>
      </p:sp>
      <p:sp>
        <p:nvSpPr>
          <p:cNvPr id="7" name="Text 5"/>
          <p:cNvSpPr/>
          <p:nvPr/>
        </p:nvSpPr>
        <p:spPr>
          <a:xfrm>
            <a:off x="521208" y="1417320"/>
            <a:ext cx="4535424" cy="109728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On the day the documents left the building, what did the suspect do, and when? He wiped what he remembered. What did his computer write down that he never saw?</a:t>
            </a:r>
            <a:endParaRPr lang="en-US" sz="1400" dirty="0"/>
          </a:p>
        </p:txBody>
      </p:sp>
      <p:sp>
        <p:nvSpPr>
          <p:cNvPr id="8" name="Shape 6"/>
          <p:cNvSpPr/>
          <p:nvPr/>
        </p:nvSpPr>
        <p:spPr>
          <a:xfrm>
            <a:off x="411480" y="2606040"/>
            <a:ext cx="4754880" cy="2103120"/>
          </a:xfrm>
          <a:prstGeom prst="rect">
            <a:avLst/>
          </a:prstGeom>
          <a:solidFill>
            <a:srgbClr val="DCE6DE"/>
          </a:solidFill>
          <a:ln/>
        </p:spPr>
      </p:sp>
      <p:sp>
        <p:nvSpPr>
          <p:cNvPr id="9" name="Text 7"/>
          <p:cNvSpPr/>
          <p:nvPr/>
        </p:nvSpPr>
        <p:spPr>
          <a:xfrm>
            <a:off x="502920" y="2606040"/>
            <a:ext cx="4572000" cy="210312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Read six groups of Windows artefacts</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Say what each time means, and which clock wrote it</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Follow one USB stick across several records</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Normalise every source to UTC before merging</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Build and question a super-timeline</a:t>
            </a:r>
            <a:endParaRPr lang="en-US" sz="1300" dirty="0"/>
          </a:p>
        </p:txBody>
      </p:sp>
      <p:pic>
        <p:nvPicPr>
          <p:cNvPr id="10" name="Image 0" descr="preencoded.png">    </p:cNvPr>
          <p:cNvPicPr>
            <a:picLocks noChangeAspect="1"/>
          </p:cNvPicPr>
          <p:nvPr/>
        </p:nvPicPr>
        <p:blipFill>
          <a:blip r:embed="rId1"/>
          <a:stretch>
            <a:fillRect/>
          </a:stretch>
        </p:blipFill>
        <p:spPr>
          <a:xfrm>
            <a:off x="5989320" y="1920240"/>
            <a:ext cx="2103120" cy="21031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record that nobody asked for</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3291840"/>
                <a:gridCol w="5029200"/>
              </a:tblGrid>
              <a:tr h="347472">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Ask of every artefact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What made it, and for what purpose?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purpose tells what the record covers and leaves out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What exactly does its time mean?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First time, last time, or the time of another change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Which clock wrote the time?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Most store UTC. A few store local time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2926080"/>
            <a:ext cx="8321040" cy="1783080"/>
          </a:xfrm>
          <a:prstGeom prst="rect">
            <a:avLst/>
          </a:prstGeom>
          <a:solidFill>
            <a:srgbClr val="F1E8F2"/>
          </a:solidFill>
          <a:ln/>
        </p:spPr>
      </p:sp>
      <p:sp>
        <p:nvSpPr>
          <p:cNvPr id="8" name="Shape 5"/>
          <p:cNvSpPr/>
          <p:nvPr/>
        </p:nvSpPr>
        <p:spPr>
          <a:xfrm>
            <a:off x="411480" y="2926080"/>
            <a:ext cx="82296" cy="1783080"/>
          </a:xfrm>
          <a:prstGeom prst="rect">
            <a:avLst/>
          </a:prstGeom>
          <a:solidFill>
            <a:srgbClr val="8A4E8F"/>
          </a:solidFill>
          <a:ln/>
        </p:spPr>
      </p:sp>
      <p:sp>
        <p:nvSpPr>
          <p:cNvPr id="9" name="Text 6"/>
          <p:cNvSpPr/>
          <p:nvPr/>
        </p:nvSpPr>
        <p:spPr>
          <a:xfrm>
            <a:off x="621792" y="2999232"/>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10" name="Text 7"/>
          <p:cNvSpPr/>
          <p:nvPr/>
        </p:nvSpPr>
        <p:spPr>
          <a:xfrm>
            <a:off x="621792" y="3255264"/>
            <a:ext cx="7955280" cy="138074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Implicit memory. A patient who could form no new memories practised a hard drawing task for days. Each day he said he had never seen it. Each day he did it better: his hands held a record he could not report.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suspect cleaned what he could recall. The records Windows made were never in his mind.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machine's trace is dated to the second, and it means nothing until an examiner can explain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registry: hives, keys and values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1920240"/>
                <a:gridCol w="1828800"/>
                <a:gridCol w="4572000"/>
              </a:tblGrid>
              <a:tr h="347472">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Hive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Belongs to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Holds, for this case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47472">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SYSTEM</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computer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Name, time zone, devices, last shutdown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SOFTWARE</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computer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Version of Windows, installed programs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47472">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SAM</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computer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user accounts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NTUSER.DAT</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One account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What the user ran, typed and opened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47472">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UsrClass.dat</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One account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folders that the user browsed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611880"/>
            <a:ext cx="8321040" cy="1051560"/>
          </a:xfrm>
          <a:prstGeom prst="rect">
            <a:avLst/>
          </a:prstGeom>
          <a:solidFill>
            <a:srgbClr val="F1E8F2"/>
          </a:solidFill>
          <a:ln/>
        </p:spPr>
      </p:sp>
      <p:sp>
        <p:nvSpPr>
          <p:cNvPr id="8" name="Text 5"/>
          <p:cNvSpPr/>
          <p:nvPr/>
        </p:nvSpPr>
        <p:spPr>
          <a:xfrm>
            <a:off x="521208" y="3611880"/>
            <a:ext cx="8101584" cy="105156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This image: Windows 7 Ultimate, version 6.1, build 7601. Time zone key: Eastern Standard Time, active bias 240 minutes. A record in a user's hive ties an act to an account. A record in SYSTEM does not.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One key, one time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411480" y="1371600"/>
            <a:ext cx="4023360" cy="1600200"/>
          </a:xfrm>
          <a:prstGeom prst="rect">
            <a:avLst/>
          </a:prstGeom>
          <a:solidFill>
            <a:srgbClr val="FFFFFF"/>
          </a:solidFill>
          <a:ln w="9525">
            <a:solidFill>
              <a:srgbClr val="CBD6CE"/>
            </a:solidFill>
          </a:ln>
        </p:spPr>
        <p:txBody>
          <a:bodyPr wrap="square" lIns="101600" tIns="101600" rIns="101600" bIns="101600" rtlCol="0" anchor="ctr"/>
          <a:lstStyle/>
          <a:p>
            <a:pPr indent="0" marL="0">
              <a:buNone/>
            </a:pPr>
            <a:r>
              <a:rPr lang="en-US" sz="1200" b="1" dirty="0">
                <a:solidFill>
                  <a:srgbClr val="31423B"/>
                </a:solidFill>
                <a:latin typeface="Consolas" pitchFamily="34" charset="0"/>
                <a:ea typeface="Consolas" pitchFamily="34" charset="-122"/>
                <a:cs typeface="Consolas" pitchFamily="34" charset="-120"/>
              </a:rPr>
              <a:t>NTUSER.DAT ... Explorer\RunMRU</a:t>
            </a:r>
            <a:endParaRPr lang="en-US" sz="1200" dirty="0"/>
          </a:p>
          <a:p>
            <a:pPr indent="0" marL="0">
              <a:buNone/>
            </a:pPr>
            <a:r>
              <a:rPr lang="en-US" sz="1200" dirty="0">
                <a:solidFill>
                  <a:srgbClr val="31423B"/>
                </a:solidFill>
                <a:latin typeface="Consolas" pitchFamily="34" charset="0"/>
                <a:ea typeface="Consolas" pitchFamily="34" charset="-122"/>
                <a:cs typeface="Consolas" pitchFamily="34" charset="-120"/>
              </a:rPr>
              <a:t>last write 2015-03-23 20:23:28 UTC</a:t>
            </a:r>
            <a:endParaRPr lang="en-US" sz="1200" dirty="0"/>
          </a:p>
          <a:p>
            <a:pPr indent="0" marL="0">
              <a:buNone/>
            </a:pPr>
            <a:r>
              <a:rPr lang="en-US" sz="1200" dirty="0">
                <a:solidFill>
                  <a:srgbClr val="31423B"/>
                </a:solidFill>
                <a:latin typeface="Consolas" pitchFamily="34" charset="0"/>
                <a:ea typeface="Consolas" pitchFamily="34" charset="-122"/>
                <a:cs typeface="Consolas" pitchFamily="34" charset="-120"/>
              </a:rPr>
              <a:t>MRUList   ba</a:t>
            </a:r>
            <a:endParaRPr lang="en-US" sz="1200" dirty="0"/>
          </a:p>
          <a:p>
            <a:pPr indent="0" marL="0">
              <a:buNone/>
            </a:pPr>
            <a:r>
              <a:rPr lang="en-US" sz="1200" dirty="0">
                <a:solidFill>
                  <a:srgbClr val="31423B"/>
                </a:solidFill>
                <a:latin typeface="Consolas" pitchFamily="34" charset="0"/>
                <a:ea typeface="Consolas" pitchFamily="34" charset="-122"/>
                <a:cs typeface="Consolas" pitchFamily="34" charset="-120"/>
              </a:rPr>
              <a:t>a   (an earlier command)</a:t>
            </a:r>
            <a:endParaRPr lang="en-US" sz="1200" dirty="0"/>
          </a:p>
          <a:p>
            <a:pPr indent="0" marL="0">
              <a:buNone/>
            </a:pPr>
            <a:r>
              <a:rPr lang="en-US" sz="1200" dirty="0">
                <a:solidFill>
                  <a:srgbClr val="31423B"/>
                </a:solidFill>
                <a:latin typeface="Consolas" pitchFamily="34" charset="0"/>
                <a:ea typeface="Consolas" pitchFamily="34" charset="-122"/>
                <a:cs typeface="Consolas" pitchFamily="34" charset="-120"/>
              </a:rPr>
              <a:t>b   \\10.11.11.128\secured_drive</a:t>
            </a:r>
            <a:endParaRPr lang="en-US" sz="1200" dirty="0"/>
          </a:p>
        </p:txBody>
      </p:sp>
      <p:sp>
        <p:nvSpPr>
          <p:cNvPr id="7" name="Shape 5"/>
          <p:cNvSpPr/>
          <p:nvPr/>
        </p:nvSpPr>
        <p:spPr>
          <a:xfrm>
            <a:off x="4572000" y="1371600"/>
            <a:ext cx="4160520" cy="1600200"/>
          </a:xfrm>
          <a:prstGeom prst="rect">
            <a:avLst/>
          </a:prstGeom>
          <a:solidFill>
            <a:srgbClr val="F1E8F2"/>
          </a:solidFill>
          <a:ln/>
        </p:spPr>
      </p:sp>
      <p:sp>
        <p:nvSpPr>
          <p:cNvPr id="8" name="Text 6"/>
          <p:cNvSpPr/>
          <p:nvPr/>
        </p:nvSpPr>
        <p:spPr>
          <a:xfrm>
            <a:off x="4681728" y="1371600"/>
            <a:ext cx="3941064" cy="1600200"/>
          </a:xfrm>
          <a:prstGeom prst="rect">
            <a:avLst/>
          </a:prstGeom>
          <a:noFill/>
          <a:ln/>
        </p:spPr>
        <p:txBody>
          <a:bodyPr wrap="square"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The time belongs to value b, the newest. For value a the registry gives no time at all.</a:t>
            </a:r>
            <a:endParaRPr lang="en-US" sz="1500" dirty="0"/>
          </a:p>
        </p:txBody>
      </p:sp>
      <p:sp>
        <p:nvSpPr>
          <p:cNvPr id="9" name="Shape 7"/>
          <p:cNvSpPr/>
          <p:nvPr/>
        </p:nvSpPr>
        <p:spPr>
          <a:xfrm>
            <a:off x="411480" y="3108960"/>
            <a:ext cx="8321040" cy="1554480"/>
          </a:xfrm>
          <a:prstGeom prst="rect">
            <a:avLst/>
          </a:prstGeom>
          <a:solidFill>
            <a:srgbClr val="E8F0EA"/>
          </a:solidFill>
          <a:ln/>
        </p:spPr>
      </p:sp>
      <p:sp>
        <p:nvSpPr>
          <p:cNvPr id="10" name="Shape 8"/>
          <p:cNvSpPr/>
          <p:nvPr/>
        </p:nvSpPr>
        <p:spPr>
          <a:xfrm>
            <a:off x="411480" y="3108960"/>
            <a:ext cx="82296" cy="1554480"/>
          </a:xfrm>
          <a:prstGeom prst="rect">
            <a:avLst/>
          </a:prstGeom>
          <a:solidFill>
            <a:srgbClr val="6E8472"/>
          </a:solidFill>
          <a:ln/>
        </p:spPr>
      </p:sp>
      <p:sp>
        <p:nvSpPr>
          <p:cNvPr id="11" name="Text 9"/>
          <p:cNvSpPr/>
          <p:nvPr/>
        </p:nvSpPr>
        <p:spPr>
          <a:xfrm>
            <a:off x="621792" y="318211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2" name="Text 10"/>
          <p:cNvSpPr/>
          <p:nvPr/>
        </p:nvSpPr>
        <p:spPr>
          <a:xfrm>
            <a:off x="621792" y="3438144"/>
            <a:ext cx="7955280" cy="115214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filing drawer with one stamp on its front: "last opened". The papers inside carry no stamps.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drawer is opened by a person. A key is often written by Windows or a program, with nobody at the keyboard.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report when the key last changed, and say why you tie that time to one value. Never give it to every value.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Event logs: the frame of each 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1554480"/>
                <a:gridCol w="1737360"/>
                <a:gridCol w="1691640"/>
                <a:gridCol w="1691640"/>
                <a:gridCol w="1645920"/>
              </a:tblGrid>
              <a:tr h="36576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Day (UTC)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Windows starts 4608</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User logs off 4647</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Logging stops 1100</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On his clock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6576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Mon 23 March</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17:24:23</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21:02:53</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21:02:59</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13:24 to 17:02</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Tue 24 March</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13:21:29</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21:07:25</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21:07:26</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09:21 to 17:07</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6576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Wed 25 March</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13:05:41</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15:30:57</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15:31:00</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09:05 to 11:31</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017520"/>
            <a:ext cx="8321040" cy="1645920"/>
          </a:xfrm>
          <a:prstGeom prst="rect">
            <a:avLst/>
          </a:prstGeom>
          <a:solidFill>
            <a:srgbClr val="DCE6DE"/>
          </a:solidFill>
          <a:ln/>
        </p:spPr>
      </p:sp>
      <p:sp>
        <p:nvSpPr>
          <p:cNvPr id="8" name="Text 5"/>
          <p:cNvSpPr/>
          <p:nvPr/>
        </p:nvSpPr>
        <p:spPr>
          <a:xfrm>
            <a:off x="502920" y="3017520"/>
            <a:ext cx="8138160" cy="164592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Every other record of a day must fit inside its frame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Confidential work was allowed from 10:00 to 16:00 only</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Registry ShutdownTime: 15:31:05. Two sources, five seconds apart</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A 4624 logon is an account, and often a service, not a person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Programs that ran: two records, two counts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743200"/>
                <a:gridCol w="1645920"/>
                <a:gridCol w="731520"/>
                <a:gridCol w="2103120"/>
                <a:gridCol w="1097280"/>
              </a:tblGrid>
              <a:tr h="27432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Wed 25 March (UTC)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Prefetch: last run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Runs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UserAssist: last run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Count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274320">
                <a:tc>
                  <a:txBody>
                    <a:bodyPr/>
                    <a:lstStyle/>
                    <a:p>
                      <a:pPr indent="0" marL="0">
                        <a:buNone/>
                      </a:pPr>
                      <a:r>
                        <a:rPr lang="en-US" sz="1100" b="1" dirty="0">
                          <a:solidFill>
                            <a:srgbClr val="31423B"/>
                          </a:solidFill>
                          <a:latin typeface="Consolas" pitchFamily="34" charset="0"/>
                          <a:ea typeface="Consolas" pitchFamily="34" charset="-122"/>
                          <a:cs typeface="Consolas" pitchFamily="34" charset="-120"/>
                        </a:rPr>
                        <a:t>ERASER 6.2.0.2962.EXE</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14:50:14</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1</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14:50:14</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1</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31423B"/>
                          </a:solidFill>
                          <a:latin typeface="Consolas" pitchFamily="34" charset="0"/>
                          <a:ea typeface="Consolas" pitchFamily="34" charset="-122"/>
                          <a:cs typeface="Consolas" pitchFamily="34" charset="-120"/>
                        </a:rPr>
                        <a:t>CCSETUP504.EXE</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14:57:56</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1</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14:57:56</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1</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274320">
                <a:tc>
                  <a:txBody>
                    <a:bodyPr/>
                    <a:lstStyle/>
                    <a:p>
                      <a:pPr indent="0" marL="0">
                        <a:buNone/>
                      </a:pPr>
                      <a:r>
                        <a:rPr lang="en-US" sz="1100" b="1" dirty="0">
                          <a:solidFill>
                            <a:srgbClr val="31423B"/>
                          </a:solidFill>
                          <a:latin typeface="Consolas" pitchFamily="34" charset="0"/>
                          <a:ea typeface="Consolas" pitchFamily="34" charset="-122"/>
                          <a:cs typeface="Consolas" pitchFamily="34" charset="-120"/>
                        </a:rPr>
                        <a:t>ERASER.EXE</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15:13:30</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2</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15:12:28</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1</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31423B"/>
                          </a:solidFill>
                          <a:latin typeface="Consolas" pitchFamily="34" charset="0"/>
                          <a:ea typeface="Consolas" pitchFamily="34" charset="-122"/>
                          <a:cs typeface="Consolas" pitchFamily="34" charset="-120"/>
                        </a:rPr>
                        <a:t>CCLEANER64.EXE</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15:15:50</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2</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15:15:50</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1</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274320">
                <a:tc>
                  <a:txBody>
                    <a:bodyPr/>
                    <a:lstStyle/>
                    <a:p>
                      <a:pPr indent="0" marL="0">
                        <a:buNone/>
                      </a:pPr>
                      <a:r>
                        <a:rPr lang="en-US" sz="1100" b="1" dirty="0">
                          <a:solidFill>
                            <a:srgbClr val="31423B"/>
                          </a:solidFill>
                          <a:latin typeface="Consolas" pitchFamily="34" charset="0"/>
                          <a:ea typeface="Consolas" pitchFamily="34" charset="-122"/>
                          <a:cs typeface="Consolas" pitchFamily="34" charset="-120"/>
                        </a:rPr>
                        <a:t>UNINST.EXE</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15:18:29</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1</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no record</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246120"/>
            <a:ext cx="4133088" cy="402336"/>
          </a:xfrm>
          <a:prstGeom prst="rect">
            <a:avLst/>
          </a:prstGeom>
          <a:solidFill>
            <a:srgbClr val="6E8472"/>
          </a:solidFill>
          <a:ln/>
        </p:spPr>
      </p:sp>
      <p:sp>
        <p:nvSpPr>
          <p:cNvPr id="8" name="Text 5"/>
          <p:cNvSpPr/>
          <p:nvPr/>
        </p:nvSpPr>
        <p:spPr>
          <a:xfrm>
            <a:off x="521208" y="32461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Prefetch file</a:t>
            </a:r>
            <a:endParaRPr lang="en-US" sz="1500" dirty="0"/>
          </a:p>
        </p:txBody>
      </p:sp>
      <p:sp>
        <p:nvSpPr>
          <p:cNvPr id="9" name="Shape 6"/>
          <p:cNvSpPr/>
          <p:nvPr/>
        </p:nvSpPr>
        <p:spPr>
          <a:xfrm>
            <a:off x="411480" y="3648456"/>
            <a:ext cx="4133088" cy="1051560"/>
          </a:xfrm>
          <a:prstGeom prst="rect">
            <a:avLst/>
          </a:prstGeom>
          <a:solidFill>
            <a:srgbClr val="FFFFFF"/>
          </a:solidFill>
          <a:ln w="9525">
            <a:solidFill>
              <a:srgbClr val="CBD6CE"/>
            </a:solidFill>
            <a:prstDash val="solid"/>
          </a:ln>
        </p:spPr>
      </p:sp>
      <p:sp>
        <p:nvSpPr>
          <p:cNvPr id="10" name="Text 7"/>
          <p:cNvSpPr/>
          <p:nvPr/>
        </p:nvSpPr>
        <p:spPr>
          <a:xfrm>
            <a:off x="539496" y="3703320"/>
            <a:ext cx="3877056" cy="94183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Counts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Every start, whoever or whatever started it</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Belongs to</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computer. It names no account</a:t>
            </a:r>
            <a:endParaRPr lang="en-US" sz="1300" dirty="0"/>
          </a:p>
        </p:txBody>
      </p:sp>
      <p:sp>
        <p:nvSpPr>
          <p:cNvPr id="11" name="Shape 8"/>
          <p:cNvSpPr/>
          <p:nvPr/>
        </p:nvSpPr>
        <p:spPr>
          <a:xfrm>
            <a:off x="4645152" y="3246120"/>
            <a:ext cx="4133088" cy="402336"/>
          </a:xfrm>
          <a:prstGeom prst="rect">
            <a:avLst/>
          </a:prstGeom>
          <a:solidFill>
            <a:srgbClr val="8A4E8F"/>
          </a:solidFill>
          <a:ln/>
        </p:spPr>
      </p:sp>
      <p:sp>
        <p:nvSpPr>
          <p:cNvPr id="12" name="Text 9"/>
          <p:cNvSpPr/>
          <p:nvPr/>
        </p:nvSpPr>
        <p:spPr>
          <a:xfrm>
            <a:off x="4754880" y="32461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UserAssist</a:t>
            </a:r>
            <a:endParaRPr lang="en-US" sz="1500" dirty="0"/>
          </a:p>
        </p:txBody>
      </p:sp>
      <p:sp>
        <p:nvSpPr>
          <p:cNvPr id="13" name="Shape 10"/>
          <p:cNvSpPr/>
          <p:nvPr/>
        </p:nvSpPr>
        <p:spPr>
          <a:xfrm>
            <a:off x="4645152" y="3648456"/>
            <a:ext cx="4133088" cy="1051560"/>
          </a:xfrm>
          <a:prstGeom prst="rect">
            <a:avLst/>
          </a:prstGeom>
          <a:solidFill>
            <a:srgbClr val="FFFFFF"/>
          </a:solidFill>
          <a:ln w="9525">
            <a:solidFill>
              <a:srgbClr val="CBD6CE"/>
            </a:solidFill>
            <a:prstDash val="solid"/>
          </a:ln>
        </p:spPr>
      </p:sp>
      <p:sp>
        <p:nvSpPr>
          <p:cNvPr id="14" name="Text 11"/>
          <p:cNvSpPr/>
          <p:nvPr/>
        </p:nvSpPr>
        <p:spPr>
          <a:xfrm>
            <a:off x="4773168" y="3703320"/>
            <a:ext cx="3877056" cy="94183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Counts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Starts by this user through the desktop</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Belongs to</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One account's NTUSER.DAT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Files and folders opened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194560"/>
                <a:gridCol w="1371600"/>
                <a:gridCol w="4754880"/>
              </a:tblGrid>
              <a:tr h="36576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Tue 24 March (UTC)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Artefact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holds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14:00:19</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Shellbag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Folder E:\Secret Project Data opened in Explorer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14:01:11 to 14:01:17</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Shellbags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Four folders inside it, one after another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14:01:23</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Jump list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E:\...\design\winter_whether_advisory.zip</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2926080"/>
            <a:ext cx="8321040" cy="1737360"/>
          </a:xfrm>
          <a:prstGeom prst="rect">
            <a:avLst/>
          </a:prstGeom>
          <a:solidFill>
            <a:srgbClr val="DCE6DE"/>
          </a:solidFill>
          <a:ln/>
        </p:spPr>
      </p:sp>
      <p:sp>
        <p:nvSpPr>
          <p:cNvPr id="8" name="Text 5"/>
          <p:cNvSpPr/>
          <p:nvPr/>
        </p:nvSpPr>
        <p:spPr>
          <a:xfrm>
            <a:off x="502920" y="2926080"/>
            <a:ext cx="8138160" cy="173736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LNK file: a shortcut Windows makes when a file is opened</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Jump list: recent files, one list for each program</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Shellbag: how a folder window looked, kept in the user's hive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All three stay when the file or the device has gone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They show that something was opened, never that it was copied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One USB stick, several records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834640"/>
                <a:gridCol w="4114800"/>
                <a:gridCol w="1371600"/>
              </a:tblGrid>
              <a:tr h="329184">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Record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question it answers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Clock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USBSTOR key (SYSTEM)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Which make, model and device serial number?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UTC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setupapi.dev.log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When was it first connected?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Local time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MountedDevices (SYSTEM)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Which drive letter?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UTC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MountPoints2 (NTUSER.DAT)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Under which account?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UTC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Event 20001 (System log)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When was the driver installed?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UTC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3520440"/>
            <a:ext cx="4206240" cy="822960"/>
          </a:xfrm>
          <a:prstGeom prst="rect">
            <a:avLst/>
          </a:prstGeom>
          <a:solidFill>
            <a:srgbClr val="FFFFFF"/>
          </a:solidFill>
          <a:ln w="9525">
            <a:solidFill>
              <a:srgbClr val="CBD6CE"/>
            </a:solidFill>
          </a:ln>
        </p:spPr>
        <p:txBody>
          <a:bodyPr wrap="square" lIns="101600" tIns="101600" rIns="101600" bIns="101600" rtlCol="0" anchor="ctr"/>
          <a:lstStyle/>
          <a:p>
            <a:pPr indent="0" marL="0">
              <a:buNone/>
            </a:pPr>
            <a:r>
              <a:rPr lang="en-US" sz="1300" dirty="0">
                <a:solidFill>
                  <a:srgbClr val="31423B"/>
                </a:solidFill>
                <a:latin typeface="Consolas" pitchFamily="34" charset="0"/>
                <a:ea typeface="Consolas" pitchFamily="34" charset="-122"/>
                <a:cs typeface="Consolas" pitchFamily="34" charset="-120"/>
              </a:rPr>
              <a:t>Company stick   4C530012</a:t>
            </a:r>
            <a:pPr indent="0" marL="0">
              <a:buNone/>
            </a:pPr>
            <a:r>
              <a:rPr lang="en-US" sz="1300" b="1" dirty="0">
                <a:solidFill>
                  <a:srgbClr val="8A4E8F"/>
                </a:solidFill>
                <a:latin typeface="Consolas" pitchFamily="34" charset="0"/>
                <a:ea typeface="Consolas" pitchFamily="34" charset="-122"/>
                <a:cs typeface="Consolas" pitchFamily="34" charset="-120"/>
              </a:rPr>
              <a:t>4</a:t>
            </a:r>
            <a:pPr indent="0" marL="0">
              <a:buNone/>
            </a:pPr>
            <a:r>
              <a:rPr lang="en-US" sz="1300" dirty="0">
                <a:solidFill>
                  <a:srgbClr val="31423B"/>
                </a:solidFill>
                <a:latin typeface="Consolas" pitchFamily="34" charset="0"/>
                <a:ea typeface="Consolas" pitchFamily="34" charset="-122"/>
                <a:cs typeface="Consolas" pitchFamily="34" charset="-120"/>
              </a:rPr>
              <a:t>50531101593</a:t>
            </a:r>
            <a:endParaRPr lang="en-US" sz="1300" dirty="0"/>
          </a:p>
          <a:p>
            <a:pPr indent="0" marL="0">
              <a:buNone/>
            </a:pPr>
            <a:r>
              <a:rPr lang="en-US" sz="1300" dirty="0">
                <a:solidFill>
                  <a:srgbClr val="31423B"/>
                </a:solidFill>
                <a:latin typeface="Consolas" pitchFamily="34" charset="0"/>
                <a:ea typeface="Consolas" pitchFamily="34" charset="-122"/>
                <a:cs typeface="Consolas" pitchFamily="34" charset="-120"/>
              </a:rPr>
              <a:t>Suspect's stick 4C530012</a:t>
            </a:r>
            <a:pPr indent="0" marL="0">
              <a:buNone/>
            </a:pPr>
            <a:r>
              <a:rPr lang="en-US" sz="1300" b="1" dirty="0">
                <a:solidFill>
                  <a:srgbClr val="8A4E8F"/>
                </a:solidFill>
                <a:latin typeface="Consolas" pitchFamily="34" charset="0"/>
                <a:ea typeface="Consolas" pitchFamily="34" charset="-122"/>
                <a:cs typeface="Consolas" pitchFamily="34" charset="-120"/>
              </a:rPr>
              <a:t>5</a:t>
            </a:r>
            <a:pPr indent="0" marL="0">
              <a:buNone/>
            </a:pPr>
            <a:r>
              <a:rPr lang="en-US" sz="1300" dirty="0">
                <a:solidFill>
                  <a:srgbClr val="31423B"/>
                </a:solidFill>
                <a:latin typeface="Consolas" pitchFamily="34" charset="0"/>
                <a:ea typeface="Consolas" pitchFamily="34" charset="-122"/>
                <a:cs typeface="Consolas" pitchFamily="34" charset="-120"/>
              </a:rPr>
              <a:t>50531106501</a:t>
            </a:r>
            <a:endParaRPr lang="en-US" sz="1300" dirty="0"/>
          </a:p>
        </p:txBody>
      </p:sp>
      <p:sp>
        <p:nvSpPr>
          <p:cNvPr id="8" name="Shape 5"/>
          <p:cNvSpPr/>
          <p:nvPr/>
        </p:nvSpPr>
        <p:spPr>
          <a:xfrm>
            <a:off x="4754880" y="3520440"/>
            <a:ext cx="3977640" cy="822960"/>
          </a:xfrm>
          <a:prstGeom prst="rect">
            <a:avLst/>
          </a:prstGeom>
          <a:solidFill>
            <a:srgbClr val="F1E8F2"/>
          </a:solidFill>
          <a:ln/>
        </p:spPr>
      </p:sp>
      <p:sp>
        <p:nvSpPr>
          <p:cNvPr id="9" name="Text 6"/>
          <p:cNvSpPr/>
          <p:nvPr/>
        </p:nvSpPr>
        <p:spPr>
          <a:xfrm>
            <a:off x="4864608" y="3520440"/>
            <a:ext cx="3758184" cy="82296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Same make, same model. The serial numbers differ from the ninth character. Read to the end.</a:t>
            </a:r>
            <a:endParaRPr lang="en-US" sz="1300" dirty="0"/>
          </a:p>
        </p:txBody>
      </p:sp>
      <p:sp>
        <p:nvSpPr>
          <p:cNvPr id="10" name="Text 7"/>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setupapi.dev.log: Section start 2015/03/24 09:58:32. Windows started at 13:21:29 UTC that day.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Browser, mail and cloud as sources of time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194560"/>
                <a:gridCol w="2194560"/>
                <a:gridCol w="3931920"/>
              </a:tblGrid>
              <a:tr h="36576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Tue 24 March (UTC)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Source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Event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21:05:09</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Outlook mail file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message with the subject "Done" is sent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21:05:38</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Prefetch</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CHROME.EXE starts, for the last time on this computer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21:06:50</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Chrome History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search: security checkpoint cd-r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21:07:25</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Security event log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user logs off (4647)</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291840"/>
            <a:ext cx="8321040" cy="1371600"/>
          </a:xfrm>
          <a:prstGeom prst="rect">
            <a:avLst/>
          </a:prstGeom>
          <a:solidFill>
            <a:srgbClr val="DCE6DE"/>
          </a:solidFill>
          <a:ln/>
        </p:spPr>
      </p:sp>
      <p:sp>
        <p:nvSpPr>
          <p:cNvPr id="8" name="Text 5"/>
          <p:cNvSpPr/>
          <p:nvPr/>
        </p:nvSpPr>
        <p:spPr>
          <a:xfrm>
            <a:off x="502920" y="3291840"/>
            <a:ext cx="8138160" cy="137160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A search is a visit: the words are stored in an address, with a time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Deleted mail can remain inside the mail file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Every program chooses its own clock. Test it before you merge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Merged as recorded: an impossible morning</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011680"/>
                <a:gridCol w="2377440"/>
                <a:gridCol w="3931920"/>
              </a:tblGrid>
              <a:tr h="36576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Time as recorded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Source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Event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09:58:32</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setupapi.dev.log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suspect's USB stick is first connected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13:21:29</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Security event log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Windows starts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13:56:20</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Change journal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last of twenty files is renamed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31423B"/>
                          </a:solidFill>
                          <a:latin typeface="Consolas" pitchFamily="34" charset="0"/>
                          <a:ea typeface="Consolas" pitchFamily="34" charset="-122"/>
                          <a:cs typeface="Consolas" pitchFamily="34" charset="-120"/>
                        </a:rPr>
                        <a:t>14:00:19</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Shellbag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folder E:\Secret Project Data is opened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291840"/>
            <a:ext cx="8321040" cy="1371600"/>
          </a:xfrm>
          <a:prstGeom prst="rect">
            <a:avLst/>
          </a:prstGeom>
          <a:solidFill>
            <a:srgbClr val="F1E8F2"/>
          </a:solidFill>
          <a:ln/>
        </p:spPr>
      </p:sp>
      <p:sp>
        <p:nvSpPr>
          <p:cNvPr id="8" name="Text 5"/>
          <p:cNvSpPr/>
          <p:nvPr/>
        </p:nvSpPr>
        <p:spPr>
          <a:xfrm>
            <a:off x="521208" y="3291840"/>
            <a:ext cx="8101584" cy="1371600"/>
          </a:xfrm>
          <a:prstGeom prst="rect">
            <a:avLst/>
          </a:prstGeom>
          <a:noFill/>
          <a:ln/>
        </p:spPr>
        <p:txBody>
          <a:bodyPr wrap="square" rtlCol="0" anchor="ctr"/>
          <a:lstStyle/>
          <a:p>
            <a:pPr indent="0" marL="0">
              <a:buNone/>
            </a:pPr>
            <a:r>
              <a:rPr lang="en-US" sz="1600" b="1" dirty="0">
                <a:solidFill>
                  <a:srgbClr val="31423B"/>
                </a:solidFill>
                <a:latin typeface="Open Sans" pitchFamily="34" charset="0"/>
                <a:ea typeface="Open Sans" pitchFamily="34" charset="-122"/>
                <a:cs typeface="Open Sans" pitchFamily="34" charset="-120"/>
              </a:rPr>
              <a:t>The stick is connected three hours before the computer is switched on. Nothing in the evidence is wrong. Three sources recorded UTC, and one recorded the local time of the office.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Normalise every source to UTC before you merge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114800" cy="1600200"/>
          </a:xfrm>
          <a:prstGeom prst="rect">
            <a:avLst/>
          </a:prstGeom>
          <a:solidFill>
            <a:srgbClr val="DCE6DE"/>
          </a:solidFill>
          <a:ln/>
        </p:spPr>
      </p:sp>
      <p:sp>
        <p:nvSpPr>
          <p:cNvPr id="7" name="Text 5"/>
          <p:cNvSpPr/>
          <p:nvPr/>
        </p:nvSpPr>
        <p:spPr>
          <a:xfrm>
            <a:off x="502920" y="1371600"/>
            <a:ext cx="3931920" cy="160020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Read the zone from the image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Find the local-time sources</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Convert those, and only those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Merge, sort, keep the original</a:t>
            </a:r>
            <a:endParaRPr lang="en-US" sz="1400" dirty="0"/>
          </a:p>
        </p:txBody>
      </p:sp>
      <p:sp>
        <p:nvSpPr>
          <p:cNvPr id="8" name="Text 6"/>
          <p:cNvSpPr/>
          <p:nvPr/>
        </p:nvSpPr>
        <p:spPr>
          <a:xfrm>
            <a:off x="4663440" y="1371600"/>
            <a:ext cx="4069080" cy="1600200"/>
          </a:xfrm>
          <a:prstGeom prst="rect">
            <a:avLst/>
          </a:prstGeom>
          <a:solidFill>
            <a:srgbClr val="FFFFFF"/>
          </a:solidFill>
          <a:ln w="9525">
            <a:solidFill>
              <a:srgbClr val="CBD6CE"/>
            </a:solidFill>
          </a:ln>
        </p:spPr>
        <p:txBody>
          <a:bodyPr wrap="square" lIns="127000" tIns="127000" rIns="127000" bIns="127000" rtlCol="0" anchor="ctr"/>
          <a:lstStyle/>
          <a:p>
            <a:pPr indent="0" marL="0">
              <a:buNone/>
            </a:pPr>
            <a:r>
              <a:rPr lang="en-US" sz="1400" dirty="0">
                <a:solidFill>
                  <a:srgbClr val="31423B"/>
                </a:solidFill>
                <a:latin typeface="Consolas" pitchFamily="34" charset="0"/>
                <a:ea typeface="Consolas" pitchFamily="34" charset="-122"/>
                <a:cs typeface="Consolas" pitchFamily="34" charset="-120"/>
              </a:rPr>
              <a:t>ActiveTimeBias   240 minutes</a:t>
            </a:r>
            <a:endParaRPr lang="en-US" sz="1400" dirty="0"/>
          </a:p>
          <a:p>
            <a:pPr indent="0" marL="0">
              <a:buNone/>
            </a:pPr>
            <a:r>
              <a:rPr lang="en-US" sz="1400" b="1" dirty="0">
                <a:solidFill>
                  <a:srgbClr val="31423B"/>
                </a:solidFill>
                <a:latin typeface="Consolas" pitchFamily="34" charset="0"/>
                <a:ea typeface="Consolas" pitchFamily="34" charset="-122"/>
                <a:cs typeface="Consolas" pitchFamily="34" charset="-120"/>
              </a:rPr>
              <a:t>UTC = local time + bias</a:t>
            </a:r>
            <a:endParaRPr lang="en-US" sz="1400" dirty="0"/>
          </a:p>
          <a:p>
            <a:pPr indent="0" marL="0">
              <a:buNone/>
            </a:pPr>
            <a:r>
              <a:rPr lang="en-US" sz="1400" dirty="0">
                <a:solidFill>
                  <a:srgbClr val="31423B"/>
                </a:solidFill>
                <a:latin typeface="Consolas" pitchFamily="34" charset="0"/>
                <a:ea typeface="Consolas" pitchFamily="34" charset="-122"/>
                <a:cs typeface="Consolas" pitchFamily="34" charset="-120"/>
              </a:rPr>
              <a:t>09:58:32 local + 4 h</a:t>
            </a:r>
            <a:endParaRPr lang="en-US" sz="1400" dirty="0"/>
          </a:p>
          <a:p>
            <a:pPr indent="0" marL="0">
              <a:buNone/>
            </a:pPr>
            <a:r>
              <a:rPr lang="en-US" sz="1400" b="1" dirty="0">
                <a:solidFill>
                  <a:srgbClr val="31423B"/>
                </a:solidFill>
                <a:latin typeface="Consolas" pitchFamily="34" charset="0"/>
                <a:ea typeface="Consolas" pitchFamily="34" charset="-122"/>
                <a:cs typeface="Consolas" pitchFamily="34" charset="-120"/>
              </a:rPr>
              <a:t>= 13:58:32 UTC</a:t>
            </a:r>
            <a:endParaRPr lang="en-US" sz="1400" dirty="0"/>
          </a:p>
        </p:txBody>
      </p:sp>
      <p:sp>
        <p:nvSpPr>
          <p:cNvPr id="9" name="Shape 7"/>
          <p:cNvSpPr/>
          <p:nvPr/>
        </p:nvSpPr>
        <p:spPr>
          <a:xfrm>
            <a:off x="411480" y="3108960"/>
            <a:ext cx="8321040" cy="1554480"/>
          </a:xfrm>
          <a:prstGeom prst="rect">
            <a:avLst/>
          </a:prstGeom>
          <a:solidFill>
            <a:srgbClr val="E8F0EA"/>
          </a:solidFill>
          <a:ln/>
        </p:spPr>
      </p:sp>
      <p:sp>
        <p:nvSpPr>
          <p:cNvPr id="10" name="Shape 8"/>
          <p:cNvSpPr/>
          <p:nvPr/>
        </p:nvSpPr>
        <p:spPr>
          <a:xfrm>
            <a:off x="411480" y="3108960"/>
            <a:ext cx="82296" cy="1554480"/>
          </a:xfrm>
          <a:prstGeom prst="rect">
            <a:avLst/>
          </a:prstGeom>
          <a:solidFill>
            <a:srgbClr val="6E8472"/>
          </a:solidFill>
          <a:ln/>
        </p:spPr>
      </p:sp>
      <p:sp>
        <p:nvSpPr>
          <p:cNvPr id="11" name="Text 9"/>
          <p:cNvSpPr/>
          <p:nvPr/>
        </p:nvSpPr>
        <p:spPr>
          <a:xfrm>
            <a:off x="621792" y="318211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2" name="Text 10"/>
          <p:cNvSpPr/>
          <p:nvPr/>
        </p:nvSpPr>
        <p:spPr>
          <a:xfrm>
            <a:off x="621792" y="3438144"/>
            <a:ext cx="7955280" cy="115214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Witnesses who phoned in from different cities. "At ten", "at two": both honest. You change every time to the time of one city first.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witness can name her city. A time in a file carries no zone. And a computer's clock can be wrong by hours or years.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write down the clock of every source and how you know it. Normalising corrects the zone, not a wrong clock.</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554480"/>
            <a:ext cx="7680960" cy="192024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A system records far more than its user intends. The timeline is the machine's testimony.</a:t>
            </a:r>
            <a:endParaRPr lang="en-US" sz="3200" dirty="0"/>
          </a:p>
        </p:txBody>
      </p:sp>
      <p:sp>
        <p:nvSpPr>
          <p:cNvPr id="6" name="Text 4"/>
          <p:cNvSpPr/>
          <p:nvPr/>
        </p:nvSpPr>
        <p:spPr>
          <a:xfrm>
            <a:off x="731520" y="3703320"/>
            <a:ext cx="7680960" cy="1005840"/>
          </a:xfrm>
          <a:prstGeom prst="rect">
            <a:avLst/>
          </a:prstGeom>
          <a:noFill/>
          <a:ln/>
        </p:spPr>
        <p:txBody>
          <a:bodyPr wrap="square" lIns="0" tIns="0" rIns="0" bIns="0" rtlCol="0" anchor="t"/>
          <a:lstStyle/>
          <a:p>
            <a:pPr indent="0" marL="0">
              <a:buNone/>
            </a:pPr>
            <a:r>
              <a:rPr lang="en-US" sz="1600" i="1" dirty="0">
                <a:solidFill>
                  <a:srgbClr val="E8F0EA"/>
                </a:solidFill>
                <a:latin typeface="Open Sans" pitchFamily="34" charset="0"/>
                <a:ea typeface="Open Sans" pitchFamily="34" charset="-122"/>
                <a:cs typeface="Open Sans" pitchFamily="34" charset="-120"/>
              </a:rPr>
              <a:t>Testimony is valuable, and it is never accepted without questions. Who is speaking? What exactly did they see? Could they be mistaken?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super-timeline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133088" cy="402336"/>
          </a:xfrm>
          <a:prstGeom prst="rect">
            <a:avLst/>
          </a:prstGeom>
          <a:solidFill>
            <a:srgbClr val="6E8472"/>
          </a:solidFill>
          <a:ln/>
        </p:spPr>
      </p:sp>
      <p:sp>
        <p:nvSpPr>
          <p:cNvPr id="7" name="Text 5"/>
          <p:cNvSpPr/>
          <p:nvPr/>
        </p:nvSpPr>
        <p:spPr>
          <a:xfrm>
            <a:off x="521208"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What it adds</a:t>
            </a:r>
            <a:endParaRPr lang="en-US" sz="1500" dirty="0"/>
          </a:p>
        </p:txBody>
      </p:sp>
      <p:sp>
        <p:nvSpPr>
          <p:cNvPr id="8" name="Shape 6"/>
          <p:cNvSpPr/>
          <p:nvPr/>
        </p:nvSpPr>
        <p:spPr>
          <a:xfrm>
            <a:off x="411480" y="1773936"/>
            <a:ext cx="4133088" cy="2240280"/>
          </a:xfrm>
          <a:prstGeom prst="rect">
            <a:avLst/>
          </a:prstGeom>
          <a:solidFill>
            <a:srgbClr val="FFFFFF"/>
          </a:solidFill>
          <a:ln w="9525">
            <a:solidFill>
              <a:srgbClr val="CBD6CE"/>
            </a:solidFill>
            <a:prstDash val="solid"/>
          </a:ln>
        </p:spPr>
      </p:sp>
      <p:sp>
        <p:nvSpPr>
          <p:cNvPr id="9" name="Text 7"/>
          <p:cNvSpPr/>
          <p:nvPr/>
        </p:nvSpPr>
        <p:spPr>
          <a:xfrm>
            <a:off x="539496" y="1828800"/>
            <a:ext cx="3877056" cy="213055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Order across sources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Events that no single artefact holds together</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Agreement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Two independent records of one moment</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What you did not look for</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rows around your answer</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Gaps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silent stretch in a busy day is a question</a:t>
            </a:r>
            <a:endParaRPr lang="en-US" sz="1300" dirty="0"/>
          </a:p>
        </p:txBody>
      </p:sp>
      <p:sp>
        <p:nvSpPr>
          <p:cNvPr id="10" name="Shape 8"/>
          <p:cNvSpPr/>
          <p:nvPr/>
        </p:nvSpPr>
        <p:spPr>
          <a:xfrm>
            <a:off x="4645152" y="1371600"/>
            <a:ext cx="4133088" cy="402336"/>
          </a:xfrm>
          <a:prstGeom prst="rect">
            <a:avLst/>
          </a:prstGeom>
          <a:solidFill>
            <a:srgbClr val="8A4E8F"/>
          </a:solidFill>
          <a:ln/>
        </p:spPr>
      </p:sp>
      <p:sp>
        <p:nvSpPr>
          <p:cNvPr id="11" name="Text 9"/>
          <p:cNvSpPr/>
          <p:nvPr/>
        </p:nvSpPr>
        <p:spPr>
          <a:xfrm>
            <a:off x="4754880"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What it buries</a:t>
            </a:r>
            <a:endParaRPr lang="en-US" sz="1500" dirty="0"/>
          </a:p>
        </p:txBody>
      </p:sp>
      <p:sp>
        <p:nvSpPr>
          <p:cNvPr id="12" name="Shape 10"/>
          <p:cNvSpPr/>
          <p:nvPr/>
        </p:nvSpPr>
        <p:spPr>
          <a:xfrm>
            <a:off x="4645152" y="1773936"/>
            <a:ext cx="4133088" cy="2240280"/>
          </a:xfrm>
          <a:prstGeom prst="rect">
            <a:avLst/>
          </a:prstGeom>
          <a:solidFill>
            <a:srgbClr val="FFFFFF"/>
          </a:solidFill>
          <a:ln w="9525">
            <a:solidFill>
              <a:srgbClr val="CBD6CE"/>
            </a:solidFill>
            <a:prstDash val="solid"/>
          </a:ln>
        </p:spPr>
      </p:sp>
      <p:sp>
        <p:nvSpPr>
          <p:cNvPr id="13" name="Text 11"/>
          <p:cNvSpPr/>
          <p:nvPr/>
        </p:nvSpPr>
        <p:spPr>
          <a:xfrm>
            <a:off x="4773168" y="1828800"/>
            <a:ext cx="3877056" cy="213055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The few rows that matter</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Windows is the busiest user of any computer</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The meaning of each time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Last run, key changed, file created: one column</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What the tool could not read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No rows, and no warning</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What was not collected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triage collection is silent outside itself</a:t>
            </a:r>
            <a:endParaRPr lang="en-US" sz="1300" dirty="0"/>
          </a:p>
        </p:txBody>
      </p:sp>
      <p:sp>
        <p:nvSpPr>
          <p:cNvPr id="14" name="Shape 12"/>
          <p:cNvSpPr/>
          <p:nvPr/>
        </p:nvSpPr>
        <p:spPr>
          <a:xfrm>
            <a:off x="411480" y="4114800"/>
            <a:ext cx="8321040" cy="566928"/>
          </a:xfrm>
          <a:prstGeom prst="rect">
            <a:avLst/>
          </a:prstGeom>
          <a:solidFill>
            <a:srgbClr val="F1E8F2"/>
          </a:solidFill>
          <a:ln/>
        </p:spPr>
      </p:sp>
      <p:sp>
        <p:nvSpPr>
          <p:cNvPr id="15" name="Text 13"/>
          <p:cNvSpPr/>
          <p:nvPr/>
        </p:nvSpPr>
        <p:spPr>
          <a:xfrm>
            <a:off x="521208" y="4114800"/>
            <a:ext cx="8101584" cy="566928"/>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Method: start from an anchor, open a window around it, follow the leads, write down each filter.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4937760" cy="109728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Lab: the day the documents left</a:t>
            </a:r>
            <a:endParaRPr lang="en-US" sz="3200" dirty="0"/>
          </a:p>
        </p:txBody>
      </p:sp>
      <p:sp>
        <p:nvSpPr>
          <p:cNvPr id="5" name="Shape 3"/>
          <p:cNvSpPr/>
          <p:nvPr/>
        </p:nvSpPr>
        <p:spPr>
          <a:xfrm>
            <a:off x="731520" y="1920240"/>
            <a:ext cx="4572000" cy="2651760"/>
          </a:xfrm>
          <a:prstGeom prst="rect">
            <a:avLst/>
          </a:prstGeom>
          <a:solidFill>
            <a:srgbClr val="31423B"/>
          </a:solidFill>
          <a:ln/>
        </p:spPr>
      </p:sp>
      <p:sp>
        <p:nvSpPr>
          <p:cNvPr id="6" name="Text 4"/>
          <p:cNvSpPr/>
          <p:nvPr/>
        </p:nvSpPr>
        <p:spPr>
          <a:xfrm>
            <a:off x="868680" y="1920240"/>
            <a:ext cx="4297680" cy="2651760"/>
          </a:xfrm>
          <a:prstGeom prst="rect">
            <a:avLst/>
          </a:prstGeom>
          <a:noFill/>
          <a:ln/>
        </p:spPr>
        <p:txBody>
          <a:bodyPr wrap="square" lIns="0" tIns="0" rIns="0" bIns="0" rtlCol="0" anchor="ctr"/>
          <a:lstStyle/>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1.  Already running: the Plaso job</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2.  Kali: the timeline, and one line in two clocks</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3.  Windows: one tool for each artefact</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4.  Read the super-timeline from an anchor</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5.  Your key events of 24 March, in UTC</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6.  Export s05-timeline-utc.csv</a:t>
            </a:r>
            <a:endParaRPr lang="en-US" sz="1600" dirty="0"/>
          </a:p>
        </p:txBody>
      </p:sp>
      <p:pic>
        <p:nvPicPr>
          <p:cNvPr id="7" name="Image 0" descr="preencoded.png">    </p:cNvPr>
          <p:cNvPicPr>
            <a:picLocks noChangeAspect="1"/>
          </p:cNvPicPr>
          <p:nvPr/>
        </p:nvPicPr>
        <p:blipFill>
          <a:blip r:embed="rId1"/>
          <a:stretch>
            <a:fillRect/>
          </a:stretch>
        </p:blipFill>
        <p:spPr>
          <a:xfrm>
            <a:off x="6126480" y="1554480"/>
            <a:ext cx="2103120" cy="21031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371600" y="1920240"/>
            <a:ext cx="6400800" cy="1737360"/>
          </a:xfrm>
          <a:prstGeom prst="rect">
            <a:avLst/>
          </a:prstGeom>
          <a:solidFill>
            <a:srgbClr val="FFFFFF"/>
          </a:solidFill>
          <a:ln/>
        </p:spPr>
      </p:sp>
      <p:sp>
        <p:nvSpPr>
          <p:cNvPr id="6" name="Text 4"/>
          <p:cNvSpPr/>
          <p:nvPr/>
        </p:nvSpPr>
        <p:spPr>
          <a:xfrm>
            <a:off x="1508760" y="1920240"/>
            <a:ext cx="6126480" cy="173736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A timeline built from a triage collection shows no rows for two hours in the middle of a working day. A manager asks you to write that the user did nothing in those hours. What do you write instead?</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sources behind this session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1737360" cy="1554480"/>
          </a:xfrm>
          <a:prstGeom prst="rect">
            <a:avLst/>
          </a:prstGeom>
          <a:solidFill>
            <a:srgbClr val="4F6356"/>
          </a:solidFill>
          <a:ln/>
        </p:spPr>
      </p:sp>
      <p:pic>
        <p:nvPicPr>
          <p:cNvPr id="7" name="Image 0" descr="preencoded.png">    </p:cNvPr>
          <p:cNvPicPr>
            <a:picLocks noChangeAspect="1"/>
          </p:cNvPicPr>
          <p:nvPr/>
        </p:nvPicPr>
        <p:blipFill>
          <a:blip r:embed="rId1"/>
          <a:stretch>
            <a:fillRect/>
          </a:stretch>
        </p:blipFill>
        <p:spPr>
          <a:xfrm>
            <a:off x="822960" y="1737360"/>
            <a:ext cx="914400" cy="914400"/>
          </a:xfrm>
          <a:prstGeom prst="rect">
            <a:avLst/>
          </a:prstGeom>
        </p:spPr>
      </p:pic>
      <p:sp>
        <p:nvSpPr>
          <p:cNvPr id="8" name="Shape 5"/>
          <p:cNvSpPr/>
          <p:nvPr/>
        </p:nvSpPr>
        <p:spPr>
          <a:xfrm>
            <a:off x="2148840" y="1417320"/>
            <a:ext cx="6583680" cy="1554480"/>
          </a:xfrm>
          <a:prstGeom prst="rect">
            <a:avLst/>
          </a:prstGeom>
          <a:solidFill>
            <a:srgbClr val="FFFFFF"/>
          </a:solidFill>
          <a:ln w="9525">
            <a:solidFill>
              <a:srgbClr val="CBD6CE"/>
            </a:solidFill>
            <a:prstDash val="solid"/>
          </a:ln>
        </p:spPr>
      </p:sp>
      <p:sp>
        <p:nvSpPr>
          <p:cNvPr id="9" name="Text 6"/>
          <p:cNvSpPr/>
          <p:nvPr/>
        </p:nvSpPr>
        <p:spPr>
          <a:xfrm>
            <a:off x="2286000" y="1490472"/>
            <a:ext cx="6309360" cy="1408176"/>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Data Leakage Case</a:t>
            </a:r>
            <a:endParaRPr lang="en-US" sz="1800" dirty="0"/>
          </a:p>
          <a:p>
            <a:pPr indent="0" marL="0">
              <a:buNone/>
            </a:pPr>
            <a:r>
              <a:rPr lang="en-US" sz="1300" i="1" dirty="0">
                <a:solidFill>
                  <a:srgbClr val="4F6356"/>
                </a:solidFill>
                <a:latin typeface="Open Sans" pitchFamily="34" charset="0"/>
                <a:ea typeface="Open Sans" pitchFamily="34" charset="-122"/>
                <a:cs typeface="Open Sans" pitchFamily="34" charset="-120"/>
              </a:rPr>
              <a:t>Computer Forensic Reference Data Sets (CFReDS)</a:t>
            </a:r>
            <a:endParaRPr lang="en-US" sz="1800" dirty="0"/>
          </a:p>
          <a:p>
            <a:pPr indent="0" marL="0">
              <a:buNone/>
            </a:pPr>
            <a:r>
              <a:rPr lang="en-US" sz="1300" dirty="0">
                <a:solidFill>
                  <a:srgbClr val="31423B"/>
                </a:solidFill>
                <a:latin typeface="Open Sans" pitchFamily="34" charset="0"/>
                <a:ea typeface="Open Sans" pitchFamily="34" charset="-122"/>
                <a:cs typeface="Open Sans" pitchFamily="34" charset="-120"/>
              </a:rPr>
              <a:t>National Institute of Standards and Technology</a:t>
            </a:r>
            <a:endParaRPr lang="en-US" sz="1800" dirty="0"/>
          </a:p>
          <a:p>
            <a:pPr indent="0" marL="0">
              <a:buNone/>
            </a:pPr>
            <a:r>
              <a:rPr lang="en-US" sz="1200" i="1" dirty="0">
                <a:solidFill>
                  <a:srgbClr val="4F6356"/>
                </a:solidFill>
                <a:latin typeface="Open Sans" pitchFamily="34" charset="0"/>
                <a:ea typeface="Open Sans" pitchFamily="34" charset="-122"/>
                <a:cs typeface="Open Sans" pitchFamily="34" charset="-120"/>
              </a:rPr>
              <a:t>Today's case evidence, with the published answer key that the checkpoint is judged against</a:t>
            </a:r>
            <a:endParaRPr lang="en-US" sz="1800" dirty="0"/>
          </a:p>
        </p:txBody>
      </p:sp>
      <p:sp>
        <p:nvSpPr>
          <p:cNvPr id="10" name="Shape 7"/>
          <p:cNvSpPr/>
          <p:nvPr/>
        </p:nvSpPr>
        <p:spPr>
          <a:xfrm>
            <a:off x="411480" y="3099816"/>
            <a:ext cx="1737360" cy="1554480"/>
          </a:xfrm>
          <a:prstGeom prst="rect">
            <a:avLst/>
          </a:prstGeom>
          <a:solidFill>
            <a:srgbClr val="6E8472"/>
          </a:solidFill>
          <a:ln/>
        </p:spPr>
      </p:sp>
      <p:pic>
        <p:nvPicPr>
          <p:cNvPr id="11" name="Image 1" descr="preencoded.png">    </p:cNvPr>
          <p:cNvPicPr>
            <a:picLocks noChangeAspect="1"/>
          </p:cNvPicPr>
          <p:nvPr/>
        </p:nvPicPr>
        <p:blipFill>
          <a:blip r:embed="rId2"/>
          <a:stretch>
            <a:fillRect/>
          </a:stretch>
        </p:blipFill>
        <p:spPr>
          <a:xfrm>
            <a:off x="822960" y="3419856"/>
            <a:ext cx="914400" cy="914400"/>
          </a:xfrm>
          <a:prstGeom prst="rect">
            <a:avLst/>
          </a:prstGeom>
        </p:spPr>
      </p:pic>
      <p:sp>
        <p:nvSpPr>
          <p:cNvPr id="12" name="Shape 8"/>
          <p:cNvSpPr/>
          <p:nvPr/>
        </p:nvSpPr>
        <p:spPr>
          <a:xfrm>
            <a:off x="2148840" y="3099816"/>
            <a:ext cx="6583680" cy="1554480"/>
          </a:xfrm>
          <a:prstGeom prst="rect">
            <a:avLst/>
          </a:prstGeom>
          <a:solidFill>
            <a:srgbClr val="FFFFFF"/>
          </a:solidFill>
          <a:ln w="9525">
            <a:solidFill>
              <a:srgbClr val="CBD6CE"/>
            </a:solidFill>
            <a:prstDash val="solid"/>
          </a:ln>
        </p:spPr>
      </p:sp>
      <p:sp>
        <p:nvSpPr>
          <p:cNvPr id="13" name="Text 9"/>
          <p:cNvSpPr/>
          <p:nvPr/>
        </p:nvSpPr>
        <p:spPr>
          <a:xfrm>
            <a:off x="2286000" y="3172968"/>
            <a:ext cx="6309360" cy="1408176"/>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Loss of recent memory after bilateral hippocampal lesions</a:t>
            </a:r>
            <a:endParaRPr lang="en-US" sz="1800" dirty="0"/>
          </a:p>
          <a:p>
            <a:pPr indent="0" marL="0">
              <a:buNone/>
            </a:pPr>
            <a:r>
              <a:rPr lang="en-US" sz="1300" i="1" dirty="0">
                <a:solidFill>
                  <a:srgbClr val="4F6356"/>
                </a:solidFill>
                <a:latin typeface="Open Sans" pitchFamily="34" charset="0"/>
                <a:ea typeface="Open Sans" pitchFamily="34" charset="-122"/>
                <a:cs typeface="Open Sans" pitchFamily="34" charset="-120"/>
              </a:rPr>
              <a:t>Journal of Neurology, Neurosurgery and Psychiatry 20, 1957</a:t>
            </a:r>
            <a:endParaRPr lang="en-US" sz="1800" dirty="0"/>
          </a:p>
          <a:p>
            <a:pPr indent="0" marL="0">
              <a:buNone/>
            </a:pPr>
            <a:r>
              <a:rPr lang="en-US" sz="1300" dirty="0">
                <a:solidFill>
                  <a:srgbClr val="31423B"/>
                </a:solidFill>
                <a:latin typeface="Open Sans" pitchFamily="34" charset="0"/>
                <a:ea typeface="Open Sans" pitchFamily="34" charset="-122"/>
                <a:cs typeface="Open Sans" pitchFamily="34" charset="-120"/>
              </a:rPr>
              <a:t>William Scoville and Brenda Milner</a:t>
            </a:r>
            <a:endParaRPr lang="en-US" sz="1800" dirty="0"/>
          </a:p>
          <a:p>
            <a:pPr indent="0" marL="0">
              <a:buNone/>
            </a:pPr>
            <a:r>
              <a:rPr lang="en-US" sz="1200" i="1" dirty="0">
                <a:solidFill>
                  <a:srgbClr val="4F6356"/>
                </a:solidFill>
                <a:latin typeface="Open Sans" pitchFamily="34" charset="0"/>
                <a:ea typeface="Open Sans" pitchFamily="34" charset="-122"/>
                <a:cs typeface="Open Sans" pitchFamily="34" charset="-120"/>
              </a:rPr>
              <a:t>The patient behind today's lens. Milner later reported his learning of a drawing task without recall</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03520" cy="1005840"/>
          </a:xfrm>
          <a:prstGeom prst="rect">
            <a:avLst/>
          </a:prstGeom>
          <a:noFill/>
          <a:ln/>
        </p:spPr>
        <p:txBody>
          <a:bodyPr wrap="square" lIns="0" tIns="0" rIns="0" bIns="0" rtlCol="0" anchor="t"/>
          <a:lstStyle/>
          <a:p>
            <a:pPr indent="0" marL="0">
              <a:buNone/>
            </a:pPr>
            <a:r>
              <a:rPr lang="en-US" sz="1600" i="1" dirty="0">
                <a:solidFill>
                  <a:srgbClr val="5C6B63"/>
                </a:solidFill>
                <a:latin typeface="Open Sans" pitchFamily="34" charset="0"/>
                <a:ea typeface="Open Sans" pitchFamily="34" charset="-122"/>
                <a:cs typeface="Open Sans" pitchFamily="34" charset="-120"/>
              </a:rPr>
              <a:t>Next: Session 6 - Memory forensics. Today's records were written to disk. Next, what a computer holds only in memory, and loses when the power goes.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S05 - Windows Artefacts and Timelining</dc:title>
  <dc:subject>PptxGenJS Presentation</dc:subject>
  <dc:creator>Niranga Dharmaratna</dc:creator>
  <cp:lastModifiedBy>Niranga Dharmaratna</cp:lastModifiedBy>
  <cp:revision>1</cp:revision>
  <dcterms:created xsi:type="dcterms:W3CDTF">2026-10-10T13:57:15Z</dcterms:created>
  <dcterms:modified xsi:type="dcterms:W3CDTF">2026-10-10T13:57:15Z</dcterms:modified>
</cp:coreProperties>
</file>