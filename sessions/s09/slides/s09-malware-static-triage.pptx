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9 opens Day 5. The page on the portal is the content master: every slide points to a section of it. Link back to Day 4: students watched an infected computer from the outside, through its traffic, and never opened a program. Today they open programs, carefully, and read them without running them. Before the concept part, ask students to copy folder S09 from the lab share into nb6018-share on the host, and to start nothing yet. Misconception to watch for: that static analysis means running a program in a safe place. It means not running it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LO1, LO2 and LO5. The checkpoint, a static triage sheet, feeds the phase test: short answers ask students to explain what a file's structure shows and why a date or a capability is not proof. Misconception to watch for: that malware analysis is about writing malware. In this module students only read it, and nothing they write in this session is code that does anything except detect.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hook from the page, word for word, then the outcomes in short form. The hook holds four questions, and the page answers them in order: what is each file (sections 2 and 3), what could it do (sections 3 to 6), how sure can we be (section 8), how would we recognise it again (sections 7 and 8). Misconception to watch for: that 'triage' means a quick look. It means a structured first assessment with evidence and a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of the page: the three plain statements. Say them once, before any concept. The bridging sentence is fixed: the program that infected the Session 8 computer is live malware and is never opened in a classroom, so the unit trains this method on samples written for teaching, whose behaviour is documented. Do not call the samples 'defanged': they are teaching samples, handled as live. Misconception to watch for: that these are the files from Session 8's capture. They are not, and nothing was ever extracted from that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The order never changes: the sample is put where it cannot hurt anything before anyone reads it. Be exact about REMnux: Linux does not run a Windows program by itself, which is a strong first barrier, but REMnux carries Wine and emulators that can. A double-click on a sample in the REMnux file manager can start Wine. That is why the lab works in the terminal and why the snapshot matters. Then the difference between a lookup and an upload: a hash lookup reveals almost nothing; an upload shares the client's file with the service and its paying users, and may warn the attacker. Misconception to watch for: 'REMnux cannot run it, so the snapshot is ceremony.'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four-part comparison of page section 1. Spend the time on 'where it breaks', because it carries the rules: the copying and reaching out is why the room has no door to the internet, the one wrong click is why the lab is terminal-only, and the impossibility of undoing a bomb is why the snapshot is taken first. Misconception to watch for: that isolation alone is enough. It removes the path out, not the path to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Define static analysis: examining a program by reading its file, without ever running it. Then the two steps, always in this order. The recipe comparison from the page: the ingredients list tells you what could be made, nothing can burn while you read, and where it breaks: the recipe can be written in code (packing), can list decoy ingredients, and never tells you what was cooked. Misconception to watch for: that a name or an icon says anything about a file's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with demo D1 from the front. Walk the layers once: MZ, the pointer at 0x3C, PE and two zero bytes, the PE header, the PE section table, the import list. Define PE file, PE header, PE section, DLL, import, export and resource as the page does. Say 'PE section' every time: on the page, 'section' alone means a part of the notes. The book comparison: the bibliography is the import list, and where it breaks: a program can borrow at run time with LoadLibraryA and GetProcAddress, and can carry a second book inside a chapter, in a resource. Misconception to watch for: that a short import list means a simple, harmless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This is the link to Session 4: the dates of a file system can be moved, and so can the date inside a program. The three tests are what the checkpoint asks for. Do not give the checkpoint sample's values from the front. If students ask whether a 1970 date is a mistake: it is a zero, and a zero is a choice somebody made. Misconception to watch for: 'the compiler wrote it, so it is reliable'. The compiler wrote it once; anyone could write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with demo D2. Define encoded string and stack string. Make the distinction between emulation and running: FLOSS imitates instructions of a few functions; nothing touches Windows or the network. In the lab, Lab09-02 shows the effect on real output: the same static strings, plus stack and decoded strings that strings never prints. Misconception to watch for: that the extra texts are false positives because they are not in the file. They are produced by the file's 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with demo D3. Define packer and unpacking. The comparison from the page: a document zipped with its own unzip tool attached, which opens itself; where it breaks: other packers encrypt or use private formats, the readable form may exist only in memory, and honest programs are packed too. In the lab, one sample shows a whole-file entropy that looks ordinary beside one PE section close to 7.1: Session 4's warning in real output. Misconception to watch for: 'upx -d failed, so it is not packed'.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with demo D4. The capa lines are from the unpacked copy of one lab sample, shortened. Define capability, capa rule, ATT&amp;CK and MBC. The 'is not' column is the most important content of the session: say it slowly, and return to it in the debrief. Misconception to watch for: reading capa's output aloud as a story of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of the class, in page section 6. Give the gist of the false-belief test in two sentences; never assume anyone has met it. Then the parallel: what a person carries, what a program carries. The break is the lesson, and each part maps to a section: carrying is not doing (section 6, a capability is not an action), decoys (section 8, verdict confidence), the closed bag (section 5, packing). Leave 2001: A Space Odyssey for Session 10, where behaviour is observed. Name and paraphrase only. About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from the key box of page section 8. Let the room read it. The second line is the bridge to Session 10: every capability on the triage sheet is a question for tomorrow's lab. Misconception to watch for: that 'reverse-reads the author's goals' means certainty about the author. It means a disciplined inference with stated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with demo D5. The example uses made-up names and a reserved example domain. Read each part once: name, strings with ascii, wide and nocase, condition. Explain why uint16(0) == 0x5A4D tests for MZ: the two bytes 4D 5A read as one number on Intel. Then the comparison with Session 8's IDS rule: one reads traffic, the other files or memory; both produce a hypothesis. Always say 'YARA rule', never 'rule' alone: 'rule' is Session 8's IDS rule. Misconception to watch for: 'it matched, so it is the same malware'.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The three verdicts and the confidence. A static indicator shows what the file carries, not what it did: a domain in the strings was never seen in traffic today. Indicators are written safely in running text, as in Session 8. Misconception to watch for: 'not shown' read as 'clean'. It is a statement about the reading, not about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9, about two hours, in the REMnux VM only. Read the seven safety rules aloud before anyone attaches the disc. The verify script must show PASS for isolation; the snapshot s09-clean comes before the disc. The lecturer gives the archive password in class. During Part G, show PEStudio on an isolated Windows machine: students watch, and do not put a sample on their Windows VM. Hand in the triage sheet and the custody record; the YARA rule is copied by hand onto the sheet. Nothing is copied out of REMnux. At the end: detach the disc, shut down, restore s09-clean. Misconception to watch for: 'I will just double-click to see the 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Draw out three layers. First: a capability is code that is present, not an action that happened. Second: what may be written: the program carries the capability, with the evidence; what may not: that it ran, on which computer, or when. Third: what would change the answer: behavioural evidence (Session 10), or host and network evidence that the service exists or the server was contacted, as in Sessions 5 and 8. Misconception to watch for: treating the manager's sentence and the triage sheet as the same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and coming next, from the page. Session 10 switches the Windows VM onto the isolated network beside REMnux under a posture with its own snapshot, runs one teaching sample while tools watch, and lets REMnux play the internet. Its end-of-day quiz covers Sessions 9 and 10. Misconception to watch for: that Session 10 will run all seven samples. It runs one, chosen because it runs on current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disclaimer, unchanged. The YARA rule and the names on these slides are the page's made-up examples. The capa lines on slide 12 come from the unpacked copy of one lab sample, as the page shows them; nothing on these slides is a value of the checkpoint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4000" b="1" dirty="0">
                <a:solidFill>
                  <a:srgbClr val="31423B"/>
                </a:solidFill>
                <a:latin typeface="Open Sans" pitchFamily="34" charset="0"/>
                <a:ea typeface="Open Sans" pitchFamily="34" charset="-122"/>
                <a:cs typeface="Open Sans" pitchFamily="34" charset="-120"/>
              </a:rPr>
              <a:t>Malware triage: static analysis</a:t>
            </a:r>
            <a:endParaRPr lang="en-US" sz="40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9 - Day 5: Malware analysis (defensive, fully isolated)</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600" b="1" dirty="0">
                <a:solidFill>
                  <a:srgbClr val="31423B"/>
                </a:solidFill>
                <a:latin typeface="Open Sans" pitchFamily="34" charset="0"/>
                <a:ea typeface="Open Sans" pitchFamily="34" charset="-122"/>
                <a:cs typeface="Open Sans" pitchFamily="34" charset="-120"/>
              </a:rPr>
              <a:t>S09 Malware triage: static analysis</a:t>
            </a:r>
            <a:endParaRPr lang="en-US" sz="36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627866"/>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4F6356"/>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LO2</a:t>
            </a:r>
            <a:endParaRPr lang="en-US" sz="1400" dirty="0"/>
          </a:p>
        </p:txBody>
      </p:sp>
      <p:sp>
        <p:nvSpPr>
          <p:cNvPr id="10" name="Shape 8"/>
          <p:cNvSpPr/>
          <p:nvPr/>
        </p:nvSpPr>
        <p:spPr>
          <a:xfrm>
            <a:off x="2194560" y="3108960"/>
            <a:ext cx="640080" cy="347472"/>
          </a:xfrm>
          <a:prstGeom prst="rect">
            <a:avLst/>
          </a:prstGeom>
          <a:solidFill>
            <a:srgbClr val="6E3D72"/>
          </a:solidFill>
          <a:ln/>
        </p:spPr>
      </p:sp>
      <p:sp>
        <p:nvSpPr>
          <p:cNvPr id="11" name="Text 9"/>
          <p:cNvSpPr/>
          <p:nvPr/>
        </p:nvSpPr>
        <p:spPr>
          <a:xfrm>
            <a:off x="219456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LO5</a:t>
            </a:r>
            <a:endParaRPr lang="en-US" sz="1400" dirty="0"/>
          </a:p>
        </p:txBody>
      </p:sp>
      <p:sp>
        <p:nvSpPr>
          <p:cNvPr id="12" name="Text 10"/>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Phase test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754880" cy="1207008"/>
          </a:xfrm>
          <a:prstGeom prst="rect">
            <a:avLst/>
          </a:prstGeom>
          <a:solidFill>
            <a:srgbClr val="F1E8F2"/>
          </a:solidFill>
          <a:ln/>
        </p:spPr>
      </p:sp>
      <p:sp>
        <p:nvSpPr>
          <p:cNvPr id="7" name="Text 5"/>
          <p:cNvSpPr/>
          <p:nvPr/>
        </p:nvSpPr>
        <p:spPr>
          <a:xfrm>
            <a:off x="521208" y="1371600"/>
            <a:ext cx="4535424" cy="1207008"/>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unit's isolated lab has seven suspicious programs to triage. Without running any of them, what is each file, what could it do, how sure can we be, and how would we recognise it again?</a:t>
            </a:r>
            <a:endParaRPr lang="en-US" sz="1300" dirty="0"/>
          </a:p>
        </p:txBody>
      </p:sp>
      <p:sp>
        <p:nvSpPr>
          <p:cNvPr id="8" name="Shape 6"/>
          <p:cNvSpPr/>
          <p:nvPr/>
        </p:nvSpPr>
        <p:spPr>
          <a:xfrm>
            <a:off x="411480" y="2670048"/>
            <a:ext cx="4754880" cy="2011680"/>
          </a:xfrm>
          <a:prstGeom prst="rect">
            <a:avLst/>
          </a:prstGeom>
          <a:solidFill>
            <a:srgbClr val="DCE6DE"/>
          </a:solidFill>
          <a:ln/>
        </p:spPr>
      </p:sp>
      <p:sp>
        <p:nvSpPr>
          <p:cNvPr id="9" name="Text 7"/>
          <p:cNvSpPr/>
          <p:nvPr/>
        </p:nvSpPr>
        <p:spPr>
          <a:xfrm>
            <a:off x="502920" y="2670048"/>
            <a:ext cx="4572000" cy="2011680"/>
          </a:xfrm>
          <a:prstGeom prst="rect">
            <a:avLst/>
          </a:prstGeom>
          <a:noFill/>
          <a:ln/>
        </p:spPr>
        <p:txBody>
          <a:bodyPr wrap="square" rtlCol="0" anchor="ctr"/>
          <a:lstStyle/>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Handle safely: isolation, snapshot, closed archive</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Identify a file by hash values and file signature</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Read the PE file: header, sections, imports, resources</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Judge a compile timestamp against other dates</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strings against FLOSS: hidden texts</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Spot packing, and unpack UPX</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Read capabilities with capa, ATT&amp;CK and MBC</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Write and test a YARA rule; give a verdict</a:t>
            </a:r>
            <a:endParaRPr lang="en-US" sz="1200" dirty="0"/>
          </a:p>
        </p:txBody>
      </p:sp>
      <p:pic>
        <p:nvPicPr>
          <p:cNvPr id="10" name="Image 0" descr="preencoded.png">    </p:cNvPr>
          <p:cNvPicPr>
            <a:picLocks noChangeAspect="1"/>
          </p:cNvPicPr>
          <p:nvPr/>
        </p:nvPicPr>
        <p:blipFill>
          <a:blip r:embed="rId1"/>
          <a:stretch>
            <a:fillRect/>
          </a:stretch>
        </p:blipFill>
        <p:spPr>
          <a:xfrm>
            <a:off x="6126480" y="1463040"/>
            <a:ext cx="1737360" cy="1737360"/>
          </a:xfrm>
          <a:prstGeom prst="rect">
            <a:avLst/>
          </a:prstGeom>
        </p:spPr>
      </p:pic>
      <p:sp>
        <p:nvSpPr>
          <p:cNvPr id="11" name="Text 8"/>
          <p:cNvSpPr/>
          <p:nvPr/>
        </p:nvSpPr>
        <p:spPr>
          <a:xfrm>
            <a:off x="5349240" y="3429000"/>
            <a:ext cx="3383280" cy="1097280"/>
          </a:xfrm>
          <a:prstGeom prst="rect">
            <a:avLst/>
          </a:prstGeom>
          <a:noFill/>
          <a:ln/>
        </p:spPr>
        <p:txBody>
          <a:bodyPr wrap="square" lIns="0" tIns="0" rIns="0" bIns="0" rtlCol="0" anchor="t"/>
          <a:lstStyle/>
          <a:p>
            <a:pPr indent="0" marL="0">
              <a:buNone/>
            </a:pPr>
            <a:r>
              <a:rPr lang="en-US" sz="1500" i="1" dirty="0">
                <a:solidFill>
                  <a:srgbClr val="5C6B63"/>
                </a:solidFill>
                <a:latin typeface="Open Sans" pitchFamily="34" charset="0"/>
                <a:ea typeface="Open Sans" pitchFamily="34" charset="-122"/>
                <a:cs typeface="Open Sans" pitchFamily="34" charset="-120"/>
              </a:rPr>
              <a:t>Today nothing runs. Reading only.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Where today's programs come from</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194560"/>
          </a:xfrm>
          <a:prstGeom prst="rect">
            <a:avLst/>
          </a:prstGeom>
          <a:solidFill>
            <a:srgbClr val="DCE6DE"/>
          </a:solidFill>
          <a:ln/>
        </p:spPr>
      </p:sp>
      <p:sp>
        <p:nvSpPr>
          <p:cNvPr id="7" name="Text 5"/>
          <p:cNvSpPr/>
          <p:nvPr/>
        </p:nvSpPr>
        <p:spPr>
          <a:xfrm>
            <a:off x="502920" y="1371600"/>
            <a:ext cx="8138160" cy="219456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Not from Session 8's computer. That program is live malware, and it is never opened in a classroom, so the unit trains on samples written for teaching, whose behaviour is documented</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What they are: the lab programs of the book Practical Malware Analysis (Sikorski and Honig). They contain real malicious code, so the unit handles them as live</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Not from the suspect either. Their dates and names are their own, shown as the tools show them</a:t>
            </a:r>
            <a:endParaRPr lang="en-US" sz="1300" dirty="0"/>
          </a:p>
        </p:txBody>
      </p:sp>
      <p:sp>
        <p:nvSpPr>
          <p:cNvPr id="8" name="Shape 6"/>
          <p:cNvSpPr/>
          <p:nvPr/>
        </p:nvSpPr>
        <p:spPr>
          <a:xfrm>
            <a:off x="411480" y="3703320"/>
            <a:ext cx="8321040" cy="960120"/>
          </a:xfrm>
          <a:prstGeom prst="rect">
            <a:avLst/>
          </a:prstGeom>
          <a:solidFill>
            <a:srgbClr val="F1E8F2"/>
          </a:solidFill>
          <a:ln/>
        </p:spPr>
      </p:sp>
      <p:sp>
        <p:nvSpPr>
          <p:cNvPr id="9" name="Text 7"/>
          <p:cNvSpPr/>
          <p:nvPr/>
        </p:nvSpPr>
        <p:spPr>
          <a:xfrm>
            <a:off x="521208" y="3703320"/>
            <a:ext cx="8101584" cy="96012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Nobody runs these programs today, on any machine. Running and watching belongs to Session 10.</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Handle first, read second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651760"/>
                <a:gridCol w="5669280"/>
              </a:tblGrid>
              <a:tr h="438912">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Rule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REMnux, terminal only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Windows programs do not run on Linux by themselves. REMnux carries Wine, which can: never double-click, never type wine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Isolated network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 path to the internet, the host or other VMs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Snapshot before, revert after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Whatever happened, and whatever you missed, disappears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Closed archive, read-only disc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password stops scanners and clicks; the disc is one-way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Never the host or the Windows VM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Your files, the internet, a NAT adapter, a shared folder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Nothing comes out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Findings leave by being written down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1. Look up a hash value: fine. Upload a client's sample: never.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parcel in the sealed room</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606040"/>
          </a:xfrm>
          <a:prstGeom prst="rect">
            <a:avLst/>
          </a:prstGeom>
          <a:solidFill>
            <a:srgbClr val="E8F0EA"/>
          </a:solidFill>
          <a:ln/>
        </p:spPr>
      </p:sp>
      <p:sp>
        <p:nvSpPr>
          <p:cNvPr id="7" name="Shape 5"/>
          <p:cNvSpPr/>
          <p:nvPr/>
        </p:nvSpPr>
        <p:spPr>
          <a:xfrm>
            <a:off x="411480" y="1371600"/>
            <a:ext cx="82296" cy="2606040"/>
          </a:xfrm>
          <a:prstGeom prst="rect">
            <a:avLst/>
          </a:prstGeom>
          <a:solidFill>
            <a:srgbClr val="6E8472"/>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9" name="Text 7"/>
          <p:cNvSpPr/>
          <p:nvPr/>
        </p:nvSpPr>
        <p:spPr>
          <a:xfrm>
            <a:off x="621792" y="1700784"/>
            <a:ext cx="7955280" cy="220370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Handling a sample is like a bomb-disposal team with a suspicious parcel: moved closed into a sealed room and X-rayed before anyone touches it.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Why it fits: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sealed room is the isolated network, the closed transport is the archive on a read-only disc, the X-ray is static analysis.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parcel stays where it is put; a program can copy itself and reach out along any open path. A parcel is not set off by looking; a sample can be run by one wrong click. A bomb room cannot be put back; a VM can.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remove every path: to running, out of the machine, and to staying changed.</a:t>
            </a:r>
            <a:endParaRPr lang="en-US" sz="1300" dirty="0"/>
          </a:p>
        </p:txBody>
      </p:sp>
      <p:sp>
        <p:nvSpPr>
          <p:cNvPr id="10" name="Text 8"/>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1, the comparison box.</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Reading without running: what is this file?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133088" cy="402336"/>
          </a:xfrm>
          <a:prstGeom prst="rect">
            <a:avLst/>
          </a:prstGeom>
          <a:solidFill>
            <a:srgbClr val="6E8472"/>
          </a:solidFill>
          <a:ln/>
        </p:spPr>
      </p:sp>
      <p:sp>
        <p:nvSpPr>
          <p:cNvPr id="7" name="Text 5"/>
          <p:cNvSpPr/>
          <p:nvPr/>
        </p:nvSpPr>
        <p:spPr>
          <a:xfrm>
            <a:off x="521208"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1. Hash values first</a:t>
            </a:r>
            <a:endParaRPr lang="en-US" sz="1500" dirty="0"/>
          </a:p>
        </p:txBody>
      </p:sp>
      <p:sp>
        <p:nvSpPr>
          <p:cNvPr id="8" name="Shape 6"/>
          <p:cNvSpPr/>
          <p:nvPr/>
        </p:nvSpPr>
        <p:spPr>
          <a:xfrm>
            <a:off x="411480" y="1773936"/>
            <a:ext cx="4133088" cy="2331720"/>
          </a:xfrm>
          <a:prstGeom prst="rect">
            <a:avLst/>
          </a:prstGeom>
          <a:solidFill>
            <a:srgbClr val="FFFFFF"/>
          </a:solidFill>
          <a:ln w="9525">
            <a:solidFill>
              <a:srgbClr val="CBD6CE"/>
            </a:solidFill>
            <a:prstDash val="solid"/>
          </a:ln>
        </p:spPr>
      </p:sp>
      <p:sp>
        <p:nvSpPr>
          <p:cNvPr id="9" name="Text 7"/>
          <p:cNvSpPr/>
          <p:nvPr/>
        </p:nvSpPr>
        <p:spPr>
          <a:xfrm>
            <a:off x="539496" y="1828800"/>
            <a:ext cx="3877056" cy="222199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MD5 and SHA-256</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Prove the sample is the one received; name it; give the first indicator</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Same hash value, same file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Whatever its name</a:t>
            </a:r>
            <a:endParaRPr lang="en-US" sz="1300" dirty="0"/>
          </a:p>
        </p:txBody>
      </p:sp>
      <p:sp>
        <p:nvSpPr>
          <p:cNvPr id="10" name="Shape 8"/>
          <p:cNvSpPr/>
          <p:nvPr/>
        </p:nvSpPr>
        <p:spPr>
          <a:xfrm>
            <a:off x="4645152" y="1371600"/>
            <a:ext cx="4133088" cy="402336"/>
          </a:xfrm>
          <a:prstGeom prst="rect">
            <a:avLst/>
          </a:prstGeom>
          <a:solidFill>
            <a:srgbClr val="8A4E8F"/>
          </a:solidFill>
          <a:ln/>
        </p:spPr>
      </p:sp>
      <p:sp>
        <p:nvSpPr>
          <p:cNvPr id="11" name="Text 9"/>
          <p:cNvSpPr/>
          <p:nvPr/>
        </p:nvSpPr>
        <p:spPr>
          <a:xfrm>
            <a:off x="4754880"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2. Type from the bytes</a:t>
            </a:r>
            <a:endParaRPr lang="en-US" sz="1500" dirty="0"/>
          </a:p>
        </p:txBody>
      </p:sp>
      <p:sp>
        <p:nvSpPr>
          <p:cNvPr id="12" name="Shape 10"/>
          <p:cNvSpPr/>
          <p:nvPr/>
        </p:nvSpPr>
        <p:spPr>
          <a:xfrm>
            <a:off x="4645152" y="1773936"/>
            <a:ext cx="4133088" cy="2331720"/>
          </a:xfrm>
          <a:prstGeom prst="rect">
            <a:avLst/>
          </a:prstGeom>
          <a:solidFill>
            <a:srgbClr val="FFFFFF"/>
          </a:solidFill>
          <a:ln w="9525">
            <a:solidFill>
              <a:srgbClr val="CBD6CE"/>
            </a:solidFill>
            <a:prstDash val="solid"/>
          </a:ln>
        </p:spPr>
      </p:sp>
      <p:sp>
        <p:nvSpPr>
          <p:cNvPr id="13" name="Text 11"/>
          <p:cNvSpPr/>
          <p:nvPr/>
        </p:nvSpPr>
        <p:spPr>
          <a:xfrm>
            <a:off x="4773168" y="1828800"/>
            <a:ext cx="3877056" cy="222199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4D 5A = MZ</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file signature of every Windows program (Sessions 3 and 6)</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file, diec</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Read the format, the processor, the builder</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name is a label</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invoice.pdf can be a program</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2. Static analysis is reading a recipe without cooking it.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PE file, as an analyst reads it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53312"/>
            <a:ext cx="8321040" cy="749808"/>
          </a:xfrm>
          <a:prstGeom prst="rect">
            <a:avLst/>
          </a:prstGeom>
          <a:solidFill>
            <a:srgbClr val="FFFFFF"/>
          </a:solidFill>
          <a:ln w="9525">
            <a:solidFill>
              <a:srgbClr val="CBD6CE"/>
            </a:solidFill>
            <a:prstDash val="solid"/>
          </a:ln>
        </p:spPr>
      </p:sp>
      <p:sp>
        <p:nvSpPr>
          <p:cNvPr id="7" name="Text 5"/>
          <p:cNvSpPr/>
          <p:nvPr/>
        </p:nvSpPr>
        <p:spPr>
          <a:xfrm>
            <a:off x="502920" y="1353312"/>
            <a:ext cx="8138160" cy="749808"/>
          </a:xfrm>
          <a:prstGeom prst="rect">
            <a:avLst/>
          </a:prstGeom>
          <a:noFill/>
          <a:ln/>
        </p:spPr>
        <p:txBody>
          <a:bodyPr wrap="square" lIns="0" tIns="0" rIns="0" bIns="0" rtlCol="0" anchor="ctr"/>
          <a:lstStyle/>
          <a:p>
            <a:pPr algn="l" indent="0" marL="0">
              <a:buNone/>
            </a:pPr>
            <a:r>
              <a:rPr lang="en-US" sz="1100" dirty="0">
                <a:solidFill>
                  <a:srgbClr val="31423B"/>
                </a:solidFill>
                <a:latin typeface="Consolas" pitchFamily="34" charset="0"/>
                <a:ea typeface="Consolas" pitchFamily="34" charset="-122"/>
                <a:cs typeface="Consolas" pitchFamily="34" charset="-120"/>
              </a:rPr>
              <a:t>MZ header  -&gt;  e_lfanew  -&gt;  PE header (processor, PE sections, compile timestamp, entry point)</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  -&gt;  PE section table (.text  .rdata  .data  .rsrc)  -&gt;  imports, exports, resources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2212848"/>
          <a:ext cx="8321040" cy="914400"/>
        </p:xfrm>
        <a:graphic>
          <a:graphicData uri="http://schemas.openxmlformats.org/drawingml/2006/table">
            <a:tbl>
              <a:tblPr/>
              <a:tblGrid>
                <a:gridCol w="3657600"/>
                <a:gridCol w="4663440"/>
              </a:tblGrid>
              <a:tr h="36576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Imports like these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Suggest the program can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socket, connect, send, recv</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talk over a network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InternetOpenA, InternetOpenUrlA</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fetch from a web address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CreateServiceA, OpenSCManagerA</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install itself as a Windows service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FindResourceA, LoadResource</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read data stored in its own file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LoadLibraryA, GetProcAddress</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find more functions while it runs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S09-D1: a program file, opened layer by layer.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compile timestamp: a claim to check</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926080"/>
          </a:xfrm>
          <a:prstGeom prst="rect">
            <a:avLst/>
          </a:prstGeom>
          <a:solidFill>
            <a:srgbClr val="DCE6DE"/>
          </a:solidFill>
          <a:ln/>
        </p:spPr>
      </p:sp>
      <p:sp>
        <p:nvSpPr>
          <p:cNvPr id="7" name="Text 5"/>
          <p:cNvSpPr/>
          <p:nvPr/>
        </p:nvSpPr>
        <p:spPr>
          <a:xfrm>
            <a:off x="502920" y="1371600"/>
            <a:ext cx="8138160" cy="292608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Written into the PE header when the program is built, as seconds since 1970 in UTC</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Anyone who holds the file can change it: timestomping inside the file (Session 4)</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Report it exactly as recorded, then judge it</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Possible? Zero shows as 1970; a future date is impossible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Outside dates: an archive, a log, a collection must come later</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Inside dates: a program in a resource has its own PE header</a:t>
            </a:r>
            <a:endParaRPr lang="en-US" sz="1400" dirty="0"/>
          </a:p>
        </p:txBody>
      </p:sp>
      <p:sp>
        <p:nvSpPr>
          <p:cNvPr id="8"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3, the compile timestamp. The checkpoint asks for exactly this judgement.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strings, and what FLOSS finds that strings misses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377440"/>
                <a:gridCol w="5943600"/>
              </a:tblGrid>
              <a:tr h="402336">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FLOSS part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finds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02336">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Static strings</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The same readable runs that strings prints</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Stack strings</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Texts built one character at a time while the program runs</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02336">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Tight strings</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Stack strings decoded in a small loop</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Decoded strings</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Texts that a decoding function produces from encoded data</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520440"/>
            <a:ext cx="8321040" cy="804672"/>
          </a:xfrm>
          <a:prstGeom prst="rect">
            <a:avLst/>
          </a:prstGeom>
          <a:solidFill>
            <a:srgbClr val="F1E8F2"/>
          </a:solidFill>
          <a:ln/>
        </p:spPr>
      </p:sp>
      <p:sp>
        <p:nvSpPr>
          <p:cNvPr id="8" name="Text 5"/>
          <p:cNvSpPr/>
          <p:nvPr/>
        </p:nvSpPr>
        <p:spPr>
          <a:xfrm>
            <a:off x="521208" y="3520440"/>
            <a:ext cx="8101584" cy="804672"/>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FLOSS imitates a few small functions in a closed copy. It never starts the program. A hidden text is a finding twice: for what it says, and because it was hidden.</a:t>
            </a:r>
            <a:endParaRPr lang="en-US" sz="13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S09-D2: what strings sees, what FLOSS sees.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Packing: a program that hides its own contents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737360"/>
                <a:gridCol w="6583680"/>
              </a:tblGrid>
              <a:tr h="329184">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Sign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to look for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Entropy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One PE section close to 8; read each PE section, not only the whole file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Sizes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PE section empty in the file but large in memory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Imports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handful, with LoadLibraryA and GetProcAddress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Names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UPX0, UPX1, or names that are not words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Strings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Few readable texts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730752"/>
            <a:ext cx="8321040" cy="640080"/>
          </a:xfrm>
          <a:prstGeom prst="rect">
            <a:avLst/>
          </a:prstGeom>
          <a:solidFill>
            <a:srgbClr val="F1E8F2"/>
          </a:solidFill>
          <a:ln/>
        </p:spPr>
      </p:sp>
      <p:sp>
        <p:nvSpPr>
          <p:cNvPr id="8" name="Text 5"/>
          <p:cNvSpPr/>
          <p:nvPr/>
        </p:nvSpPr>
        <p:spPr>
          <a:xfrm>
            <a:off x="521208" y="3730752"/>
            <a:ext cx="8101584" cy="64008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UPX: upx -d on a copy restores the program without running it. Most other packers: say "not visible statically" and hand over to Session 10.</a:t>
            </a:r>
            <a:endParaRPr lang="en-US" sz="13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S09-D3: packing, and unpacking. Page section 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Capabilities: what the code can do</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53312"/>
            <a:ext cx="8321040" cy="1051560"/>
          </a:xfrm>
          <a:prstGeom prst="rect">
            <a:avLst/>
          </a:prstGeom>
          <a:solidFill>
            <a:srgbClr val="FFFFFF"/>
          </a:solidFill>
          <a:ln w="9525">
            <a:solidFill>
              <a:srgbClr val="CBD6CE"/>
            </a:solidFill>
            <a:prstDash val="solid"/>
          </a:ln>
        </p:spPr>
      </p:sp>
      <p:sp>
        <p:nvSpPr>
          <p:cNvPr id="7" name="Text 5"/>
          <p:cNvSpPr/>
          <p:nvPr/>
        </p:nvSpPr>
        <p:spPr>
          <a:xfrm>
            <a:off x="502920" y="1353312"/>
            <a:ext cx="8138160" cy="1051560"/>
          </a:xfrm>
          <a:prstGeom prst="rect">
            <a:avLst/>
          </a:prstGeom>
          <a:noFill/>
          <a:ln/>
        </p:spPr>
        <p:txBody>
          <a:bodyPr wrap="square" lIns="0" tIns="0" rIns="0" bIns="0" rtlCol="0" anchor="ctr"/>
          <a:lstStyle/>
          <a:p>
            <a:pPr algn="l" indent="0" marL="0">
              <a:buNone/>
            </a:pPr>
            <a:r>
              <a:rPr lang="en-US" sz="1100" dirty="0">
                <a:solidFill>
                  <a:srgbClr val="31423B"/>
                </a:solidFill>
                <a:latin typeface="Consolas" pitchFamily="34" charset="0"/>
                <a:ea typeface="Consolas" pitchFamily="34" charset="-122"/>
                <a:cs typeface="Consolas" pitchFamily="34" charset="-120"/>
              </a:rPr>
              <a:t>ATT&amp;CK: Persistence::Create or Modify System Process::Windows Service [T1543.003]</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create service                 host-interaction/service/create</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persist via Windows service    persistence/service</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connect to URL                 communication/http/client</a:t>
            </a:r>
            <a:endParaRPr lang="en-US" sz="1100" dirty="0"/>
          </a:p>
        </p:txBody>
      </p:sp>
      <p:sp>
        <p:nvSpPr>
          <p:cNvPr id="8" name="Shape 6"/>
          <p:cNvSpPr/>
          <p:nvPr/>
        </p:nvSpPr>
        <p:spPr>
          <a:xfrm>
            <a:off x="411480" y="2514600"/>
            <a:ext cx="4133088" cy="402336"/>
          </a:xfrm>
          <a:prstGeom prst="rect">
            <a:avLst/>
          </a:prstGeom>
          <a:solidFill>
            <a:srgbClr val="6E8472"/>
          </a:solidFill>
          <a:ln/>
        </p:spPr>
      </p:sp>
      <p:sp>
        <p:nvSpPr>
          <p:cNvPr id="9" name="Text 7"/>
          <p:cNvSpPr/>
          <p:nvPr/>
        </p:nvSpPr>
        <p:spPr>
          <a:xfrm>
            <a:off x="521208" y="2514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 capability is</a:t>
            </a:r>
            <a:endParaRPr lang="en-US" sz="1500" dirty="0"/>
          </a:p>
        </p:txBody>
      </p:sp>
      <p:sp>
        <p:nvSpPr>
          <p:cNvPr id="10" name="Shape 8"/>
          <p:cNvSpPr/>
          <p:nvPr/>
        </p:nvSpPr>
        <p:spPr>
          <a:xfrm>
            <a:off x="411480" y="2916936"/>
            <a:ext cx="4133088" cy="1783080"/>
          </a:xfrm>
          <a:prstGeom prst="rect">
            <a:avLst/>
          </a:prstGeom>
          <a:solidFill>
            <a:srgbClr val="FFFFFF"/>
          </a:solidFill>
          <a:ln w="9525">
            <a:solidFill>
              <a:srgbClr val="CBD6CE"/>
            </a:solidFill>
            <a:prstDash val="solid"/>
          </a:ln>
        </p:spPr>
      </p:sp>
      <p:sp>
        <p:nvSpPr>
          <p:cNvPr id="11" name="Text 9"/>
          <p:cNvSpPr/>
          <p:nvPr/>
        </p:nvSpPr>
        <p:spPr>
          <a:xfrm>
            <a:off x="539496" y="2971800"/>
            <a:ext cx="3877056" cy="167335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What the code can do</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capa rule's whole pattern was found in one function</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Named three ways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Plain words, a namespace, ATT&amp;CK and MBC numbers</a:t>
            </a:r>
            <a:endParaRPr lang="en-US" sz="1300" dirty="0"/>
          </a:p>
        </p:txBody>
      </p:sp>
      <p:sp>
        <p:nvSpPr>
          <p:cNvPr id="12" name="Shape 10"/>
          <p:cNvSpPr/>
          <p:nvPr/>
        </p:nvSpPr>
        <p:spPr>
          <a:xfrm>
            <a:off x="4645152" y="2514600"/>
            <a:ext cx="4133088" cy="402336"/>
          </a:xfrm>
          <a:prstGeom prst="rect">
            <a:avLst/>
          </a:prstGeom>
          <a:solidFill>
            <a:srgbClr val="8A4E8F"/>
          </a:solidFill>
          <a:ln/>
        </p:spPr>
      </p:sp>
      <p:sp>
        <p:nvSpPr>
          <p:cNvPr id="13" name="Text 11"/>
          <p:cNvSpPr/>
          <p:nvPr/>
        </p:nvSpPr>
        <p:spPr>
          <a:xfrm>
            <a:off x="4754880" y="2514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 capability is not</a:t>
            </a:r>
            <a:endParaRPr lang="en-US" sz="1500" dirty="0"/>
          </a:p>
        </p:txBody>
      </p:sp>
      <p:sp>
        <p:nvSpPr>
          <p:cNvPr id="14" name="Shape 12"/>
          <p:cNvSpPr/>
          <p:nvPr/>
        </p:nvSpPr>
        <p:spPr>
          <a:xfrm>
            <a:off x="4645152" y="2916936"/>
            <a:ext cx="4133088" cy="1783080"/>
          </a:xfrm>
          <a:prstGeom prst="rect">
            <a:avLst/>
          </a:prstGeom>
          <a:solidFill>
            <a:srgbClr val="FFFFFF"/>
          </a:solidFill>
          <a:ln w="9525">
            <a:solidFill>
              <a:srgbClr val="CBD6CE"/>
            </a:solidFill>
            <a:prstDash val="solid"/>
          </a:ln>
        </p:spPr>
      </p:sp>
      <p:sp>
        <p:nvSpPr>
          <p:cNvPr id="15" name="Text 13"/>
          <p:cNvSpPr/>
          <p:nvPr/>
        </p:nvSpPr>
        <p:spPr>
          <a:xfrm>
            <a:off x="4773168" y="2971800"/>
            <a:ext cx="3877056" cy="167335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An action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Nothing ran; the code may never be reached</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Proof of intent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Honest programs create services too</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Complete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Packing hides code; 'no capabilities found' is not innocence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Through another lens: theory of mind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468880"/>
          </a:xfrm>
          <a:prstGeom prst="rect">
            <a:avLst/>
          </a:prstGeom>
          <a:solidFill>
            <a:srgbClr val="F1E8F2"/>
          </a:solidFill>
          <a:ln/>
        </p:spPr>
      </p:sp>
      <p:sp>
        <p:nvSpPr>
          <p:cNvPr id="7" name="Shape 5"/>
          <p:cNvSpPr/>
          <p:nvPr/>
        </p:nvSpPr>
        <p:spPr>
          <a:xfrm>
            <a:off x="411480" y="1371600"/>
            <a:ext cx="82296" cy="2468880"/>
          </a:xfrm>
          <a:prstGeom prst="rect">
            <a:avLst/>
          </a:prstGeom>
          <a:solidFill>
            <a:srgbClr val="8A4E8F"/>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700784"/>
            <a:ext cx="7955280" cy="206654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Psychologists call our ability to think about what another person wants, believes or plans theory of mind. A classic test asks a child where a doll will look for a marble that was moved while the doll was away. Adults use the same ability from little evidence: a stranger at a locked gate at night with rope, gloves and a crowbar. Static analysis is theory of mind for a program: from what the code carries, we infer what its author wanted.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carrying is not doing; things can be carried to mislead, as decoys; and a closed bag shows nothing, as packing does.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inference is a hypothesis about a mind you have never met.</a:t>
            </a:r>
            <a:endParaRPr lang="en-US" sz="1300" dirty="0"/>
          </a:p>
        </p:txBody>
      </p:sp>
      <p:sp>
        <p:nvSpPr>
          <p:cNvPr id="10" name="Shape 8"/>
          <p:cNvSpPr/>
          <p:nvPr/>
        </p:nvSpPr>
        <p:spPr>
          <a:xfrm>
            <a:off x="411480" y="3931920"/>
            <a:ext cx="8321040" cy="731520"/>
          </a:xfrm>
          <a:prstGeom prst="rect">
            <a:avLst/>
          </a:prstGeom>
          <a:solidFill>
            <a:srgbClr val="F1E8F2"/>
          </a:solidFill>
          <a:ln/>
        </p:spPr>
      </p:sp>
      <p:sp>
        <p:nvSpPr>
          <p:cNvPr id="11" name="Text 9"/>
          <p:cNvSpPr/>
          <p:nvPr/>
        </p:nvSpPr>
        <p:spPr>
          <a:xfrm>
            <a:off x="521208" y="3931920"/>
            <a:ext cx="8101584" cy="73152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On your triage sheet: which parts did you read in the file, and which did you infer?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554480"/>
            <a:ext cx="7680960" cy="182880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Malware is intent encoded. Analysis reverse-reads its author's goals.</a:t>
            </a:r>
            <a:endParaRPr lang="en-US" sz="3200" dirty="0"/>
          </a:p>
        </p:txBody>
      </p:sp>
      <p:sp>
        <p:nvSpPr>
          <p:cNvPr id="6" name="Text 4"/>
          <p:cNvSpPr/>
          <p:nvPr/>
        </p:nvSpPr>
        <p:spPr>
          <a:xfrm>
            <a:off x="731520" y="3611880"/>
            <a:ext cx="7680960" cy="914400"/>
          </a:xfrm>
          <a:prstGeom prst="rect">
            <a:avLst/>
          </a:prstGeom>
          <a:noFill/>
          <a:ln/>
        </p:spPr>
        <p:txBody>
          <a:bodyPr wrap="square" lIns="0" tIns="0" rIns="0" bIns="0" rtlCol="0" anchor="t"/>
          <a:lstStyle/>
          <a:p>
            <a:pPr indent="0" marL="0">
              <a:buNone/>
            </a:pPr>
            <a:r>
              <a:rPr lang="en-US" sz="1800" i="1" dirty="0">
                <a:solidFill>
                  <a:srgbClr val="E8F0EA"/>
                </a:solidFill>
                <a:latin typeface="Open Sans" pitchFamily="34" charset="0"/>
                <a:ea typeface="Open Sans" pitchFamily="34" charset="-122"/>
                <a:cs typeface="Open Sans" pitchFamily="34" charset="-120"/>
              </a:rPr>
              <a:t>Static reading gives hypotheses that behaviour must test.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YARA rules: find the sample again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53312"/>
            <a:ext cx="4892040" cy="2514600"/>
          </a:xfrm>
          <a:prstGeom prst="rect">
            <a:avLst/>
          </a:prstGeom>
          <a:solidFill>
            <a:srgbClr val="FFFFFF"/>
          </a:solidFill>
          <a:ln w="9525">
            <a:solidFill>
              <a:srgbClr val="CBD6CE"/>
            </a:solidFill>
            <a:prstDash val="solid"/>
          </a:ln>
        </p:spPr>
      </p:sp>
      <p:sp>
        <p:nvSpPr>
          <p:cNvPr id="7" name="Text 5"/>
          <p:cNvSpPr/>
          <p:nvPr/>
        </p:nvSpPr>
        <p:spPr>
          <a:xfrm>
            <a:off x="502920" y="1353312"/>
            <a:ext cx="4709160" cy="2514600"/>
          </a:xfrm>
          <a:prstGeom prst="rect">
            <a:avLst/>
          </a:prstGeom>
          <a:noFill/>
          <a:ln/>
        </p:spPr>
        <p:txBody>
          <a:bodyPr wrap="square" lIns="0" tIns="0" rIns="0" bIns="0" rtlCol="0" anchor="ctr"/>
          <a:lstStyle/>
          <a:p>
            <a:pPr algn="l" indent="0" marL="0">
              <a:buNone/>
            </a:pPr>
            <a:r>
              <a:rPr lang="en-US" sz="1000" dirty="0">
                <a:solidFill>
                  <a:srgbClr val="31423B"/>
                </a:solidFill>
                <a:latin typeface="Consolas" pitchFamily="34" charset="0"/>
                <a:ea typeface="Consolas" pitchFamily="34" charset="-122"/>
                <a:cs typeface="Consolas" pitchFamily="34" charset="-120"/>
              </a:rPr>
              <a:t>rule unit_training_sample_x</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    strings:</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        $name = "unit-helper.exe" ascii</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        $site = "files.example.net" ascii wide nocase</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        $path = "\\Temp\\unit-cache\\" ascii</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    condition:</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        uint16(0) == 0x5A4D and filesize &lt; 200KB and 2 of ($name, $site, $path)</a:t>
            </a:r>
            <a:endParaRPr lang="en-US" sz="1000" dirty="0"/>
          </a:p>
          <a:p>
            <a:pPr algn="l" indent="0" marL="0">
              <a:buNone/>
            </a:pPr>
            <a:r>
              <a:rPr lang="en-US" sz="1000" dirty="0">
                <a:solidFill>
                  <a:srgbClr val="31423B"/>
                </a:solidFill>
                <a:latin typeface="Consolas" pitchFamily="34" charset="0"/>
                <a:ea typeface="Consolas" pitchFamily="34" charset="-122"/>
                <a:cs typeface="Consolas" pitchFamily="34" charset="-120"/>
              </a:rPr>
              <a:t>}</a:t>
            </a:r>
            <a:endParaRPr lang="en-US" sz="1000" dirty="0"/>
          </a:p>
        </p:txBody>
      </p:sp>
      <p:sp>
        <p:nvSpPr>
          <p:cNvPr id="8" name="Shape 6"/>
          <p:cNvSpPr/>
          <p:nvPr/>
        </p:nvSpPr>
        <p:spPr>
          <a:xfrm>
            <a:off x="5440680" y="1353312"/>
            <a:ext cx="3291840" cy="2514600"/>
          </a:xfrm>
          <a:prstGeom prst="rect">
            <a:avLst/>
          </a:prstGeom>
          <a:solidFill>
            <a:srgbClr val="DCE6DE"/>
          </a:solidFill>
          <a:ln/>
        </p:spPr>
      </p:sp>
      <p:sp>
        <p:nvSpPr>
          <p:cNvPr id="9" name="Text 7"/>
          <p:cNvSpPr/>
          <p:nvPr/>
        </p:nvSpPr>
        <p:spPr>
          <a:xfrm>
            <a:off x="5532120" y="1353312"/>
            <a:ext cx="3108960" cy="251460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Specific strings, not common imports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Add structure: MZ check, size limit</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Test over every file: match the sample, nothing else</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A YARA rule only reads and reports</a:t>
            </a:r>
            <a:endParaRPr lang="en-US" sz="1300" dirty="0"/>
          </a:p>
        </p:txBody>
      </p:sp>
      <p:sp>
        <p:nvSpPr>
          <p:cNvPr id="10" name="Text 8"/>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S09-D5: one YARA rule, a small set of files. Page section 7 compares YARA rules with Session 8's IDS rules.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verdict, and the static indicators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737360"/>
                <a:gridCol w="6583680"/>
              </a:tblGrid>
              <a:tr h="329184">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Verdict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Malicious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Harmful capabilities or content with no honest explanation together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Suspicious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Signs that need more evidence; nothing harmful visible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Not shown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Static reading showed nothing harmful. Never "clean"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017520"/>
            <a:ext cx="8321040" cy="1463040"/>
          </a:xfrm>
          <a:prstGeom prst="rect">
            <a:avLst/>
          </a:prstGeom>
          <a:solidFill>
            <a:srgbClr val="DCE6DE"/>
          </a:solidFill>
          <a:ln/>
        </p:spPr>
      </p:sp>
      <p:sp>
        <p:nvSpPr>
          <p:cNvPr id="8" name="Text 5"/>
          <p:cNvSpPr/>
          <p:nvPr/>
        </p:nvSpPr>
        <p:spPr>
          <a:xfrm>
            <a:off x="502920" y="3017520"/>
            <a:ext cx="8138160" cy="146304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Confidence: high, medium or low, with the reason</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Then the evidence, numbered; then what static analysis could not establish</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Static IOCs: hash values, file names and paths, services, mutexes, registry keys, domains, the YARA rule. Mark each source; write safely: hxxp, [.]</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6949440" cy="566928"/>
          </a:xfrm>
          <a:prstGeom prst="rect">
            <a:avLst/>
          </a:prstGeom>
          <a:noFill/>
          <a:ln/>
        </p:spPr>
        <p:txBody>
          <a:bodyPr wrap="square" lIns="0" tIns="0" rIns="0" bIns="0" rtlCol="0" anchor="t"/>
          <a:lstStyle/>
          <a:p>
            <a:pPr indent="0" marL="0">
              <a:buNone/>
            </a:pPr>
            <a:r>
              <a:rPr lang="en-US" sz="2600" b="1" dirty="0">
                <a:solidFill>
                  <a:srgbClr val="FFFFFF"/>
                </a:solidFill>
                <a:latin typeface="Open Sans" pitchFamily="34" charset="0"/>
                <a:ea typeface="Open Sans" pitchFamily="34" charset="-122"/>
                <a:cs typeface="Open Sans" pitchFamily="34" charset="-120"/>
              </a:rPr>
              <a:t>The lab: seven samples, none run</a:t>
            </a:r>
            <a:endParaRPr lang="en-US" sz="2600" dirty="0"/>
          </a:p>
        </p:txBody>
      </p:sp>
      <p:pic>
        <p:nvPicPr>
          <p:cNvPr id="5" name="Image 0" descr="preencoded.png">    </p:cNvPr>
          <p:cNvPicPr>
            <a:picLocks noChangeAspect="1"/>
          </p:cNvPicPr>
          <p:nvPr/>
        </p:nvPicPr>
        <p:blipFill>
          <a:blip r:embed="rId1"/>
          <a:stretch>
            <a:fillRect/>
          </a:stretch>
        </p:blipFill>
        <p:spPr>
          <a:xfrm>
            <a:off x="8001000" y="566928"/>
            <a:ext cx="731520" cy="731520"/>
          </a:xfrm>
          <a:prstGeom prst="rect">
            <a:avLst/>
          </a:prstGeom>
        </p:spPr>
      </p:pic>
      <p:sp>
        <p:nvSpPr>
          <p:cNvPr id="6" name="Shape 3"/>
          <p:cNvSpPr/>
          <p:nvPr/>
        </p:nvSpPr>
        <p:spPr>
          <a:xfrm>
            <a:off x="411480" y="1463040"/>
            <a:ext cx="3749040" cy="3246120"/>
          </a:xfrm>
          <a:prstGeom prst="rect">
            <a:avLst/>
          </a:prstGeom>
          <a:solidFill>
            <a:srgbClr val="31423B"/>
          </a:solidFill>
          <a:ln/>
        </p:spPr>
      </p:sp>
      <p:sp>
        <p:nvSpPr>
          <p:cNvPr id="7" name="Text 4"/>
          <p:cNvSpPr/>
          <p:nvPr/>
        </p:nvSpPr>
        <p:spPr>
          <a:xfrm>
            <a:off x="548640" y="1463040"/>
            <a:ext cx="3474720" cy="3246120"/>
          </a:xfrm>
          <a:prstGeom prst="rect">
            <a:avLst/>
          </a:prstGeom>
          <a:noFill/>
          <a:ln/>
        </p:spPr>
        <p:txBody>
          <a:bodyPr wrap="square" lIns="0" tIns="0" rIns="0" bIns="0" rtlCol="0" anchor="ctr"/>
          <a:lstStyle/>
          <a:p>
            <a:pPr indent="0" marL="0">
              <a:spcAft>
                <a:spcPts val="700"/>
              </a:spcAft>
              <a:buNone/>
            </a:pPr>
            <a:r>
              <a:rPr lang="en-US" sz="1800" b="1" dirty="0">
                <a:solidFill>
                  <a:srgbClr val="FFFFFF"/>
                </a:solidFill>
                <a:latin typeface="Open Sans" pitchFamily="34" charset="0"/>
                <a:ea typeface="Open Sans" pitchFamily="34" charset="-122"/>
                <a:cs typeface="Open Sans" pitchFamily="34" charset="-120"/>
              </a:rPr>
              <a:t>Live code: the rules</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REMnux only, terminal only</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Isolation PASS, then s09-clean</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Never double-click, never wine</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Nothing comes out; never upload</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No protection switched off</a:t>
            </a:r>
            <a:endParaRPr lang="en-US" sz="1500" dirty="0"/>
          </a:p>
        </p:txBody>
      </p:sp>
      <p:sp>
        <p:nvSpPr>
          <p:cNvPr id="8" name="Shape 5"/>
          <p:cNvSpPr/>
          <p:nvPr/>
        </p:nvSpPr>
        <p:spPr>
          <a:xfrm>
            <a:off x="4297680" y="1463040"/>
            <a:ext cx="4434840" cy="3246120"/>
          </a:xfrm>
          <a:prstGeom prst="rect">
            <a:avLst/>
          </a:prstGeom>
          <a:solidFill>
            <a:srgbClr val="31423B"/>
          </a:solidFill>
          <a:ln/>
        </p:spPr>
      </p:sp>
      <p:sp>
        <p:nvSpPr>
          <p:cNvPr id="9" name="Text 6"/>
          <p:cNvSpPr/>
          <p:nvPr/>
        </p:nvSpPr>
        <p:spPr>
          <a:xfrm>
            <a:off x="4434840" y="1463040"/>
            <a:ext cx="4160520" cy="3246120"/>
          </a:xfrm>
          <a:prstGeom prst="rect">
            <a:avLst/>
          </a:prstGeom>
          <a:noFill/>
          <a:ln/>
        </p:spPr>
        <p:txBody>
          <a:bodyPr wrap="square" lIns="0" tIns="0" rIns="0" bIns="0" rtlCol="0" anchor="ctr"/>
          <a:lstStyle/>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A-B  Isolate, snapshot, receive, hash</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C-D  Identify all; read the pair</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E-F  strings and FLOSS; packing</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G  capa</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H-I  Checkpoint sample; one YARA rule</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J  Verdicts, sheet, revert</a:t>
            </a:r>
            <a:endParaRPr lang="en-US" sz="1500" dirty="0"/>
          </a:p>
          <a:p>
            <a:pPr indent="0" marL="0">
              <a:spcAft>
                <a:spcPts val="600"/>
              </a:spcAft>
              <a:buNone/>
            </a:pPr>
            <a:r>
              <a:rPr lang="en-US" sz="1500" b="1" dirty="0">
                <a:solidFill>
                  <a:srgbClr val="FFFFFF"/>
                </a:solidFill>
                <a:latin typeface="Open Sans" pitchFamily="34" charset="0"/>
                <a:ea typeface="Open Sans" pitchFamily="34" charset="-122"/>
                <a:cs typeface="Open Sans" pitchFamily="34" charset="-120"/>
              </a:rPr>
              <a:t>Hand in: triage sheet and custody record</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097280" y="1737360"/>
            <a:ext cx="6949440" cy="2468880"/>
          </a:xfrm>
          <a:prstGeom prst="rect">
            <a:avLst/>
          </a:prstGeom>
          <a:solidFill>
            <a:srgbClr val="FFFFFF"/>
          </a:solidFill>
          <a:ln/>
        </p:spPr>
      </p:sp>
      <p:sp>
        <p:nvSpPr>
          <p:cNvPr id="6" name="Text 4"/>
          <p:cNvSpPr/>
          <p:nvPr/>
        </p:nvSpPr>
        <p:spPr>
          <a:xfrm>
            <a:off x="1280160" y="1737360"/>
            <a:ext cx="6583680" cy="246888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A manager reads your triage sheet: "capa says it can create a service and contact a server. So it did. Write that in the report." What do you write instead, and what would change your answer?</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94960" cy="1691640"/>
          </a:xfrm>
          <a:prstGeom prst="rect">
            <a:avLst/>
          </a:prstGeom>
          <a:noFill/>
          <a:ln/>
        </p:spPr>
        <p:txBody>
          <a:bodyPr wrap="square" lIns="0" tIns="0" rIns="0" bIns="0" rtlCol="0" anchor="t"/>
          <a:lstStyle/>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Handle first: isolation, snapshot, closed archive</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Hash values first; type from the bytes, never the name</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A compile timestamp and a capability are claims</a:t>
            </a:r>
            <a:endParaRPr lang="en-US" sz="1300" dirty="0"/>
          </a:p>
          <a:p>
            <a:pPr marL="342900" indent="-342900">
              <a:spcAft>
                <a:spcPts val="800"/>
              </a:spcAft>
              <a:buSzPct val="100000"/>
              <a:buChar char="•"/>
            </a:pPr>
            <a:r>
              <a:rPr lang="en-US" sz="1300" b="1" dirty="0">
                <a:solidFill>
                  <a:srgbClr val="31423B"/>
                </a:solidFill>
                <a:latin typeface="Open Sans" pitchFamily="34" charset="0"/>
                <a:ea typeface="Open Sans" pitchFamily="34" charset="-122"/>
                <a:cs typeface="Open Sans" pitchFamily="34" charset="-120"/>
              </a:rPr>
              <a:t>A verdict carries its evidence and a confidence</a:t>
            </a:r>
            <a:endParaRPr lang="en-US" sz="1300" dirty="0"/>
          </a:p>
          <a:p>
            <a:pPr indent="0" marL="0">
              <a:spcAft>
                <a:spcPts val="300"/>
              </a:spcAft>
              <a:buNone/>
            </a:pPr>
            <a:r>
              <a:rPr lang="en-US" sz="1300" i="1" dirty="0">
                <a:solidFill>
                  <a:srgbClr val="5C6B63"/>
                </a:solidFill>
                <a:latin typeface="Open Sans" pitchFamily="34" charset="0"/>
                <a:ea typeface="Open Sans" pitchFamily="34" charset="-122"/>
                <a:cs typeface="Open Sans" pitchFamily="34" charset="-120"/>
              </a:rPr>
              <a:t>Next: Session 10 runs one teaching sample under watch, on the isolated network, and tests today's hypotheses. It closes Day 5 with the quiz.</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S09 - Malware Triage: Static Analysis</dc:title>
  <dc:subject>PptxGenJS Presentation</dc:subject>
  <dc:creator>Niranga Dharmaratna</dc:creator>
  <cp:lastModifiedBy>Niranga Dharmaratna</cp:lastModifiedBy>
  <cp:revision>1</cp:revision>
  <dcterms:created xsi:type="dcterms:W3CDTF">2026-10-13T12:47:07Z</dcterms:created>
  <dcterms:modified xsi:type="dcterms:W3CDTF">2026-10-13T12:47:07Z</dcterms:modified>
</cp:coreProperties>
</file>