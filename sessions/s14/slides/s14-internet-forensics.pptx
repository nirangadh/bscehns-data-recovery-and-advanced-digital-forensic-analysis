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14 closes Day 7. Today is Part 1 only: the insider case's email and web traces, on the prepared Autopsy case of Session 2. Part 2, the parallel engagement on a second client's web server, is on hold (O23): the page says so in section 10 and nothing is taught about it today. The portal page is the content master; every slide points to a section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LO4 and LO5. Attribution language, header reading and the mail store feed the phase test; the limitation and finding wording feeds the coursework report. The end-of-day quiz recycles Days 1 to 5, one question from each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then the sections in order. Say once, plainly, that the case is a NIST training dataset woven into the unit's story: names and times are the dataset's own. Section 10 of the page is the placeholder for the parallel engagement; do not improvise content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The middle row is the one students forget: provider records are often the best evidence and the hardest to get. Jurisdiction from Session 11. Peer-to-peer and chat are placed on the map only; mobile messaging waits for Sessions 15 and 16. Quick check: the personal Gmail account's sign-in addresses are with Google, by legal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One term, one meaning: the three headers. The envelope (MAIL FROM, RCPT TO) is the delivery addresses the reader never sees; Bcc lives only there. The quick check: no Received lines in Sent Items is normal, not tampering.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Run demo S14-D1 from the front. Each line: from (the sender's claimed name and the address the server saw), by (the server writing it), and its clock with offset. Normalise each hop before comparing: Session 5's lesson. The Date line against the first hop tests the sender's computer clock, the check Session 5 promised. Message-ID is a join key between mailboxes; Return-Path and Authentication-Results come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four-part comparison. Spend the time on where it breaks: trust runs from the top down. Ask: which line in the example would you trust least, and why? The bottom one, written by the first server, whose claims about the laptop rest on that server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with demo S14-D2. The bank-slip comparison is on the page: the customer writes the slip, the teller stamps it; it breaks because anyone can run a mail server and stamp their own mail, and checks are only as strong as the domain's published records. Webmail: the user's address is often only in the provider's sign-in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Session 2's lesson inside one file: the library inside one file is the comparison, and it breaks because OST blocks are encoded and compressed, compaction destroys free space at once, and the OST is a copy of a server mailbox. Key fact for the lab: readpst's default skips Deleted Items. Seven messages were deleted on the last day; two survive only as quoted text or in the Windows search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6. The Drive log states its own offset on every line, -0400: normalisation without guessing. Query Chrome's database today; recovering deleted rows is Session 16. The key still lists the IE searches of 25 March made half an hour before CCleaner ran: whatever it was set to remove, it did not remove those records beyond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Session 13's two-record idea on the open web, with a weaker join: no shared request ID, so path and time, across two clocks. Access log is not Session 11's server access log, which was S3's own. The appointment-card comparison breaks on the cache and on the proxy address. No compromise content: that engagement is on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8. The case: It's me is tied to the account, to this computer (the Drive upload six minutes earlier and deletion three and a half minutes after), to the client's documents (renames in the change journal) and to the profile informant. The step to a person needs evidence outside the image. The link codes match the file names only through a deleted database: Session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lens, inside page section 8. Name and paraphrase only; give the one-line gist. About three minutes. Land the two breaks: feeling unseen is not being unrecorded, and behaviour is not identity. Then the pivotal idea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idea. Let the room read it. Bridge to the lab: Part E's attribution note is this sentence applied to one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9. Every row has an innocent reading on its own: a security officer searches for data leakage too. The sequence carries the meaning. Model the wording: what the records show, the alternative tested, the limit. Misconception: one strong record proves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11, about an hour and forty minutes. Timing: A 10, B 30, C 25, D 20, E 15. Students install pst-utils and pff-tools on Kali at step 7, so Kali needs NAT. Walk the room at step 8 (the counts differ by Deleted Items) and step 14 (the Drive log's -0400).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five minutes. Draw out sequence and context: the searches sit between a contact's message and a renamed client document sent out. Then the limit: the computer reaches the profile, not the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then the day-closing quiz: five short answers on the page, one from each of Days 1 to 5, self-marked on points. Collect the two checkpoint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 disclaimer, unchanged. Case names and times are the CFReDS dataset's own, shown as recorded; every other name and address is invented under reserved example domains and documentation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384048" y="292608"/>
            <a:ext cx="5486400" cy="548640"/>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BSc (Hons) Ethical Hacking &amp; Network Security</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Coventry University (CU) - NIBM</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ctr"/>
          <a:lstStyle/>
          <a:p>
            <a:pPr indent="0" marL="0">
              <a:buNone/>
            </a:pPr>
            <a:r>
              <a:rPr lang="en-US" sz="1300" b="1" dirty="0">
                <a:solidFill>
                  <a:srgbClr val="4F6356"/>
                </a:solidFill>
                <a:latin typeface="Open Sans" pitchFamily="34" charset="0"/>
                <a:ea typeface="Open Sans" pitchFamily="34" charset="-122"/>
                <a:cs typeface="Open Sans" pitchFamily="34" charset="-120"/>
              </a:rPr>
              <a:t>NB6018CEM  |  Level 6  |  20 Credits</a:t>
            </a:r>
            <a:endParaRPr lang="en-US" sz="1300" dirty="0"/>
          </a:p>
        </p:txBody>
      </p:sp>
      <p:sp>
        <p:nvSpPr>
          <p:cNvPr id="4" name="Text 2"/>
          <p:cNvSpPr/>
          <p:nvPr/>
        </p:nvSpPr>
        <p:spPr>
          <a:xfrm>
            <a:off x="384048" y="1188720"/>
            <a:ext cx="5486400" cy="1920240"/>
          </a:xfrm>
          <a:prstGeom prst="rect">
            <a:avLst/>
          </a:prstGeom>
          <a:noFill/>
          <a:ln/>
        </p:spPr>
        <p:txBody>
          <a:bodyPr wrap="square" lIns="0" tIns="0" rIns="0" bIns="0" rtlCol="0" anchor="ctr"/>
          <a:lstStyle/>
          <a:p>
            <a:pPr indent="0" marL="0">
              <a:buNone/>
            </a:pPr>
            <a:r>
              <a:rPr lang="en-US" sz="3200" b="1" dirty="0">
                <a:solidFill>
                  <a:srgbClr val="31423B"/>
                </a:solidFill>
                <a:latin typeface="Open Sans" pitchFamily="34" charset="0"/>
                <a:ea typeface="Open Sans" pitchFamily="34" charset="-122"/>
                <a:cs typeface="Open Sans" pitchFamily="34" charset="-120"/>
              </a:rPr>
              <a:t>Internet-based forensics: the suspect's email and web traces</a:t>
            </a:r>
            <a:endParaRPr lang="en-US" sz="3200" dirty="0"/>
          </a:p>
        </p:txBody>
      </p:sp>
      <p:sp>
        <p:nvSpPr>
          <p:cNvPr id="5" name="Shape 3"/>
          <p:cNvSpPr/>
          <p:nvPr/>
        </p:nvSpPr>
        <p:spPr>
          <a:xfrm>
            <a:off x="384048" y="3145536"/>
            <a:ext cx="749808" cy="82296"/>
          </a:xfrm>
          <a:prstGeom prst="rect">
            <a:avLst/>
          </a:prstGeom>
          <a:solidFill>
            <a:srgbClr val="6E8472"/>
          </a:solidFill>
          <a:ln/>
        </p:spPr>
      </p:sp>
      <p:sp>
        <p:nvSpPr>
          <p:cNvPr id="6" name="Shape 4"/>
          <p:cNvSpPr/>
          <p:nvPr/>
        </p:nvSpPr>
        <p:spPr>
          <a:xfrm>
            <a:off x="1188720" y="3145536"/>
            <a:ext cx="384048" cy="82296"/>
          </a:xfrm>
          <a:prstGeom prst="rect">
            <a:avLst/>
          </a:prstGeom>
          <a:solidFill>
            <a:srgbClr val="8A4E8F"/>
          </a:solidFill>
          <a:ln/>
        </p:spPr>
      </p:sp>
      <p:sp>
        <p:nvSpPr>
          <p:cNvPr id="7" name="Text 5"/>
          <p:cNvSpPr/>
          <p:nvPr/>
        </p:nvSpPr>
        <p:spPr>
          <a:xfrm>
            <a:off x="384048" y="3310128"/>
            <a:ext cx="5303520" cy="640080"/>
          </a:xfrm>
          <a:prstGeom prst="rect">
            <a:avLst/>
          </a:prstGeom>
          <a:noFill/>
          <a:ln/>
        </p:spPr>
        <p:txBody>
          <a:bodyPr wrap="square" lIns="0" tIns="0" rIns="0" bIns="0" rtlCol="0" anchor="t"/>
          <a:lstStyle/>
          <a:p>
            <a:pPr indent="0" marL="0">
              <a:buNone/>
            </a:pPr>
            <a:r>
              <a:rPr lang="en-US" sz="1800" i="1" dirty="0">
                <a:solidFill>
                  <a:srgbClr val="5C6B63"/>
                </a:solidFill>
                <a:latin typeface="Open Sans" pitchFamily="34" charset="0"/>
                <a:ea typeface="Open Sans" pitchFamily="34" charset="-122"/>
                <a:cs typeface="Open Sans" pitchFamily="34" charset="-120"/>
              </a:rPr>
              <a:t>Session 14 - Day 7: Cloud forensics II and Internet forensics</a:t>
            </a:r>
            <a:endParaRPr lang="en-US" sz="1800" dirty="0"/>
          </a:p>
        </p:txBody>
      </p:sp>
      <p:sp>
        <p:nvSpPr>
          <p:cNvPr id="8" name="Text 6"/>
          <p:cNvSpPr/>
          <p:nvPr/>
        </p:nvSpPr>
        <p:spPr>
          <a:xfrm>
            <a:off x="384048" y="4681728"/>
            <a:ext cx="5029200" cy="329184"/>
          </a:xfrm>
          <a:prstGeom prst="rect">
            <a:avLst/>
          </a:prstGeom>
          <a:noFill/>
          <a:ln/>
        </p:spPr>
        <p:txBody>
          <a:bodyPr wrap="square" lIns="0" tIns="0" rIns="0" bIns="0" rtlCol="0" anchor="ctr"/>
          <a:lstStyle/>
          <a:p>
            <a:pPr indent="0" marL="0">
              <a:buNone/>
            </a:pPr>
            <a:r>
              <a:rPr lang="en-US" sz="1300" dirty="0">
                <a:solidFill>
                  <a:srgbClr val="5C6B63"/>
                </a:solidFill>
                <a:latin typeface="Open Sans" pitchFamily="34" charset="0"/>
                <a:ea typeface="Open Sans" pitchFamily="34" charset="-122"/>
                <a:cs typeface="Open Sans" pitchFamily="34" charset="-120"/>
              </a:rPr>
              <a:t>Niranga Dharmaratna - niranga@nibm.lk</a:t>
            </a:r>
            <a:endParaRPr lang="en-US" sz="1300" dirty="0"/>
          </a:p>
        </p:txBody>
      </p:sp>
      <p:pic>
        <p:nvPicPr>
          <p:cNvPr id="9" name="Image 0" descr="preencoded.png">    </p:cNvPr>
          <p:cNvPicPr>
            <a:picLocks noChangeAspect="1"/>
          </p:cNvPicPr>
          <p:nvPr/>
        </p:nvPicPr>
        <p:blipFill>
          <a:blip r:embed="rId1"/>
          <a:stretch>
            <a:fillRect/>
          </a:stretch>
        </p:blipFill>
        <p:spPr>
          <a:xfrm>
            <a:off x="6309360" y="1463040"/>
            <a:ext cx="219456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A"/>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6E8472"/>
          </a:solidFill>
          <a:ln/>
        </p:spPr>
      </p:sp>
      <p:sp>
        <p:nvSpPr>
          <p:cNvPr id="3" name="Text 1"/>
          <p:cNvSpPr/>
          <p:nvPr/>
        </p:nvSpPr>
        <p:spPr>
          <a:xfrm>
            <a:off x="731520" y="1325880"/>
            <a:ext cx="7690104" cy="1371600"/>
          </a:xfrm>
          <a:prstGeom prst="rect">
            <a:avLst/>
          </a:prstGeom>
          <a:noFill/>
          <a:ln/>
        </p:spPr>
        <p:txBody>
          <a:bodyPr wrap="square" lIns="0" tIns="0" rIns="0" bIns="0" rtlCol="0" anchor="ctr"/>
          <a:lstStyle/>
          <a:p>
            <a:pPr indent="0" marL="0">
              <a:buNone/>
            </a:pPr>
            <a:r>
              <a:rPr lang="en-US" sz="3000" b="1" dirty="0">
                <a:solidFill>
                  <a:srgbClr val="31423B"/>
                </a:solidFill>
                <a:latin typeface="Open Sans" pitchFamily="34" charset="0"/>
                <a:ea typeface="Open Sans" pitchFamily="34" charset="-122"/>
                <a:cs typeface="Open Sans" pitchFamily="34" charset="-120"/>
              </a:rPr>
              <a:t>S14 Internet-based forensics</a:t>
            </a:r>
            <a:endParaRPr lang="en-US" sz="3000" dirty="0"/>
          </a:p>
        </p:txBody>
      </p:sp>
      <p:sp>
        <p:nvSpPr>
          <p:cNvPr id="4" name="Shape 2"/>
          <p:cNvSpPr/>
          <p:nvPr/>
        </p:nvSpPr>
        <p:spPr>
          <a:xfrm>
            <a:off x="731520" y="2788920"/>
            <a:ext cx="749808" cy="82296"/>
          </a:xfrm>
          <a:prstGeom prst="rect">
            <a:avLst/>
          </a:prstGeom>
          <a:solidFill>
            <a:srgbClr val="6E8472"/>
          </a:solidFill>
          <a:ln/>
        </p:spPr>
      </p:sp>
      <p:sp>
        <p:nvSpPr>
          <p:cNvPr id="5" name="Shape 3"/>
          <p:cNvSpPr/>
          <p:nvPr/>
        </p:nvSpPr>
        <p:spPr>
          <a:xfrm>
            <a:off x="1536192" y="2788920"/>
            <a:ext cx="384048" cy="82296"/>
          </a:xfrm>
          <a:prstGeom prst="rect">
            <a:avLst/>
          </a:prstGeom>
          <a:solidFill>
            <a:srgbClr val="8A4E8F"/>
          </a:solidFill>
          <a:ln/>
        </p:spPr>
      </p:sp>
      <p:sp>
        <p:nvSpPr>
          <p:cNvPr id="6" name="Shape 4"/>
          <p:cNvSpPr/>
          <p:nvPr/>
        </p:nvSpPr>
        <p:spPr>
          <a:xfrm>
            <a:off x="731520" y="3108960"/>
            <a:ext cx="640080" cy="347472"/>
          </a:xfrm>
          <a:prstGeom prst="rect">
            <a:avLst/>
          </a:prstGeom>
          <a:solidFill>
            <a:srgbClr val="31423B"/>
          </a:solidFill>
          <a:ln/>
        </p:spPr>
      </p:sp>
      <p:sp>
        <p:nvSpPr>
          <p:cNvPr id="7" name="Text 5"/>
          <p:cNvSpPr/>
          <p:nvPr/>
        </p:nvSpPr>
        <p:spPr>
          <a:xfrm>
            <a:off x="73152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LO4</a:t>
            </a:r>
            <a:endParaRPr lang="en-US" sz="1400" dirty="0"/>
          </a:p>
        </p:txBody>
      </p:sp>
      <p:sp>
        <p:nvSpPr>
          <p:cNvPr id="8" name="Shape 6"/>
          <p:cNvSpPr/>
          <p:nvPr/>
        </p:nvSpPr>
        <p:spPr>
          <a:xfrm>
            <a:off x="1463040" y="3108960"/>
            <a:ext cx="640080" cy="347472"/>
          </a:xfrm>
          <a:prstGeom prst="rect">
            <a:avLst/>
          </a:prstGeom>
          <a:solidFill>
            <a:srgbClr val="6E3D72"/>
          </a:solidFill>
          <a:ln/>
        </p:spPr>
      </p:sp>
      <p:sp>
        <p:nvSpPr>
          <p:cNvPr id="9" name="Text 7"/>
          <p:cNvSpPr/>
          <p:nvPr/>
        </p:nvSpPr>
        <p:spPr>
          <a:xfrm>
            <a:off x="146304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LO5</a:t>
            </a:r>
            <a:endParaRPr lang="en-US" sz="1400" dirty="0"/>
          </a:p>
        </p:txBody>
      </p:sp>
      <p:sp>
        <p:nvSpPr>
          <p:cNvPr id="10" name="Text 8"/>
          <p:cNvSpPr/>
          <p:nvPr/>
        </p:nvSpPr>
        <p:spPr>
          <a:xfrm>
            <a:off x="731520" y="3584448"/>
            <a:ext cx="7690104" cy="329184"/>
          </a:xfrm>
          <a:prstGeom prst="rect">
            <a:avLst/>
          </a:prstGeom>
          <a:noFill/>
          <a:ln/>
        </p:spPr>
        <p:txBody>
          <a:bodyPr wrap="square" lIns="0" tIns="0" rIns="0" bIns="0" rtlCol="0" anchor="ctr"/>
          <a:lstStyle/>
          <a:p>
            <a:pPr indent="0" marL="0">
              <a:buNone/>
            </a:pPr>
            <a:r>
              <a:rPr lang="en-US" sz="1400" dirty="0">
                <a:solidFill>
                  <a:srgbClr val="5C6B63"/>
                </a:solidFill>
                <a:latin typeface="Open Sans" pitchFamily="34" charset="0"/>
                <a:ea typeface="Open Sans" pitchFamily="34" charset="-122"/>
                <a:cs typeface="Open Sans" pitchFamily="34" charset="-120"/>
              </a:rPr>
              <a:t>Feeds: Phase test and Coursework  |  Day 7 closes with today's quiz</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today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754880" cy="1371600"/>
          </a:xfrm>
          <a:prstGeom prst="rect">
            <a:avLst/>
          </a:prstGeom>
          <a:solidFill>
            <a:srgbClr val="F1E8F2"/>
          </a:solidFill>
          <a:ln/>
        </p:spPr>
      </p:sp>
      <p:sp>
        <p:nvSpPr>
          <p:cNvPr id="7" name="Text 5"/>
          <p:cNvSpPr/>
          <p:nvPr/>
        </p:nvSpPr>
        <p:spPr>
          <a:xfrm>
            <a:off x="521208" y="1371600"/>
            <a:ext cx="4535424" cy="1371600"/>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The suspect wrote to his contact, searched the web and used a cloud drive, all from his own computer. Who wrote to whom, when, through which account, and how far does each trace reach towards a person?</a:t>
            </a:r>
            <a:endParaRPr lang="en-US" sz="1400" dirty="0"/>
          </a:p>
        </p:txBody>
      </p:sp>
      <p:sp>
        <p:nvSpPr>
          <p:cNvPr id="8" name="Shape 6"/>
          <p:cNvSpPr/>
          <p:nvPr/>
        </p:nvSpPr>
        <p:spPr>
          <a:xfrm>
            <a:off x="411480" y="2834640"/>
            <a:ext cx="4754880" cy="1920240"/>
          </a:xfrm>
          <a:prstGeom prst="rect">
            <a:avLst/>
          </a:prstGeom>
          <a:solidFill>
            <a:srgbClr val="DCE6DE"/>
          </a:solidFill>
          <a:ln/>
        </p:spPr>
      </p:sp>
      <p:sp>
        <p:nvSpPr>
          <p:cNvPr id="9" name="Text 7"/>
          <p:cNvSpPr/>
          <p:nvPr/>
        </p:nvSpPr>
        <p:spPr>
          <a:xfrm>
            <a:off x="502920" y="2834640"/>
            <a:ext cx="4572000" cy="1920240"/>
          </a:xfrm>
          <a:prstGeom prst="rect">
            <a:avLst/>
          </a:prstGeom>
          <a:noFill/>
          <a:ln/>
        </p:spPr>
        <p:txBody>
          <a:bodyPr wrap="square" rtlCol="0" anchor="ctr"/>
          <a:lstStyle/>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Three places evidence lives</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The email header</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Who writes which line</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The mail store</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The browser's records</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The server's side of a visit</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Attribution beyond your network</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Ordinary artefacts, extraordinary reading</a:t>
            </a:r>
            <a:endParaRPr lang="en-US" sz="1200" dirty="0"/>
          </a:p>
        </p:txBody>
      </p:sp>
      <p:pic>
        <p:nvPicPr>
          <p:cNvPr id="10" name="Image 0" descr="preencoded.png">    </p:cNvPr>
          <p:cNvPicPr>
            <a:picLocks noChangeAspect="1"/>
          </p:cNvPicPr>
          <p:nvPr/>
        </p:nvPicPr>
        <p:blipFill>
          <a:blip r:embed="rId1"/>
          <a:stretch>
            <a:fillRect/>
          </a:stretch>
        </p:blipFill>
        <p:spPr>
          <a:xfrm>
            <a:off x="6126480" y="1371600"/>
            <a:ext cx="1737360" cy="1737360"/>
          </a:xfrm>
          <a:prstGeom prst="rect">
            <a:avLst/>
          </a:prstGeom>
        </p:spPr>
      </p:pic>
      <p:sp>
        <p:nvSpPr>
          <p:cNvPr id="11" name="Text 8"/>
          <p:cNvSpPr/>
          <p:nvPr/>
        </p:nvSpPr>
        <p:spPr>
          <a:xfrm>
            <a:off x="5349240" y="3337560"/>
            <a:ext cx="3383280" cy="1280160"/>
          </a:xfrm>
          <a:prstGeom prst="rect">
            <a:avLst/>
          </a:prstGeom>
          <a:noFill/>
          <a:ln/>
        </p:spPr>
        <p:txBody>
          <a:bodyPr wrap="square" lIns="0" tIns="0" rIns="0" bIns="0" rtlCol="0" anchor="t"/>
          <a:lstStyle/>
          <a:p>
            <a:pPr indent="0" marL="0">
              <a:buNone/>
            </a:pPr>
            <a:r>
              <a:rPr lang="en-US" sz="1400" i="1" dirty="0">
                <a:solidFill>
                  <a:srgbClr val="5C6B63"/>
                </a:solidFill>
                <a:latin typeface="Open Sans" pitchFamily="34" charset="0"/>
                <a:ea typeface="Open Sans" pitchFamily="34" charset="-122"/>
                <a:cs typeface="Open Sans" pitchFamily="34" charset="-120"/>
              </a:rPr>
              <a:t>Everything today was made by ordinary software. The reading comes from the pattern, not from any one record.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Three places where Internet activity leaves evidence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554480"/>
                <a:gridCol w="3749040"/>
                <a:gridCol w="3017520"/>
              </a:tblGrid>
              <a:tr h="54864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Where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it holds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How the examiner reaches it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54864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computer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Mail store, browser databases, cache, downloads, cloud and chat program logs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From the forensic image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provider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Server copies of mailboxes, sign-in records, cloud content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client's server: ask. An outside provider: legal process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54864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network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Packets and flow records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Only if someone was capturing (Session 7)</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611880"/>
            <a:ext cx="8321040" cy="777240"/>
          </a:xfrm>
          <a:prstGeom prst="rect">
            <a:avLst/>
          </a:prstGeom>
          <a:solidFill>
            <a:srgbClr val="F1E8F2"/>
          </a:solidFill>
          <a:ln/>
        </p:spPr>
      </p:sp>
      <p:sp>
        <p:nvSpPr>
          <p:cNvPr id="8" name="Text 5"/>
          <p:cNvSpPr/>
          <p:nvPr/>
        </p:nvSpPr>
        <p:spPr>
          <a:xfrm>
            <a:off x="521208" y="3611880"/>
            <a:ext cx="8101584" cy="77724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The case: Outlook 2013, Internet Explorer 11, Chrome 41, the Google Drive program, an iCloud installer. No webmail, chat or peer-to-peer in the answer key.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An email message and its header</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4846320" cy="2011680"/>
          </a:xfrm>
          <a:prstGeom prst="rect">
            <a:avLst/>
          </a:prstGeom>
          <a:solidFill>
            <a:srgbClr val="FFFFFF"/>
          </a:solidFill>
          <a:ln w="9525">
            <a:solidFill>
              <a:srgbClr val="CBD6CE"/>
            </a:solidFill>
            <a:prstDash val="solid"/>
          </a:ln>
        </p:spPr>
      </p:sp>
      <p:sp>
        <p:nvSpPr>
          <p:cNvPr id="7" name="Text 5"/>
          <p:cNvSpPr/>
          <p:nvPr/>
        </p:nvSpPr>
        <p:spPr>
          <a:xfrm>
            <a:off x="502920" y="1325880"/>
            <a:ext cx="4663440" cy="2011680"/>
          </a:xfrm>
          <a:prstGeom prst="rect">
            <a:avLst/>
          </a:prstGeom>
          <a:noFill/>
          <a:ln/>
        </p:spPr>
        <p:txBody>
          <a:bodyPr wrap="square" lIns="0" tIns="0" rIns="0" bIns="0" rtlCol="0" anchor="ctr"/>
          <a:lstStyle/>
          <a:p>
            <a:pPr algn="l" indent="0" marL="0">
              <a:buNone/>
            </a:pPr>
            <a:r>
              <a:rPr lang="en-US" sz="1100" dirty="0">
                <a:solidFill>
                  <a:srgbClr val="31423B"/>
                </a:solidFill>
                <a:latin typeface="Consolas" pitchFamily="34" charset="0"/>
                <a:ea typeface="Consolas" pitchFamily="34" charset="-122"/>
                <a:cs typeface="Consolas" pitchFamily="34" charset="-120"/>
              </a:rPr>
              <a:t>From: Ravi Perera &lt;ravi@example.org&gt;</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To: Asha Silva &lt;asha@example.com&gt;</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Subject: Draft budget</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Date: Tue, 3 Mar 2026 14:43:58 +0530</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Message-ID: &lt;a1c9f2e7.4410@laptop.example.org&gt;</a:t>
            </a:r>
            <a:endParaRPr lang="en-US" sz="1100" dirty="0"/>
          </a:p>
          <a:p>
            <a:pPr algn="l" indent="0" marL="0">
              <a:buNone/>
            </a:pP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Asha, the draft is ready for you to check.</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40680" y="1325880"/>
          <a:ext cx="3291840" cy="914400"/>
        </p:xfrm>
        <a:graphic>
          <a:graphicData uri="http://schemas.openxmlformats.org/drawingml/2006/table">
            <a:tbl>
              <a:tblPr/>
              <a:tblGrid>
                <a:gridCol w="1463040"/>
                <a:gridCol w="1828800"/>
              </a:tblGrid>
              <a:tr h="45720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The word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Means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5720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header (S3)</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A file's first bytes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packet header (S7)</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One layer's front part of a packet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5720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email header (S14)</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The named lines above an email's body</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9" name="Shape 6"/>
          <p:cNvSpPr/>
          <p:nvPr/>
        </p:nvSpPr>
        <p:spPr>
          <a:xfrm>
            <a:off x="411480" y="3520440"/>
            <a:ext cx="8321040" cy="960120"/>
          </a:xfrm>
          <a:prstGeom prst="rect">
            <a:avLst/>
          </a:prstGeom>
          <a:solidFill>
            <a:srgbClr val="DCE6DE"/>
          </a:solidFill>
          <a:ln/>
        </p:spPr>
      </p:sp>
      <p:sp>
        <p:nvSpPr>
          <p:cNvPr id="10" name="Text 7"/>
          <p:cNvSpPr/>
          <p:nvPr/>
        </p:nvSpPr>
        <p:spPr>
          <a:xfrm>
            <a:off x="502920" y="3520440"/>
            <a:ext cx="8138160" cy="960120"/>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The sender's program writes the lines about the message</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Each server adds lines about delivery, at the top</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A Sent Items copy never crossed a server: no Received lines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Reading the Received chain from the bottom up</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8321040" cy="1325880"/>
          </a:xfrm>
          <a:prstGeom prst="rect">
            <a:avLst/>
          </a:prstGeom>
          <a:solidFill>
            <a:srgbClr val="FFFFFF"/>
          </a:solidFill>
          <a:ln w="9525">
            <a:solidFill>
              <a:srgbClr val="CBD6CE"/>
            </a:solidFill>
            <a:prstDash val="solid"/>
          </a:ln>
        </p:spPr>
      </p:sp>
      <p:sp>
        <p:nvSpPr>
          <p:cNvPr id="7" name="Text 5"/>
          <p:cNvSpPr/>
          <p:nvPr/>
        </p:nvSpPr>
        <p:spPr>
          <a:xfrm>
            <a:off x="502920" y="1325880"/>
            <a:ext cx="8138160" cy="1325880"/>
          </a:xfrm>
          <a:prstGeom prst="rect">
            <a:avLst/>
          </a:prstGeom>
          <a:noFill/>
          <a:ln/>
        </p:spPr>
        <p:txBody>
          <a:bodyPr wrap="square" lIns="0" tIns="0" rIns="0" bIns="0" rtlCol="0" anchor="ctr"/>
          <a:lstStyle/>
          <a:p>
            <a:pPr algn="l" indent="0" marL="0">
              <a:buNone/>
            </a:pPr>
            <a:r>
              <a:rPr lang="en-US" sz="1000" dirty="0">
                <a:solidFill>
                  <a:srgbClr val="31423B"/>
                </a:solidFill>
                <a:latin typeface="Consolas" pitchFamily="34" charset="0"/>
                <a:ea typeface="Consolas" pitchFamily="34" charset="-122"/>
                <a:cs typeface="Consolas" pitchFamily="34" charset="-120"/>
              </a:rPr>
              <a:t>Received: from mail.example.org ([198.51.100.25])  by mx.example.com    09:14:07 +0000</a:t>
            </a:r>
            <a:endParaRPr lang="en-US" sz="1000" dirty="0"/>
          </a:p>
          <a:p>
            <a:pPr algn="l" indent="0" marL="0">
              <a:buNone/>
            </a:pPr>
            <a:r>
              <a:rPr lang="en-US" sz="1000" dirty="0">
                <a:solidFill>
                  <a:srgbClr val="31423B"/>
                </a:solidFill>
                <a:latin typeface="Consolas" pitchFamily="34" charset="0"/>
                <a:ea typeface="Consolas" pitchFamily="34" charset="-122"/>
                <a:cs typeface="Consolas" pitchFamily="34" charset="-120"/>
              </a:rPr>
              <a:t>Received: from relay.example.org ([192.0.2.40])     by mail.example.org  10:14:05 +0100</a:t>
            </a:r>
            <a:endParaRPr lang="en-US" sz="1000" dirty="0"/>
          </a:p>
          <a:p>
            <a:pPr algn="l" indent="0" marL="0">
              <a:buNone/>
            </a:pPr>
            <a:r>
              <a:rPr lang="en-US" sz="1000" dirty="0">
                <a:solidFill>
                  <a:srgbClr val="31423B"/>
                </a:solidFill>
                <a:latin typeface="Consolas" pitchFamily="34" charset="0"/>
                <a:ea typeface="Consolas" pitchFamily="34" charset="-122"/>
                <a:cs typeface="Consolas" pitchFamily="34" charset="-120"/>
              </a:rPr>
              <a:t>Received: from laptop (unknown [203.0.113.57])     by relay.example.org 14:44:02 +0530</a:t>
            </a:r>
            <a:endParaRPr lang="en-US" sz="1000" dirty="0"/>
          </a:p>
          <a:p>
            <a:pPr algn="l" indent="0" marL="0">
              <a:buNone/>
            </a:pPr>
            <a:r>
              <a:rPr lang="en-US" sz="1000" dirty="0">
                <a:solidFill>
                  <a:srgbClr val="31423B"/>
                </a:solidFill>
                <a:latin typeface="Consolas" pitchFamily="34" charset="0"/>
                <a:ea typeface="Consolas" pitchFamily="34" charset="-122"/>
                <a:cs typeface="Consolas" pitchFamily="34" charset="-120"/>
              </a:rPr>
              <a:t>Date:  14:43:58 +0530   (the sender's own clock)</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2788920"/>
          <a:ext cx="8321040" cy="914400"/>
        </p:xfrm>
        <a:graphic>
          <a:graphicData uri="http://schemas.openxmlformats.org/drawingml/2006/table">
            <a:tbl>
              <a:tblPr/>
              <a:tblGrid>
                <a:gridCol w="3291840"/>
                <a:gridCol w="2743200"/>
                <a:gridCol w="2286000"/>
              </a:tblGrid>
              <a:tr h="329184">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Hop, from the bottom</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As written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UTC</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29184">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Sender's program (Date)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14:43:58 +0530</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09:13:58</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relay.example.org</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14:44:02 +0530</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09:14:02</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29184">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mail.example.org</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10:14:05 +0100</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09:14:05</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mx.example.com</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09:14:07 +0000</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09:14:07</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3, with demo S14-D1. The by of each line is the from of the line above it.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A parcel's tracking history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926080"/>
          </a:xfrm>
          <a:prstGeom prst="rect">
            <a:avLst/>
          </a:prstGeom>
          <a:solidFill>
            <a:srgbClr val="E8F0EA"/>
          </a:solidFill>
          <a:ln/>
        </p:spPr>
      </p:sp>
      <p:sp>
        <p:nvSpPr>
          <p:cNvPr id="7" name="Shape 5"/>
          <p:cNvSpPr/>
          <p:nvPr/>
        </p:nvSpPr>
        <p:spPr>
          <a:xfrm>
            <a:off x="411480" y="1371600"/>
            <a:ext cx="82296" cy="2926080"/>
          </a:xfrm>
          <a:prstGeom prst="rect">
            <a:avLst/>
          </a:prstGeom>
          <a:solidFill>
            <a:srgbClr val="6E8472"/>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9" name="Text 7"/>
          <p:cNvSpPr/>
          <p:nvPr/>
        </p:nvSpPr>
        <p:spPr>
          <a:xfrm>
            <a:off x="621792" y="1700784"/>
            <a:ext cx="7955280" cy="252374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Received lines are like a parcel's tracking history: each depot adds a scan at the top, with its place and time.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Why it fits: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you read from the first scan at the bottom to the delivery at the top; each scan is written by the depot that held the parcel, on its own clock.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parcel's depots belong to one company you trust. Email servers belong to strangers, and any of them can write false lines below its own. You trust lines from your own server downwards, as far as you can vouch for each server.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bottom up to follow the route; top down to decide how far to trust it.</a:t>
            </a:r>
            <a:endParaRPr lang="en-US" sz="1300" dirty="0"/>
          </a:p>
        </p:txBody>
      </p:sp>
      <p:sp>
        <p:nvSpPr>
          <p:cNvPr id="10" name="Text 8"/>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3, the comparison box.</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Who writes which line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4133088" cy="402336"/>
          </a:xfrm>
          <a:prstGeom prst="rect">
            <a:avLst/>
          </a:prstGeom>
          <a:solidFill>
            <a:srgbClr val="6E8472"/>
          </a:solidFill>
          <a:ln/>
        </p:spPr>
      </p:sp>
      <p:sp>
        <p:nvSpPr>
          <p:cNvPr id="7" name="Text 5"/>
          <p:cNvSpPr/>
          <p:nvPr/>
        </p:nvSpPr>
        <p:spPr>
          <a:xfrm>
            <a:off x="521208"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The sender's program</a:t>
            </a:r>
            <a:endParaRPr lang="en-US" sz="1500" dirty="0"/>
          </a:p>
        </p:txBody>
      </p:sp>
      <p:sp>
        <p:nvSpPr>
          <p:cNvPr id="8" name="Shape 6"/>
          <p:cNvSpPr/>
          <p:nvPr/>
        </p:nvSpPr>
        <p:spPr>
          <a:xfrm>
            <a:off x="411480" y="1728216"/>
            <a:ext cx="4133088" cy="2194560"/>
          </a:xfrm>
          <a:prstGeom prst="rect">
            <a:avLst/>
          </a:prstGeom>
          <a:solidFill>
            <a:srgbClr val="FFFFFF"/>
          </a:solidFill>
          <a:ln w="9525">
            <a:solidFill>
              <a:srgbClr val="CBD6CE"/>
            </a:solidFill>
            <a:prstDash val="solid"/>
          </a:ln>
        </p:spPr>
      </p:sp>
      <p:sp>
        <p:nvSpPr>
          <p:cNvPr id="9" name="Text 7"/>
          <p:cNvSpPr/>
          <p:nvPr/>
        </p:nvSpPr>
        <p:spPr>
          <a:xfrm>
            <a:off x="539496" y="1783080"/>
            <a:ext cx="3877056" cy="208483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From, To, Cc, Reply-To</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Anything at all; Bcc appears in neither</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Subject, Date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Including the time</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Message-ID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Usually; rarely changed</a:t>
            </a:r>
            <a:endParaRPr lang="en-US" sz="1300" dirty="0"/>
          </a:p>
        </p:txBody>
      </p:sp>
      <p:sp>
        <p:nvSpPr>
          <p:cNvPr id="10" name="Shape 8"/>
          <p:cNvSpPr/>
          <p:nvPr/>
        </p:nvSpPr>
        <p:spPr>
          <a:xfrm>
            <a:off x="4645152" y="1325880"/>
            <a:ext cx="4133088" cy="402336"/>
          </a:xfrm>
          <a:prstGeom prst="rect">
            <a:avLst/>
          </a:prstGeom>
          <a:solidFill>
            <a:srgbClr val="8A4E8F"/>
          </a:solidFill>
          <a:ln/>
        </p:spPr>
      </p:sp>
      <p:sp>
        <p:nvSpPr>
          <p:cNvPr id="11" name="Text 9"/>
          <p:cNvSpPr/>
          <p:nvPr/>
        </p:nvSpPr>
        <p:spPr>
          <a:xfrm>
            <a:off x="4754880"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The receiving servers</a:t>
            </a:r>
            <a:endParaRPr lang="en-US" sz="1500" dirty="0"/>
          </a:p>
        </p:txBody>
      </p:sp>
      <p:sp>
        <p:nvSpPr>
          <p:cNvPr id="12" name="Shape 10"/>
          <p:cNvSpPr/>
          <p:nvPr/>
        </p:nvSpPr>
        <p:spPr>
          <a:xfrm>
            <a:off x="4645152" y="1728216"/>
            <a:ext cx="4133088" cy="2194560"/>
          </a:xfrm>
          <a:prstGeom prst="rect">
            <a:avLst/>
          </a:prstGeom>
          <a:solidFill>
            <a:srgbClr val="FFFFFF"/>
          </a:solidFill>
          <a:ln w="9525">
            <a:solidFill>
              <a:srgbClr val="CBD6CE"/>
            </a:solidFill>
            <a:prstDash val="solid"/>
          </a:ln>
        </p:spPr>
      </p:sp>
      <p:sp>
        <p:nvSpPr>
          <p:cNvPr id="13" name="Text 11"/>
          <p:cNvSpPr/>
          <p:nvPr/>
        </p:nvSpPr>
        <p:spPr>
          <a:xfrm>
            <a:off x="4773168" y="1783080"/>
            <a:ext cx="3877056" cy="208483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Received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Added after the message left; false lines can only sit below</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Return-Path</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envelope sender, recorded on delivery</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Authentication-Results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SPF, DKIM, DMARC: what the server found</a:t>
            </a:r>
            <a:endParaRPr lang="en-US" sz="1300" dirty="0"/>
          </a:p>
        </p:txBody>
      </p:sp>
      <p:sp>
        <p:nvSpPr>
          <p:cNvPr id="14" name="Shape 12"/>
          <p:cNvSpPr/>
          <p:nvPr/>
        </p:nvSpPr>
        <p:spPr>
          <a:xfrm>
            <a:off x="411480" y="3977640"/>
            <a:ext cx="8321040" cy="731520"/>
          </a:xfrm>
          <a:prstGeom prst="rect">
            <a:avLst/>
          </a:prstGeom>
          <a:solidFill>
            <a:srgbClr val="F1E8F2"/>
          </a:solidFill>
          <a:ln/>
        </p:spPr>
      </p:sp>
      <p:sp>
        <p:nvSpPr>
          <p:cNvPr id="15" name="Text 13"/>
          <p:cNvSpPr/>
          <p:nvPr/>
        </p:nvSpPr>
        <p:spPr>
          <a:xfrm>
            <a:off x="521208" y="3977640"/>
            <a:ext cx="8101584" cy="731520"/>
          </a:xfrm>
          <a:prstGeom prst="rect">
            <a:avLst/>
          </a:prstGeom>
          <a:noFill/>
          <a:ln/>
        </p:spPr>
        <p:txBody>
          <a:bodyPr wrap="square" rtlCol="0" anchor="ctr"/>
          <a:lstStyle/>
          <a:p>
            <a:pPr indent="0" marL="0">
              <a:buNone/>
            </a:pPr>
            <a:r>
              <a:rPr lang="en-US" sz="1200" b="1" dirty="0">
                <a:solidFill>
                  <a:srgbClr val="31423B"/>
                </a:solidFill>
                <a:latin typeface="Open Sans" pitchFamily="34" charset="0"/>
                <a:ea typeface="Open Sans" pitchFamily="34" charset="-122"/>
                <a:cs typeface="Open Sans" pitchFamily="34" charset="-120"/>
              </a:rPr>
              <a:t>Forged From caught: From says example.com, Return-Path says example.net, and DMARC failed for example.com. Webmail: the first hop is the provider's server, which may hide the user's own address.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mail store: a small file system in one file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2834640"/>
                <a:gridCol w="1371600"/>
                <a:gridCol w="1188720"/>
                <a:gridCol w="1371600"/>
                <a:gridCol w="1554480"/>
              </a:tblGrid>
              <a:tr h="38404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State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Autopsy parser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readpst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readpst -D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pffexport -m all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1  In its folder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2  In Deleted Items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3  Out of the index, blocks free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Often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4  Blocks reused or compacted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429000"/>
            <a:ext cx="8321040" cy="777240"/>
          </a:xfrm>
          <a:prstGeom prst="rect">
            <a:avLst/>
          </a:prstGeom>
          <a:solidFill>
            <a:srgbClr val="F1E8F2"/>
          </a:solidFill>
          <a:ln/>
        </p:spPr>
      </p:sp>
      <p:sp>
        <p:nvSpPr>
          <p:cNvPr id="8" name="Text 5"/>
          <p:cNvSpPr/>
          <p:nvPr/>
        </p:nvSpPr>
        <p:spPr>
          <a:xfrm>
            <a:off x="521208" y="3429000"/>
            <a:ext cx="8101584" cy="77724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The case: twelve messages in the store. Five in Inbox, two in Sent Items, four in Deleted Items, and It's me recovered from free space, with two Google Drive links.</a:t>
            </a:r>
            <a:endParaRPr lang="en-US" sz="1300" dirty="0"/>
          </a:p>
        </p:txBody>
      </p:sp>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5, with demo S14-D3. Quoted text inside a reply is the replier's copy: a weaker witness.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browser's records, and the cloud program's log</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2103120"/>
                <a:gridCol w="2286000"/>
                <a:gridCol w="3931920"/>
              </a:tblGrid>
              <a:tr h="36576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UTC, 23 March 2015</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Source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Event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6576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19:55:09 / 19:56:04</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Chrome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Searches: apple icloud, google drive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19:56:15</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Chrome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Visit: google.com/drive/download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6576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20:05:32</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sync_log.log (-0400)</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Sign-in with a personal Google account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20:32:35</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sync_log.log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Two files created in the Drive folder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6576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20:42:17</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sync_log.log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Both files deleted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611880"/>
            <a:ext cx="8321040" cy="914400"/>
          </a:xfrm>
          <a:prstGeom prst="rect">
            <a:avLst/>
          </a:prstGeom>
          <a:solidFill>
            <a:srgbClr val="DCE6DE"/>
          </a:solidFill>
          <a:ln/>
        </p:spPr>
      </p:sp>
      <p:sp>
        <p:nvSpPr>
          <p:cNvPr id="8" name="Text 5"/>
          <p:cNvSpPr/>
          <p:nvPr/>
        </p:nvSpPr>
        <p:spPr>
          <a:xfrm>
            <a:off x="502920" y="3611880"/>
            <a:ext cx="8138160" cy="914400"/>
          </a:xfrm>
          <a:prstGeom prst="rect">
            <a:avLst/>
          </a:prstGeom>
          <a:noFill/>
          <a:ln/>
        </p:spPr>
        <p:txBody>
          <a:bodyPr wrap="square" rtlCol="0" anchor="ctr"/>
          <a:lstStyle/>
          <a:p>
            <a:pPr marL="342900" indent="-342900">
              <a:spcAft>
                <a:spcPts val="600"/>
              </a:spcAft>
              <a:buSzPct val="100000"/>
              <a:buChar char="•"/>
            </a:pPr>
            <a:r>
              <a:rPr lang="en-US" sz="1200" b="1" dirty="0">
                <a:solidFill>
                  <a:srgbClr val="31423B"/>
                </a:solidFill>
                <a:latin typeface="Open Sans" pitchFamily="34" charset="0"/>
                <a:ea typeface="Open Sans" pitchFamily="34" charset="-122"/>
                <a:cs typeface="Open Sans" pitchFamily="34" charset="-120"/>
              </a:rPr>
              <a:t>History, downloads, searches, cookies, cache: IE 11 in WebCacheV01.dat, Chrome in History (SQLite), all UTC</a:t>
            </a:r>
            <a:endParaRPr lang="en-US" sz="1200" dirty="0"/>
          </a:p>
          <a:p>
            <a:pPr marL="342900" indent="-342900">
              <a:spcAft>
                <a:spcPts val="600"/>
              </a:spcAft>
              <a:buSzPct val="100000"/>
              <a:buChar char="•"/>
            </a:pPr>
            <a:r>
              <a:rPr lang="en-US" sz="1200" b="1" dirty="0">
                <a:solidFill>
                  <a:srgbClr val="31423B"/>
                </a:solidFill>
                <a:latin typeface="Open Sans" pitchFamily="34" charset="0"/>
                <a:ea typeface="Open Sans" pitchFamily="34" charset="-122"/>
                <a:cs typeface="Open Sans" pitchFamily="34" charset="-120"/>
              </a:rPr>
              <a:t>Private browsing and cleaning empty the profile's records, never the program's run records, the files, the provider or the server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server's side of a visit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8321040" cy="777240"/>
          </a:xfrm>
          <a:prstGeom prst="rect">
            <a:avLst/>
          </a:prstGeom>
          <a:solidFill>
            <a:srgbClr val="FFFFFF"/>
          </a:solidFill>
          <a:ln w="9525">
            <a:solidFill>
              <a:srgbClr val="CBD6CE"/>
            </a:solidFill>
            <a:prstDash val="solid"/>
          </a:ln>
        </p:spPr>
      </p:sp>
      <p:sp>
        <p:nvSpPr>
          <p:cNvPr id="7" name="Text 5"/>
          <p:cNvSpPr/>
          <p:nvPr/>
        </p:nvSpPr>
        <p:spPr>
          <a:xfrm>
            <a:off x="502920" y="1325880"/>
            <a:ext cx="8138160" cy="777240"/>
          </a:xfrm>
          <a:prstGeom prst="rect">
            <a:avLst/>
          </a:prstGeom>
          <a:noFill/>
          <a:ln/>
        </p:spPr>
        <p:txBody>
          <a:bodyPr wrap="square" lIns="0" tIns="0" rIns="0" bIns="0" rtlCol="0" anchor="ctr"/>
          <a:lstStyle/>
          <a:p>
            <a:pPr algn="l" indent="0" marL="0">
              <a:buNone/>
            </a:pPr>
            <a:r>
              <a:rPr lang="en-US" sz="1000" dirty="0">
                <a:solidFill>
                  <a:srgbClr val="31423B"/>
                </a:solidFill>
                <a:latin typeface="Consolas" pitchFamily="34" charset="0"/>
                <a:ea typeface="Consolas" pitchFamily="34" charset="-122"/>
                <a:cs typeface="Consolas" pitchFamily="34" charset="-120"/>
              </a:rPr>
              <a:t>198.51.100.73 - - [03/Mar/2026:09:20:11 +0000] "GET /reports/q1.pdf HTTP/1.1" 200 48211</a:t>
            </a:r>
            <a:endParaRPr lang="en-US" sz="1000" dirty="0"/>
          </a:p>
          <a:p>
            <a:pPr algn="l" indent="0" marL="0">
              <a:buNone/>
            </a:pPr>
            <a:r>
              <a:rPr lang="en-US" sz="1000" dirty="0">
                <a:solidFill>
                  <a:srgbClr val="31423B"/>
                </a:solidFill>
                <a:latin typeface="Consolas" pitchFamily="34" charset="0"/>
                <a:ea typeface="Consolas" pitchFamily="34" charset="-122"/>
                <a:cs typeface="Consolas" pitchFamily="34" charset="-120"/>
              </a:rPr>
              <a:t>"https://www.example.com/reports/" "Mozilla/5.0 (Windows NT 10.0; Win64; x64) Chrome/120.0"</a:t>
            </a:r>
            <a:endParaRPr lang="en-US" sz="1000" dirty="0"/>
          </a:p>
        </p:txBody>
      </p:sp>
      <p:sp>
        <p:nvSpPr>
          <p:cNvPr id="8" name="Shape 6"/>
          <p:cNvSpPr/>
          <p:nvPr/>
        </p:nvSpPr>
        <p:spPr>
          <a:xfrm>
            <a:off x="411480" y="2240280"/>
            <a:ext cx="4133088" cy="402336"/>
          </a:xfrm>
          <a:prstGeom prst="rect">
            <a:avLst/>
          </a:prstGeom>
          <a:solidFill>
            <a:srgbClr val="6E8472"/>
          </a:solidFill>
          <a:ln/>
        </p:spPr>
      </p:sp>
      <p:sp>
        <p:nvSpPr>
          <p:cNvPr id="9" name="Text 7"/>
          <p:cNvSpPr/>
          <p:nvPr/>
        </p:nvSpPr>
        <p:spPr>
          <a:xfrm>
            <a:off x="521208" y="22402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Only the browser knows</a:t>
            </a:r>
            <a:endParaRPr lang="en-US" sz="1500" dirty="0"/>
          </a:p>
        </p:txBody>
      </p:sp>
      <p:sp>
        <p:nvSpPr>
          <p:cNvPr id="10" name="Shape 8"/>
          <p:cNvSpPr/>
          <p:nvPr/>
        </p:nvSpPr>
        <p:spPr>
          <a:xfrm>
            <a:off x="411480" y="2642616"/>
            <a:ext cx="4133088" cy="1828800"/>
          </a:xfrm>
          <a:prstGeom prst="rect">
            <a:avLst/>
          </a:prstGeom>
          <a:solidFill>
            <a:srgbClr val="FFFFFF"/>
          </a:solidFill>
          <a:ln w="9525">
            <a:solidFill>
              <a:srgbClr val="CBD6CE"/>
            </a:solidFill>
            <a:prstDash val="solid"/>
          </a:ln>
        </p:spPr>
      </p:sp>
      <p:sp>
        <p:nvSpPr>
          <p:cNvPr id="11" name="Text 9"/>
          <p:cNvSpPr/>
          <p:nvPr/>
        </p:nvSpPr>
        <p:spPr>
          <a:xfrm>
            <a:off x="539496" y="2697480"/>
            <a:ext cx="3877056" cy="171907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Title and profile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What the user saw, on which computer</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How the user arrived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Typed, clicked, bookmark</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Where a download was saved</a:t>
            </a:r>
            <a:endParaRPr lang="en-US" sz="1300" dirty="0"/>
          </a:p>
          <a:p>
            <a:pPr indent="0" marL="0">
              <a:spcAft>
                <a:spcPts val="700"/>
              </a:spcAft>
              <a:buNone/>
            </a:pPr>
            <a:endParaRPr lang="en-US" sz="1300" dirty="0"/>
          </a:p>
        </p:txBody>
      </p:sp>
      <p:sp>
        <p:nvSpPr>
          <p:cNvPr id="12" name="Shape 10"/>
          <p:cNvSpPr/>
          <p:nvPr/>
        </p:nvSpPr>
        <p:spPr>
          <a:xfrm>
            <a:off x="4645152" y="2240280"/>
            <a:ext cx="4133088" cy="402336"/>
          </a:xfrm>
          <a:prstGeom prst="rect">
            <a:avLst/>
          </a:prstGeom>
          <a:solidFill>
            <a:srgbClr val="8A4E8F"/>
          </a:solidFill>
          <a:ln/>
        </p:spPr>
      </p:sp>
      <p:sp>
        <p:nvSpPr>
          <p:cNvPr id="13" name="Text 11"/>
          <p:cNvSpPr/>
          <p:nvPr/>
        </p:nvSpPr>
        <p:spPr>
          <a:xfrm>
            <a:off x="4754880" y="22402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Only the server knows</a:t>
            </a:r>
            <a:endParaRPr lang="en-US" sz="1500" dirty="0"/>
          </a:p>
        </p:txBody>
      </p:sp>
      <p:sp>
        <p:nvSpPr>
          <p:cNvPr id="14" name="Shape 12"/>
          <p:cNvSpPr/>
          <p:nvPr/>
        </p:nvSpPr>
        <p:spPr>
          <a:xfrm>
            <a:off x="4645152" y="2642616"/>
            <a:ext cx="4133088" cy="1828800"/>
          </a:xfrm>
          <a:prstGeom prst="rect">
            <a:avLst/>
          </a:prstGeom>
          <a:solidFill>
            <a:srgbClr val="FFFFFF"/>
          </a:solidFill>
          <a:ln w="9525">
            <a:solidFill>
              <a:srgbClr val="CBD6CE"/>
            </a:solidFill>
            <a:prstDash val="solid"/>
          </a:ln>
        </p:spPr>
      </p:sp>
      <p:sp>
        <p:nvSpPr>
          <p:cNvPr id="15" name="Text 13"/>
          <p:cNvSpPr/>
          <p:nvPr/>
        </p:nvSpPr>
        <p:spPr>
          <a:xfrm>
            <a:off x="4773168" y="2697480"/>
            <a:ext cx="3877056" cy="171907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The address it saw</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device, a router or a proxy</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Every request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Page, pictures, scripts</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Status and bytes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200, 304, 404; how much left</a:t>
            </a:r>
            <a:endParaRPr lang="en-US" sz="1300" dirty="0"/>
          </a:p>
        </p:txBody>
      </p:sp>
      <p:sp>
        <p:nvSpPr>
          <p:cNvPr id="16" name="Text 1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7, with demo S14-D4. A cached page can appear in the browser's record only.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Attribution when the network is not yours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2194560"/>
                <a:gridCol w="3840480"/>
                <a:gridCol w="2286000"/>
              </a:tblGrid>
              <a:tr h="438912">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Step</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Needs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Held by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38912">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Message to account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The store, the From line, the server's records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Computer; mail provider</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Account to sign-in</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Sign-in records: time, address, device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Provider: legal process if outside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38912">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Address to connection</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Which customer held the address that second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Internet provider: legal process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Device to user account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Profile, logon records (S5)</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Computer</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38912">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User account to person</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Password, second factor, door logs, witnesses, admission</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Mostly outside the computer</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8, with demo S14-D5. A name inside an address is typed by whoever made the account.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Through another lens: the online disinhibition effect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3017520"/>
          </a:xfrm>
          <a:prstGeom prst="rect">
            <a:avLst/>
          </a:prstGeom>
          <a:solidFill>
            <a:srgbClr val="F1E8F2"/>
          </a:solidFill>
          <a:ln/>
        </p:spPr>
      </p:sp>
      <p:sp>
        <p:nvSpPr>
          <p:cNvPr id="7" name="Shape 5"/>
          <p:cNvSpPr/>
          <p:nvPr/>
        </p:nvSpPr>
        <p:spPr>
          <a:xfrm>
            <a:off x="411480" y="1371600"/>
            <a:ext cx="82296" cy="3017520"/>
          </a:xfrm>
          <a:prstGeom prst="rect">
            <a:avLst/>
          </a:prstGeom>
          <a:solidFill>
            <a:srgbClr val="8A4E8F"/>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8A4E8F"/>
                </a:solidFill>
                <a:latin typeface="Open Sans" pitchFamily="34" charset="0"/>
                <a:ea typeface="Open Sans" pitchFamily="34" charset="-122"/>
                <a:cs typeface="Open Sans" pitchFamily="34" charset="-120"/>
              </a:rPr>
              <a:t>THROUGH ANOTHER LENS</a:t>
            </a:r>
            <a:endParaRPr lang="en-US" sz="1300" dirty="0"/>
          </a:p>
        </p:txBody>
      </p:sp>
      <p:sp>
        <p:nvSpPr>
          <p:cNvPr id="9" name="Text 7"/>
          <p:cNvSpPr/>
          <p:nvPr/>
        </p:nvSpPr>
        <p:spPr>
          <a:xfrm>
            <a:off x="621792" y="1700784"/>
            <a:ext cx="7955280" cy="261518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psychologist John Suler (2004) described why people say and do online what they would not face to face: they feel anonymous, invisible, unanswered, far from authority. The screen feels like a mask. The suspect's messages read that way: "Successfully secured." "It's done. See you tomorrow."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he was not anonymous. Own work account, employer's server and computer, a cloud account in his own name. He only felt unobserved. And the effect explains behaviour, never identity: tone cannot name the typist. This scripted dataset's tone is a writer's.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which part of your sentence comes from the records, and which from your sense of how people behave?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1423B"/>
        </a:solidFill>
      </p:bgPr>
    </p:bg>
    <p:spTree>
      <p:nvGrpSpPr>
        <p:cNvPr id="1" name=""/>
        <p:cNvGrpSpPr/>
        <p:nvPr/>
      </p:nvGrpSpPr>
      <p:grpSpPr>
        <a:xfrm>
          <a:off x="0" y="0"/>
          <a:ext cx="0" cy="0"/>
          <a:chOff x="0" y="0"/>
          <a:chExt cx="0" cy="0"/>
        </a:xfrm>
      </p:grpSpPr>
      <p:sp>
        <p:nvSpPr>
          <p:cNvPr id="2" name="Shape 0"/>
          <p:cNvSpPr/>
          <p:nvPr/>
        </p:nvSpPr>
        <p:spPr>
          <a:xfrm>
            <a:off x="731520" y="731520"/>
            <a:ext cx="502920" cy="64008"/>
          </a:xfrm>
          <a:prstGeom prst="rect">
            <a:avLst/>
          </a:prstGeom>
          <a:solidFill>
            <a:srgbClr val="6E8472"/>
          </a:solidFill>
          <a:ln/>
        </p:spPr>
      </p:sp>
      <p:sp>
        <p:nvSpPr>
          <p:cNvPr id="3" name="Shape 1"/>
          <p:cNvSpPr/>
          <p:nvPr/>
        </p:nvSpPr>
        <p:spPr>
          <a:xfrm>
            <a:off x="1280160" y="731520"/>
            <a:ext cx="256032" cy="64008"/>
          </a:xfrm>
          <a:prstGeom prst="rect">
            <a:avLst/>
          </a:prstGeom>
          <a:solidFill>
            <a:srgbClr val="8A4E8F"/>
          </a:solidFill>
          <a:ln/>
        </p:spPr>
      </p:sp>
      <p:sp>
        <p:nvSpPr>
          <p:cNvPr id="4" name="Text 2"/>
          <p:cNvSpPr/>
          <p:nvPr/>
        </p:nvSpPr>
        <p:spPr>
          <a:xfrm>
            <a:off x="731520" y="987552"/>
            <a:ext cx="7680960" cy="365760"/>
          </a:xfrm>
          <a:prstGeom prst="rect">
            <a:avLst/>
          </a:prstGeom>
          <a:noFill/>
          <a:ln/>
        </p:spPr>
        <p:txBody>
          <a:bodyPr wrap="square" lIns="0" tIns="0" rIns="0" bIns="0" rtlCol="0" anchor="ctr"/>
          <a:lstStyle/>
          <a:p>
            <a:pPr indent="0" marL="0">
              <a:buNone/>
            </a:pPr>
            <a:r>
              <a:rPr lang="en-US" sz="1300" b="1" spc="200" kern="0" dirty="0">
                <a:solidFill>
                  <a:srgbClr val="C9A6CC"/>
                </a:solidFill>
                <a:latin typeface="Open Sans" pitchFamily="34" charset="0"/>
                <a:ea typeface="Open Sans" pitchFamily="34" charset="-122"/>
                <a:cs typeface="Open Sans" pitchFamily="34" charset="-120"/>
              </a:rPr>
              <a:t>KEY CONCEPT</a:t>
            </a:r>
            <a:endParaRPr lang="en-US" sz="1300" dirty="0"/>
          </a:p>
        </p:txBody>
      </p:sp>
      <p:sp>
        <p:nvSpPr>
          <p:cNvPr id="5" name="Text 3"/>
          <p:cNvSpPr/>
          <p:nvPr/>
        </p:nvSpPr>
        <p:spPr>
          <a:xfrm>
            <a:off x="731520" y="1463040"/>
            <a:ext cx="7680960" cy="128016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Online identity is a mask.</a:t>
            </a:r>
            <a:endParaRPr lang="en-US" sz="3200" dirty="0"/>
          </a:p>
        </p:txBody>
      </p:sp>
      <p:sp>
        <p:nvSpPr>
          <p:cNvPr id="6" name="Text 4"/>
          <p:cNvSpPr/>
          <p:nvPr/>
        </p:nvSpPr>
        <p:spPr>
          <a:xfrm>
            <a:off x="731520" y="2743200"/>
            <a:ext cx="7680960" cy="1280160"/>
          </a:xfrm>
          <a:prstGeom prst="rect">
            <a:avLst/>
          </a:prstGeom>
          <a:noFill/>
          <a:ln/>
        </p:spPr>
        <p:txBody>
          <a:bodyPr wrap="square" lIns="0" tIns="0" rIns="0" bIns="0" rtlCol="0" anchor="t"/>
          <a:lstStyle/>
          <a:p>
            <a:pPr indent="0" marL="0">
              <a:buNone/>
            </a:pPr>
            <a:r>
              <a:rPr lang="en-US" sz="2200" i="1" dirty="0">
                <a:solidFill>
                  <a:srgbClr val="E8F0EA"/>
                </a:solidFill>
                <a:latin typeface="Open Sans" pitchFamily="34" charset="0"/>
                <a:ea typeface="Open Sans" pitchFamily="34" charset="-122"/>
                <a:cs typeface="Open Sans" pitchFamily="34" charset="-120"/>
              </a:rPr>
              <a:t>Attribution links the mask to a person, step by step, with the evidence for each step.</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Ordinary artefacts, extraordinary reading</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2194560"/>
                <a:gridCol w="6126480"/>
              </a:tblGrid>
              <a:tr h="347472">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UTC, 23 March 2015</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Event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17:29:27</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message from the contact: "How are you doing?"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18:02 to 18:19</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Searches on leaking, deleting data, anti-forensics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18:44:31</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Reply: "Successfully secured."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20:30:44, 20:31:02</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Two client documents renamed to harmless names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20:32:35</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Both uploaded to a personal cloud account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20:38:47</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It's me: two links sent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20:42:17</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Both deleted from the cloud account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9. Pattern, sequence, context; the alternatives you tested; your confidence.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6949440" cy="566928"/>
          </a:xfrm>
          <a:prstGeom prst="rect">
            <a:avLst/>
          </a:prstGeom>
          <a:noFill/>
          <a:ln/>
        </p:spPr>
        <p:txBody>
          <a:bodyPr wrap="square" lIns="0" tIns="0" rIns="0" bIns="0" rtlCol="0" anchor="t"/>
          <a:lstStyle/>
          <a:p>
            <a:pPr indent="0" marL="0">
              <a:buNone/>
            </a:pPr>
            <a:r>
              <a:rPr lang="en-US" sz="2400" b="1" dirty="0">
                <a:solidFill>
                  <a:srgbClr val="FFFFFF"/>
                </a:solidFill>
                <a:latin typeface="Open Sans" pitchFamily="34" charset="0"/>
                <a:ea typeface="Open Sans" pitchFamily="34" charset="-122"/>
                <a:cs typeface="Open Sans" pitchFamily="34" charset="-120"/>
              </a:rPr>
              <a:t>The lab: the suspect's messages and visits</a:t>
            </a:r>
            <a:endParaRPr lang="en-US" sz="2400" dirty="0"/>
          </a:p>
        </p:txBody>
      </p:sp>
      <p:pic>
        <p:nvPicPr>
          <p:cNvPr id="5" name="Image 0" descr="preencoded.png">    </p:cNvPr>
          <p:cNvPicPr>
            <a:picLocks noChangeAspect="1"/>
          </p:cNvPicPr>
          <p:nvPr/>
        </p:nvPicPr>
        <p:blipFill>
          <a:blip r:embed="rId1"/>
          <a:stretch>
            <a:fillRect/>
          </a:stretch>
        </p:blipFill>
        <p:spPr>
          <a:xfrm>
            <a:off x="8001000" y="566928"/>
            <a:ext cx="731520" cy="731520"/>
          </a:xfrm>
          <a:prstGeom prst="rect">
            <a:avLst/>
          </a:prstGeom>
        </p:spPr>
      </p:pic>
      <p:sp>
        <p:nvSpPr>
          <p:cNvPr id="6" name="Shape 3"/>
          <p:cNvSpPr/>
          <p:nvPr/>
        </p:nvSpPr>
        <p:spPr>
          <a:xfrm>
            <a:off x="411480" y="1463040"/>
            <a:ext cx="3749040" cy="3246120"/>
          </a:xfrm>
          <a:prstGeom prst="rect">
            <a:avLst/>
          </a:prstGeom>
          <a:solidFill>
            <a:srgbClr val="31423B"/>
          </a:solidFill>
          <a:ln/>
        </p:spPr>
      </p:sp>
      <p:sp>
        <p:nvSpPr>
          <p:cNvPr id="7" name="Text 4"/>
          <p:cNvSpPr/>
          <p:nvPr/>
        </p:nvSpPr>
        <p:spPr>
          <a:xfrm>
            <a:off x="548640" y="1463040"/>
            <a:ext cx="3474720" cy="3246120"/>
          </a:xfrm>
          <a:prstGeom prst="rect">
            <a:avLst/>
          </a:prstGeom>
          <a:noFill/>
          <a:ln/>
        </p:spPr>
        <p:txBody>
          <a:bodyPr wrap="square" lIns="0" tIns="0" rIns="0" bIns="0" rtlCol="0" anchor="ctr"/>
          <a:lstStyle/>
          <a:p>
            <a:pPr indent="0" marL="0">
              <a:spcAft>
                <a:spcPts val="900"/>
              </a:spcAft>
              <a:buNone/>
            </a:pPr>
            <a:r>
              <a:rPr lang="en-US" sz="1800" b="1" dirty="0">
                <a:solidFill>
                  <a:srgbClr val="FFFFFF"/>
                </a:solidFill>
                <a:latin typeface="Open Sans" pitchFamily="34" charset="0"/>
                <a:ea typeface="Open Sans" pitchFamily="34" charset="-122"/>
                <a:cs typeface="Open Sans" pitchFamily="34" charset="-120"/>
              </a:rPr>
              <a:t>Two rules</a:t>
            </a:r>
            <a:endParaRPr lang="en-US" sz="1500" dirty="0"/>
          </a:p>
          <a:p>
            <a:pPr indent="0" marL="0">
              <a:spcAft>
                <a:spcPts val="900"/>
              </a:spcAft>
              <a:buNone/>
            </a:pPr>
            <a:r>
              <a:rPr lang="en-US" sz="1500" b="1" dirty="0">
                <a:solidFill>
                  <a:srgbClr val="FFFFFF"/>
                </a:solidFill>
                <a:latin typeface="Open Sans" pitchFamily="34" charset="0"/>
                <a:ea typeface="Open Sans" pitchFamily="34" charset="-122"/>
                <a:cs typeface="Open Sans" pitchFamily="34" charset="-120"/>
              </a:rPr>
              <a:t>The case is read only: hash every copy</a:t>
            </a:r>
            <a:endParaRPr lang="en-US" sz="1500" dirty="0"/>
          </a:p>
          <a:p>
            <a:pPr indent="0" marL="0">
              <a:spcAft>
                <a:spcPts val="900"/>
              </a:spcAft>
              <a:buNone/>
            </a:pPr>
            <a:r>
              <a:rPr lang="en-US" sz="1500" b="1" dirty="0">
                <a:solidFill>
                  <a:srgbClr val="FFFFFF"/>
                </a:solidFill>
                <a:latin typeface="Open Sans" pitchFamily="34" charset="0"/>
                <a:ea typeface="Open Sans" pitchFamily="34" charset="-122"/>
                <a:cs typeface="Open Sans" pitchFamily="34" charset="-120"/>
              </a:rPr>
              <a:t>Never open a link from the evidence</a:t>
            </a:r>
            <a:endParaRPr lang="en-US" sz="1500" dirty="0"/>
          </a:p>
        </p:txBody>
      </p:sp>
      <p:sp>
        <p:nvSpPr>
          <p:cNvPr id="8" name="Shape 5"/>
          <p:cNvSpPr/>
          <p:nvPr/>
        </p:nvSpPr>
        <p:spPr>
          <a:xfrm>
            <a:off x="4297680" y="1463040"/>
            <a:ext cx="4434840" cy="3246120"/>
          </a:xfrm>
          <a:prstGeom prst="rect">
            <a:avLst/>
          </a:prstGeom>
          <a:solidFill>
            <a:srgbClr val="31423B"/>
          </a:solidFill>
          <a:ln/>
        </p:spPr>
      </p:sp>
      <p:sp>
        <p:nvSpPr>
          <p:cNvPr id="9" name="Text 6"/>
          <p:cNvSpPr/>
          <p:nvPr/>
        </p:nvSpPr>
        <p:spPr>
          <a:xfrm>
            <a:off x="4434840" y="1463040"/>
            <a:ext cx="4160520" cy="3246120"/>
          </a:xfrm>
          <a:prstGeom prst="rect">
            <a:avLst/>
          </a:prstGeom>
          <a:noFill/>
          <a:ln/>
        </p:spPr>
        <p:txBody>
          <a:bodyPr wrap="square" lIns="0" tIns="0" rIns="0" bIns="0" rtlCol="0" anchor="ctr"/>
          <a:lstStyle/>
          <a:p>
            <a:pPr indent="0" marL="0">
              <a:spcAft>
                <a:spcPts val="700"/>
              </a:spcAft>
              <a:buNone/>
            </a:pPr>
            <a:r>
              <a:rPr lang="en-US" sz="1300" b="1" dirty="0">
                <a:solidFill>
                  <a:srgbClr val="FFFFFF"/>
                </a:solidFill>
                <a:latin typeface="Open Sans" pitchFamily="34" charset="0"/>
                <a:ea typeface="Open Sans" pitchFamily="34" charset="-122"/>
                <a:cs typeface="Open Sans" pitchFamily="34" charset="-120"/>
              </a:rPr>
              <a:t>A  Open the case; find four files by name</a:t>
            </a:r>
            <a:endParaRPr lang="en-US" sz="1300" dirty="0"/>
          </a:p>
          <a:p>
            <a:pPr indent="0" marL="0">
              <a:spcAft>
                <a:spcPts val="700"/>
              </a:spcAft>
              <a:buNone/>
            </a:pPr>
            <a:r>
              <a:rPr lang="en-US" sz="1300" b="1" dirty="0">
                <a:solidFill>
                  <a:srgbClr val="FFFFFF"/>
                </a:solidFill>
                <a:latin typeface="Open Sans" pitchFamily="34" charset="0"/>
                <a:ea typeface="Open Sans" pitchFamily="34" charset="-122"/>
                <a:cs typeface="Open Sans" pitchFamily="34" charset="-120"/>
              </a:rPr>
              <a:t>B  The mail store: Autopsy, readpst twice, pffexport</a:t>
            </a:r>
            <a:endParaRPr lang="en-US" sz="1300" dirty="0"/>
          </a:p>
          <a:p>
            <a:pPr indent="0" marL="0">
              <a:spcAft>
                <a:spcPts val="700"/>
              </a:spcAft>
              <a:buNone/>
            </a:pPr>
            <a:r>
              <a:rPr lang="en-US" sz="1300" b="1" dirty="0">
                <a:solidFill>
                  <a:srgbClr val="FFFFFF"/>
                </a:solidFill>
                <a:latin typeface="Open Sans" pitchFamily="34" charset="0"/>
                <a:ea typeface="Open Sans" pitchFamily="34" charset="-122"/>
                <a:cs typeface="Open Sans" pitchFamily="34" charset="-120"/>
              </a:rPr>
              <a:t>C  History, searches, downloads; Chrome by query; the Drive log</a:t>
            </a:r>
            <a:endParaRPr lang="en-US" sz="1300" dirty="0"/>
          </a:p>
          <a:p>
            <a:pPr indent="0" marL="0">
              <a:spcAft>
                <a:spcPts val="700"/>
              </a:spcAft>
              <a:buNone/>
            </a:pPr>
            <a:r>
              <a:rPr lang="en-US" sz="1300" b="1" dirty="0">
                <a:solidFill>
                  <a:srgbClr val="FFFFFF"/>
                </a:solidFill>
                <a:latin typeface="Open Sans" pitchFamily="34" charset="0"/>
                <a:ea typeface="Open Sans" pitchFamily="34" charset="-122"/>
                <a:cs typeface="Open Sans" pitchFamily="34" charset="-120"/>
              </a:rPr>
              <a:t>D  The communications timeline in UTC</a:t>
            </a:r>
            <a:endParaRPr lang="en-US" sz="1300" dirty="0"/>
          </a:p>
          <a:p>
            <a:pPr indent="0" marL="0">
              <a:spcAft>
                <a:spcPts val="700"/>
              </a:spcAft>
              <a:buNone/>
            </a:pPr>
            <a:r>
              <a:rPr lang="en-US" sz="1300" b="1" dirty="0">
                <a:solidFill>
                  <a:srgbClr val="FFFFFF"/>
                </a:solidFill>
                <a:latin typeface="Open Sans" pitchFamily="34" charset="0"/>
                <a:ea typeface="Open Sans" pitchFamily="34" charset="-122"/>
                <a:cs typeface="Open Sans" pitchFamily="34" charset="-120"/>
              </a:rPr>
              <a:t>E  The attribution note for It's me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6E8472"/>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7690104" cy="6400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Discuss</a:t>
            </a:r>
            <a:endParaRPr lang="en-US" sz="3600" dirty="0"/>
          </a:p>
        </p:txBody>
      </p:sp>
      <p:sp>
        <p:nvSpPr>
          <p:cNvPr id="5" name="Shape 3"/>
          <p:cNvSpPr/>
          <p:nvPr/>
        </p:nvSpPr>
        <p:spPr>
          <a:xfrm>
            <a:off x="1097280" y="1737360"/>
            <a:ext cx="6949440" cy="2468880"/>
          </a:xfrm>
          <a:prstGeom prst="rect">
            <a:avLst/>
          </a:prstGeom>
          <a:solidFill>
            <a:srgbClr val="FFFFFF"/>
          </a:solidFill>
          <a:ln/>
        </p:spPr>
      </p:sp>
      <p:sp>
        <p:nvSpPr>
          <p:cNvPr id="6" name="Text 4"/>
          <p:cNvSpPr/>
          <p:nvPr/>
        </p:nvSpPr>
        <p:spPr>
          <a:xfrm>
            <a:off x="1280160" y="1737360"/>
            <a:ext cx="6583680" cy="2468880"/>
          </a:xfrm>
          <a:prstGeom prst="rect">
            <a:avLst/>
          </a:prstGeom>
          <a:noFill/>
          <a:ln/>
        </p:spPr>
        <p:txBody>
          <a:bodyPr wrap="square" lIns="0" tIns="0" rIns="0" bIns="0" rtlCol="0" anchor="ctr"/>
          <a:lstStyle/>
          <a:p>
            <a:pPr indent="0" marL="0">
              <a:buNone/>
            </a:pPr>
            <a:r>
              <a:rPr lang="en-US" sz="1700" b="1" dirty="0">
                <a:solidFill>
                  <a:srgbClr val="31423B"/>
                </a:solidFill>
                <a:latin typeface="Open Sans" pitchFamily="34" charset="0"/>
                <a:ea typeface="Open Sans" pitchFamily="34" charset="-122"/>
                <a:cs typeface="Open Sans" pitchFamily="34" charset="-120"/>
              </a:rPr>
              <a:t>A security officer at another company made the same searches as the suspect, on the same afternoon. What, in today's evidence, separates the two readings, and what would you still need before naming a person?</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6E8472"/>
          </a:solidFill>
          <a:ln/>
        </p:spPr>
      </p:sp>
      <p:pic>
        <p:nvPicPr>
          <p:cNvPr id="3" name="Image 0" descr="preencoded.png">    </p:cNvPr>
          <p:cNvPicPr>
            <a:picLocks noChangeAspect="1"/>
          </p:cNvPicPr>
          <p:nvPr/>
        </p:nvPicPr>
        <p:blipFill>
          <a:blip r:embed="rId1"/>
          <a:stretch>
            <a:fillRect/>
          </a:stretch>
        </p:blipFill>
        <p:spPr>
          <a:xfrm>
            <a:off x="6583680" y="1554480"/>
            <a:ext cx="2011680" cy="2011680"/>
          </a:xfrm>
          <a:prstGeom prst="rect">
            <a:avLst/>
          </a:prstGeom>
        </p:spPr>
      </p:pic>
      <p:sp>
        <p:nvSpPr>
          <p:cNvPr id="4" name="Text 1"/>
          <p:cNvSpPr/>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31423B"/>
                </a:solidFill>
                <a:latin typeface="Open Sans" pitchFamily="34" charset="0"/>
                <a:ea typeface="Open Sans" pitchFamily="34" charset="-122"/>
                <a:cs typeface="Open Sans" pitchFamily="34" charset="-120"/>
              </a:rPr>
              <a:t>Questions &amp;</a:t>
            </a:r>
            <a:endParaRPr lang="en-US" sz="4800" dirty="0"/>
          </a:p>
        </p:txBody>
      </p:sp>
      <p:sp>
        <p:nvSpPr>
          <p:cNvPr id="5" name="Text 2"/>
          <p:cNvSpPr/>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6E8472"/>
                </a:solidFill>
                <a:latin typeface="Open Sans" pitchFamily="34" charset="0"/>
                <a:ea typeface="Open Sans" pitchFamily="34" charset="-122"/>
                <a:cs typeface="Open Sans" pitchFamily="34" charset="-120"/>
              </a:rPr>
              <a:t>Discussion</a:t>
            </a:r>
            <a:endParaRPr lang="en-US" sz="4800" dirty="0"/>
          </a:p>
        </p:txBody>
      </p:sp>
      <p:sp>
        <p:nvSpPr>
          <p:cNvPr id="6" name="Shape 3"/>
          <p:cNvSpPr/>
          <p:nvPr/>
        </p:nvSpPr>
        <p:spPr>
          <a:xfrm>
            <a:off x="384048" y="2852928"/>
            <a:ext cx="749808" cy="73152"/>
          </a:xfrm>
          <a:prstGeom prst="rect">
            <a:avLst/>
          </a:prstGeom>
          <a:solidFill>
            <a:srgbClr val="6E8472"/>
          </a:solidFill>
          <a:ln/>
        </p:spPr>
      </p:sp>
      <p:sp>
        <p:nvSpPr>
          <p:cNvPr id="7" name="Shape 4"/>
          <p:cNvSpPr/>
          <p:nvPr/>
        </p:nvSpPr>
        <p:spPr>
          <a:xfrm>
            <a:off x="1188720" y="2852928"/>
            <a:ext cx="384048" cy="73152"/>
          </a:xfrm>
          <a:prstGeom prst="rect">
            <a:avLst/>
          </a:prstGeom>
          <a:solidFill>
            <a:srgbClr val="8A4E8F"/>
          </a:solidFill>
          <a:ln/>
        </p:spPr>
      </p:sp>
      <p:sp>
        <p:nvSpPr>
          <p:cNvPr id="8" name="Text 5"/>
          <p:cNvSpPr/>
          <p:nvPr/>
        </p:nvSpPr>
        <p:spPr>
          <a:xfrm>
            <a:off x="384048" y="3035808"/>
            <a:ext cx="5394960" cy="1691640"/>
          </a:xfrm>
          <a:prstGeom prst="rect">
            <a:avLst/>
          </a:prstGeom>
          <a:noFill/>
          <a:ln/>
        </p:spPr>
        <p:txBody>
          <a:bodyPr wrap="square" lIns="0" tIns="0" rIns="0" bIns="0" rtlCol="0" anchor="t"/>
          <a:lstStyle/>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Received lines: bottom up for the route, top down for trust</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Ask who wrote each line</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Name the tool for every list of messages</a:t>
            </a:r>
            <a:endParaRPr lang="en-US" sz="1300" dirty="0"/>
          </a:p>
          <a:p>
            <a:pPr marL="342900" indent="-342900">
              <a:spcAft>
                <a:spcPts val="800"/>
              </a:spcAft>
              <a:buSzPct val="100000"/>
              <a:buChar char="•"/>
            </a:pPr>
            <a:r>
              <a:rPr lang="en-US" sz="1300" b="1" dirty="0">
                <a:solidFill>
                  <a:srgbClr val="31423B"/>
                </a:solidFill>
                <a:latin typeface="Open Sans" pitchFamily="34" charset="0"/>
                <a:ea typeface="Open Sans" pitchFamily="34" charset="-122"/>
                <a:cs typeface="Open Sans" pitchFamily="34" charset="-120"/>
              </a:rPr>
              <a:t>An account is a login; a person needs more</a:t>
            </a:r>
            <a:endParaRPr lang="en-US" sz="1300" dirty="0"/>
          </a:p>
          <a:p>
            <a:pPr indent="0" marL="0">
              <a:spcAft>
                <a:spcPts val="300"/>
              </a:spcAft>
              <a:buNone/>
            </a:pPr>
            <a:r>
              <a:rPr lang="en-US" sz="1300" i="1" dirty="0">
                <a:solidFill>
                  <a:srgbClr val="5C6B63"/>
                </a:solidFill>
                <a:latin typeface="Open Sans" pitchFamily="34" charset="0"/>
                <a:ea typeface="Open Sans" pitchFamily="34" charset="-122"/>
                <a:cs typeface="Open Sans" pitchFamily="34" charset="-120"/>
              </a:rPr>
              <a:t>End-of-day quiz: five short answers on the page. Next: Session 15, the phone.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p:nvPr/>
        </p:nvSpPr>
        <p:spPr>
          <a:xfrm>
            <a:off x="731520" y="1417320"/>
            <a:ext cx="7863840" cy="2331720"/>
          </a:xfrm>
          <a:prstGeom prst="rect">
            <a:avLst/>
          </a:prstGeom>
          <a:noFill/>
          <a:ln/>
        </p:spPr>
        <p:txBody>
          <a:bodyPr wrap="square" lIns="0" tIns="0" rIns="0" bIns="0" rtlCol="0" anchor="t"/>
          <a:lstStyle/>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This disclaimer is subject to change without notice.</a:t>
            </a:r>
            <a:endParaRPr lang="en-US" sz="1200" dirty="0"/>
          </a:p>
        </p:txBody>
      </p:sp>
      <p:sp>
        <p:nvSpPr>
          <p:cNvPr id="7" name="Shape 5"/>
          <p:cNvSpPr/>
          <p:nvPr/>
        </p:nvSpPr>
        <p:spPr>
          <a:xfrm>
            <a:off x="731520" y="3931920"/>
            <a:ext cx="54864" cy="621792"/>
          </a:xfrm>
          <a:prstGeom prst="rect">
            <a:avLst/>
          </a:prstGeom>
          <a:solidFill>
            <a:srgbClr val="E8F0EA"/>
          </a:solidFill>
          <a:ln/>
        </p:spPr>
      </p:sp>
      <p:sp>
        <p:nvSpPr>
          <p:cNvPr id="8" name="Text 6"/>
          <p:cNvSpPr/>
          <p:nvPr/>
        </p:nvSpPr>
        <p:spPr>
          <a:xfrm>
            <a:off x="859536" y="3931920"/>
            <a:ext cx="7735824" cy="621792"/>
          </a:xfrm>
          <a:prstGeom prst="rect">
            <a:avLst/>
          </a:prstGeom>
          <a:noFill/>
          <a:ln/>
        </p:spPr>
        <p:txBody>
          <a:bodyPr wrap="square" lIns="0" tIns="0" rIns="0" bIns="0" rtlCol="0" anchor="t"/>
          <a:lstStyle/>
          <a:p>
            <a:pPr indent="0" marL="0">
              <a:buNone/>
            </a:pPr>
            <a:r>
              <a:rPr lang="en-US" sz="1100" dirty="0">
                <a:solidFill>
                  <a:srgbClr val="5C6B63"/>
                </a:solidFill>
                <a:latin typeface="Open Sans" pitchFamily="34" charset="0"/>
                <a:ea typeface="Open Sans" pitchFamily="34" charset="-122"/>
                <a:cs typeface="Open Sans" pitchFamily="34" charset="-120"/>
              </a:rPr>
              <a:t>@ Images and artworks used in this presentation are used for general informational purposes only. It may contain copyrighted material, the use of which may not have been specifically authorised by the copyright owner. This material is available in an effort to explain issues relevant to the topic. This should constitute a 'fair use' of any such copyrighted material.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National Institute of Business Management (NIBM)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NB6018CEM S14 - Internet-based Forensics</dc:title>
  <dc:subject>PptxGenJS Presentation</dc:subject>
  <dc:creator>Niranga Dharmaratna</dc:creator>
  <cp:lastModifiedBy>Niranga Dharmaratna</cp:lastModifiedBy>
  <cp:revision>1</cp:revision>
  <dcterms:created xsi:type="dcterms:W3CDTF">2026-10-15T18:09:24Z</dcterms:created>
  <dcterms:modified xsi:type="dcterms:W3CDTF">2026-10-15T18:09:24Z</dcterms:modified>
</cp:coreProperties>
</file>