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session and a workshop: most of the three hours is the students' own coursework time. The brief, its summary rubric, the template, the tools policy, the forms and all dates are on the LMS; the page and this deck never reproduce them. No new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day-closing: Day 9 closes with the mock, issued on the LMS (D20, D26, D37), so there is no quiz. The page has Check yourself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S17's Coming next promised the rubric, the report and the viva, with time on the students' own cloud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1. The practice criterion shows how bands work in general; the students' own summary rubric is opened from the LMS for Part A of the workshop.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1. Most banded rubrics are applied by best fit; the summary rubric says how its own bands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four-part comparison of section 1. Spend the time on where it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2. Everything here already exists in the students' folders from Sessions 11 to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2. The household-budget comparison breaks because words are not interchangeable, and under budget is not saving.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3. Students check all eight against their own timeline and draft in Part B, on the progress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3. Pitfall 6 is the hardest to see in one's own writing; run the demo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4 (D31). The viva asks about the student's own work. If you do not know, say so and say how you would find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4, the lens. Session 16 met Tufte's charts; today is the spoken side of the same night. Facts from the Rogers Commission record (McDonald's notes, Volume 4): the 53 F recommendation, NASA's challenge that the data were inconclusive, the off-line caucus, and the reversal. Name and paraphrase only; seven crew died, so keep the tone serious.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pivotal idea (S16/S18 row of Teaching Plan Section 7). S16 said it of the page; S18 says it aloud. Let the room read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5. One version of the tools rule only: the LMS's.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6 (D24). Verified at build in AWS's documentation: Empty deletes all versions; trails are not removed by account closure; the 90-day post-closure period; CloudShell storage deleted about 120 days after the last session in a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7. No practice items here: the map points to each session's quick checks, Check yourself and quizzes. The demo marks the published S02 quiz Q5. Where a paper has multiple-choice items: decide first, then match, then rule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8. Part A is the walkthrough with the LMS documents open. Part D: never share findings, values or text; feedback is observation, question, suggestion. Checkpoint: the progress form, formative.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8, Part E. Students record on the viva-rehearsal form the first step where they hesitated. Never compare values across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Take-aways. Students keep the three forms with their coursework notes; they are not handed in. The exam-preparation hour follows with the mock, issued on the LMS.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House disclaimer, unchanged. The account and values in the demos are the invented ones of the Session 13 page; CFReDS times are the case's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4"/>
        </a:solidFill>
      </p:bgPr>
    </p:bg>
    <p:spTree>
      <p:nvGrpSpPr>
        <p:cNvPr id="1" name=""/>
        <p:cNvGrpSpPr/>
        <p:nvPr/>
      </p:nvGrpSpPr>
      <p:grpSpPr>
        <a:xfrm>
          <a:off x="0" y="0"/>
          <a:ext cx="0" cy="0"/>
          <a:chOff x="0" y="0"/>
          <a:chExt cx="0" cy="0"/>
        </a:xfrm>
      </p:grpSpPr>
      <p:sp>
        <p:nvSpPr>
          <p:cNvPr id="2" name="Text 0"/>
          <p:cNvSpPr/>
          <p:nvPr/>
        </p:nvSpPr>
        <p:spPr>
          <a:xfrm>
            <a:off x="384048" y="292608"/>
            <a:ext cx="5486400" cy="548640"/>
          </a:xfrm>
          <a:prstGeom prst="rect">
            <a:avLst/>
          </a:prstGeom>
          <a:noFill/>
          <a:ln/>
        </p:spPr>
        <p:txBody>
          <a:bodyPr wrap="square" lIns="0" tIns="0" rIns="0" bIns="0"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BSc (Hons) Ethical Hacking &amp; Network Security</a:t>
            </a:r>
            <a:endParaRPr lang="en-US" sz="1300" dirty="0"/>
          </a:p>
          <a:p>
            <a:pPr indent="0" marL="0">
              <a:buNone/>
            </a:pPr>
            <a:r>
              <a:rPr lang="en-US" sz="1300" b="1" dirty="0">
                <a:solidFill>
                  <a:srgbClr val="31423B"/>
                </a:solidFill>
                <a:latin typeface="Open Sans" pitchFamily="34" charset="0"/>
                <a:ea typeface="Open Sans" pitchFamily="34" charset="-122"/>
                <a:cs typeface="Open Sans" pitchFamily="34" charset="-120"/>
              </a:rPr>
              <a:t>Coventry University (CU) - NIBM</a:t>
            </a:r>
            <a:endParaRPr lang="en-US" sz="1300" dirty="0"/>
          </a:p>
        </p:txBody>
      </p:sp>
      <p:sp>
        <p:nvSpPr>
          <p:cNvPr id="3" name="Text 1"/>
          <p:cNvSpPr/>
          <p:nvPr/>
        </p:nvSpPr>
        <p:spPr>
          <a:xfrm>
            <a:off x="384048" y="886968"/>
            <a:ext cx="4572000" cy="256032"/>
          </a:xfrm>
          <a:prstGeom prst="rect">
            <a:avLst/>
          </a:prstGeom>
          <a:noFill/>
          <a:ln/>
        </p:spPr>
        <p:txBody>
          <a:bodyPr wrap="square" lIns="0" tIns="0" rIns="0" bIns="0" rtlCol="0" anchor="ctr"/>
          <a:lstStyle/>
          <a:p>
            <a:pPr indent="0" marL="0">
              <a:buNone/>
            </a:pPr>
            <a:r>
              <a:rPr lang="en-US" sz="1300" b="1" dirty="0">
                <a:solidFill>
                  <a:srgbClr val="4F6356"/>
                </a:solidFill>
                <a:latin typeface="Open Sans" pitchFamily="34" charset="0"/>
                <a:ea typeface="Open Sans" pitchFamily="34" charset="-122"/>
                <a:cs typeface="Open Sans" pitchFamily="34" charset="-120"/>
              </a:rPr>
              <a:t>NB6018CEM  |  Level 6  |  20 Credits</a:t>
            </a:r>
            <a:endParaRPr lang="en-US" sz="1300" dirty="0"/>
          </a:p>
        </p:txBody>
      </p:sp>
      <p:sp>
        <p:nvSpPr>
          <p:cNvPr id="4" name="Text 2"/>
          <p:cNvSpPr/>
          <p:nvPr/>
        </p:nvSpPr>
        <p:spPr>
          <a:xfrm>
            <a:off x="384048" y="1188720"/>
            <a:ext cx="5486400" cy="1920240"/>
          </a:xfrm>
          <a:prstGeom prst="rect">
            <a:avLst/>
          </a:prstGeom>
          <a:noFill/>
          <a:ln/>
        </p:spPr>
        <p:txBody>
          <a:bodyPr wrap="square" lIns="0" tIns="0" rIns="0" bIns="0" rtlCol="0" anchor="ctr"/>
          <a:lstStyle/>
          <a:p>
            <a:pPr indent="0" marL="0">
              <a:buNone/>
            </a:pPr>
            <a:r>
              <a:rPr lang="en-US" sz="3200" b="1" dirty="0">
                <a:solidFill>
                  <a:srgbClr val="31423B"/>
                </a:solidFill>
                <a:latin typeface="Open Sans" pitchFamily="34" charset="0"/>
                <a:ea typeface="Open Sans" pitchFamily="34" charset="-122"/>
                <a:cs typeface="Open Sans" pitchFamily="34" charset="-120"/>
              </a:rPr>
              <a:t>Capstone workshop: coursework and viva preparation</a:t>
            </a:r>
            <a:endParaRPr lang="en-US" sz="3200" dirty="0"/>
          </a:p>
        </p:txBody>
      </p:sp>
      <p:sp>
        <p:nvSpPr>
          <p:cNvPr id="5" name="Shape 3"/>
          <p:cNvSpPr/>
          <p:nvPr/>
        </p:nvSpPr>
        <p:spPr>
          <a:xfrm>
            <a:off x="384048" y="3145536"/>
            <a:ext cx="749808" cy="82296"/>
          </a:xfrm>
          <a:prstGeom prst="rect">
            <a:avLst/>
          </a:prstGeom>
          <a:solidFill>
            <a:srgbClr val="6E8472"/>
          </a:solidFill>
          <a:ln/>
        </p:spPr>
      </p:sp>
      <p:sp>
        <p:nvSpPr>
          <p:cNvPr id="6" name="Shape 4"/>
          <p:cNvSpPr/>
          <p:nvPr/>
        </p:nvSpPr>
        <p:spPr>
          <a:xfrm>
            <a:off x="1188720" y="3145536"/>
            <a:ext cx="384048" cy="82296"/>
          </a:xfrm>
          <a:prstGeom prst="rect">
            <a:avLst/>
          </a:prstGeom>
          <a:solidFill>
            <a:srgbClr val="8A4E8F"/>
          </a:solidFill>
          <a:ln/>
        </p:spPr>
      </p:sp>
      <p:sp>
        <p:nvSpPr>
          <p:cNvPr id="7" name="Text 5"/>
          <p:cNvSpPr/>
          <p:nvPr/>
        </p:nvSpPr>
        <p:spPr>
          <a:xfrm>
            <a:off x="384048" y="3310128"/>
            <a:ext cx="5303520" cy="640080"/>
          </a:xfrm>
          <a:prstGeom prst="rect">
            <a:avLst/>
          </a:prstGeom>
          <a:noFill/>
          <a:ln/>
        </p:spPr>
        <p:txBody>
          <a:bodyPr wrap="square" lIns="0" tIns="0" rIns="0" bIns="0" rtlCol="0" anchor="t"/>
          <a:lstStyle/>
          <a:p>
            <a:pPr indent="0" marL="0">
              <a:buNone/>
            </a:pPr>
            <a:r>
              <a:rPr lang="en-US" sz="1800" i="1" dirty="0">
                <a:solidFill>
                  <a:srgbClr val="5C6B63"/>
                </a:solidFill>
                <a:latin typeface="Open Sans" pitchFamily="34" charset="0"/>
                <a:ea typeface="Open Sans" pitchFamily="34" charset="-122"/>
                <a:cs typeface="Open Sans" pitchFamily="34" charset="-120"/>
              </a:rPr>
              <a:t>Session 18 - Day 9: Integration and assessment readiness</a:t>
            </a:r>
            <a:endParaRPr lang="en-US" sz="1800" dirty="0"/>
          </a:p>
        </p:txBody>
      </p:sp>
      <p:sp>
        <p:nvSpPr>
          <p:cNvPr id="8" name="Text 6"/>
          <p:cNvSpPr/>
          <p:nvPr/>
        </p:nvSpPr>
        <p:spPr>
          <a:xfrm>
            <a:off x="384048" y="4681728"/>
            <a:ext cx="5029200" cy="329184"/>
          </a:xfrm>
          <a:prstGeom prst="rect">
            <a:avLst/>
          </a:prstGeom>
          <a:noFill/>
          <a:ln/>
        </p:spPr>
        <p:txBody>
          <a:bodyPr wrap="square" lIns="0" tIns="0" rIns="0" bIns="0" rtlCol="0" anchor="ctr"/>
          <a:lstStyle/>
          <a:p>
            <a:pPr indent="0" marL="0">
              <a:buNone/>
            </a:pPr>
            <a:r>
              <a:rPr lang="en-US" sz="1300" dirty="0">
                <a:solidFill>
                  <a:srgbClr val="5C6B63"/>
                </a:solidFill>
                <a:latin typeface="Open Sans" pitchFamily="34" charset="0"/>
                <a:ea typeface="Open Sans" pitchFamily="34" charset="-122"/>
                <a:cs typeface="Open Sans" pitchFamily="34" charset="-120"/>
              </a:rPr>
              <a:t>Niranga Dharmaratna - niranga@nibm.lk</a:t>
            </a:r>
            <a:endParaRPr lang="en-US" sz="1300" dirty="0"/>
          </a:p>
        </p:txBody>
      </p:sp>
      <p:pic>
        <p:nvPicPr>
          <p:cNvPr id="9" name="Image 0" descr="preencoded.png">    </p:cNvPr>
          <p:cNvPicPr>
            <a:picLocks noChangeAspect="1"/>
          </p:cNvPicPr>
          <p:nvPr/>
        </p:nvPicPr>
        <p:blipFill>
          <a:blip r:embed="rId1"/>
          <a:stretch>
            <a:fillRect/>
          </a:stretch>
        </p:blipFill>
        <p:spPr>
          <a:xfrm>
            <a:off x="6309360" y="1463040"/>
            <a:ext cx="2194560" cy="21945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0EA"/>
        </a:solidFill>
      </p:bgPr>
    </p:bg>
    <p:spTree>
      <p:nvGrpSpPr>
        <p:cNvPr id="1" name=""/>
        <p:cNvGrpSpPr/>
        <p:nvPr/>
      </p:nvGrpSpPr>
      <p:grpSpPr>
        <a:xfrm>
          <a:off x="0" y="0"/>
          <a:ext cx="0" cy="0"/>
          <a:chOff x="0" y="0"/>
          <a:chExt cx="0" cy="0"/>
        </a:xfrm>
      </p:grpSpPr>
      <p:sp>
        <p:nvSpPr>
          <p:cNvPr id="2" name="Shape 0"/>
          <p:cNvSpPr/>
          <p:nvPr/>
        </p:nvSpPr>
        <p:spPr>
          <a:xfrm>
            <a:off x="731520" y="1097280"/>
            <a:ext cx="502920" cy="45720"/>
          </a:xfrm>
          <a:prstGeom prst="rect">
            <a:avLst/>
          </a:prstGeom>
          <a:solidFill>
            <a:srgbClr val="6E8472"/>
          </a:solidFill>
          <a:ln/>
        </p:spPr>
      </p:sp>
      <p:sp>
        <p:nvSpPr>
          <p:cNvPr id="3" name="Text 1"/>
          <p:cNvSpPr/>
          <p:nvPr/>
        </p:nvSpPr>
        <p:spPr>
          <a:xfrm>
            <a:off x="731520" y="1325880"/>
            <a:ext cx="7690104" cy="1371600"/>
          </a:xfrm>
          <a:prstGeom prst="rect">
            <a:avLst/>
          </a:prstGeom>
          <a:noFill/>
          <a:ln/>
        </p:spPr>
        <p:txBody>
          <a:bodyPr wrap="square" lIns="0" tIns="0" rIns="0" bIns="0" rtlCol="0" anchor="ctr"/>
          <a:lstStyle/>
          <a:p>
            <a:pPr indent="0" marL="0">
              <a:buNone/>
            </a:pPr>
            <a:r>
              <a:rPr lang="en-US" sz="3000" b="1" dirty="0">
                <a:solidFill>
                  <a:srgbClr val="31423B"/>
                </a:solidFill>
                <a:latin typeface="Open Sans" pitchFamily="34" charset="0"/>
                <a:ea typeface="Open Sans" pitchFamily="34" charset="-122"/>
                <a:cs typeface="Open Sans" pitchFamily="34" charset="-120"/>
              </a:rPr>
              <a:t>S18 Capstone workshop: coursework and viva preparation</a:t>
            </a:r>
            <a:endParaRPr lang="en-US" sz="3000" dirty="0"/>
          </a:p>
        </p:txBody>
      </p:sp>
      <p:sp>
        <p:nvSpPr>
          <p:cNvPr id="4" name="Shape 2"/>
          <p:cNvSpPr/>
          <p:nvPr/>
        </p:nvSpPr>
        <p:spPr>
          <a:xfrm>
            <a:off x="731520" y="2788920"/>
            <a:ext cx="749808" cy="82296"/>
          </a:xfrm>
          <a:prstGeom prst="rect">
            <a:avLst/>
          </a:prstGeom>
          <a:solidFill>
            <a:srgbClr val="6E8472"/>
          </a:solidFill>
          <a:ln/>
        </p:spPr>
      </p:sp>
      <p:sp>
        <p:nvSpPr>
          <p:cNvPr id="5" name="Shape 3"/>
          <p:cNvSpPr/>
          <p:nvPr/>
        </p:nvSpPr>
        <p:spPr>
          <a:xfrm>
            <a:off x="1536192" y="2788920"/>
            <a:ext cx="384048" cy="82296"/>
          </a:xfrm>
          <a:prstGeom prst="rect">
            <a:avLst/>
          </a:prstGeom>
          <a:solidFill>
            <a:srgbClr val="8A4E8F"/>
          </a:solidFill>
          <a:ln/>
        </p:spPr>
      </p:sp>
      <p:sp>
        <p:nvSpPr>
          <p:cNvPr id="6" name="Shape 4"/>
          <p:cNvSpPr/>
          <p:nvPr/>
        </p:nvSpPr>
        <p:spPr>
          <a:xfrm>
            <a:off x="731520" y="3108960"/>
            <a:ext cx="640080" cy="347472"/>
          </a:xfrm>
          <a:prstGeom prst="rect">
            <a:avLst/>
          </a:prstGeom>
          <a:solidFill>
            <a:srgbClr val="4F6356"/>
          </a:solidFill>
          <a:ln/>
        </p:spPr>
      </p:sp>
      <p:sp>
        <p:nvSpPr>
          <p:cNvPr id="7" name="Text 5"/>
          <p:cNvSpPr/>
          <p:nvPr/>
        </p:nvSpPr>
        <p:spPr>
          <a:xfrm>
            <a:off x="73152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LO1</a:t>
            </a:r>
            <a:endParaRPr lang="en-US" sz="1400" dirty="0"/>
          </a:p>
        </p:txBody>
      </p:sp>
      <p:sp>
        <p:nvSpPr>
          <p:cNvPr id="8" name="Shape 6"/>
          <p:cNvSpPr/>
          <p:nvPr/>
        </p:nvSpPr>
        <p:spPr>
          <a:xfrm>
            <a:off x="1463040" y="3108960"/>
            <a:ext cx="640080" cy="347472"/>
          </a:xfrm>
          <a:prstGeom prst="rect">
            <a:avLst/>
          </a:prstGeom>
          <a:solidFill>
            <a:srgbClr val="4F6356"/>
          </a:solidFill>
          <a:ln/>
        </p:spPr>
      </p:sp>
      <p:sp>
        <p:nvSpPr>
          <p:cNvPr id="9" name="Text 7"/>
          <p:cNvSpPr/>
          <p:nvPr/>
        </p:nvSpPr>
        <p:spPr>
          <a:xfrm>
            <a:off x="146304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LO2</a:t>
            </a:r>
            <a:endParaRPr lang="en-US" sz="1400" dirty="0"/>
          </a:p>
        </p:txBody>
      </p:sp>
      <p:sp>
        <p:nvSpPr>
          <p:cNvPr id="10" name="Shape 8"/>
          <p:cNvSpPr/>
          <p:nvPr/>
        </p:nvSpPr>
        <p:spPr>
          <a:xfrm>
            <a:off x="2194560" y="3108960"/>
            <a:ext cx="640080" cy="347472"/>
          </a:xfrm>
          <a:prstGeom prst="rect">
            <a:avLst/>
          </a:prstGeom>
          <a:solidFill>
            <a:srgbClr val="8A4E8F"/>
          </a:solidFill>
          <a:ln/>
        </p:spPr>
      </p:sp>
      <p:sp>
        <p:nvSpPr>
          <p:cNvPr id="11" name="Text 9"/>
          <p:cNvSpPr/>
          <p:nvPr/>
        </p:nvSpPr>
        <p:spPr>
          <a:xfrm>
            <a:off x="219456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LO4</a:t>
            </a:r>
            <a:endParaRPr lang="en-US" sz="1400" dirty="0"/>
          </a:p>
        </p:txBody>
      </p:sp>
      <p:sp>
        <p:nvSpPr>
          <p:cNvPr id="12" name="Shape 10"/>
          <p:cNvSpPr/>
          <p:nvPr/>
        </p:nvSpPr>
        <p:spPr>
          <a:xfrm>
            <a:off x="2926080" y="3108960"/>
            <a:ext cx="640080" cy="347472"/>
          </a:xfrm>
          <a:prstGeom prst="rect">
            <a:avLst/>
          </a:prstGeom>
          <a:solidFill>
            <a:srgbClr val="4F6356"/>
          </a:solidFill>
          <a:ln/>
        </p:spPr>
      </p:sp>
      <p:sp>
        <p:nvSpPr>
          <p:cNvPr id="13" name="Text 11"/>
          <p:cNvSpPr/>
          <p:nvPr/>
        </p:nvSpPr>
        <p:spPr>
          <a:xfrm>
            <a:off x="292608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LO5</a:t>
            </a:r>
            <a:endParaRPr lang="en-US" sz="1400" dirty="0"/>
          </a:p>
        </p:txBody>
      </p:sp>
      <p:sp>
        <p:nvSpPr>
          <p:cNvPr id="14" name="Text 12"/>
          <p:cNvSpPr/>
          <p:nvPr/>
        </p:nvSpPr>
        <p:spPr>
          <a:xfrm>
            <a:off x="731520" y="3584448"/>
            <a:ext cx="7690104" cy="457200"/>
          </a:xfrm>
          <a:prstGeom prst="rect">
            <a:avLst/>
          </a:prstGeom>
          <a:noFill/>
          <a:ln/>
        </p:spPr>
        <p:txBody>
          <a:bodyPr wrap="square" lIns="0" tIns="0" rIns="0" bIns="0" rtlCol="0" anchor="ctr"/>
          <a:lstStyle/>
          <a:p>
            <a:pPr indent="0" marL="0">
              <a:buNone/>
            </a:pPr>
            <a:r>
              <a:rPr lang="en-US" sz="1400" dirty="0">
                <a:solidFill>
                  <a:srgbClr val="5C6B63"/>
                </a:solidFill>
                <a:latin typeface="Open Sans" pitchFamily="34" charset="0"/>
                <a:ea typeface="Open Sans" pitchFamily="34" charset="-122"/>
                <a:cs typeface="Open Sans" pitchFamily="34" charset="-120"/>
              </a:rPr>
              <a:t>Feeds: Coursework and viva  |  The exam-preparation hour follows: the mock is on the LMS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case today</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4754880" cy="1554480"/>
          </a:xfrm>
          <a:prstGeom prst="rect">
            <a:avLst/>
          </a:prstGeom>
          <a:solidFill>
            <a:srgbClr val="F1E8F2"/>
          </a:solidFill>
          <a:ln/>
        </p:spPr>
      </p:sp>
      <p:sp>
        <p:nvSpPr>
          <p:cNvPr id="7" name="Text 5"/>
          <p:cNvSpPr/>
          <p:nvPr/>
        </p:nvSpPr>
        <p:spPr>
          <a:xfrm>
            <a:off x="521208" y="1371600"/>
            <a:ext cx="4535424" cy="1554480"/>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The drop is analysed and the report is drafted. Before anything leaves the unit, every finding must pass two tests: a reader's checklist, and a colleague's question, "how do you know?"</a:t>
            </a:r>
            <a:endParaRPr lang="en-US" sz="1300" dirty="0"/>
          </a:p>
        </p:txBody>
      </p:sp>
      <p:sp>
        <p:nvSpPr>
          <p:cNvPr id="8" name="Shape 6"/>
          <p:cNvSpPr/>
          <p:nvPr/>
        </p:nvSpPr>
        <p:spPr>
          <a:xfrm>
            <a:off x="411480" y="3017520"/>
            <a:ext cx="4754880" cy="1783080"/>
          </a:xfrm>
          <a:prstGeom prst="rect">
            <a:avLst/>
          </a:prstGeom>
          <a:solidFill>
            <a:srgbClr val="DCE6DE"/>
          </a:solidFill>
          <a:ln/>
        </p:spPr>
      </p:sp>
      <p:sp>
        <p:nvSpPr>
          <p:cNvPr id="9" name="Text 7"/>
          <p:cNvSpPr/>
          <p:nvPr/>
        </p:nvSpPr>
        <p:spPr>
          <a:xfrm>
            <a:off x="502920" y="3017520"/>
            <a:ext cx="4572000" cy="1783080"/>
          </a:xfrm>
          <a:prstGeom prst="rect">
            <a:avLst/>
          </a:prstGeom>
          <a:noFill/>
          <a:ln/>
        </p:spPr>
        <p:txBody>
          <a:bodyPr wrap="square" rtlCol="0" anchor="ctr"/>
          <a:lstStyle/>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A rubric as a reader's checklist</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Planning the report in the template</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Eight pitfalls from Sessions 11 to 13</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The viva: your finding, aloud</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Integrity; keep, then tear down</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The exam-preparation hour</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The workshop: check, write, review, rehearse</a:t>
            </a:r>
            <a:endParaRPr lang="en-US" sz="1200" dirty="0"/>
          </a:p>
        </p:txBody>
      </p:sp>
      <p:pic>
        <p:nvPicPr>
          <p:cNvPr id="10" name="Image 0" descr="preencoded.png">    </p:cNvPr>
          <p:cNvPicPr>
            <a:picLocks noChangeAspect="1"/>
          </p:cNvPicPr>
          <p:nvPr/>
        </p:nvPicPr>
        <p:blipFill>
          <a:blip r:embed="rId1"/>
          <a:stretch>
            <a:fillRect/>
          </a:stretch>
        </p:blipFill>
        <p:spPr>
          <a:xfrm>
            <a:off x="6126480" y="1371600"/>
            <a:ext cx="1737360" cy="1737360"/>
          </a:xfrm>
          <a:prstGeom prst="rect">
            <a:avLst/>
          </a:prstGeom>
        </p:spPr>
      </p:pic>
      <p:sp>
        <p:nvSpPr>
          <p:cNvPr id="11" name="Text 8"/>
          <p:cNvSpPr/>
          <p:nvPr/>
        </p:nvSpPr>
        <p:spPr>
          <a:xfrm>
            <a:off x="5349240" y="3337560"/>
            <a:ext cx="3383280" cy="1280160"/>
          </a:xfrm>
          <a:prstGeom prst="rect">
            <a:avLst/>
          </a:prstGeom>
          <a:noFill/>
          <a:ln/>
        </p:spPr>
        <p:txBody>
          <a:bodyPr wrap="square" lIns="0" tIns="0" rIns="0" bIns="0" rtlCol="0" anchor="t"/>
          <a:lstStyle/>
          <a:p>
            <a:pPr indent="0" marL="0">
              <a:buNone/>
            </a:pPr>
            <a:r>
              <a:rPr lang="en-US" sz="1400" i="1" dirty="0">
                <a:solidFill>
                  <a:srgbClr val="5C6B63"/>
                </a:solidFill>
                <a:latin typeface="Open Sans" pitchFamily="34" charset="0"/>
                <a:ea typeface="Open Sans" pitchFamily="34" charset="-122"/>
                <a:cs typeface="Open Sans" pitchFamily="34" charset="-120"/>
              </a:rPr>
              <a:t>Open the brief, the summary rubric and today's three forms from the LMS, beside the page.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Reading a rubric as a reader's checklist</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1298448"/>
          <a:ext cx="8321040" cy="914400"/>
        </p:xfrm>
        <a:graphic>
          <a:graphicData uri="http://schemas.openxmlformats.org/drawingml/2006/table">
            <a:tbl>
              <a:tblPr/>
              <a:tblGrid>
                <a:gridCol w="1371600"/>
                <a:gridCol w="6949440"/>
              </a:tblGrid>
              <a:tr h="457200">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Mark band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Practice criterion: how each finding is supported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45720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Lower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Findings stated; evidence rarely named; times without their clock; gaps not mentioned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Middle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Most findings name their evidence; times in UTC; some gaps mentioned, not explained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5720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Upper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Every finding names exhibit, file and value; every time in UTC with its source clock; each gap stated with its effect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Shape 4"/>
          <p:cNvSpPr/>
          <p:nvPr/>
        </p:nvSpPr>
        <p:spPr>
          <a:xfrm>
            <a:off x="411480" y="3657600"/>
            <a:ext cx="8321040" cy="658368"/>
          </a:xfrm>
          <a:prstGeom prst="rect">
            <a:avLst/>
          </a:prstGeom>
          <a:solidFill>
            <a:srgbClr val="F1E8F2"/>
          </a:solidFill>
          <a:ln/>
        </p:spPr>
      </p:sp>
      <p:sp>
        <p:nvSpPr>
          <p:cNvPr id="8" name="Text 5"/>
          <p:cNvSpPr/>
          <p:nvPr/>
        </p:nvSpPr>
        <p:spPr>
          <a:xfrm>
            <a:off x="521208" y="3657600"/>
            <a:ext cx="8101584" cy="658368"/>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Rows are assessment criteria, columns are mark bands, cells are band descriptors. Bands reward what the work shows, never length or effort.</a:t>
            </a:r>
            <a:endParaRPr lang="en-US" sz="1300" dirty="0"/>
          </a:p>
        </p:txBody>
      </p:sp>
      <p:sp>
        <p:nvSpPr>
          <p:cNvPr id="9" name="Text 6"/>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1. A practice criterion for the unit's case reviews, not a coursework criterion.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Three moves with your own rubric</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25880"/>
            <a:ext cx="4133088" cy="402336"/>
          </a:xfrm>
          <a:prstGeom prst="rect">
            <a:avLst/>
          </a:prstGeom>
          <a:solidFill>
            <a:srgbClr val="6E8472"/>
          </a:solidFill>
          <a:ln/>
        </p:spPr>
      </p:sp>
      <p:sp>
        <p:nvSpPr>
          <p:cNvPr id="7" name="Text 5"/>
          <p:cNvSpPr/>
          <p:nvPr/>
        </p:nvSpPr>
        <p:spPr>
          <a:xfrm>
            <a:off x="521208" y="13258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Read and map</a:t>
            </a:r>
            <a:endParaRPr lang="en-US" sz="1500" dirty="0"/>
          </a:p>
        </p:txBody>
      </p:sp>
      <p:sp>
        <p:nvSpPr>
          <p:cNvPr id="8" name="Shape 6"/>
          <p:cNvSpPr/>
          <p:nvPr/>
        </p:nvSpPr>
        <p:spPr>
          <a:xfrm>
            <a:off x="411480" y="1728216"/>
            <a:ext cx="4133088" cy="2560320"/>
          </a:xfrm>
          <a:prstGeom prst="rect">
            <a:avLst/>
          </a:prstGeom>
          <a:solidFill>
            <a:srgbClr val="FFFFFF"/>
          </a:solidFill>
          <a:ln w="9525">
            <a:solidFill>
              <a:srgbClr val="CBD6CE"/>
            </a:solidFill>
            <a:prstDash val="solid"/>
          </a:ln>
        </p:spPr>
      </p:sp>
      <p:sp>
        <p:nvSpPr>
          <p:cNvPr id="9" name="Text 7"/>
          <p:cNvSpPr/>
          <p:nvPr/>
        </p:nvSpPr>
        <p:spPr>
          <a:xfrm>
            <a:off x="539496" y="1783080"/>
            <a:ext cx="3877056" cy="245059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Move 1: each criterion as a question</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In the rubric's own words: what will the marker ask of my report?</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Move 2: map each finding</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Beside each finding, the criteria it serves; a criterion with nothing beside it is a gap</a:t>
            </a:r>
            <a:endParaRPr lang="en-US" sz="1300" dirty="0"/>
          </a:p>
        </p:txBody>
      </p:sp>
      <p:sp>
        <p:nvSpPr>
          <p:cNvPr id="10" name="Shape 8"/>
          <p:cNvSpPr/>
          <p:nvPr/>
        </p:nvSpPr>
        <p:spPr>
          <a:xfrm>
            <a:off x="4645152" y="1325880"/>
            <a:ext cx="4133088" cy="402336"/>
          </a:xfrm>
          <a:prstGeom prst="rect">
            <a:avLst/>
          </a:prstGeom>
          <a:solidFill>
            <a:srgbClr val="8A4E8F"/>
          </a:solidFill>
          <a:ln/>
        </p:spPr>
      </p:sp>
      <p:sp>
        <p:nvSpPr>
          <p:cNvPr id="11" name="Text 9"/>
          <p:cNvSpPr/>
          <p:nvPr/>
        </p:nvSpPr>
        <p:spPr>
          <a:xfrm>
            <a:off x="4754880" y="13258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Self-assess honestly</a:t>
            </a:r>
            <a:endParaRPr lang="en-US" sz="1500" dirty="0"/>
          </a:p>
        </p:txBody>
      </p:sp>
      <p:sp>
        <p:nvSpPr>
          <p:cNvPr id="12" name="Shape 10"/>
          <p:cNvSpPr/>
          <p:nvPr/>
        </p:nvSpPr>
        <p:spPr>
          <a:xfrm>
            <a:off x="4645152" y="1728216"/>
            <a:ext cx="4133088" cy="2560320"/>
          </a:xfrm>
          <a:prstGeom prst="rect">
            <a:avLst/>
          </a:prstGeom>
          <a:solidFill>
            <a:srgbClr val="FFFFFF"/>
          </a:solidFill>
          <a:ln w="9525">
            <a:solidFill>
              <a:srgbClr val="CBD6CE"/>
            </a:solidFill>
            <a:prstDash val="solid"/>
          </a:ln>
        </p:spPr>
      </p:sp>
      <p:sp>
        <p:nvSpPr>
          <p:cNvPr id="13" name="Text 11"/>
          <p:cNvSpPr/>
          <p:nvPr/>
        </p:nvSpPr>
        <p:spPr>
          <a:xfrm>
            <a:off x="4773168" y="1783080"/>
            <a:ext cx="3877056" cy="2450592"/>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Move 3: the band fully met</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Not the band nearly met; point to the paragraph or table that shows each element</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The useful line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The one element of the next band that the draft does not yet show</a:t>
            </a:r>
            <a:endParaRPr lang="en-US" sz="1300" dirty="0"/>
          </a:p>
        </p:txBody>
      </p:sp>
      <p:sp>
        <p:nvSpPr>
          <p:cNvPr id="14" name="Text 12"/>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1 and demo S18-D1: each added element moves the finding; extra words move nothing.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examiner's marking sheet</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3017520"/>
          </a:xfrm>
          <a:prstGeom prst="rect">
            <a:avLst/>
          </a:prstGeom>
          <a:solidFill>
            <a:srgbClr val="E8F0EA"/>
          </a:solidFill>
          <a:ln/>
        </p:spPr>
      </p:sp>
      <p:sp>
        <p:nvSpPr>
          <p:cNvPr id="7" name="Shape 5"/>
          <p:cNvSpPr/>
          <p:nvPr/>
        </p:nvSpPr>
        <p:spPr>
          <a:xfrm>
            <a:off x="411480" y="1371600"/>
            <a:ext cx="82296" cy="3017520"/>
          </a:xfrm>
          <a:prstGeom prst="rect">
            <a:avLst/>
          </a:prstGeom>
          <a:solidFill>
            <a:srgbClr val="6E8472"/>
          </a:solidFill>
          <a:ln/>
        </p:spPr>
      </p:sp>
      <p:sp>
        <p:nvSpPr>
          <p:cNvPr id="8" name="Text 6"/>
          <p:cNvSpPr/>
          <p:nvPr/>
        </p:nvSpPr>
        <p:spPr>
          <a:xfrm>
            <a:off x="621792" y="1444752"/>
            <a:ext cx="7955280" cy="237744"/>
          </a:xfrm>
          <a:prstGeom prst="rect">
            <a:avLst/>
          </a:prstGeom>
          <a:noFill/>
          <a:ln/>
        </p:spPr>
        <p:txBody>
          <a:bodyPr wrap="square" lIns="0" tIns="0" rIns="0" bIns="0" rtlCol="0" anchor="ctr"/>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9" name="Text 7"/>
          <p:cNvSpPr/>
          <p:nvPr/>
        </p:nvSpPr>
        <p:spPr>
          <a:xfrm>
            <a:off x="621792" y="1700784"/>
            <a:ext cx="7955280" cy="2615184"/>
          </a:xfrm>
          <a:prstGeom prst="rect">
            <a:avLst/>
          </a:prstGeom>
          <a:noFill/>
          <a:ln/>
        </p:spPr>
        <p:txBody>
          <a:bodyPr wrap="square" lIns="0" tIns="0" rIns="0" bIns="0" rtlCol="0" anchor="t"/>
          <a:lstStyle/>
          <a:p>
            <a:pPr indent="0" marL="0">
              <a:spcAft>
                <a:spcPts val="400"/>
              </a:spcAft>
              <a:buNone/>
            </a:pPr>
            <a:r>
              <a:rPr lang="en-US" sz="1400" dirty="0">
                <a:solidFill>
                  <a:srgbClr val="31423B"/>
                </a:solidFill>
                <a:latin typeface="Open Sans" pitchFamily="34" charset="0"/>
                <a:ea typeface="Open Sans" pitchFamily="34" charset="-122"/>
                <a:cs typeface="Open Sans" pitchFamily="34" charset="-120"/>
              </a:rPr>
              <a:t>Reading a rubric before you write is like a learner driver reading the examiner's marking sheet before the test: you know what is watched and what counts at each level. </a:t>
            </a:r>
            <a:pPr indent="0" marL="0">
              <a:spcAft>
                <a:spcPts val="400"/>
              </a:spcAft>
              <a:buNone/>
            </a:pPr>
            <a:r>
              <a:rPr lang="en-US" sz="14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400" dirty="0">
                <a:solidFill>
                  <a:srgbClr val="31423B"/>
                </a:solidFill>
                <a:latin typeface="Open Sans" pitchFamily="34" charset="0"/>
                <a:ea typeface="Open Sans" pitchFamily="34" charset="-122"/>
                <a:cs typeface="Open Sans" pitchFamily="34" charset="-120"/>
              </a:rPr>
              <a:t>a driving test counts faults; a rubric's upper bands are reached by showing elements, such as a named exhibit, a stated clock or a reasoned gap. And the marker sees only the page and the viva: work you did but did not write down cannot earn a band. </a:t>
            </a:r>
            <a:pPr indent="0" marL="0">
              <a:spcAft>
                <a:spcPts val="400"/>
              </a:spcAft>
              <a:buNone/>
            </a:pPr>
            <a:r>
              <a:rPr lang="en-US" sz="14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400" dirty="0">
                <a:solidFill>
                  <a:srgbClr val="31423B"/>
                </a:solidFill>
                <a:latin typeface="Open Sans" pitchFamily="34" charset="0"/>
                <a:ea typeface="Open Sans" pitchFamily="34" charset="-122"/>
                <a:cs typeface="Open Sans" pitchFamily="34" charset="-120"/>
              </a:rPr>
              <a:t>put the evidence for each descriptor on the page, where a reader finds it without asking you.</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Planning the report: what goes where</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298448"/>
          <a:ext cx="8321040" cy="914400"/>
        </p:xfrm>
        <a:graphic>
          <a:graphicData uri="http://schemas.openxmlformats.org/drawingml/2006/table">
            <a:tbl>
              <a:tblPr/>
              <a:tblGrid>
                <a:gridCol w="4206240"/>
                <a:gridCol w="4114800"/>
              </a:tblGrid>
              <a:tr h="384048">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What you already have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Where it goes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Readiness files, configuration log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Environment and method; log in an appendix</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Collection log, manifests, custody record, register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Collection and preservation; records in an appendix</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jq filter file, helper hash, commands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Analysis: so a stranger could repeat it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Joined rows, lonely rows with reasons, timeline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Findings: timeline and correlation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Identities, addresses, network checks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Findings: attribution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Answers to the six questions of limitation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Limitations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Four-link chains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Response actions and recommendations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Text 4"/>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2. The template's sections and jobs are Session 13's; the craft is Session 16's.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Word budget, provenance, summary last</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25880"/>
            <a:ext cx="8321040" cy="2971800"/>
          </a:xfrm>
          <a:prstGeom prst="rect">
            <a:avLst/>
          </a:prstGeom>
          <a:solidFill>
            <a:srgbClr val="DCE6DE"/>
          </a:solidFill>
          <a:ln/>
        </p:spPr>
      </p:sp>
      <p:sp>
        <p:nvSpPr>
          <p:cNvPr id="7" name="Text 5"/>
          <p:cNvSpPr/>
          <p:nvPr/>
        </p:nvSpPr>
        <p:spPr>
          <a:xfrm>
            <a:off x="502920" y="1325880"/>
            <a:ext cx="8138160" cy="2971800"/>
          </a:xfrm>
          <a:prstGeom prst="rect">
            <a:avLst/>
          </a:prstGeom>
          <a:noFill/>
          <a:ln/>
        </p:spPr>
        <p:txBody>
          <a:bodyPr wrap="square" rtlCol="0" anchor="ctr"/>
          <a:lstStyle/>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Take the length, and what counts, from the coursework documents on the LMS</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Set each share from what the section must show; revisit after every draft</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When you must cut: cut repetition and description, never evidence</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Every figure and table: number, caption, exhibit, file, tool and version</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Mask the account ID and key IDs, never show a secret, and say you masked</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Executive summary last, every sentence checked against a finding</a:t>
            </a:r>
            <a:endParaRPr lang="en-US" sz="1400" dirty="0"/>
          </a:p>
        </p:txBody>
      </p:sp>
      <p:sp>
        <p:nvSpPr>
          <p:cNvPr id="8" name="Text 6"/>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2 and demo S18-D2: an invented 2,000-word report, never the brief's length.</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Eight pitfalls: one to four</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411480"/>
                <a:gridCol w="2743200"/>
                <a:gridCol w="5166360"/>
              </a:tblGrid>
              <a:tr h="566928">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Pitfall</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The way out, from your evidence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56692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1</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Latency read as absence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What had arrived by which collection; a later collection; best-effort delivery (S12)</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2</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record asked for more than it can hold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Each record's coverage from selectors and the join; a reason for each lonely row (S13)</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56692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3</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Your own requests mixed in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Tagged from the collection log, checked, kept in every file (S12, S13)</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4</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gap in the custody record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Hash values at arrival and analysis; an unrecorded step is a limitation, never filled in later (S1, S12)</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Text 4"/>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3. Every pitfall is a claim that goes further than the evidence.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Eight pitfalls: five to eight</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411480"/>
                <a:gridCol w="2743200"/>
                <a:gridCol w="5166360"/>
              </a:tblGrid>
              <a:tr h="566928">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Pitfall</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The way out, from your evidence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56692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5</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time without its clock</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UTC with the record that wrote it; a constant offset explained as a clock (S5, S13)</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6</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limitation written as an excuse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What was seen, its effect on a conclusion, its evidence (S13)</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56692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7</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recommendation with no evidence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Finding, risk, change, evidence: all four links (S13)</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8</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An identity or address treated as a person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Which identity signed, which network; what neither shows (S7, S13)</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Text 4"/>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3 and demo S18-D3: an excuse rebuilt into a limitation.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viva: what it is for, and the reproduce test</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25880"/>
            <a:ext cx="4133088" cy="402336"/>
          </a:xfrm>
          <a:prstGeom prst="rect">
            <a:avLst/>
          </a:prstGeom>
          <a:solidFill>
            <a:srgbClr val="6E8472"/>
          </a:solidFill>
          <a:ln/>
        </p:spPr>
      </p:sp>
      <p:sp>
        <p:nvSpPr>
          <p:cNvPr id="7" name="Text 5"/>
          <p:cNvSpPr/>
          <p:nvPr/>
        </p:nvSpPr>
        <p:spPr>
          <a:xfrm>
            <a:off x="521208" y="13258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What it is for</a:t>
            </a:r>
            <a:endParaRPr lang="en-US" sz="1500" dirty="0"/>
          </a:p>
        </p:txBody>
      </p:sp>
      <p:sp>
        <p:nvSpPr>
          <p:cNvPr id="8" name="Shape 6"/>
          <p:cNvSpPr/>
          <p:nvPr/>
        </p:nvSpPr>
        <p:spPr>
          <a:xfrm>
            <a:off x="411480" y="1728216"/>
            <a:ext cx="4133088" cy="2606040"/>
          </a:xfrm>
          <a:prstGeom prst="rect">
            <a:avLst/>
          </a:prstGeom>
          <a:solidFill>
            <a:srgbClr val="FFFFFF"/>
          </a:solidFill>
          <a:ln w="9525">
            <a:solidFill>
              <a:srgbClr val="CBD6CE"/>
            </a:solidFill>
            <a:prstDash val="solid"/>
          </a:ln>
        </p:spPr>
      </p:sp>
      <p:sp>
        <p:nvSpPr>
          <p:cNvPr id="9" name="Text 7"/>
          <p:cNvSpPr/>
          <p:nvPr/>
        </p:nvSpPr>
        <p:spPr>
          <a:xfrm>
            <a:off x="539496" y="1783080"/>
            <a:ext cx="3877056" cy="249631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Purpose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Confirms the work is your own and that you understand it</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How it counts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Required; no marks of its own; can change criterion marks through the rubric, with the reason recorded</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Length and slot</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On the LMS</a:t>
            </a:r>
            <a:endParaRPr lang="en-US" sz="1300" dirty="0"/>
          </a:p>
        </p:txBody>
      </p:sp>
      <p:sp>
        <p:nvSpPr>
          <p:cNvPr id="10" name="Shape 8"/>
          <p:cNvSpPr/>
          <p:nvPr/>
        </p:nvSpPr>
        <p:spPr>
          <a:xfrm>
            <a:off x="4645152" y="1325880"/>
            <a:ext cx="4133088" cy="402336"/>
          </a:xfrm>
          <a:prstGeom prst="rect">
            <a:avLst/>
          </a:prstGeom>
          <a:solidFill>
            <a:srgbClr val="8A4E8F"/>
          </a:solidFill>
          <a:ln/>
        </p:spPr>
      </p:sp>
      <p:sp>
        <p:nvSpPr>
          <p:cNvPr id="11" name="Text 9"/>
          <p:cNvSpPr/>
          <p:nvPr/>
        </p:nvSpPr>
        <p:spPr>
          <a:xfrm>
            <a:off x="4754880" y="13258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The reproduce test</a:t>
            </a:r>
            <a:endParaRPr lang="en-US" sz="1500" dirty="0"/>
          </a:p>
        </p:txBody>
      </p:sp>
      <p:sp>
        <p:nvSpPr>
          <p:cNvPr id="12" name="Shape 10"/>
          <p:cNvSpPr/>
          <p:nvPr/>
        </p:nvSpPr>
        <p:spPr>
          <a:xfrm>
            <a:off x="4645152" y="1728216"/>
            <a:ext cx="4133088" cy="2606040"/>
          </a:xfrm>
          <a:prstGeom prst="rect">
            <a:avLst/>
          </a:prstGeom>
          <a:solidFill>
            <a:srgbClr val="FFFFFF"/>
          </a:solidFill>
          <a:ln w="9525">
            <a:solidFill>
              <a:srgbClr val="CBD6CE"/>
            </a:solidFill>
            <a:prstDash val="solid"/>
          </a:ln>
        </p:spPr>
      </p:sp>
      <p:sp>
        <p:nvSpPr>
          <p:cNvPr id="13" name="Text 11"/>
          <p:cNvSpPr/>
          <p:nvPr/>
        </p:nvSpPr>
        <p:spPr>
          <a:xfrm>
            <a:off x="4773168" y="1783080"/>
            <a:ext cx="3877056" cy="2496312"/>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Each command</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What each part does; could you type it again?</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Each finding</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Which rows, files and values; can you open them?</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Each choice and limitation</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Why this way; what it changes; what would remove it</a:t>
            </a:r>
            <a:endParaRPr lang="en-US" sz="1300" dirty="0"/>
          </a:p>
        </p:txBody>
      </p:sp>
      <p:sp>
        <p:nvSpPr>
          <p:cNvPr id="14" name="Text 12"/>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4 and demo S18-D4: each answer one step closer to the evidence.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Your finding, aloud</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25880"/>
            <a:ext cx="8321040" cy="3063240"/>
          </a:xfrm>
          <a:prstGeom prst="rect">
            <a:avLst/>
          </a:prstGeom>
          <a:solidFill>
            <a:srgbClr val="F1E8F2"/>
          </a:solidFill>
          <a:ln/>
        </p:spPr>
      </p:sp>
      <p:sp>
        <p:nvSpPr>
          <p:cNvPr id="7" name="Shape 5"/>
          <p:cNvSpPr/>
          <p:nvPr/>
        </p:nvSpPr>
        <p:spPr>
          <a:xfrm>
            <a:off x="411480" y="1325880"/>
            <a:ext cx="82296" cy="3063240"/>
          </a:xfrm>
          <a:prstGeom prst="rect">
            <a:avLst/>
          </a:prstGeom>
          <a:solidFill>
            <a:srgbClr val="8A4E8F"/>
          </a:solidFill>
          <a:ln/>
        </p:spPr>
      </p:sp>
      <p:sp>
        <p:nvSpPr>
          <p:cNvPr id="8" name="Text 6"/>
          <p:cNvSpPr/>
          <p:nvPr/>
        </p:nvSpPr>
        <p:spPr>
          <a:xfrm>
            <a:off x="621792" y="1399032"/>
            <a:ext cx="7955280" cy="237744"/>
          </a:xfrm>
          <a:prstGeom prst="rect">
            <a:avLst/>
          </a:prstGeom>
          <a:noFill/>
          <a:ln/>
        </p:spPr>
        <p:txBody>
          <a:bodyPr wrap="square" lIns="0" tIns="0" rIns="0" bIns="0" rtlCol="0" anchor="ctr"/>
          <a:lstStyle/>
          <a:p>
            <a:pPr indent="0" marL="0">
              <a:buNone/>
            </a:pPr>
            <a:r>
              <a:rPr lang="en-US" sz="1300" b="1" spc="200" kern="0" dirty="0">
                <a:solidFill>
                  <a:srgbClr val="8A4E8F"/>
                </a:solidFill>
                <a:latin typeface="Open Sans" pitchFamily="34" charset="0"/>
                <a:ea typeface="Open Sans" pitchFamily="34" charset="-122"/>
                <a:cs typeface="Open Sans" pitchFamily="34" charset="-120"/>
              </a:rPr>
              <a:t>THROUGH ANOTHER LENS</a:t>
            </a:r>
            <a:endParaRPr lang="en-US" sz="1300" dirty="0"/>
          </a:p>
        </p:txBody>
      </p:sp>
      <p:sp>
        <p:nvSpPr>
          <p:cNvPr id="9" name="Text 7"/>
          <p:cNvSpPr/>
          <p:nvPr/>
        </p:nvSpPr>
        <p:spPr>
          <a:xfrm>
            <a:off x="621792" y="1655064"/>
            <a:ext cx="7955280" cy="2660904"/>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The night before Challenger, the booster engineers argued on a telephone conference: do not launch below 53 degrees Fahrenheit. They understood their finding, but under NASA's challenge their evidence did not carry it. After a break, the company's managers reversed: the effect of temperature was inconclusive, so launch.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the winning sentence was calm, fluent and wrong: "inconclusive, therefore safe" took a lack of proof of danger for proof of safety. Fluency is not proof. And a viva is not that night: the questions are a chance to show the chain.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The question: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could each of your findings survive three "how do you know?" in a row, each answer pointing at a file?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31423B"/>
        </a:solidFill>
      </p:bgPr>
    </p:bg>
    <p:spTree>
      <p:nvGrpSpPr>
        <p:cNvPr id="1" name=""/>
        <p:cNvGrpSpPr/>
        <p:nvPr/>
      </p:nvGrpSpPr>
      <p:grpSpPr>
        <a:xfrm>
          <a:off x="0" y="0"/>
          <a:ext cx="0" cy="0"/>
          <a:chOff x="0" y="0"/>
          <a:chExt cx="0" cy="0"/>
        </a:xfrm>
      </p:grpSpPr>
      <p:sp>
        <p:nvSpPr>
          <p:cNvPr id="2" name="Shape 0"/>
          <p:cNvSpPr/>
          <p:nvPr/>
        </p:nvSpPr>
        <p:spPr>
          <a:xfrm>
            <a:off x="731520" y="731520"/>
            <a:ext cx="502920" cy="64008"/>
          </a:xfrm>
          <a:prstGeom prst="rect">
            <a:avLst/>
          </a:prstGeom>
          <a:solidFill>
            <a:srgbClr val="6E8472"/>
          </a:solidFill>
          <a:ln/>
        </p:spPr>
      </p:sp>
      <p:sp>
        <p:nvSpPr>
          <p:cNvPr id="3" name="Shape 1"/>
          <p:cNvSpPr/>
          <p:nvPr/>
        </p:nvSpPr>
        <p:spPr>
          <a:xfrm>
            <a:off x="1280160" y="731520"/>
            <a:ext cx="256032" cy="64008"/>
          </a:xfrm>
          <a:prstGeom prst="rect">
            <a:avLst/>
          </a:prstGeom>
          <a:solidFill>
            <a:srgbClr val="8A4E8F"/>
          </a:solidFill>
          <a:ln/>
        </p:spPr>
      </p:sp>
      <p:sp>
        <p:nvSpPr>
          <p:cNvPr id="4" name="Text 2"/>
          <p:cNvSpPr/>
          <p:nvPr/>
        </p:nvSpPr>
        <p:spPr>
          <a:xfrm>
            <a:off x="731520" y="987552"/>
            <a:ext cx="7680960" cy="365760"/>
          </a:xfrm>
          <a:prstGeom prst="rect">
            <a:avLst/>
          </a:prstGeom>
          <a:noFill/>
          <a:ln/>
        </p:spPr>
        <p:txBody>
          <a:bodyPr wrap="square" lIns="0" tIns="0" rIns="0" bIns="0" rtlCol="0" anchor="ctr"/>
          <a:lstStyle/>
          <a:p>
            <a:pPr indent="0" marL="0">
              <a:buNone/>
            </a:pPr>
            <a:r>
              <a:rPr lang="en-US" sz="1300" b="1" spc="200" kern="0" dirty="0">
                <a:solidFill>
                  <a:srgbClr val="C9A6CC"/>
                </a:solidFill>
                <a:latin typeface="Open Sans" pitchFamily="34" charset="0"/>
                <a:ea typeface="Open Sans" pitchFamily="34" charset="-122"/>
                <a:cs typeface="Open Sans" pitchFamily="34" charset="-120"/>
              </a:rPr>
              <a:t>KEY CONCEPT</a:t>
            </a:r>
            <a:endParaRPr lang="en-US" sz="1300" dirty="0"/>
          </a:p>
        </p:txBody>
      </p:sp>
      <p:sp>
        <p:nvSpPr>
          <p:cNvPr id="5" name="Text 3"/>
          <p:cNvSpPr/>
          <p:nvPr/>
        </p:nvSpPr>
        <p:spPr>
          <a:xfrm>
            <a:off x="731520" y="1554480"/>
            <a:ext cx="7680960" cy="2103120"/>
          </a:xfrm>
          <a:prstGeom prst="rect">
            <a:avLst/>
          </a:prstGeom>
          <a:noFill/>
          <a:ln/>
        </p:spPr>
        <p:txBody>
          <a:bodyPr wrap="square" lIns="0" tIns="0" rIns="0" bIns="0" rtlCol="0" anchor="t"/>
          <a:lstStyle/>
          <a:p>
            <a:pPr indent="0" marL="0">
              <a:buNone/>
            </a:pPr>
            <a:r>
              <a:rPr lang="en-US" sz="3000" b="1" dirty="0">
                <a:solidFill>
                  <a:srgbClr val="FFFFFF"/>
                </a:solidFill>
                <a:latin typeface="Open Sans" pitchFamily="34" charset="0"/>
                <a:ea typeface="Open Sans" pitchFamily="34" charset="-122"/>
                <a:cs typeface="Open Sans" pitchFamily="34" charset="-120"/>
              </a:rPr>
              <a:t>A finding no one understands is not a finding, including when the one who must understand it is you, in the viva.</a:t>
            </a:r>
            <a:endParaRPr lang="en-US" sz="3000" dirty="0"/>
          </a:p>
        </p:txBody>
      </p:sp>
      <p:sp>
        <p:nvSpPr>
          <p:cNvPr id="6" name="Text 4"/>
          <p:cNvSpPr/>
          <p:nvPr/>
        </p:nvSpPr>
        <p:spPr>
          <a:xfrm>
            <a:off x="731520" y="3794760"/>
            <a:ext cx="7680960" cy="914400"/>
          </a:xfrm>
          <a:prstGeom prst="rect">
            <a:avLst/>
          </a:prstGeom>
          <a:noFill/>
          <a:ln/>
        </p:spPr>
        <p:txBody>
          <a:bodyPr wrap="square" lIns="0" tIns="0" rIns="0" bIns="0" rtlCol="0" anchor="t"/>
          <a:lstStyle/>
          <a:p>
            <a:pPr indent="0" marL="0">
              <a:buNone/>
            </a:pPr>
            <a:r>
              <a:rPr lang="en-US" sz="1600" i="1" dirty="0">
                <a:solidFill>
                  <a:srgbClr val="E8F0EA"/>
                </a:solidFill>
                <a:latin typeface="Open Sans" pitchFamily="34" charset="0"/>
                <a:ea typeface="Open Sans" pitchFamily="34" charset="-122"/>
                <a:cs typeface="Open Sans" pitchFamily="34" charset="-120"/>
              </a:rPr>
              <a:t>Understanding is shown by the path to the evidence, not by fluent words.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Academic integrity: your work, your words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25880"/>
            <a:ext cx="8321040" cy="2971800"/>
          </a:xfrm>
          <a:prstGeom prst="rect">
            <a:avLst/>
          </a:prstGeom>
          <a:solidFill>
            <a:srgbClr val="DCE6DE"/>
          </a:solidFill>
          <a:ln/>
        </p:spPr>
      </p:sp>
      <p:sp>
        <p:nvSpPr>
          <p:cNvPr id="7" name="Text 5"/>
          <p:cNvSpPr/>
          <p:nvPr/>
        </p:nvSpPr>
        <p:spPr>
          <a:xfrm>
            <a:off x="502920" y="1325880"/>
            <a:ext cx="8138160" cy="2971800"/>
          </a:xfrm>
          <a:prstGeom prst="rect">
            <a:avLst/>
          </a:prstGeom>
          <a:noFill/>
          <a:ln/>
        </p:spPr>
        <p:txBody>
          <a:bodyPr wrap="square" rtlCol="0" anchor="ctr"/>
          <a:lstStyle/>
          <a:p>
            <a:pPr marL="342900" indent="-342900">
              <a:spcAft>
                <a:spcPts val="700"/>
              </a:spcAft>
              <a:buSzPct val="100000"/>
              <a:buChar char="•"/>
            </a:pPr>
            <a:r>
              <a:rPr lang="en-US" sz="1500" b="1" dirty="0">
                <a:solidFill>
                  <a:srgbClr val="31423B"/>
                </a:solidFill>
                <a:latin typeface="Open Sans" pitchFamily="34" charset="0"/>
                <a:ea typeface="Open Sans" pitchFamily="34" charset="-122"/>
                <a:cs typeface="Open Sans" pitchFamily="34" charset="-120"/>
              </a:rPr>
              <a:t>Your environment, times, request IDs and addresses exist only in your account</a:t>
            </a:r>
            <a:endParaRPr lang="en-US" sz="1500" dirty="0"/>
          </a:p>
          <a:p>
            <a:pPr marL="342900" indent="-342900">
              <a:spcAft>
                <a:spcPts val="700"/>
              </a:spcAft>
              <a:buSzPct val="100000"/>
              <a:buChar char="•"/>
            </a:pPr>
            <a:r>
              <a:rPr lang="en-US" sz="1500" b="1" dirty="0">
                <a:solidFill>
                  <a:srgbClr val="31423B"/>
                </a:solidFill>
                <a:latin typeface="Open Sans" pitchFamily="34" charset="0"/>
                <a:ea typeface="Open Sans" pitchFamily="34" charset="-122"/>
                <a:cs typeface="Open Sans" pitchFamily="34" charset="-120"/>
              </a:rPr>
              <a:t>Discuss methods; never share findings, rows, timelines, text or screenshots</a:t>
            </a:r>
            <a:endParaRPr lang="en-US" sz="1500" dirty="0"/>
          </a:p>
          <a:p>
            <a:pPr marL="342900" indent="-342900">
              <a:spcAft>
                <a:spcPts val="700"/>
              </a:spcAft>
              <a:buSzPct val="100000"/>
              <a:buChar char="•"/>
            </a:pPr>
            <a:r>
              <a:rPr lang="en-US" sz="1500" b="1" dirty="0">
                <a:solidFill>
                  <a:srgbClr val="31423B"/>
                </a:solidFill>
                <a:latin typeface="Open Sans" pitchFamily="34" charset="0"/>
                <a:ea typeface="Open Sans" pitchFamily="34" charset="-122"/>
                <a:cs typeface="Open Sans" pitchFamily="34" charset="-120"/>
              </a:rPr>
              <a:t>Cite every outside source in one style; the tool with its version</a:t>
            </a:r>
            <a:endParaRPr lang="en-US" sz="1500" dirty="0"/>
          </a:p>
          <a:p>
            <a:pPr marL="342900" indent="-342900">
              <a:spcAft>
                <a:spcPts val="700"/>
              </a:spcAft>
              <a:buSzPct val="100000"/>
              <a:buChar char="•"/>
            </a:pPr>
            <a:r>
              <a:rPr lang="en-US" sz="1500" b="1" dirty="0">
                <a:solidFill>
                  <a:srgbClr val="31423B"/>
                </a:solidFill>
                <a:latin typeface="Open Sans" pitchFamily="34" charset="0"/>
                <a:ea typeface="Open Sans" pitchFamily="34" charset="-122"/>
                <a:cs typeface="Open Sans" pitchFamily="34" charset="-120"/>
              </a:rPr>
              <a:t>The policy on tools, including writing and AI tools, is on the LMS: read it before you write</a:t>
            </a:r>
            <a:endParaRPr lang="en-US" sz="1500" dirty="0"/>
          </a:p>
          <a:p>
            <a:pPr marL="342900" indent="-342900">
              <a:spcAft>
                <a:spcPts val="700"/>
              </a:spcAft>
              <a:buSzPct val="100000"/>
              <a:buChar char="•"/>
            </a:pPr>
            <a:r>
              <a:rPr lang="en-US" sz="1500" b="1" dirty="0">
                <a:solidFill>
                  <a:srgbClr val="31423B"/>
                </a:solidFill>
                <a:latin typeface="Open Sans" pitchFamily="34" charset="0"/>
                <a:ea typeface="Open Sans" pitchFamily="34" charset="-122"/>
                <a:cs typeface="Open Sans" pitchFamily="34" charset="-120"/>
              </a:rPr>
              <a:t>The viva is one of the ways authorship is confirmed</a:t>
            </a:r>
            <a:endParaRPr lang="en-US" sz="1500" dirty="0"/>
          </a:p>
        </p:txBody>
      </p:sp>
      <p:sp>
        <p:nvSpPr>
          <p:cNvPr id="8" name="Text 6"/>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5. The page points to the LMS policy and never restates it.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After submission: keep, then tear down</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298448"/>
            <a:ext cx="8321040" cy="502920"/>
          </a:xfrm>
          <a:prstGeom prst="rect">
            <a:avLst/>
          </a:prstGeom>
          <a:solidFill>
            <a:srgbClr val="F1E8F2"/>
          </a:solidFill>
          <a:ln/>
        </p:spPr>
      </p:sp>
      <p:sp>
        <p:nvSpPr>
          <p:cNvPr id="7" name="Text 5"/>
          <p:cNvSpPr/>
          <p:nvPr/>
        </p:nvSpPr>
        <p:spPr>
          <a:xfrm>
            <a:off x="521208" y="1298448"/>
            <a:ext cx="8101584" cy="502920"/>
          </a:xfrm>
          <a:prstGeom prst="rect">
            <a:avLst/>
          </a:prstGeom>
          <a:noFill/>
          <a:ln/>
        </p:spPr>
        <p:txBody>
          <a:bodyPr wrap="square" rtlCol="0" anchor="ctr"/>
          <a:lstStyle/>
          <a:p>
            <a:pPr indent="0" marL="0">
              <a:buNone/>
            </a:pPr>
            <a:r>
              <a:rPr lang="en-US" sz="1400" b="1" dirty="0">
                <a:solidFill>
                  <a:srgbClr val="31423B"/>
                </a:solidFill>
                <a:latin typeface="Open Sans" pitchFamily="34" charset="0"/>
                <a:ea typeface="Open Sans" pitchFamily="34" charset="-122"/>
                <a:cs typeface="Open Sans" pitchFamily="34" charset="-120"/>
              </a:rPr>
              <a:t>Do not start until the LMS shows the coursework closed, including any resubmission.</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11480" y="1874520"/>
          <a:ext cx="8321040" cy="914400"/>
        </p:xfrm>
        <a:graphic>
          <a:graphicData uri="http://schemas.openxmlformats.org/drawingml/2006/table">
            <a:tbl>
              <a:tblPr/>
              <a:tblGrid>
                <a:gridCol w="731520"/>
                <a:gridCol w="5394960"/>
                <a:gridCol w="2194560"/>
              </a:tblGrid>
              <a:tr h="365760">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Order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Step</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Why here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65760">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1</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Keep your sealed copies; log the start</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Nothing is removed yet</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2-3</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Stop and delete the trail; disable access logging</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Stop every writer first</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65760">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4-5</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Empty, then delete the case bucket, then the two log buckets</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Empty removes every version and delete marker</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6-7</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Delete CloudShell's home; remove the key; delete the IAM user as root</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The identity goes last</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65760">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8-9</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Check the bill; close the account as root, or secure it</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90-day post-closure period</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9" name="Text 6"/>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6. aws s3 rm on a versioned bucket only adds delete markers: use Empty.</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exam-preparation hour: technique</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11480" y="1298448"/>
          <a:ext cx="5120640" cy="914400"/>
        </p:xfrm>
        <a:graphic>
          <a:graphicData uri="http://schemas.openxmlformats.org/drawingml/2006/table">
            <a:tbl>
              <a:tblPr/>
              <a:tblGrid>
                <a:gridCol w="1645920"/>
                <a:gridCol w="3474720"/>
              </a:tblGrid>
              <a:tr h="384048">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Command word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What earns the marks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84048">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State, Name, Give</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The fact or term itself; no reason needed</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Identify</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The right item from the situation, named</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84048">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Describe</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What it is or what happens, in order</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Explain</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What happens and why: the mechanism</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84048">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Compare</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Differences, and likenesses that matter, on both sides</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Justify</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A choice, with reasons and evidence over the alternatives</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Shape 4"/>
          <p:cNvSpPr/>
          <p:nvPr/>
        </p:nvSpPr>
        <p:spPr>
          <a:xfrm>
            <a:off x="5715000" y="1298448"/>
            <a:ext cx="3017520" cy="2697480"/>
          </a:xfrm>
          <a:prstGeom prst="rect">
            <a:avLst/>
          </a:prstGeom>
          <a:solidFill>
            <a:srgbClr val="DCE6DE"/>
          </a:solidFill>
          <a:ln/>
        </p:spPr>
      </p:sp>
      <p:sp>
        <p:nvSpPr>
          <p:cNvPr id="8" name="Text 5"/>
          <p:cNvSpPr/>
          <p:nvPr/>
        </p:nvSpPr>
        <p:spPr>
          <a:xfrm>
            <a:off x="5806440" y="1298448"/>
            <a:ext cx="2834640" cy="2697480"/>
          </a:xfrm>
          <a:prstGeom prst="rect">
            <a:avLst/>
          </a:prstGeom>
          <a:noFill/>
          <a:ln/>
        </p:spPr>
        <p:txBody>
          <a:bodyPr wrap="square" rtlCol="0" anchor="ctr"/>
          <a:lstStyle/>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About two sentences</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One mark point, one whole mark</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Count the demands</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Plan the points first</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Revise by answering, then marking</a:t>
            </a:r>
            <a:endParaRPr lang="en-US" sz="1300" dirty="0"/>
          </a:p>
        </p:txBody>
      </p:sp>
      <p:sp>
        <p:nvSpPr>
          <p:cNvPr id="9" name="Text 6"/>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7, its revision map and demo S18-D5. The mock is on the LMS.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8A4E8F"/>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68096"/>
            <a:ext cx="6949440" cy="566928"/>
          </a:xfrm>
          <a:prstGeom prst="rect">
            <a:avLst/>
          </a:prstGeom>
          <a:noFill/>
          <a:ln/>
        </p:spPr>
        <p:txBody>
          <a:bodyPr wrap="square" lIns="0" tIns="0" rIns="0" bIns="0" rtlCol="0" anchor="t"/>
          <a:lstStyle/>
          <a:p>
            <a:pPr indent="0" marL="0">
              <a:buNone/>
            </a:pPr>
            <a:r>
              <a:rPr lang="en-US" sz="2400" b="1" dirty="0">
                <a:solidFill>
                  <a:srgbClr val="FFFFFF"/>
                </a:solidFill>
                <a:latin typeface="Open Sans" pitchFamily="34" charset="0"/>
                <a:ea typeface="Open Sans" pitchFamily="34" charset="-122"/>
                <a:cs typeface="Open Sans" pitchFamily="34" charset="-120"/>
              </a:rPr>
              <a:t>The workshop: three hours</a:t>
            </a:r>
            <a:endParaRPr lang="en-US" sz="2400" dirty="0"/>
          </a:p>
        </p:txBody>
      </p:sp>
      <p:pic>
        <p:nvPicPr>
          <p:cNvPr id="5" name="Image 0" descr="preencoded.png">    </p:cNvPr>
          <p:cNvPicPr>
            <a:picLocks noChangeAspect="1"/>
          </p:cNvPicPr>
          <p:nvPr/>
        </p:nvPicPr>
        <p:blipFill>
          <a:blip r:embed="rId1"/>
          <a:stretch>
            <a:fillRect/>
          </a:stretch>
        </p:blipFill>
        <p:spPr>
          <a:xfrm>
            <a:off x="8001000" y="566928"/>
            <a:ext cx="731520" cy="731520"/>
          </a:xfrm>
          <a:prstGeom prst="rect">
            <a:avLst/>
          </a:prstGeom>
        </p:spPr>
      </p:pic>
      <p:sp>
        <p:nvSpPr>
          <p:cNvPr id="6" name="Shape 3"/>
          <p:cNvSpPr/>
          <p:nvPr/>
        </p:nvSpPr>
        <p:spPr>
          <a:xfrm>
            <a:off x="411480" y="1463040"/>
            <a:ext cx="3749040" cy="3246120"/>
          </a:xfrm>
          <a:prstGeom prst="rect">
            <a:avLst/>
          </a:prstGeom>
          <a:solidFill>
            <a:srgbClr val="31423B"/>
          </a:solidFill>
          <a:ln/>
        </p:spPr>
      </p:sp>
      <p:sp>
        <p:nvSpPr>
          <p:cNvPr id="7" name="Text 4"/>
          <p:cNvSpPr/>
          <p:nvPr/>
        </p:nvSpPr>
        <p:spPr>
          <a:xfrm>
            <a:off x="548640" y="1463040"/>
            <a:ext cx="3474720" cy="3246120"/>
          </a:xfrm>
          <a:prstGeom prst="rect">
            <a:avLst/>
          </a:prstGeom>
          <a:noFill/>
          <a:ln/>
        </p:spPr>
        <p:txBody>
          <a:bodyPr wrap="square" lIns="0" tIns="0" rIns="0" bIns="0" rtlCol="0" anchor="ctr"/>
          <a:lstStyle/>
          <a:p>
            <a:pPr indent="0" marL="0">
              <a:spcAft>
                <a:spcPts val="900"/>
              </a:spcAft>
              <a:buNone/>
            </a:pPr>
            <a:r>
              <a:rPr lang="en-US" sz="2000" b="1" dirty="0">
                <a:solidFill>
                  <a:srgbClr val="FFFFFF"/>
                </a:solidFill>
                <a:latin typeface="Open Sans" pitchFamily="34" charset="0"/>
                <a:ea typeface="Open Sans" pitchFamily="34" charset="-122"/>
                <a:cs typeface="Open Sans" pitchFamily="34" charset="-120"/>
              </a:rPr>
              <a:t>Four rules</a:t>
            </a:r>
            <a:endParaRPr lang="en-US" sz="1600" dirty="0"/>
          </a:p>
          <a:p>
            <a:pPr indent="0" marL="0">
              <a:spcAft>
                <a:spcPts val="900"/>
              </a:spcAft>
              <a:buNone/>
            </a:pPr>
            <a:r>
              <a:rPr lang="en-US" sz="1600" b="1" dirty="0">
                <a:solidFill>
                  <a:srgbClr val="FFFFFF"/>
                </a:solidFill>
                <a:latin typeface="Open Sans" pitchFamily="34" charset="0"/>
                <a:ea typeface="Open Sans" pitchFamily="34" charset="-122"/>
                <a:cs typeface="Open Sans" pitchFamily="34" charset="-120"/>
              </a:rPr>
              <a:t>Evidence stays sealed</a:t>
            </a:r>
            <a:endParaRPr lang="en-US" sz="1600" dirty="0"/>
          </a:p>
          <a:p>
            <a:pPr indent="0" marL="0">
              <a:spcAft>
                <a:spcPts val="900"/>
              </a:spcAft>
              <a:buNone/>
            </a:pPr>
            <a:r>
              <a:rPr lang="en-US" sz="1600" b="1" dirty="0">
                <a:solidFill>
                  <a:srgbClr val="FFFFFF"/>
                </a:solidFill>
                <a:latin typeface="Open Sans" pitchFamily="34" charset="0"/>
                <a:ea typeface="Open Sans" pitchFamily="34" charset="-122"/>
                <a:cs typeface="Open Sans" pitchFamily="34" charset="-120"/>
              </a:rPr>
              <a:t>No requests to AWS</a:t>
            </a:r>
            <a:endParaRPr lang="en-US" sz="1600" dirty="0"/>
          </a:p>
          <a:p>
            <a:pPr indent="0" marL="0">
              <a:spcAft>
                <a:spcPts val="900"/>
              </a:spcAft>
              <a:buNone/>
            </a:pPr>
            <a:r>
              <a:rPr lang="en-US" sz="1600" b="1" dirty="0">
                <a:solidFill>
                  <a:srgbClr val="FFFFFF"/>
                </a:solidFill>
                <a:latin typeface="Open Sans" pitchFamily="34" charset="0"/>
                <a:ea typeface="Open Sans" pitchFamily="34" charset="-122"/>
                <a:cs typeface="Open Sans" pitchFamily="34" charset="-120"/>
              </a:rPr>
              <a:t>Nothing of yours leaves</a:t>
            </a:r>
            <a:endParaRPr lang="en-US" sz="1600" dirty="0"/>
          </a:p>
          <a:p>
            <a:pPr indent="0" marL="0">
              <a:spcAft>
                <a:spcPts val="900"/>
              </a:spcAft>
              <a:buNone/>
            </a:pPr>
            <a:r>
              <a:rPr lang="en-US" sz="1600" b="1" dirty="0">
                <a:solidFill>
                  <a:srgbClr val="FFFFFF"/>
                </a:solidFill>
                <a:latin typeface="Open Sans" pitchFamily="34" charset="0"/>
                <a:ea typeface="Open Sans" pitchFamily="34" charset="-122"/>
                <a:cs typeface="Open Sans" pitchFamily="34" charset="-120"/>
              </a:rPr>
              <a:t>Your words stay yours</a:t>
            </a:r>
            <a:endParaRPr lang="en-US" sz="1600" dirty="0"/>
          </a:p>
        </p:txBody>
      </p:sp>
      <p:sp>
        <p:nvSpPr>
          <p:cNvPr id="8" name="Shape 5"/>
          <p:cNvSpPr/>
          <p:nvPr/>
        </p:nvSpPr>
        <p:spPr>
          <a:xfrm>
            <a:off x="4297680" y="1463040"/>
            <a:ext cx="4434840" cy="3246120"/>
          </a:xfrm>
          <a:prstGeom prst="rect">
            <a:avLst/>
          </a:prstGeom>
          <a:solidFill>
            <a:srgbClr val="31423B"/>
          </a:solidFill>
          <a:ln/>
        </p:spPr>
      </p:sp>
      <p:sp>
        <p:nvSpPr>
          <p:cNvPr id="9" name="Text 6"/>
          <p:cNvSpPr/>
          <p:nvPr/>
        </p:nvSpPr>
        <p:spPr>
          <a:xfrm>
            <a:off x="4434840" y="1463040"/>
            <a:ext cx="4160520" cy="3246120"/>
          </a:xfrm>
          <a:prstGeom prst="rect">
            <a:avLst/>
          </a:prstGeom>
          <a:noFill/>
          <a:ln/>
        </p:spPr>
        <p:txBody>
          <a:bodyPr wrap="square" lIns="0" tIns="0" rIns="0" bIns="0" rtlCol="0" anchor="ctr"/>
          <a:lstStyle/>
          <a:p>
            <a:pPr indent="0" marL="0">
              <a:spcAft>
                <a:spcPts val="800"/>
              </a:spcAft>
              <a:buNone/>
            </a:pPr>
            <a:r>
              <a:rPr lang="en-US" sz="1600" b="1" dirty="0">
                <a:solidFill>
                  <a:srgbClr val="FFFFFF"/>
                </a:solidFill>
                <a:latin typeface="Open Sans" pitchFamily="34" charset="0"/>
                <a:ea typeface="Open Sans" pitchFamily="34" charset="-122"/>
                <a:cs typeface="Open Sans" pitchFamily="34" charset="-120"/>
              </a:rPr>
              <a:t>A  Rubric walkthrough (15)</a:t>
            </a:r>
            <a:endParaRPr lang="en-US" sz="1600" dirty="0"/>
          </a:p>
          <a:p>
            <a:pPr indent="0" marL="0">
              <a:spcAft>
                <a:spcPts val="800"/>
              </a:spcAft>
              <a:buNone/>
            </a:pPr>
            <a:r>
              <a:rPr lang="en-US" sz="1600" b="1" dirty="0">
                <a:solidFill>
                  <a:srgbClr val="FFFFFF"/>
                </a:solidFill>
                <a:latin typeface="Open Sans" pitchFamily="34" charset="0"/>
                <a:ea typeface="Open Sans" pitchFamily="34" charset="-122"/>
                <a:cs typeface="Open Sans" pitchFamily="34" charset="-120"/>
              </a:rPr>
              <a:t>B  Self-check: eight pitfalls (30)</a:t>
            </a:r>
            <a:endParaRPr lang="en-US" sz="1600" dirty="0"/>
          </a:p>
          <a:p>
            <a:pPr indent="0" marL="0">
              <a:spcAft>
                <a:spcPts val="800"/>
              </a:spcAft>
              <a:buNone/>
            </a:pPr>
            <a:r>
              <a:rPr lang="en-US" sz="1600" b="1" dirty="0">
                <a:solidFill>
                  <a:srgbClr val="FFFFFF"/>
                </a:solidFill>
                <a:latin typeface="Open Sans" pitchFamily="34" charset="0"/>
                <a:ea typeface="Open Sans" pitchFamily="34" charset="-122"/>
                <a:cs typeface="Open Sans" pitchFamily="34" charset="-120"/>
              </a:rPr>
              <a:t>C  Supported writing (60)</a:t>
            </a:r>
            <a:endParaRPr lang="en-US" sz="1600" dirty="0"/>
          </a:p>
          <a:p>
            <a:pPr indent="0" marL="0">
              <a:spcAft>
                <a:spcPts val="800"/>
              </a:spcAft>
              <a:buNone/>
            </a:pPr>
            <a:r>
              <a:rPr lang="en-US" sz="1600" b="1" dirty="0">
                <a:solidFill>
                  <a:srgbClr val="FFFFFF"/>
                </a:solidFill>
                <a:latin typeface="Open Sans" pitchFamily="34" charset="0"/>
                <a:ea typeface="Open Sans" pitchFamily="34" charset="-122"/>
                <a:cs typeface="Open Sans" pitchFamily="34" charset="-120"/>
              </a:rPr>
              <a:t>D  Peer review (30)</a:t>
            </a:r>
            <a:endParaRPr lang="en-US" sz="1600" dirty="0"/>
          </a:p>
          <a:p>
            <a:pPr indent="0" marL="0">
              <a:spcAft>
                <a:spcPts val="800"/>
              </a:spcAft>
              <a:buNone/>
            </a:pPr>
            <a:r>
              <a:rPr lang="en-US" sz="1600" b="1" dirty="0">
                <a:solidFill>
                  <a:srgbClr val="FFFFFF"/>
                </a:solidFill>
                <a:latin typeface="Open Sans" pitchFamily="34" charset="0"/>
                <a:ea typeface="Open Sans" pitchFamily="34" charset="-122"/>
                <a:cs typeface="Open Sans" pitchFamily="34" charset="-120"/>
              </a:rPr>
              <a:t>E  Viva rehearsal (30)</a:t>
            </a:r>
            <a:endParaRPr lang="en-US" sz="1600" dirty="0"/>
          </a:p>
          <a:p>
            <a:pPr indent="0" marL="0">
              <a:spcAft>
                <a:spcPts val="800"/>
              </a:spcAft>
              <a:buNone/>
            </a:pPr>
            <a:r>
              <a:rPr lang="en-US" sz="1600" b="1" dirty="0">
                <a:solidFill>
                  <a:srgbClr val="FFFFFF"/>
                </a:solidFill>
                <a:latin typeface="Open Sans" pitchFamily="34" charset="0"/>
                <a:ea typeface="Open Sans" pitchFamily="34" charset="-122"/>
                <a:cs typeface="Open Sans" pitchFamily="34" charset="-120"/>
              </a:rPr>
              <a:t>F  Record and plan (15)</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6E8472"/>
        </a:solidFill>
      </p:bgPr>
    </p:bg>
    <p:spTree>
      <p:nvGrpSpPr>
        <p:cNvPr id="1" name=""/>
        <p:cNvGrpSpPr/>
        <p:nvPr/>
      </p:nvGrpSpPr>
      <p:grpSpPr>
        <a:xfrm>
          <a:off x="0" y="0"/>
          <a:ext cx="0" cy="0"/>
          <a:chOff x="0" y="0"/>
          <a:chExt cx="0" cy="0"/>
        </a:xfrm>
      </p:grpSpPr>
      <p:sp>
        <p:nvSpPr>
          <p:cNvPr id="2" name="Shape 0"/>
          <p:cNvSpPr/>
          <p:nvPr/>
        </p:nvSpPr>
        <p:spPr>
          <a:xfrm>
            <a:off x="731520" y="566928"/>
            <a:ext cx="502920" cy="45720"/>
          </a:xfrm>
          <a:prstGeom prst="rect">
            <a:avLst/>
          </a:prstGeom>
          <a:solidFill>
            <a:srgbClr val="FFFFFF"/>
          </a:solidFill>
          <a:ln/>
        </p:spPr>
      </p:sp>
      <p:sp>
        <p:nvSpPr>
          <p:cNvPr id="3" name="Text 1"/>
          <p:cNvSpPr/>
          <p:nvPr/>
        </p:nvSpPr>
        <p:spPr>
          <a:xfrm>
            <a:off x="731520" y="768096"/>
            <a:ext cx="7690104" cy="640080"/>
          </a:xfrm>
          <a:prstGeom prst="rect">
            <a:avLst/>
          </a:prstGeom>
          <a:noFill/>
          <a:ln/>
        </p:spPr>
        <p:txBody>
          <a:bodyPr wrap="square" lIns="0" tIns="0" rIns="0" bIns="0" rtlCol="0" anchor="t"/>
          <a:lstStyle/>
          <a:p>
            <a:pPr indent="0" marL="0">
              <a:buNone/>
            </a:pPr>
            <a:r>
              <a:rPr lang="en-US" sz="3600" b="1" dirty="0">
                <a:solidFill>
                  <a:srgbClr val="FFFFFF"/>
                </a:solidFill>
                <a:latin typeface="Open Sans" pitchFamily="34" charset="0"/>
                <a:ea typeface="Open Sans" pitchFamily="34" charset="-122"/>
                <a:cs typeface="Open Sans" pitchFamily="34" charset="-120"/>
              </a:rPr>
              <a:t>How do you know?</a:t>
            </a:r>
            <a:endParaRPr lang="en-US" sz="3600" dirty="0"/>
          </a:p>
        </p:txBody>
      </p:sp>
      <p:sp>
        <p:nvSpPr>
          <p:cNvPr id="4" name="Shape 2"/>
          <p:cNvSpPr/>
          <p:nvPr/>
        </p:nvSpPr>
        <p:spPr>
          <a:xfrm>
            <a:off x="914400" y="1691640"/>
            <a:ext cx="7315200" cy="3017520"/>
          </a:xfrm>
          <a:prstGeom prst="rect">
            <a:avLst/>
          </a:prstGeom>
          <a:solidFill>
            <a:srgbClr val="FFFFFF"/>
          </a:solidFill>
          <a:ln/>
        </p:spPr>
      </p:sp>
      <p:sp>
        <p:nvSpPr>
          <p:cNvPr id="5" name="Text 3"/>
          <p:cNvSpPr/>
          <p:nvPr/>
        </p:nvSpPr>
        <p:spPr>
          <a:xfrm>
            <a:off x="1051560" y="1691640"/>
            <a:ext cx="7040880" cy="3017520"/>
          </a:xfrm>
          <a:prstGeom prst="rect">
            <a:avLst/>
          </a:prstGeom>
          <a:noFill/>
          <a:ln/>
        </p:spPr>
        <p:txBody>
          <a:bodyPr wrap="square" lIns="0" tIns="0" rIns="0" bIns="0" rtlCol="0" anchor="ctr"/>
          <a:lstStyle/>
          <a:p>
            <a:pPr indent="0" marL="0">
              <a:buNone/>
            </a:pPr>
            <a:r>
              <a:rPr lang="en-US" sz="1600" b="1" dirty="0">
                <a:solidFill>
                  <a:srgbClr val="31423B"/>
                </a:solidFill>
                <a:latin typeface="Open Sans" pitchFamily="34" charset="0"/>
                <a:ea typeface="Open Sans" pitchFamily="34" charset="-122"/>
                <a:cs typeface="Open Sans" pitchFamily="34" charset="-120"/>
              </a:rPr>
              <a:t>In pairs: </a:t>
            </a:r>
            <a:pPr indent="0" marL="0">
              <a:buNone/>
            </a:pPr>
            <a:r>
              <a:rPr lang="en-US" sz="1600" dirty="0">
                <a:solidFill>
                  <a:srgbClr val="31423B"/>
                </a:solidFill>
                <a:latin typeface="Open Sans" pitchFamily="34" charset="0"/>
                <a:ea typeface="Open Sans" pitchFamily="34" charset="-122"/>
                <a:cs typeface="Open Sans" pitchFamily="34" charset="-120"/>
              </a:rPr>
              <a:t>explain one finding from your own report in three minutes: the claim, the evidence, its limitation.</a:t>
            </a:r>
            <a:endParaRPr lang="en-US" sz="1600" dirty="0"/>
          </a:p>
          <a:p>
            <a:pPr indent="0" marL="0">
              <a:buNone/>
            </a:pPr>
            <a:r>
              <a:rPr lang="en-US" sz="1600" dirty="0">
                <a:solidFill>
                  <a:srgbClr val="31423B"/>
                </a:solidFill>
                <a:latin typeface="Open Sans" pitchFamily="34" charset="0"/>
                <a:ea typeface="Open Sans" pitchFamily="34" charset="-122"/>
                <a:cs typeface="Open Sans" pitchFamily="34" charset="-120"/>
              </a:rPr>
              <a:t> </a:t>
            </a:r>
            <a:endParaRPr lang="en-US" sz="1600" dirty="0"/>
          </a:p>
          <a:p>
            <a:pPr indent="0" marL="0">
              <a:buNone/>
            </a:pPr>
            <a:r>
              <a:rPr lang="en-US" sz="1600" b="1" dirty="0">
                <a:solidFill>
                  <a:srgbClr val="31423B"/>
                </a:solidFill>
                <a:latin typeface="Open Sans" pitchFamily="34" charset="0"/>
                <a:ea typeface="Open Sans" pitchFamily="34" charset="-122"/>
                <a:cs typeface="Open Sans" pitchFamily="34" charset="-120"/>
              </a:rPr>
              <a:t>Partner: </a:t>
            </a:r>
            <a:pPr indent="0" marL="0">
              <a:buNone/>
            </a:pPr>
            <a:r>
              <a:rPr lang="en-US" sz="1600" dirty="0">
                <a:solidFill>
                  <a:srgbClr val="31423B"/>
                </a:solidFill>
                <a:latin typeface="Open Sans" pitchFamily="34" charset="0"/>
                <a:ea typeface="Open Sans" pitchFamily="34" charset="-122"/>
                <a:cs typeface="Open Sans" pitchFamily="34" charset="-120"/>
              </a:rPr>
              <a:t>after every claim, ask "how do you know?" until the answer is a file, or until it stops.</a:t>
            </a:r>
            <a:endParaRPr lang="en-US" sz="1600" dirty="0"/>
          </a:p>
          <a:p>
            <a:pPr indent="0" marL="0">
              <a:buNone/>
            </a:pPr>
            <a:r>
              <a:rPr lang="en-US" sz="1600" dirty="0">
                <a:solidFill>
                  <a:srgbClr val="31423B"/>
                </a:solidFill>
                <a:latin typeface="Open Sans" pitchFamily="34" charset="0"/>
                <a:ea typeface="Open Sans" pitchFamily="34" charset="-122"/>
                <a:cs typeface="Open Sans" pitchFamily="34" charset="-120"/>
              </a:rPr>
              <a:t> </a:t>
            </a:r>
            <a:endParaRPr lang="en-US" sz="1600" dirty="0"/>
          </a:p>
          <a:p>
            <a:pPr indent="0" marL="0">
              <a:buNone/>
            </a:pPr>
            <a:r>
              <a:rPr lang="en-US" sz="1600" i="1" dirty="0">
                <a:solidFill>
                  <a:srgbClr val="5C6B63"/>
                </a:solidFill>
                <a:latin typeface="Open Sans" pitchFamily="34" charset="0"/>
                <a:ea typeface="Open Sans" pitchFamily="34" charset="-122"/>
                <a:cs typeface="Open Sans" pitchFamily="34" charset="-120"/>
              </a:rPr>
              <a:t>Where it stops is what you prepare next.</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6035040" y="0"/>
            <a:ext cx="3108960" cy="5143500"/>
          </a:xfrm>
          <a:prstGeom prst="rect">
            <a:avLst/>
          </a:prstGeom>
          <a:solidFill>
            <a:srgbClr val="6E8472"/>
          </a:solidFill>
          <a:ln/>
        </p:spPr>
      </p:sp>
      <p:pic>
        <p:nvPicPr>
          <p:cNvPr id="3" name="Image 0" descr="preencoded.png">    </p:cNvPr>
          <p:cNvPicPr>
            <a:picLocks noChangeAspect="1"/>
          </p:cNvPicPr>
          <p:nvPr/>
        </p:nvPicPr>
        <p:blipFill>
          <a:blip r:embed="rId1"/>
          <a:stretch>
            <a:fillRect/>
          </a:stretch>
        </p:blipFill>
        <p:spPr>
          <a:xfrm>
            <a:off x="6583680" y="1554480"/>
            <a:ext cx="2011680" cy="2011680"/>
          </a:xfrm>
          <a:prstGeom prst="rect">
            <a:avLst/>
          </a:prstGeom>
        </p:spPr>
      </p:pic>
      <p:sp>
        <p:nvSpPr>
          <p:cNvPr id="4" name="Text 1"/>
          <p:cNvSpPr/>
          <p:nvPr/>
        </p:nvSpPr>
        <p:spPr>
          <a:xfrm>
            <a:off x="384048" y="1097280"/>
            <a:ext cx="5303520" cy="868680"/>
          </a:xfrm>
          <a:prstGeom prst="rect">
            <a:avLst/>
          </a:prstGeom>
          <a:noFill/>
          <a:ln/>
        </p:spPr>
        <p:txBody>
          <a:bodyPr wrap="square" lIns="0" tIns="0" rIns="0" bIns="0" rtlCol="0" anchor="ctr"/>
          <a:lstStyle/>
          <a:p>
            <a:pPr indent="0" marL="0">
              <a:buNone/>
            </a:pPr>
            <a:r>
              <a:rPr lang="en-US" sz="4800" b="1" dirty="0">
                <a:solidFill>
                  <a:srgbClr val="31423B"/>
                </a:solidFill>
                <a:latin typeface="Open Sans" pitchFamily="34" charset="0"/>
                <a:ea typeface="Open Sans" pitchFamily="34" charset="-122"/>
                <a:cs typeface="Open Sans" pitchFamily="34" charset="-120"/>
              </a:rPr>
              <a:t>Questions &amp;</a:t>
            </a:r>
            <a:endParaRPr lang="en-US" sz="4800" dirty="0"/>
          </a:p>
        </p:txBody>
      </p:sp>
      <p:sp>
        <p:nvSpPr>
          <p:cNvPr id="5" name="Text 2"/>
          <p:cNvSpPr/>
          <p:nvPr/>
        </p:nvSpPr>
        <p:spPr>
          <a:xfrm>
            <a:off x="384048" y="1938528"/>
            <a:ext cx="5303520" cy="868680"/>
          </a:xfrm>
          <a:prstGeom prst="rect">
            <a:avLst/>
          </a:prstGeom>
          <a:noFill/>
          <a:ln/>
        </p:spPr>
        <p:txBody>
          <a:bodyPr wrap="square" lIns="0" tIns="0" rIns="0" bIns="0" rtlCol="0" anchor="ctr"/>
          <a:lstStyle/>
          <a:p>
            <a:pPr indent="0" marL="0">
              <a:buNone/>
            </a:pPr>
            <a:r>
              <a:rPr lang="en-US" sz="4800" b="1" dirty="0">
                <a:solidFill>
                  <a:srgbClr val="6E8472"/>
                </a:solidFill>
                <a:latin typeface="Open Sans" pitchFamily="34" charset="0"/>
                <a:ea typeface="Open Sans" pitchFamily="34" charset="-122"/>
                <a:cs typeface="Open Sans" pitchFamily="34" charset="-120"/>
              </a:rPr>
              <a:t>Discussion</a:t>
            </a:r>
            <a:endParaRPr lang="en-US" sz="4800" dirty="0"/>
          </a:p>
        </p:txBody>
      </p:sp>
      <p:sp>
        <p:nvSpPr>
          <p:cNvPr id="6" name="Shape 3"/>
          <p:cNvSpPr/>
          <p:nvPr/>
        </p:nvSpPr>
        <p:spPr>
          <a:xfrm>
            <a:off x="384048" y="2852928"/>
            <a:ext cx="749808" cy="73152"/>
          </a:xfrm>
          <a:prstGeom prst="rect">
            <a:avLst/>
          </a:prstGeom>
          <a:solidFill>
            <a:srgbClr val="6E8472"/>
          </a:solidFill>
          <a:ln/>
        </p:spPr>
      </p:sp>
      <p:sp>
        <p:nvSpPr>
          <p:cNvPr id="7" name="Shape 4"/>
          <p:cNvSpPr/>
          <p:nvPr/>
        </p:nvSpPr>
        <p:spPr>
          <a:xfrm>
            <a:off x="1188720" y="2852928"/>
            <a:ext cx="384048" cy="73152"/>
          </a:xfrm>
          <a:prstGeom prst="rect">
            <a:avLst/>
          </a:prstGeom>
          <a:solidFill>
            <a:srgbClr val="8A4E8F"/>
          </a:solidFill>
          <a:ln/>
        </p:spPr>
      </p:sp>
      <p:sp>
        <p:nvSpPr>
          <p:cNvPr id="8" name="Text 5"/>
          <p:cNvSpPr/>
          <p:nvPr/>
        </p:nvSpPr>
        <p:spPr>
          <a:xfrm>
            <a:off x="384048" y="3035808"/>
            <a:ext cx="5394960" cy="1691640"/>
          </a:xfrm>
          <a:prstGeom prst="rect">
            <a:avLst/>
          </a:prstGeom>
          <a:noFill/>
          <a:ln/>
        </p:spPr>
        <p:txBody>
          <a:bodyPr wrap="square" lIns="0" tIns="0" rIns="0" bIns="0" rtlCol="0" anchor="t"/>
          <a:lstStyle/>
          <a:p>
            <a:pPr marL="342900" indent="-342900">
              <a:spcAft>
                <a:spcPts val="300"/>
              </a:spcAft>
              <a:buSzPct val="100000"/>
              <a:buChar char="•"/>
            </a:pPr>
            <a:r>
              <a:rPr lang="en-US" sz="1300" b="1" dirty="0">
                <a:solidFill>
                  <a:srgbClr val="31423B"/>
                </a:solidFill>
                <a:latin typeface="Open Sans" pitchFamily="34" charset="0"/>
                <a:ea typeface="Open Sans" pitchFamily="34" charset="-122"/>
                <a:cs typeface="Open Sans" pitchFamily="34" charset="-120"/>
              </a:rPr>
              <a:t>Bands reward what the page shows</a:t>
            </a:r>
            <a:endParaRPr lang="en-US" sz="1300" dirty="0"/>
          </a:p>
          <a:p>
            <a:pPr marL="342900" indent="-342900">
              <a:spcAft>
                <a:spcPts val="300"/>
              </a:spcAft>
              <a:buSzPct val="100000"/>
              <a:buChar char="•"/>
            </a:pPr>
            <a:r>
              <a:rPr lang="en-US" sz="1300" b="1" dirty="0">
                <a:solidFill>
                  <a:srgbClr val="31423B"/>
                </a:solidFill>
                <a:latin typeface="Open Sans" pitchFamily="34" charset="0"/>
                <a:ea typeface="Open Sans" pitchFamily="34" charset="-122"/>
                <a:cs typeface="Open Sans" pitchFamily="34" charset="-120"/>
              </a:rPr>
              <a:t>Cut repetition, never evidence</a:t>
            </a:r>
            <a:endParaRPr lang="en-US" sz="1300" dirty="0"/>
          </a:p>
          <a:p>
            <a:pPr marL="342900" indent="-342900">
              <a:spcAft>
                <a:spcPts val="300"/>
              </a:spcAft>
              <a:buSzPct val="100000"/>
              <a:buChar char="•"/>
            </a:pPr>
            <a:r>
              <a:rPr lang="en-US" sz="1300" b="1" dirty="0">
                <a:solidFill>
                  <a:srgbClr val="31423B"/>
                </a:solidFill>
                <a:latin typeface="Open Sans" pitchFamily="34" charset="0"/>
                <a:ea typeface="Open Sans" pitchFamily="34" charset="-122"/>
                <a:cs typeface="Open Sans" pitchFamily="34" charset="-120"/>
              </a:rPr>
              <a:t>Every answer points at a file</a:t>
            </a:r>
            <a:endParaRPr lang="en-US" sz="1300" dirty="0"/>
          </a:p>
          <a:p>
            <a:pPr marL="342900" indent="-342900">
              <a:spcAft>
                <a:spcPts val="800"/>
              </a:spcAft>
              <a:buSzPct val="100000"/>
              <a:buChar char="•"/>
            </a:pPr>
            <a:r>
              <a:rPr lang="en-US" sz="1300" b="1" dirty="0">
                <a:solidFill>
                  <a:srgbClr val="31423B"/>
                </a:solidFill>
                <a:latin typeface="Open Sans" pitchFamily="34" charset="0"/>
                <a:ea typeface="Open Sans" pitchFamily="34" charset="-122"/>
                <a:cs typeface="Open Sans" pitchFamily="34" charset="-120"/>
              </a:rPr>
              <a:t>Keep everything until the coursework closes</a:t>
            </a:r>
            <a:endParaRPr lang="en-US" sz="1300" dirty="0"/>
          </a:p>
          <a:p>
            <a:pPr indent="0" marL="0">
              <a:spcAft>
                <a:spcPts val="300"/>
              </a:spcAft>
              <a:buNone/>
            </a:pPr>
            <a:r>
              <a:rPr lang="en-US" sz="1300" i="1" dirty="0">
                <a:solidFill>
                  <a:srgbClr val="5C6B63"/>
                </a:solidFill>
                <a:latin typeface="Open Sans" pitchFamily="34" charset="0"/>
                <a:ea typeface="Open Sans" pitchFamily="34" charset="-122"/>
                <a:cs typeface="Open Sans" pitchFamily="34" charset="-120"/>
              </a:rPr>
              <a:t>Next: the exam-preparation hour. The mock is on the LMS.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Disclaimer &amp; Copyrights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Text 4"/>
          <p:cNvSpPr/>
          <p:nvPr/>
        </p:nvSpPr>
        <p:spPr>
          <a:xfrm>
            <a:off x="731520" y="1417320"/>
            <a:ext cx="7863840" cy="2331720"/>
          </a:xfrm>
          <a:prstGeom prst="rect">
            <a:avLst/>
          </a:prstGeom>
          <a:noFill/>
          <a:ln/>
        </p:spPr>
        <p:txBody>
          <a:bodyPr wrap="square" lIns="0" tIns="0" rIns="0" bIns="0" rtlCol="0" anchor="t"/>
          <a:lstStyle/>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The information presented in this presentation is intended for general informational purposes only. It is not meant to be comprehensive or to constitute professional advice. Any reliance you place on such information is strictly at your own risk. While I strive to keep the information accurate and up-to-date, I make no representations or warranties of any kind, express or implied, about the completeness, accuracy, reliability, suitability or availability concerning the content within this presentation.</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This presentation may include references or links to third-party websites or content. I do not endorse the views expressed or the information provided on such external sites. I am not responsible for the content of any linked site or any link contained in a linked site.</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Any action you take upon the information presented in this presentation is strictly at your own discretion. I will not be liable for any losses or damages in connection with the use of this information.</a:t>
            </a:r>
            <a:endParaRPr lang="en-US" sz="1200" dirty="0"/>
          </a:p>
          <a:p>
            <a:pPr indent="0" marL="0">
              <a:buNone/>
            </a:pPr>
            <a:r>
              <a:rPr lang="en-US" sz="1200" dirty="0">
                <a:solidFill>
                  <a:srgbClr val="31423B"/>
                </a:solidFill>
                <a:latin typeface="Open Sans" pitchFamily="34" charset="0"/>
                <a:ea typeface="Open Sans" pitchFamily="34" charset="-122"/>
                <a:cs typeface="Open Sans" pitchFamily="34" charset="-120"/>
              </a:rPr>
              <a:t>This disclaimer is subject to change without notice.</a:t>
            </a:r>
            <a:endParaRPr lang="en-US" sz="1200" dirty="0"/>
          </a:p>
        </p:txBody>
      </p:sp>
      <p:sp>
        <p:nvSpPr>
          <p:cNvPr id="7" name="Shape 5"/>
          <p:cNvSpPr/>
          <p:nvPr/>
        </p:nvSpPr>
        <p:spPr>
          <a:xfrm>
            <a:off x="731520" y="3931920"/>
            <a:ext cx="54864" cy="621792"/>
          </a:xfrm>
          <a:prstGeom prst="rect">
            <a:avLst/>
          </a:prstGeom>
          <a:solidFill>
            <a:srgbClr val="E8F0EA"/>
          </a:solidFill>
          <a:ln/>
        </p:spPr>
      </p:sp>
      <p:sp>
        <p:nvSpPr>
          <p:cNvPr id="8" name="Text 6"/>
          <p:cNvSpPr/>
          <p:nvPr/>
        </p:nvSpPr>
        <p:spPr>
          <a:xfrm>
            <a:off x="859536" y="3931920"/>
            <a:ext cx="7735824" cy="621792"/>
          </a:xfrm>
          <a:prstGeom prst="rect">
            <a:avLst/>
          </a:prstGeom>
          <a:noFill/>
          <a:ln/>
        </p:spPr>
        <p:txBody>
          <a:bodyPr wrap="square" lIns="0" tIns="0" rIns="0" bIns="0" rtlCol="0" anchor="t"/>
          <a:lstStyle/>
          <a:p>
            <a:pPr indent="0" marL="0">
              <a:buNone/>
            </a:pPr>
            <a:r>
              <a:rPr lang="en-US" sz="1100" dirty="0">
                <a:solidFill>
                  <a:srgbClr val="5C6B63"/>
                </a:solidFill>
                <a:latin typeface="Open Sans" pitchFamily="34" charset="0"/>
                <a:ea typeface="Open Sans" pitchFamily="34" charset="-122"/>
                <a:cs typeface="Open Sans" pitchFamily="34" charset="-120"/>
              </a:rPr>
              <a:t>@ Images and artworks used in this presentation are used for general informational purposes only. It may contain copyrighted material, the use of which may not have been specifically authorised by the copyright owner. This material is available in an effort to explain issues relevant to the topic. This should constitute a 'fair use' of any such copyrighted material.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National Institute of Business Management (NIBM)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NB6018CEM S18 - Capstone Workshop: Coursework and Viva Preparation</dc:title>
  <dc:subject>PptxGenJS Presentation</dc:subject>
  <dc:creator>Niranga Dharmaratna</dc:creator>
  <cp:lastModifiedBy>Niranga Dharmaratna</cp:lastModifiedBy>
  <cp:revision>1</cp:revision>
  <dcterms:created xsi:type="dcterms:W3CDTF">2026-10-18T03:45:05Z</dcterms:created>
  <dcterms:modified xsi:type="dcterms:W3CDTF">2026-10-18T03:45:05Z</dcterms:modified>
</cp:coreProperties>
</file>