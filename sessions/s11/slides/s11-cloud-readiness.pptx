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Session 11 opens Day 6 and the coursework block: Sessions 11, 12 and 13 work on one environment, and that environment is the coursework evidence. The portal page is the content master; every slide points to a section of it. Before the concept part, check that every student can sign in to their own AWS account and that Kali starts. Misconception to watch for: that today is an investigation. Today builds, verifies and triggers; Session 12 collects; Session 13 analyses.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LO1, LO4 and LO5. The checkpoint, the readiness checklist verified and the incident executed, feeds the coursework directly: the environment students build today is the evidence they investigate in Sessions 12 and 13. Day 6 has no end-of-day quiz in this session; Session 12 closes the day. Misconception to watch for: that a setting can be fixed later. A setting that was wrong during the incident stays wrong for that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case hook from the page, then the sections in order. The hook ends in three questions: what will be recorded (sections 5 and 6), by whom (sections 2 and 3: the provider records only what the customer switched on), and how we know it can be trusted (section 7). Misconception to watch for: that the cloud drop of the case is available to investigate. It is not: students rebuild that kind of drop, and the page says so plainly.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opening of the page. Say the three statements before any concept. Be honest about the reconstruction: the case file names a cloud drop, and the real one is not available, so each analyst builds and investigates their own copy. Misconception to watch for: that the evidence comes from the lab share as in Sessions 1 to 10. Nothing comes from the lab share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section 1. Define cloud provider and Region. The point: forensically sound in the cloud rests on a documented acquisition, hash values at collection and records that can be checked. The first two are Session 12's; today is about the records existing at all. Misconception to watch for: that downloading every file equals a forensic image.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section 2. AWS's own phrases: security of the cloud and security in the cloud. Then the second meaning: the same line decides what evidence can be reached. Work the two case questions from the page. Misconception to watch for: 'the data is in AWS, so AWS keeps the evidence'. AWS keeps the records the customer switched on, for as long as the customer chose.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section 3, with demo D1 from the front: step through the five models and read the evidence list aloud at each step. Define IaaS, PaaS and SaaS as the page does. S3 behaves like PaaS for evidence. Misconception to watch for: that an IaaS disk snapshot is a forensic image in Session 1's sense. It is the closest the cloud comes, made by the provider's software, and the physical disks stay below the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four-part comparison of page section 3. Spend the time on where it breaks: it carries the whole session. Misconception to watch for: that the provider is a landlord who keeps recordings by default.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section 4. Tie volatility back to Session 6's order of volatility: the cloud adds whole resources to the fast end. Multi-tenancy is about other customers on the same hardware, not several users in one account. Jurisdiction: name the instruments only if asked; the page's deeper layer has the Budapest Convention, mutual legal assistance, the US CLOUD Act and Sri Lanka's Personal Data Protection Act. Not legal advice. Misconception to watch for: 'the data is in Mumbai, so only Indian law applies'.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section 5, with demo D2. Contrast with Sessions 2 to 5: on a laptop, unallocated space and the registry keep traces nobody planned to keep; the cloud gives no such second chance. Define CloudTrail, management event, data event and Event history. Mention cost here only briefly: data events are charged by volume, which is why they are scoped to one bucket. Misconception to watch for: '90 days of history' read as 90 days of everything.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section 5. This table is the specification of the lab. The budget alarm is set at US$1, not zero: a zero alarm fires on the first fraction of a cent and teaches students to ignore it. Misconception to watch for: switching data events on for all buckets. CloudTrail would then also record its own deliveries and the logging service's writes, and the volume would grow.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section 6, with demo D4 and the two-witnesses comparison: the front-desk register and the night cleaner's notebook. Where it breaks: the two records count requests differently, and a missing access-log line is allowed, not a sign of tampering. This is the reason the scripted incident runs at the close of today. Misconception to watch for: comparing the two logs twenty minutes after an incident and concluding that one of them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section 7, with demo D3. Define object versioning, version ID and delete marker. Link to Session 2: deletion removes the pointer, not the data; here the history survives by design, until someone with permission deletes a version itself, and then there is no unallocated space behind it. Do not show how to recover a version: that belongs to Session 12. Misconception to watch for: that S3 has a recycle bin.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section 7, with demo D5 and the sealed evidence bag comparison. Define log-file integrity validation and digest file. The first digest arrives about an hour after validation is switched on, which is one reason the lab waits an hour before the incident. Misconception to watch for: 'validated' read as 'complete'.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lens of the session, at the end of page section 7. Give the gist in two sentences; never assume anyone has seen the film. Name and paraphrase only. The break is the lesson: a private totem against a public, checkable seal. Leave transactive memory for Sessions 12 and 13. About three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pivotal idea, from the key box after the lens. Let the room read it. Then the bridge to the lab: every setting switched on today either creates the provider's record or makes it possible to verify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section 8, about two hours, in a browser and Kali. Read the six safety rules aloud. Two settings need care in the room: clear Log file SSE-KMS encryption on the trail (otherwise a charged KMS key appears), and scope data events to the case bucket with the trailing slash. Part E fills the hour that the settings need to settle. After Part F, nobody touches the case bucket until Session 12: every look is recorded. Misconception to watch for: checking the bucket in the console during the incident 'to see if it worked'.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Debrief, five minutes. Draw out three layers. First: records run forward only, so 'switch it on when we need it' means never having it for the incident that made you need it. Second: the trade-off is real; data events cost money at scale, which is why they are scoped. Third: the choice of one record depends on the question the organisation most needs answered; let students argue it, and ask what each choice leaves dark. Misconception to watch for: that readiness is an all-or-nothing purchase.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Take-aways and coming next, from the page. A student absent today follows the page's catch-up checklist and must run the incident at least an hour after the trail is set up, and no later than the evening before Session 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House disclaimer, unchanged. Every identifier on these slides is invented: no real account ID, key, bucket or address appears.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8F4"/>
        </a:solidFill>
      </p:bgPr>
    </p:bg>
    <p:spTree>
      <p:nvGrpSpPr>
        <p:cNvPr id="1" name=""/>
        <p:cNvGrpSpPr/>
        <p:nvPr/>
      </p:nvGrpSpPr>
      <p:grpSpPr>
        <a:xfrm>
          <a:off x="0" y="0"/>
          <a:ext cx="0" cy="0"/>
          <a:chOff x="0" y="0"/>
          <a:chExt cx="0" cy="0"/>
        </a:xfrm>
      </p:grpSpPr>
      <p:sp>
        <p:nvSpPr>
          <p:cNvPr id="2" name="Text 0"/>
          <p:cNvSpPr/>
          <p:nvPr/>
        </p:nvSpPr>
        <p:spPr>
          <a:xfrm>
            <a:off x="384048" y="292608"/>
            <a:ext cx="5486400" cy="548640"/>
          </a:xfrm>
          <a:prstGeom prst="rect">
            <a:avLst/>
          </a:prstGeom>
          <a:noFill/>
          <a:ln/>
        </p:spPr>
        <p:txBody>
          <a:bodyPr wrap="square" lIns="0" tIns="0" rIns="0" bIns="0" rtlCol="0" anchor="ctr"/>
          <a:lstStyle/>
          <a:p>
            <a:pPr indent="0" marL="0">
              <a:buNone/>
            </a:pPr>
            <a:r>
              <a:rPr lang="en-US" sz="1300" b="1" dirty="0">
                <a:solidFill>
                  <a:srgbClr val="31423B"/>
                </a:solidFill>
                <a:latin typeface="Open Sans" pitchFamily="34" charset="0"/>
                <a:ea typeface="Open Sans" pitchFamily="34" charset="-122"/>
                <a:cs typeface="Open Sans" pitchFamily="34" charset="-120"/>
              </a:rPr>
              <a:t>BSc (Hons) Ethical Hacking &amp; Network Security</a:t>
            </a:r>
            <a:endParaRPr lang="en-US" sz="1300" dirty="0"/>
          </a:p>
          <a:p>
            <a:pPr indent="0" marL="0">
              <a:buNone/>
            </a:pPr>
            <a:r>
              <a:rPr lang="en-US" sz="1300" b="1" dirty="0">
                <a:solidFill>
                  <a:srgbClr val="31423B"/>
                </a:solidFill>
                <a:latin typeface="Open Sans" pitchFamily="34" charset="0"/>
                <a:ea typeface="Open Sans" pitchFamily="34" charset="-122"/>
                <a:cs typeface="Open Sans" pitchFamily="34" charset="-120"/>
              </a:rPr>
              <a:t>Coventry University (CU) - NIBM</a:t>
            </a:r>
            <a:endParaRPr lang="en-US" sz="1300" dirty="0"/>
          </a:p>
        </p:txBody>
      </p:sp>
      <p:sp>
        <p:nvSpPr>
          <p:cNvPr id="3" name="Text 1"/>
          <p:cNvSpPr/>
          <p:nvPr/>
        </p:nvSpPr>
        <p:spPr>
          <a:xfrm>
            <a:off x="384048" y="886968"/>
            <a:ext cx="4572000" cy="256032"/>
          </a:xfrm>
          <a:prstGeom prst="rect">
            <a:avLst/>
          </a:prstGeom>
          <a:noFill/>
          <a:ln/>
        </p:spPr>
        <p:txBody>
          <a:bodyPr wrap="square" lIns="0" tIns="0" rIns="0" bIns="0" rtlCol="0" anchor="ctr"/>
          <a:lstStyle/>
          <a:p>
            <a:pPr indent="0" marL="0">
              <a:buNone/>
            </a:pPr>
            <a:r>
              <a:rPr lang="en-US" sz="1300" b="1" dirty="0">
                <a:solidFill>
                  <a:srgbClr val="4F6356"/>
                </a:solidFill>
                <a:latin typeface="Open Sans" pitchFamily="34" charset="0"/>
                <a:ea typeface="Open Sans" pitchFamily="34" charset="-122"/>
                <a:cs typeface="Open Sans" pitchFamily="34" charset="-120"/>
              </a:rPr>
              <a:t>NB6018CEM  |  Level 6  |  20 Credits</a:t>
            </a:r>
            <a:endParaRPr lang="en-US" sz="1300" dirty="0"/>
          </a:p>
        </p:txBody>
      </p:sp>
      <p:sp>
        <p:nvSpPr>
          <p:cNvPr id="4" name="Text 2"/>
          <p:cNvSpPr/>
          <p:nvPr/>
        </p:nvSpPr>
        <p:spPr>
          <a:xfrm>
            <a:off x="384048" y="1188720"/>
            <a:ext cx="5486400" cy="1920240"/>
          </a:xfrm>
          <a:prstGeom prst="rect">
            <a:avLst/>
          </a:prstGeom>
          <a:noFill/>
          <a:ln/>
        </p:spPr>
        <p:txBody>
          <a:bodyPr wrap="square" lIns="0" tIns="0" rIns="0" bIns="0" rtlCol="0" anchor="ctr"/>
          <a:lstStyle/>
          <a:p>
            <a:pPr indent="0" marL="0">
              <a:buNone/>
            </a:pPr>
            <a:r>
              <a:rPr lang="en-US" sz="3600" b="1" dirty="0">
                <a:solidFill>
                  <a:srgbClr val="31423B"/>
                </a:solidFill>
                <a:latin typeface="Open Sans" pitchFamily="34" charset="0"/>
                <a:ea typeface="Open Sans" pitchFamily="34" charset="-122"/>
                <a:cs typeface="Open Sans" pitchFamily="34" charset="-120"/>
              </a:rPr>
              <a:t>Cloud forensics: readiness and architecture</a:t>
            </a:r>
            <a:endParaRPr lang="en-US" sz="3600" dirty="0"/>
          </a:p>
        </p:txBody>
      </p:sp>
      <p:sp>
        <p:nvSpPr>
          <p:cNvPr id="5" name="Shape 3"/>
          <p:cNvSpPr/>
          <p:nvPr/>
        </p:nvSpPr>
        <p:spPr>
          <a:xfrm>
            <a:off x="384048" y="3145536"/>
            <a:ext cx="749808" cy="82296"/>
          </a:xfrm>
          <a:prstGeom prst="rect">
            <a:avLst/>
          </a:prstGeom>
          <a:solidFill>
            <a:srgbClr val="6E8472"/>
          </a:solidFill>
          <a:ln/>
        </p:spPr>
      </p:sp>
      <p:sp>
        <p:nvSpPr>
          <p:cNvPr id="6" name="Shape 4"/>
          <p:cNvSpPr/>
          <p:nvPr/>
        </p:nvSpPr>
        <p:spPr>
          <a:xfrm>
            <a:off x="1188720" y="3145536"/>
            <a:ext cx="384048" cy="82296"/>
          </a:xfrm>
          <a:prstGeom prst="rect">
            <a:avLst/>
          </a:prstGeom>
          <a:solidFill>
            <a:srgbClr val="8A4E8F"/>
          </a:solidFill>
          <a:ln/>
        </p:spPr>
      </p:sp>
      <p:sp>
        <p:nvSpPr>
          <p:cNvPr id="7" name="Text 5"/>
          <p:cNvSpPr/>
          <p:nvPr/>
        </p:nvSpPr>
        <p:spPr>
          <a:xfrm>
            <a:off x="384048" y="3310128"/>
            <a:ext cx="5303520" cy="640080"/>
          </a:xfrm>
          <a:prstGeom prst="rect">
            <a:avLst/>
          </a:prstGeom>
          <a:noFill/>
          <a:ln/>
        </p:spPr>
        <p:txBody>
          <a:bodyPr wrap="square" lIns="0" tIns="0" rIns="0" bIns="0" rtlCol="0" anchor="t"/>
          <a:lstStyle/>
          <a:p>
            <a:pPr indent="0" marL="0">
              <a:buNone/>
            </a:pPr>
            <a:r>
              <a:rPr lang="en-US" sz="1800" i="1" dirty="0">
                <a:solidFill>
                  <a:srgbClr val="5C6B63"/>
                </a:solidFill>
                <a:latin typeface="Open Sans" pitchFamily="34" charset="0"/>
                <a:ea typeface="Open Sans" pitchFamily="34" charset="-122"/>
                <a:cs typeface="Open Sans" pitchFamily="34" charset="-120"/>
              </a:rPr>
              <a:t>Session 11 - Day 6: Cloud forensics I (the coursework block)</a:t>
            </a:r>
            <a:endParaRPr lang="en-US" sz="1800" dirty="0"/>
          </a:p>
        </p:txBody>
      </p:sp>
      <p:sp>
        <p:nvSpPr>
          <p:cNvPr id="8" name="Text 6"/>
          <p:cNvSpPr/>
          <p:nvPr/>
        </p:nvSpPr>
        <p:spPr>
          <a:xfrm>
            <a:off x="384048" y="4681728"/>
            <a:ext cx="5029200" cy="329184"/>
          </a:xfrm>
          <a:prstGeom prst="rect">
            <a:avLst/>
          </a:prstGeom>
          <a:noFill/>
          <a:ln/>
        </p:spPr>
        <p:txBody>
          <a:bodyPr wrap="square" lIns="0" tIns="0" rIns="0" bIns="0" rtlCol="0" anchor="ctr"/>
          <a:lstStyle/>
          <a:p>
            <a:pPr indent="0" marL="0">
              <a:buNone/>
            </a:pPr>
            <a:r>
              <a:rPr lang="en-US" sz="1300" dirty="0">
                <a:solidFill>
                  <a:srgbClr val="5C6B63"/>
                </a:solidFill>
                <a:latin typeface="Open Sans" pitchFamily="34" charset="0"/>
                <a:ea typeface="Open Sans" pitchFamily="34" charset="-122"/>
                <a:cs typeface="Open Sans" pitchFamily="34" charset="-120"/>
              </a:rPr>
              <a:t>Niranga Dharmaratna - niranga@nibm.lk</a:t>
            </a:r>
            <a:endParaRPr lang="en-US" sz="1300" dirty="0"/>
          </a:p>
        </p:txBody>
      </p:sp>
      <p:pic>
        <p:nvPicPr>
          <p:cNvPr id="9" name="Image 0" descr="preencoded.png">    </p:cNvPr>
          <p:cNvPicPr>
            <a:picLocks noChangeAspect="1"/>
          </p:cNvPicPr>
          <p:nvPr/>
        </p:nvPicPr>
        <p:blipFill>
          <a:blip r:embed="rId1"/>
          <a:stretch>
            <a:fillRect/>
          </a:stretch>
        </p:blipFill>
        <p:spPr>
          <a:xfrm>
            <a:off x="6309360" y="1463040"/>
            <a:ext cx="2194560" cy="219456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8F0EA"/>
        </a:solidFill>
      </p:bgPr>
    </p:bg>
    <p:spTree>
      <p:nvGrpSpPr>
        <p:cNvPr id="1" name=""/>
        <p:cNvGrpSpPr/>
        <p:nvPr/>
      </p:nvGrpSpPr>
      <p:grpSpPr>
        <a:xfrm>
          <a:off x="0" y="0"/>
          <a:ext cx="0" cy="0"/>
          <a:chOff x="0" y="0"/>
          <a:chExt cx="0" cy="0"/>
        </a:xfrm>
      </p:grpSpPr>
      <p:sp>
        <p:nvSpPr>
          <p:cNvPr id="2" name="Shape 0"/>
          <p:cNvSpPr/>
          <p:nvPr/>
        </p:nvSpPr>
        <p:spPr>
          <a:xfrm>
            <a:off x="731520" y="1097280"/>
            <a:ext cx="502920" cy="45720"/>
          </a:xfrm>
          <a:prstGeom prst="rect">
            <a:avLst/>
          </a:prstGeom>
          <a:solidFill>
            <a:srgbClr val="6E8472"/>
          </a:solidFill>
          <a:ln/>
        </p:spPr>
      </p:sp>
      <p:sp>
        <p:nvSpPr>
          <p:cNvPr id="3" name="Text 1"/>
          <p:cNvSpPr/>
          <p:nvPr/>
        </p:nvSpPr>
        <p:spPr>
          <a:xfrm>
            <a:off x="731520" y="1325880"/>
            <a:ext cx="7690104" cy="1371600"/>
          </a:xfrm>
          <a:prstGeom prst="rect">
            <a:avLst/>
          </a:prstGeom>
          <a:noFill/>
          <a:ln/>
        </p:spPr>
        <p:txBody>
          <a:bodyPr wrap="square" lIns="0" tIns="0" rIns="0" bIns="0" rtlCol="0" anchor="ctr"/>
          <a:lstStyle/>
          <a:p>
            <a:pPr indent="0" marL="0">
              <a:buNone/>
            </a:pPr>
            <a:r>
              <a:rPr lang="en-US" sz="3200" b="1" dirty="0">
                <a:solidFill>
                  <a:srgbClr val="31423B"/>
                </a:solidFill>
                <a:latin typeface="Open Sans" pitchFamily="34" charset="0"/>
                <a:ea typeface="Open Sans" pitchFamily="34" charset="-122"/>
                <a:cs typeface="Open Sans" pitchFamily="34" charset="-120"/>
              </a:rPr>
              <a:t>S11 Cloud forensics: readiness and architecture</a:t>
            </a:r>
            <a:endParaRPr lang="en-US" sz="3200" dirty="0"/>
          </a:p>
        </p:txBody>
      </p:sp>
      <p:sp>
        <p:nvSpPr>
          <p:cNvPr id="4" name="Shape 2"/>
          <p:cNvSpPr/>
          <p:nvPr/>
        </p:nvSpPr>
        <p:spPr>
          <a:xfrm>
            <a:off x="731520" y="2788920"/>
            <a:ext cx="749808" cy="82296"/>
          </a:xfrm>
          <a:prstGeom prst="rect">
            <a:avLst/>
          </a:prstGeom>
          <a:solidFill>
            <a:srgbClr val="6E8472"/>
          </a:solidFill>
          <a:ln/>
        </p:spPr>
      </p:sp>
      <p:sp>
        <p:nvSpPr>
          <p:cNvPr id="5" name="Shape 3"/>
          <p:cNvSpPr/>
          <p:nvPr/>
        </p:nvSpPr>
        <p:spPr>
          <a:xfrm>
            <a:off x="1536192" y="2788920"/>
            <a:ext cx="384048" cy="82296"/>
          </a:xfrm>
          <a:prstGeom prst="rect">
            <a:avLst/>
          </a:prstGeom>
          <a:solidFill>
            <a:srgbClr val="8A4E8F"/>
          </a:solidFill>
          <a:ln/>
        </p:spPr>
      </p:sp>
      <p:sp>
        <p:nvSpPr>
          <p:cNvPr id="6" name="Shape 4"/>
          <p:cNvSpPr/>
          <p:nvPr/>
        </p:nvSpPr>
        <p:spPr>
          <a:xfrm>
            <a:off x="731520" y="3108960"/>
            <a:ext cx="640080" cy="347472"/>
          </a:xfrm>
          <a:prstGeom prst="rect">
            <a:avLst/>
          </a:prstGeom>
          <a:solidFill>
            <a:srgbClr val="627866"/>
          </a:solidFill>
          <a:ln/>
        </p:spPr>
      </p:sp>
      <p:sp>
        <p:nvSpPr>
          <p:cNvPr id="7" name="Text 5"/>
          <p:cNvSpPr/>
          <p:nvPr/>
        </p:nvSpPr>
        <p:spPr>
          <a:xfrm>
            <a:off x="731520" y="3108960"/>
            <a:ext cx="640080"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Open Sans" pitchFamily="34" charset="0"/>
                <a:ea typeface="Open Sans" pitchFamily="34" charset="-122"/>
                <a:cs typeface="Open Sans" pitchFamily="34" charset="-120"/>
              </a:rPr>
              <a:t>LO1</a:t>
            </a:r>
            <a:endParaRPr lang="en-US" sz="1400" dirty="0"/>
          </a:p>
        </p:txBody>
      </p:sp>
      <p:sp>
        <p:nvSpPr>
          <p:cNvPr id="8" name="Shape 6"/>
          <p:cNvSpPr/>
          <p:nvPr/>
        </p:nvSpPr>
        <p:spPr>
          <a:xfrm>
            <a:off x="1463040" y="3108960"/>
            <a:ext cx="640080" cy="347472"/>
          </a:xfrm>
          <a:prstGeom prst="rect">
            <a:avLst/>
          </a:prstGeom>
          <a:solidFill>
            <a:srgbClr val="31423B"/>
          </a:solidFill>
          <a:ln/>
        </p:spPr>
      </p:sp>
      <p:sp>
        <p:nvSpPr>
          <p:cNvPr id="9" name="Text 7"/>
          <p:cNvSpPr/>
          <p:nvPr/>
        </p:nvSpPr>
        <p:spPr>
          <a:xfrm>
            <a:off x="1463040" y="3108960"/>
            <a:ext cx="640080"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Open Sans" pitchFamily="34" charset="0"/>
                <a:ea typeface="Open Sans" pitchFamily="34" charset="-122"/>
                <a:cs typeface="Open Sans" pitchFamily="34" charset="-120"/>
              </a:rPr>
              <a:t>LO4</a:t>
            </a:r>
            <a:endParaRPr lang="en-US" sz="1400" dirty="0"/>
          </a:p>
        </p:txBody>
      </p:sp>
      <p:sp>
        <p:nvSpPr>
          <p:cNvPr id="10" name="Shape 8"/>
          <p:cNvSpPr/>
          <p:nvPr/>
        </p:nvSpPr>
        <p:spPr>
          <a:xfrm>
            <a:off x="2194560" y="3108960"/>
            <a:ext cx="640080" cy="347472"/>
          </a:xfrm>
          <a:prstGeom prst="rect">
            <a:avLst/>
          </a:prstGeom>
          <a:solidFill>
            <a:srgbClr val="6E3D72"/>
          </a:solidFill>
          <a:ln/>
        </p:spPr>
      </p:sp>
      <p:sp>
        <p:nvSpPr>
          <p:cNvPr id="11" name="Text 9"/>
          <p:cNvSpPr/>
          <p:nvPr/>
        </p:nvSpPr>
        <p:spPr>
          <a:xfrm>
            <a:off x="2194560" y="3108960"/>
            <a:ext cx="640080"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Open Sans" pitchFamily="34" charset="0"/>
                <a:ea typeface="Open Sans" pitchFamily="34" charset="-122"/>
                <a:cs typeface="Open Sans" pitchFamily="34" charset="-120"/>
              </a:rPr>
              <a:t>LO5</a:t>
            </a:r>
            <a:endParaRPr lang="en-US" sz="1400" dirty="0"/>
          </a:p>
        </p:txBody>
      </p:sp>
      <p:sp>
        <p:nvSpPr>
          <p:cNvPr id="12" name="Text 10"/>
          <p:cNvSpPr/>
          <p:nvPr/>
        </p:nvSpPr>
        <p:spPr>
          <a:xfrm>
            <a:off x="731520" y="3584448"/>
            <a:ext cx="7690104" cy="329184"/>
          </a:xfrm>
          <a:prstGeom prst="rect">
            <a:avLst/>
          </a:prstGeom>
          <a:noFill/>
          <a:ln/>
        </p:spPr>
        <p:txBody>
          <a:bodyPr wrap="square" lIns="0" tIns="0" rIns="0" bIns="0" rtlCol="0" anchor="ctr"/>
          <a:lstStyle/>
          <a:p>
            <a:pPr indent="0" marL="0">
              <a:buNone/>
            </a:pPr>
            <a:r>
              <a:rPr lang="en-US" sz="1400" dirty="0">
                <a:solidFill>
                  <a:srgbClr val="5C6B63"/>
                </a:solidFill>
                <a:latin typeface="Open Sans" pitchFamily="34" charset="0"/>
                <a:ea typeface="Open Sans" pitchFamily="34" charset="-122"/>
                <a:cs typeface="Open Sans" pitchFamily="34" charset="-120"/>
              </a:rPr>
              <a:t>Feeds: Coursework (directly)</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The case today</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sp>
        <p:nvSpPr>
          <p:cNvPr id="6" name="Shape 4"/>
          <p:cNvSpPr/>
          <p:nvPr/>
        </p:nvSpPr>
        <p:spPr>
          <a:xfrm>
            <a:off x="411480" y="1371600"/>
            <a:ext cx="4754880" cy="1325880"/>
          </a:xfrm>
          <a:prstGeom prst="rect">
            <a:avLst/>
          </a:prstGeom>
          <a:solidFill>
            <a:srgbClr val="F1E8F2"/>
          </a:solidFill>
          <a:ln/>
        </p:spPr>
      </p:sp>
      <p:sp>
        <p:nvSpPr>
          <p:cNvPr id="7" name="Text 5"/>
          <p:cNvSpPr/>
          <p:nvPr/>
        </p:nvSpPr>
        <p:spPr>
          <a:xfrm>
            <a:off x="521208" y="1371600"/>
            <a:ext cx="4535424" cy="1325880"/>
          </a:xfrm>
          <a:prstGeom prst="rect">
            <a:avLst/>
          </a:prstGeom>
          <a:noFill/>
          <a:ln/>
        </p:spPr>
        <p:txBody>
          <a:bodyPr wrap="square" rtlCol="0" anchor="ctr"/>
          <a:lstStyle/>
          <a:p>
            <a:pPr indent="0" marL="0">
              <a:buNone/>
            </a:pPr>
            <a:r>
              <a:rPr lang="en-US" sz="1300" b="1" dirty="0">
                <a:solidFill>
                  <a:srgbClr val="31423B"/>
                </a:solidFill>
                <a:latin typeface="Open Sans" pitchFamily="34" charset="0"/>
                <a:ea typeface="Open Sans" pitchFamily="34" charset="-122"/>
                <a:cs typeface="Open Sans" pitchFamily="34" charset="-120"/>
              </a:rPr>
              <a:t>The case's trail runs out at a cloud drop that the unit can never seize or image. Today each analyst rebuilds that kind of drop in their own AWS account, switches every record on before anything happens there, and then makes something happen.</a:t>
            </a:r>
            <a:endParaRPr lang="en-US" sz="1300" dirty="0"/>
          </a:p>
        </p:txBody>
      </p:sp>
      <p:sp>
        <p:nvSpPr>
          <p:cNvPr id="8" name="Shape 6"/>
          <p:cNvSpPr/>
          <p:nvPr/>
        </p:nvSpPr>
        <p:spPr>
          <a:xfrm>
            <a:off x="411480" y="2788920"/>
            <a:ext cx="4754880" cy="1920240"/>
          </a:xfrm>
          <a:prstGeom prst="rect">
            <a:avLst/>
          </a:prstGeom>
          <a:solidFill>
            <a:srgbClr val="DCE6DE"/>
          </a:solidFill>
          <a:ln/>
        </p:spPr>
      </p:sp>
      <p:sp>
        <p:nvSpPr>
          <p:cNvPr id="9" name="Text 7"/>
          <p:cNvSpPr/>
          <p:nvPr/>
        </p:nvSpPr>
        <p:spPr>
          <a:xfrm>
            <a:off x="502920" y="2788920"/>
            <a:ext cx="4572000" cy="1920240"/>
          </a:xfrm>
          <a:prstGeom prst="rect">
            <a:avLst/>
          </a:prstGeom>
          <a:noFill/>
          <a:ln/>
        </p:spPr>
        <p:txBody>
          <a:bodyPr wrap="square" rtlCol="0" anchor="ctr"/>
          <a:lstStyle/>
          <a:p>
            <a:pPr marL="342900" indent="-342900">
              <a:spcAft>
                <a:spcPts val="300"/>
              </a:spcAft>
              <a:buSzPct val="100000"/>
              <a:buChar char="•"/>
            </a:pPr>
            <a:r>
              <a:rPr lang="en-US" sz="1200" b="1" dirty="0">
                <a:solidFill>
                  <a:srgbClr val="31423B"/>
                </a:solidFill>
                <a:latin typeface="Open Sans" pitchFamily="34" charset="0"/>
                <a:ea typeface="Open Sans" pitchFamily="34" charset="-122"/>
                <a:cs typeface="Open Sans" pitchFamily="34" charset="-120"/>
              </a:rPr>
              <a:t>Evidence you never hold</a:t>
            </a:r>
            <a:endParaRPr lang="en-US" sz="1200" dirty="0"/>
          </a:p>
          <a:p>
            <a:pPr marL="342900" indent="-342900">
              <a:spcAft>
                <a:spcPts val="300"/>
              </a:spcAft>
              <a:buSzPct val="100000"/>
              <a:buChar char="•"/>
            </a:pPr>
            <a:r>
              <a:rPr lang="en-US" sz="1200" b="1" dirty="0">
                <a:solidFill>
                  <a:srgbClr val="31423B"/>
                </a:solidFill>
                <a:latin typeface="Open Sans" pitchFamily="34" charset="0"/>
                <a:ea typeface="Open Sans" pitchFamily="34" charset="-122"/>
                <a:cs typeface="Open Sans" pitchFamily="34" charset="-120"/>
              </a:rPr>
              <a:t>Shared responsibility: an evidence line</a:t>
            </a:r>
            <a:endParaRPr lang="en-US" sz="1200" dirty="0"/>
          </a:p>
          <a:p>
            <a:pPr marL="342900" indent="-342900">
              <a:spcAft>
                <a:spcPts val="300"/>
              </a:spcAft>
              <a:buSzPct val="100000"/>
              <a:buChar char="•"/>
            </a:pPr>
            <a:r>
              <a:rPr lang="en-US" sz="1200" b="1" dirty="0">
                <a:solidFill>
                  <a:srgbClr val="31423B"/>
                </a:solidFill>
                <a:latin typeface="Open Sans" pitchFamily="34" charset="0"/>
                <a:ea typeface="Open Sans" pitchFamily="34" charset="-122"/>
                <a:cs typeface="Open Sans" pitchFamily="34" charset="-120"/>
              </a:rPr>
              <a:t>IaaS, PaaS, SaaS by evidence</a:t>
            </a:r>
            <a:endParaRPr lang="en-US" sz="1200" dirty="0"/>
          </a:p>
          <a:p>
            <a:pPr marL="342900" indent="-342900">
              <a:spcAft>
                <a:spcPts val="300"/>
              </a:spcAft>
              <a:buSzPct val="100000"/>
              <a:buChar char="•"/>
            </a:pPr>
            <a:r>
              <a:rPr lang="en-US" sz="1200" b="1" dirty="0">
                <a:solidFill>
                  <a:srgbClr val="31423B"/>
                </a:solidFill>
                <a:latin typeface="Open Sans" pitchFamily="34" charset="0"/>
                <a:ea typeface="Open Sans" pitchFamily="34" charset="-122"/>
                <a:cs typeface="Open Sans" pitchFamily="34" charset="-120"/>
              </a:rPr>
              <a:t>Volatility, multi-tenancy, jurisdiction</a:t>
            </a:r>
            <a:endParaRPr lang="en-US" sz="1200" dirty="0"/>
          </a:p>
          <a:p>
            <a:pPr marL="342900" indent="-342900">
              <a:spcAft>
                <a:spcPts val="300"/>
              </a:spcAft>
              <a:buSzPct val="100000"/>
              <a:buChar char="•"/>
            </a:pPr>
            <a:r>
              <a:rPr lang="en-US" sz="1200" b="1" dirty="0">
                <a:solidFill>
                  <a:srgbClr val="31423B"/>
                </a:solidFill>
                <a:latin typeface="Open Sans" pitchFamily="34" charset="0"/>
                <a:ea typeface="Open Sans" pitchFamily="34" charset="-122"/>
                <a:cs typeface="Open Sans" pitchFamily="34" charset="-120"/>
              </a:rPr>
              <a:t>Readiness: records only run forward</a:t>
            </a:r>
            <a:endParaRPr lang="en-US" sz="1200" dirty="0"/>
          </a:p>
          <a:p>
            <a:pPr marL="342900" indent="-342900">
              <a:spcAft>
                <a:spcPts val="300"/>
              </a:spcAft>
              <a:buSzPct val="100000"/>
              <a:buChar char="•"/>
            </a:pPr>
            <a:r>
              <a:rPr lang="en-US" sz="1200" b="1" dirty="0">
                <a:solidFill>
                  <a:srgbClr val="31423B"/>
                </a:solidFill>
                <a:latin typeface="Open Sans" pitchFamily="34" charset="0"/>
                <a:ea typeface="Open Sans" pitchFamily="34" charset="-122"/>
                <a:cs typeface="Open Sans" pitchFamily="34" charset="-120"/>
              </a:rPr>
              <a:t>Two records, two clocks</a:t>
            </a:r>
            <a:endParaRPr lang="en-US" sz="1200" dirty="0"/>
          </a:p>
          <a:p>
            <a:pPr marL="342900" indent="-342900">
              <a:spcAft>
                <a:spcPts val="300"/>
              </a:spcAft>
              <a:buSzPct val="100000"/>
              <a:buChar char="•"/>
            </a:pPr>
            <a:r>
              <a:rPr lang="en-US" sz="1200" b="1" dirty="0">
                <a:solidFill>
                  <a:srgbClr val="31423B"/>
                </a:solidFill>
                <a:latin typeface="Open Sans" pitchFamily="34" charset="0"/>
                <a:ea typeface="Open Sans" pitchFamily="34" charset="-122"/>
                <a:cs typeface="Open Sans" pitchFamily="34" charset="-120"/>
              </a:rPr>
              <a:t>Versions and the signed record</a:t>
            </a:r>
            <a:endParaRPr lang="en-US" sz="1200" dirty="0"/>
          </a:p>
          <a:p>
            <a:pPr marL="342900" indent="-342900">
              <a:spcAft>
                <a:spcPts val="300"/>
              </a:spcAft>
              <a:buSzPct val="100000"/>
              <a:buChar char="•"/>
            </a:pPr>
            <a:r>
              <a:rPr lang="en-US" sz="1200" b="1" dirty="0">
                <a:solidFill>
                  <a:srgbClr val="31423B"/>
                </a:solidFill>
                <a:latin typeface="Open Sans" pitchFamily="34" charset="0"/>
                <a:ea typeface="Open Sans" pitchFamily="34" charset="-122"/>
                <a:cs typeface="Open Sans" pitchFamily="34" charset="-120"/>
              </a:rPr>
              <a:t>Build, verify, trigger, stop</a:t>
            </a:r>
            <a:endParaRPr lang="en-US" sz="1200" dirty="0"/>
          </a:p>
        </p:txBody>
      </p:sp>
      <p:pic>
        <p:nvPicPr>
          <p:cNvPr id="10" name="Image 0" descr="preencoded.png">    </p:cNvPr>
          <p:cNvPicPr>
            <a:picLocks noChangeAspect="1"/>
          </p:cNvPicPr>
          <p:nvPr/>
        </p:nvPicPr>
        <p:blipFill>
          <a:blip r:embed="rId1"/>
          <a:stretch>
            <a:fillRect/>
          </a:stretch>
        </p:blipFill>
        <p:spPr>
          <a:xfrm>
            <a:off x="6126480" y="1463040"/>
            <a:ext cx="1737360" cy="1737360"/>
          </a:xfrm>
          <a:prstGeom prst="rect">
            <a:avLst/>
          </a:prstGeom>
        </p:spPr>
      </p:pic>
      <p:sp>
        <p:nvSpPr>
          <p:cNvPr id="11" name="Text 8"/>
          <p:cNvSpPr/>
          <p:nvPr/>
        </p:nvSpPr>
        <p:spPr>
          <a:xfrm>
            <a:off x="5349240" y="3429000"/>
            <a:ext cx="3383280" cy="1188720"/>
          </a:xfrm>
          <a:prstGeom prst="rect">
            <a:avLst/>
          </a:prstGeom>
          <a:noFill/>
          <a:ln/>
        </p:spPr>
        <p:txBody>
          <a:bodyPr wrap="square" lIns="0" tIns="0" rIns="0" bIns="0" rtlCol="0" anchor="t"/>
          <a:lstStyle/>
          <a:p>
            <a:pPr indent="0" marL="0">
              <a:buNone/>
            </a:pPr>
            <a:r>
              <a:rPr lang="en-US" sz="1400" i="1" dirty="0">
                <a:solidFill>
                  <a:srgbClr val="5C6B63"/>
                </a:solidFill>
                <a:latin typeface="Open Sans" pitchFamily="34" charset="0"/>
                <a:ea typeface="Open Sans" pitchFamily="34" charset="-122"/>
                <a:cs typeface="Open Sans" pitchFamily="34" charset="-120"/>
              </a:rPr>
              <a:t>What will be recorded, by whom, and how will we know the record can be trusted?</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Three plain statements</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sp>
        <p:nvSpPr>
          <p:cNvPr id="6" name="Shape 4"/>
          <p:cNvSpPr/>
          <p:nvPr/>
        </p:nvSpPr>
        <p:spPr>
          <a:xfrm>
            <a:off x="411480" y="1371600"/>
            <a:ext cx="8321040" cy="2240280"/>
          </a:xfrm>
          <a:prstGeom prst="rect">
            <a:avLst/>
          </a:prstGeom>
          <a:solidFill>
            <a:srgbClr val="DCE6DE"/>
          </a:solidFill>
          <a:ln/>
        </p:spPr>
      </p:sp>
      <p:sp>
        <p:nvSpPr>
          <p:cNvPr id="7" name="Text 5"/>
          <p:cNvSpPr/>
          <p:nvPr/>
        </p:nvSpPr>
        <p:spPr>
          <a:xfrm>
            <a:off x="502920" y="1371600"/>
            <a:ext cx="8138160" cy="2240280"/>
          </a:xfrm>
          <a:prstGeom prst="rect">
            <a:avLst/>
          </a:prstGeom>
          <a:noFill/>
          <a:ln/>
        </p:spPr>
        <p:txBody>
          <a:bodyPr wrap="square" rtlCol="0" anchor="ctr"/>
          <a:lstStyle/>
          <a:p>
            <a:pPr marL="342900" indent="-342900">
              <a:spcAft>
                <a:spcPts val="600"/>
              </a:spcAft>
              <a:buSzPct val="100000"/>
              <a:buChar char="•"/>
            </a:pPr>
            <a:r>
              <a:rPr lang="en-US" sz="1300" b="1" dirty="0">
                <a:solidFill>
                  <a:srgbClr val="31423B"/>
                </a:solidFill>
                <a:latin typeface="Open Sans" pitchFamily="34" charset="0"/>
                <a:ea typeface="Open Sans" pitchFamily="34" charset="-122"/>
                <a:cs typeface="Open Sans" pitchFamily="34" charset="-120"/>
              </a:rPr>
              <a:t>You build the evidence yourself, to a specification, in your own account. It becomes your coursework evidence; the brief on the LMS says what the report must show</a:t>
            </a:r>
            <a:endParaRPr lang="en-US" sz="1300" dirty="0"/>
          </a:p>
          <a:p>
            <a:pPr marL="342900" indent="-342900">
              <a:spcAft>
                <a:spcPts val="600"/>
              </a:spcAft>
              <a:buSzPct val="100000"/>
              <a:buChar char="•"/>
            </a:pPr>
            <a:r>
              <a:rPr lang="en-US" sz="1300" b="1" dirty="0">
                <a:solidFill>
                  <a:srgbClr val="31423B"/>
                </a:solidFill>
                <a:latin typeface="Open Sans" pitchFamily="34" charset="0"/>
                <a:ea typeface="Open Sans" pitchFamily="34" charset="-122"/>
                <a:cs typeface="Open Sans" pitchFamily="34" charset="-120"/>
              </a:rPr>
              <a:t>Today sets up and makes one thing happen. No collection (Session 12), no analysis (Session 13)</a:t>
            </a:r>
            <a:endParaRPr lang="en-US" sz="1300" dirty="0"/>
          </a:p>
          <a:p>
            <a:pPr marL="342900" indent="-342900">
              <a:spcAft>
                <a:spcPts val="600"/>
              </a:spcAft>
              <a:buSzPct val="100000"/>
              <a:buChar char="•"/>
            </a:pPr>
            <a:r>
              <a:rPr lang="en-US" sz="1300" b="1" dirty="0">
                <a:solidFill>
                  <a:srgbClr val="31423B"/>
                </a:solidFill>
                <a:latin typeface="Open Sans" pitchFamily="34" charset="0"/>
                <a:ea typeface="Open Sans" pitchFamily="34" charset="-122"/>
                <a:cs typeface="Open Sans" pitchFamily="34" charset="-120"/>
              </a:rPr>
              <a:t>Your environment is a reconstruction of the case's cloud drop, built so that the method is real. flaws.cloud is the one public practice range</a:t>
            </a:r>
            <a:endParaRPr lang="en-US" sz="1300" dirty="0"/>
          </a:p>
        </p:txBody>
      </p:sp>
      <p:sp>
        <p:nvSpPr>
          <p:cNvPr id="8" name="Shape 6"/>
          <p:cNvSpPr/>
          <p:nvPr/>
        </p:nvSpPr>
        <p:spPr>
          <a:xfrm>
            <a:off x="411480" y="3703320"/>
            <a:ext cx="8321040" cy="914400"/>
          </a:xfrm>
          <a:prstGeom prst="rect">
            <a:avLst/>
          </a:prstGeom>
          <a:solidFill>
            <a:srgbClr val="F1E8F2"/>
          </a:solidFill>
          <a:ln/>
        </p:spPr>
      </p:sp>
      <p:sp>
        <p:nvSpPr>
          <p:cNvPr id="9" name="Text 7"/>
          <p:cNvSpPr/>
          <p:nvPr/>
        </p:nvSpPr>
        <p:spPr>
          <a:xfrm>
            <a:off x="521208" y="3703320"/>
            <a:ext cx="8101584" cy="914400"/>
          </a:xfrm>
          <a:prstGeom prst="rect">
            <a:avLst/>
          </a:prstGeom>
          <a:noFill/>
          <a:ln/>
        </p:spPr>
        <p:txBody>
          <a:bodyPr wrap="square" rtlCol="0" anchor="ctr"/>
          <a:lstStyle/>
          <a:p>
            <a:pPr indent="0" marL="0">
              <a:buNone/>
            </a:pPr>
            <a:r>
              <a:rPr lang="en-US" sz="1500" b="1" dirty="0">
                <a:solidFill>
                  <a:srgbClr val="31423B"/>
                </a:solidFill>
                <a:latin typeface="Open Sans" pitchFamily="34" charset="0"/>
                <a:ea typeface="Open Sans" pitchFamily="34" charset="-122"/>
                <a:cs typeface="Open Sans" pitchFamily="34" charset="-120"/>
              </a:rPr>
              <a:t>Not "what happened?" but: what must be switched on now, so that the next action leaves a record we can trust?</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The cloud drop: evidence you will never hold</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sp>
        <p:nvSpPr>
          <p:cNvPr id="6" name="Shape 4"/>
          <p:cNvSpPr/>
          <p:nvPr/>
        </p:nvSpPr>
        <p:spPr>
          <a:xfrm>
            <a:off x="411480" y="1371600"/>
            <a:ext cx="4133088" cy="402336"/>
          </a:xfrm>
          <a:prstGeom prst="rect">
            <a:avLst/>
          </a:prstGeom>
          <a:solidFill>
            <a:srgbClr val="6E8472"/>
          </a:solidFill>
          <a:ln/>
        </p:spPr>
      </p:sp>
      <p:sp>
        <p:nvSpPr>
          <p:cNvPr id="7" name="Text 5"/>
          <p:cNvSpPr/>
          <p:nvPr/>
        </p:nvSpPr>
        <p:spPr>
          <a:xfrm>
            <a:off x="521208" y="1371600"/>
            <a:ext cx="3913632" cy="402336"/>
          </a:xfrm>
          <a:prstGeom prst="rect">
            <a:avLst/>
          </a:prstGeom>
          <a:noFill/>
          <a:ln/>
        </p:spPr>
        <p:txBody>
          <a:bodyPr wrap="square" lIns="0" tIns="0" rIns="0" bIns="0" rtlCol="0" anchor="ctr"/>
          <a:lstStyle/>
          <a:p>
            <a:pPr indent="0" marL="0">
              <a:buNone/>
            </a:pPr>
            <a:r>
              <a:rPr lang="en-US" sz="1500" b="1" dirty="0">
                <a:solidFill>
                  <a:srgbClr val="FFFFFF"/>
                </a:solidFill>
                <a:latin typeface="Open Sans" pitchFamily="34" charset="0"/>
                <a:ea typeface="Open Sans" pitchFamily="34" charset="-122"/>
                <a:cs typeface="Open Sans" pitchFamily="34" charset="-120"/>
              </a:rPr>
              <a:t>Sessions 1 to 10: you held it</a:t>
            </a:r>
            <a:endParaRPr lang="en-US" sz="1500" dirty="0"/>
          </a:p>
        </p:txBody>
      </p:sp>
      <p:sp>
        <p:nvSpPr>
          <p:cNvPr id="8" name="Shape 6"/>
          <p:cNvSpPr/>
          <p:nvPr/>
        </p:nvSpPr>
        <p:spPr>
          <a:xfrm>
            <a:off x="411480" y="1773936"/>
            <a:ext cx="4133088" cy="2377440"/>
          </a:xfrm>
          <a:prstGeom prst="rect">
            <a:avLst/>
          </a:prstGeom>
          <a:solidFill>
            <a:srgbClr val="FFFFFF"/>
          </a:solidFill>
          <a:ln w="9525">
            <a:solidFill>
              <a:srgbClr val="CBD6CE"/>
            </a:solidFill>
            <a:prstDash val="solid"/>
          </a:ln>
        </p:spPr>
      </p:sp>
      <p:sp>
        <p:nvSpPr>
          <p:cNvPr id="9" name="Text 7"/>
          <p:cNvSpPr/>
          <p:nvPr/>
        </p:nvSpPr>
        <p:spPr>
          <a:xfrm>
            <a:off x="539496" y="1828800"/>
            <a:ext cx="3877056" cy="2267712"/>
          </a:xfrm>
          <a:prstGeom prst="rect">
            <a:avLst/>
          </a:prstGeom>
          <a:noFill/>
          <a:ln/>
        </p:spPr>
        <p:txBody>
          <a:bodyPr wrap="square" lIns="0" tIns="0" rIns="0" bIns="0" rtlCol="0" anchor="t"/>
          <a:lstStyle/>
          <a:p>
            <a:pPr indent="0" marL="0">
              <a:buNone/>
            </a:pPr>
            <a:r>
              <a:rPr lang="en-US" sz="1300" b="1" dirty="0">
                <a:solidFill>
                  <a:srgbClr val="4F6356"/>
                </a:solidFill>
                <a:latin typeface="Open Sans" pitchFamily="34" charset="0"/>
                <a:ea typeface="Open Sans" pitchFamily="34" charset="-122"/>
                <a:cs typeface="Open Sans" pitchFamily="34" charset="-120"/>
              </a:rPr>
              <a:t>A forensic image, a memory image, a capture</a:t>
            </a:r>
            <a:endParaRPr lang="en-US" sz="1300" dirty="0"/>
          </a:p>
          <a:p>
            <a:pPr indent="0" marL="0">
              <a:spcAft>
                <a:spcPts val="700"/>
              </a:spcAft>
              <a:buNone/>
            </a:pPr>
            <a:r>
              <a:rPr lang="en-US" sz="1200" dirty="0">
                <a:solidFill>
                  <a:srgbClr val="31423B"/>
                </a:solidFill>
                <a:latin typeface="Open Sans" pitchFamily="34" charset="0"/>
                <a:ea typeface="Open Sans" pitchFamily="34" charset="-122"/>
                <a:cs typeface="Open Sans" pitchFamily="34" charset="-120"/>
              </a:rPr>
              <a:t>Hash it, copy it, read every byte, deleted ones included</a:t>
            </a:r>
            <a:endParaRPr lang="en-US" sz="1300" dirty="0"/>
          </a:p>
          <a:p>
            <a:pPr indent="0" marL="0">
              <a:buNone/>
            </a:pPr>
            <a:r>
              <a:rPr lang="en-US" sz="1300" b="1" dirty="0">
                <a:solidFill>
                  <a:srgbClr val="4F6356"/>
                </a:solidFill>
                <a:latin typeface="Open Sans" pitchFamily="34" charset="0"/>
                <a:ea typeface="Open Sans" pitchFamily="34" charset="-122"/>
                <a:cs typeface="Open Sans" pitchFamily="34" charset="-120"/>
              </a:rPr>
              <a:t>Forensically sound</a:t>
            </a:r>
            <a:endParaRPr lang="en-US" sz="1300" dirty="0"/>
          </a:p>
          <a:p>
            <a:pPr indent="0" marL="0">
              <a:spcAft>
                <a:spcPts val="700"/>
              </a:spcAft>
              <a:buNone/>
            </a:pPr>
            <a:r>
              <a:rPr lang="en-US" sz="1200" dirty="0">
                <a:solidFill>
                  <a:srgbClr val="31423B"/>
                </a:solidFill>
                <a:latin typeface="Open Sans" pitchFamily="34" charset="0"/>
                <a:ea typeface="Open Sans" pitchFamily="34" charset="-122"/>
                <a:cs typeface="Open Sans" pitchFamily="34" charset="-120"/>
              </a:rPr>
              <a:t>The image and its hash value</a:t>
            </a:r>
            <a:endParaRPr lang="en-US" sz="1300" dirty="0"/>
          </a:p>
        </p:txBody>
      </p:sp>
      <p:sp>
        <p:nvSpPr>
          <p:cNvPr id="10" name="Shape 8"/>
          <p:cNvSpPr/>
          <p:nvPr/>
        </p:nvSpPr>
        <p:spPr>
          <a:xfrm>
            <a:off x="4645152" y="1371600"/>
            <a:ext cx="4133088" cy="402336"/>
          </a:xfrm>
          <a:prstGeom prst="rect">
            <a:avLst/>
          </a:prstGeom>
          <a:solidFill>
            <a:srgbClr val="8A4E8F"/>
          </a:solidFill>
          <a:ln/>
        </p:spPr>
      </p:sp>
      <p:sp>
        <p:nvSpPr>
          <p:cNvPr id="11" name="Text 9"/>
          <p:cNvSpPr/>
          <p:nvPr/>
        </p:nvSpPr>
        <p:spPr>
          <a:xfrm>
            <a:off x="4754880" y="1371600"/>
            <a:ext cx="3913632" cy="402336"/>
          </a:xfrm>
          <a:prstGeom prst="rect">
            <a:avLst/>
          </a:prstGeom>
          <a:noFill/>
          <a:ln/>
        </p:spPr>
        <p:txBody>
          <a:bodyPr wrap="square" lIns="0" tIns="0" rIns="0" bIns="0" rtlCol="0" anchor="ctr"/>
          <a:lstStyle/>
          <a:p>
            <a:pPr indent="0" marL="0">
              <a:buNone/>
            </a:pPr>
            <a:r>
              <a:rPr lang="en-US" sz="1500" b="1" dirty="0">
                <a:solidFill>
                  <a:srgbClr val="FFFFFF"/>
                </a:solidFill>
                <a:latin typeface="Open Sans" pitchFamily="34" charset="0"/>
                <a:ea typeface="Open Sans" pitchFamily="34" charset="-122"/>
                <a:cs typeface="Open Sans" pitchFamily="34" charset="-120"/>
              </a:rPr>
              <a:t>The cloud: you reach it</a:t>
            </a:r>
            <a:endParaRPr lang="en-US" sz="1500" dirty="0"/>
          </a:p>
        </p:txBody>
      </p:sp>
      <p:sp>
        <p:nvSpPr>
          <p:cNvPr id="12" name="Shape 10"/>
          <p:cNvSpPr/>
          <p:nvPr/>
        </p:nvSpPr>
        <p:spPr>
          <a:xfrm>
            <a:off x="4645152" y="1773936"/>
            <a:ext cx="4133088" cy="2377440"/>
          </a:xfrm>
          <a:prstGeom prst="rect">
            <a:avLst/>
          </a:prstGeom>
          <a:solidFill>
            <a:srgbClr val="FFFFFF"/>
          </a:solidFill>
          <a:ln w="9525">
            <a:solidFill>
              <a:srgbClr val="CBD6CE"/>
            </a:solidFill>
            <a:prstDash val="solid"/>
          </a:ln>
        </p:spPr>
      </p:sp>
      <p:sp>
        <p:nvSpPr>
          <p:cNvPr id="13" name="Text 11"/>
          <p:cNvSpPr/>
          <p:nvPr/>
        </p:nvSpPr>
        <p:spPr>
          <a:xfrm>
            <a:off x="4773168" y="1828800"/>
            <a:ext cx="3877056" cy="2267712"/>
          </a:xfrm>
          <a:prstGeom prst="rect">
            <a:avLst/>
          </a:prstGeom>
          <a:noFill/>
          <a:ln/>
        </p:spPr>
        <p:txBody>
          <a:bodyPr wrap="square" lIns="0" tIns="0" rIns="0" bIns="0" rtlCol="0" anchor="t"/>
          <a:lstStyle/>
          <a:p>
            <a:pPr indent="0" marL="0">
              <a:buNone/>
            </a:pPr>
            <a:r>
              <a:rPr lang="en-US" sz="1300" b="1" dirty="0">
                <a:solidFill>
                  <a:srgbClr val="8A4E8F"/>
                </a:solidFill>
                <a:latin typeface="Open Sans" pitchFamily="34" charset="0"/>
                <a:ea typeface="Open Sans" pitchFamily="34" charset="-122"/>
                <a:cs typeface="Open Sans" pitchFamily="34" charset="-120"/>
              </a:rPr>
              <a:t>The content</a:t>
            </a:r>
            <a:endParaRPr lang="en-US" sz="1300" dirty="0"/>
          </a:p>
          <a:p>
            <a:pPr indent="0" marL="0">
              <a:spcAft>
                <a:spcPts val="700"/>
              </a:spcAft>
              <a:buNone/>
            </a:pPr>
            <a:r>
              <a:rPr lang="en-US" sz="1200" dirty="0">
                <a:solidFill>
                  <a:srgbClr val="31423B"/>
                </a:solidFill>
                <a:latin typeface="Open Sans" pitchFamily="34" charset="0"/>
                <a:ea typeface="Open Sans" pitchFamily="34" charset="-122"/>
                <a:cs typeface="Open Sans" pitchFamily="34" charset="-120"/>
              </a:rPr>
              <a:t>A downloaded copy of each file: no unallocated space, no slack</a:t>
            </a:r>
            <a:endParaRPr lang="en-US" sz="1300" dirty="0"/>
          </a:p>
          <a:p>
            <a:pPr indent="0" marL="0">
              <a:buNone/>
            </a:pPr>
            <a:r>
              <a:rPr lang="en-US" sz="1300" b="1" dirty="0">
                <a:solidFill>
                  <a:srgbClr val="8A4E8F"/>
                </a:solidFill>
                <a:latin typeface="Open Sans" pitchFamily="34" charset="0"/>
                <a:ea typeface="Open Sans" pitchFamily="34" charset="-122"/>
                <a:cs typeface="Open Sans" pitchFamily="34" charset="-120"/>
              </a:rPr>
              <a:t>The metadata</a:t>
            </a:r>
            <a:endParaRPr lang="en-US" sz="1300" dirty="0"/>
          </a:p>
          <a:p>
            <a:pPr indent="0" marL="0">
              <a:spcAft>
                <a:spcPts val="700"/>
              </a:spcAft>
              <a:buNone/>
            </a:pPr>
            <a:r>
              <a:rPr lang="en-US" sz="1200" dirty="0">
                <a:solidFill>
                  <a:srgbClr val="31423B"/>
                </a:solidFill>
                <a:latin typeface="Open Sans" pitchFamily="34" charset="0"/>
                <a:ea typeface="Open Sans" pitchFamily="34" charset="-122"/>
                <a:cs typeface="Open Sans" pitchFamily="34" charset="-120"/>
              </a:rPr>
              <a:t>Sizes, times, versions</a:t>
            </a:r>
            <a:endParaRPr lang="en-US" sz="1300" dirty="0"/>
          </a:p>
          <a:p>
            <a:pPr indent="0" marL="0">
              <a:buNone/>
            </a:pPr>
            <a:r>
              <a:rPr lang="en-US" sz="1300" b="1" dirty="0">
                <a:solidFill>
                  <a:srgbClr val="8A4E8F"/>
                </a:solidFill>
                <a:latin typeface="Open Sans" pitchFamily="34" charset="0"/>
                <a:ea typeface="Open Sans" pitchFamily="34" charset="-122"/>
                <a:cs typeface="Open Sans" pitchFamily="34" charset="-120"/>
              </a:rPr>
              <a:t>The provider's records</a:t>
            </a:r>
            <a:endParaRPr lang="en-US" sz="1300" dirty="0"/>
          </a:p>
          <a:p>
            <a:pPr indent="0" marL="0">
              <a:spcAft>
                <a:spcPts val="700"/>
              </a:spcAft>
              <a:buNone/>
            </a:pPr>
            <a:r>
              <a:rPr lang="en-US" sz="1200" dirty="0">
                <a:solidFill>
                  <a:srgbClr val="31423B"/>
                </a:solidFill>
                <a:latin typeface="Open Sans" pitchFamily="34" charset="0"/>
                <a:ea typeface="Open Sans" pitchFamily="34" charset="-122"/>
                <a:cs typeface="Open Sans" pitchFamily="34" charset="-120"/>
              </a:rPr>
              <a:t>Only those someone switched on</a:t>
            </a:r>
            <a:endParaRPr lang="en-US" sz="1300" dirty="0"/>
          </a:p>
        </p:txBody>
      </p:sp>
      <p:sp>
        <p:nvSpPr>
          <p:cNvPr id="14" name="Text 12"/>
          <p:cNvSpPr/>
          <p:nvPr/>
        </p:nvSpPr>
        <p:spPr>
          <a:xfrm>
            <a:off x="411480" y="4407408"/>
            <a:ext cx="8321040" cy="274320"/>
          </a:xfrm>
          <a:prstGeom prst="rect">
            <a:avLst/>
          </a:prstGeom>
          <a:noFill/>
          <a:ln/>
        </p:spPr>
        <p:txBody>
          <a:bodyPr wrap="square" lIns="0" tIns="0" rIns="0" bIns="0" rtlCol="0" anchor="ctr"/>
          <a:lstStyle/>
          <a:p>
            <a:pPr indent="0" marL="0">
              <a:buNone/>
            </a:pPr>
            <a:r>
              <a:rPr lang="en-US" sz="1200" i="1" dirty="0">
                <a:solidFill>
                  <a:srgbClr val="5C6B63"/>
                </a:solidFill>
                <a:latin typeface="Open Sans" pitchFamily="34" charset="0"/>
                <a:ea typeface="Open Sans" pitchFamily="34" charset="-122"/>
                <a:cs typeface="Open Sans" pitchFamily="34" charset="-120"/>
              </a:rPr>
              <a:t>Page section 1. Region for this module: Asia Pacific (Mumbai), ap-south-1.</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Shared responsibility: an evidence line</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11480" y="1371600"/>
          <a:ext cx="8321040" cy="914400"/>
        </p:xfrm>
        <a:graphic>
          <a:graphicData uri="http://schemas.openxmlformats.org/drawingml/2006/table">
            <a:tbl>
              <a:tblPr/>
              <a:tblGrid>
                <a:gridCol w="1554480"/>
                <a:gridCol w="3383280"/>
                <a:gridCol w="3383280"/>
              </a:tblGrid>
              <a:tr h="566928">
                <a:tc>
                  <a:txBody>
                    <a:bodyPr/>
                    <a:lstStyle/>
                    <a:p>
                      <a:pPr indent="0" marL="0">
                        <a:buNone/>
                      </a:pP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Security OF the cloud (provider)</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Security IN the cloud (customer)</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r>
              <a:tr h="566928">
                <a:tc>
                  <a:txBody>
                    <a:bodyPr/>
                    <a:lstStyle/>
                    <a:p>
                      <a:pPr indent="0" marL="0">
                        <a:buNone/>
                      </a:pPr>
                      <a:r>
                        <a:rPr lang="en-US" sz="1300" b="1" dirty="0">
                          <a:solidFill>
                            <a:srgbClr val="31423B"/>
                          </a:solidFill>
                          <a:latin typeface="Open Sans" pitchFamily="34" charset="0"/>
                          <a:ea typeface="Open Sans" pitchFamily="34" charset="-122"/>
                          <a:cs typeface="Open Sans" pitchFamily="34" charset="-120"/>
                        </a:rPr>
                        <a:t>Covers</a:t>
                      </a:r>
                      <a:endParaRPr lang="en-US" sz="13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300" dirty="0">
                          <a:solidFill>
                            <a:srgbClr val="31423B"/>
                          </a:solidFill>
                          <a:latin typeface="Open Sans" pitchFamily="34" charset="0"/>
                          <a:ea typeface="Open Sans" pitchFamily="34" charset="-122"/>
                          <a:cs typeface="Open Sans" pitchFamily="34" charset="-120"/>
                        </a:rPr>
                        <a:t>Buildings, hardware, network, virtualisation</a:t>
                      </a:r>
                      <a:endParaRPr lang="en-US" sz="13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300" dirty="0">
                          <a:solidFill>
                            <a:srgbClr val="31423B"/>
                          </a:solidFill>
                          <a:latin typeface="Open Sans" pitchFamily="34" charset="0"/>
                          <a:ea typeface="Open Sans" pitchFamily="34" charset="-122"/>
                          <a:cs typeface="Open Sans" pitchFamily="34" charset="-120"/>
                        </a:rPr>
                        <a:t>Data, users and passwords, every setting</a:t>
                      </a:r>
                      <a:endParaRPr lang="en-US" sz="13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r>
              <a:tr h="566928">
                <a:tc>
                  <a:txBody>
                    <a:bodyPr/>
                    <a:lstStyle/>
                    <a:p>
                      <a:pPr indent="0" marL="0">
                        <a:buNone/>
                      </a:pPr>
                      <a:r>
                        <a:rPr lang="en-US" sz="1300" b="1" dirty="0">
                          <a:solidFill>
                            <a:srgbClr val="31423B"/>
                          </a:solidFill>
                          <a:latin typeface="Open Sans" pitchFamily="34" charset="0"/>
                          <a:ea typeface="Open Sans" pitchFamily="34" charset="-122"/>
                          <a:cs typeface="Open Sans" pitchFamily="34" charset="-120"/>
                        </a:rPr>
                        <a:t>Evidence</a:t>
                      </a:r>
                      <a:endParaRPr lang="en-US" sz="13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300" dirty="0">
                          <a:solidFill>
                            <a:srgbClr val="31423B"/>
                          </a:solidFill>
                          <a:latin typeface="Open Sans" pitchFamily="34" charset="0"/>
                          <a:ea typeface="Open Sans" pitchFamily="34" charset="-122"/>
                          <a:cs typeface="Open Sans" pitchFamily="34" charset="-120"/>
                        </a:rPr>
                        <a:t>You never get it yourself</a:t>
                      </a:r>
                      <a:endParaRPr lang="en-US" sz="13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300" dirty="0">
                          <a:solidFill>
                            <a:srgbClr val="31423B"/>
                          </a:solidFill>
                          <a:latin typeface="Open Sans" pitchFamily="34" charset="0"/>
                          <a:ea typeface="Open Sans" pitchFamily="34" charset="-122"/>
                          <a:cs typeface="Open Sans" pitchFamily="34" charset="-120"/>
                        </a:rPr>
                        <a:t>Exists only if you switched it on</a:t>
                      </a:r>
                      <a:endParaRPr lang="en-US" sz="13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r>
              <a:tr h="566928">
                <a:tc>
                  <a:txBody>
                    <a:bodyPr/>
                    <a:lstStyle/>
                    <a:p>
                      <a:pPr indent="0" marL="0">
                        <a:buNone/>
                      </a:pPr>
                      <a:r>
                        <a:rPr lang="en-US" sz="1300" b="1" dirty="0">
                          <a:solidFill>
                            <a:srgbClr val="31423B"/>
                          </a:solidFill>
                          <a:latin typeface="Open Sans" pitchFamily="34" charset="0"/>
                          <a:ea typeface="Open Sans" pitchFamily="34" charset="-122"/>
                          <a:cs typeface="Open Sans" pitchFamily="34" charset="-120"/>
                        </a:rPr>
                        <a:t>Case question</a:t>
                      </a:r>
                      <a:endParaRPr lang="en-US" sz="13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300" dirty="0">
                          <a:solidFill>
                            <a:srgbClr val="31423B"/>
                          </a:solidFill>
                          <a:latin typeface="Open Sans" pitchFamily="34" charset="0"/>
                          <a:ea typeface="Open Sans" pitchFamily="34" charset="-122"/>
                          <a:cs typeface="Open Sans" pitchFamily="34" charset="-120"/>
                        </a:rPr>
                        <a:t>Did another customer see the data?</a:t>
                      </a:r>
                      <a:endParaRPr lang="en-US" sz="13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300" dirty="0">
                          <a:solidFill>
                            <a:srgbClr val="31423B"/>
                          </a:solidFill>
                          <a:latin typeface="Open Sans" pitchFamily="34" charset="0"/>
                          <a:ea typeface="Open Sans" pitchFamily="34" charset="-122"/>
                          <a:cs typeface="Open Sans" pitchFamily="34" charset="-120"/>
                        </a:rPr>
                        <a:t>Which address read the file at 02:14?</a:t>
                      </a:r>
                      <a:endParaRPr lang="en-US" sz="13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r>
            </a:tbl>
          </a:graphicData>
        </a:graphic>
      </p:graphicFrame>
      <p:sp>
        <p:nvSpPr>
          <p:cNvPr id="7" name="Text 4"/>
          <p:cNvSpPr/>
          <p:nvPr/>
        </p:nvSpPr>
        <p:spPr>
          <a:xfrm>
            <a:off x="411480" y="4407408"/>
            <a:ext cx="8321040" cy="274320"/>
          </a:xfrm>
          <a:prstGeom prst="rect">
            <a:avLst/>
          </a:prstGeom>
          <a:noFill/>
          <a:ln/>
        </p:spPr>
        <p:txBody>
          <a:bodyPr wrap="square" lIns="0" tIns="0" rIns="0" bIns="0" rtlCol="0" anchor="ctr"/>
          <a:lstStyle/>
          <a:p>
            <a:pPr indent="0" marL="0">
              <a:buNone/>
            </a:pPr>
            <a:r>
              <a:rPr lang="en-US" sz="1200" i="1" dirty="0">
                <a:solidFill>
                  <a:srgbClr val="5C6B63"/>
                </a:solidFill>
                <a:latin typeface="Open Sans" pitchFamily="34" charset="0"/>
                <a:ea typeface="Open Sans" pitchFamily="34" charset="-122"/>
                <a:cs typeface="Open Sans" pitchFamily="34" charset="-120"/>
              </a:rPr>
              <a:t>Page section 2. A security engineer reads a list of jobs; an investigator reads a map of where evidence can exist.</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IaaS, PaaS, SaaS: by the evidence they leave you</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11480" y="1325880"/>
          <a:ext cx="8321040" cy="914400"/>
        </p:xfrm>
        <a:graphic>
          <a:graphicData uri="http://schemas.openxmlformats.org/drawingml/2006/table">
            <a:tbl>
              <a:tblPr/>
              <a:tblGrid>
                <a:gridCol w="1463040"/>
                <a:gridCol w="2743200"/>
                <a:gridCol w="4114800"/>
              </a:tblGrid>
              <a:tr h="457200">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Model</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You control</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You can collect yourself</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r>
              <a:tr h="457200">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Own server</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Everything</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Disk image, memory image, capture, every log</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r>
              <a:tr h="457200">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IaaS</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Operating system and above</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Virtual disk snapshot, memory from inside, OS logs</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r>
              <a:tr h="457200">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PaaS</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Code, data, settings</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Service logs, your data, account records</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r>
              <a:tr h="457200">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SaaS</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Data and users</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Data export, the vendor's audit log</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r>
              <a:tr h="457200">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Amazon S3</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Data, users, bucket settings</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Objects, metadata, records you switched on</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r>
            </a:tbl>
          </a:graphicData>
        </a:graphic>
      </p:graphicFrame>
      <p:sp>
        <p:nvSpPr>
          <p:cNvPr id="7" name="Text 4"/>
          <p:cNvSpPr/>
          <p:nvPr/>
        </p:nvSpPr>
        <p:spPr>
          <a:xfrm>
            <a:off x="411480" y="4407408"/>
            <a:ext cx="8321040" cy="274320"/>
          </a:xfrm>
          <a:prstGeom prst="rect">
            <a:avLst/>
          </a:prstGeom>
          <a:noFill/>
          <a:ln/>
        </p:spPr>
        <p:txBody>
          <a:bodyPr wrap="square" lIns="0" tIns="0" rIns="0" bIns="0" rtlCol="0" anchor="ctr"/>
          <a:lstStyle/>
          <a:p>
            <a:pPr indent="0" marL="0">
              <a:buNone/>
            </a:pPr>
            <a:r>
              <a:rPr lang="en-US" sz="1200" i="1" dirty="0">
                <a:solidFill>
                  <a:srgbClr val="5C6B63"/>
                </a:solidFill>
                <a:latin typeface="Open Sans" pitchFamily="34" charset="0"/>
                <a:ea typeface="Open Sans" pitchFamily="34" charset="-122"/>
                <a:cs typeface="Open Sans" pitchFamily="34" charset="-120"/>
              </a:rPr>
              <a:t>Demo S11-D1: the responsibility line slides. More control lower down, less the higher you go.</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Four ways to live in a city</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sp>
        <p:nvSpPr>
          <p:cNvPr id="6" name="Shape 4"/>
          <p:cNvSpPr/>
          <p:nvPr/>
        </p:nvSpPr>
        <p:spPr>
          <a:xfrm>
            <a:off x="411480" y="1371600"/>
            <a:ext cx="8321040" cy="2834640"/>
          </a:xfrm>
          <a:prstGeom prst="rect">
            <a:avLst/>
          </a:prstGeom>
          <a:solidFill>
            <a:srgbClr val="E8F0EA"/>
          </a:solidFill>
          <a:ln/>
        </p:spPr>
      </p:sp>
      <p:sp>
        <p:nvSpPr>
          <p:cNvPr id="7" name="Shape 5"/>
          <p:cNvSpPr/>
          <p:nvPr/>
        </p:nvSpPr>
        <p:spPr>
          <a:xfrm>
            <a:off x="411480" y="1371600"/>
            <a:ext cx="82296" cy="2834640"/>
          </a:xfrm>
          <a:prstGeom prst="rect">
            <a:avLst/>
          </a:prstGeom>
          <a:solidFill>
            <a:srgbClr val="6E8472"/>
          </a:solidFill>
          <a:ln/>
        </p:spPr>
      </p:sp>
      <p:sp>
        <p:nvSpPr>
          <p:cNvPr id="8" name="Text 6"/>
          <p:cNvSpPr/>
          <p:nvPr/>
        </p:nvSpPr>
        <p:spPr>
          <a:xfrm>
            <a:off x="621792" y="1444752"/>
            <a:ext cx="7955280" cy="237744"/>
          </a:xfrm>
          <a:prstGeom prst="rect">
            <a:avLst/>
          </a:prstGeom>
          <a:noFill/>
          <a:ln/>
        </p:spPr>
        <p:txBody>
          <a:bodyPr wrap="square" lIns="0" tIns="0" rIns="0" bIns="0" rtlCol="0" anchor="ctr"/>
          <a:lstStyle/>
          <a:p>
            <a:pPr indent="0" marL="0">
              <a:buNone/>
            </a:pPr>
            <a:r>
              <a:rPr lang="en-US" sz="1300" b="1" spc="200" kern="0" dirty="0">
                <a:solidFill>
                  <a:srgbClr val="4F6356"/>
                </a:solidFill>
                <a:latin typeface="Open Sans" pitchFamily="34" charset="0"/>
                <a:ea typeface="Open Sans" pitchFamily="34" charset="-122"/>
                <a:cs typeface="Open Sans" pitchFamily="34" charset="-120"/>
              </a:rPr>
              <a:t>ANALOGY</a:t>
            </a:r>
            <a:endParaRPr lang="en-US" sz="1300" dirty="0"/>
          </a:p>
        </p:txBody>
      </p:sp>
      <p:sp>
        <p:nvSpPr>
          <p:cNvPr id="9" name="Text 7"/>
          <p:cNvSpPr/>
          <p:nvPr/>
        </p:nvSpPr>
        <p:spPr>
          <a:xfrm>
            <a:off x="621792" y="1700784"/>
            <a:ext cx="7955280" cy="2432304"/>
          </a:xfrm>
          <a:prstGeom prst="rect">
            <a:avLst/>
          </a:prstGeom>
          <a:noFill/>
          <a:ln/>
        </p:spPr>
        <p:txBody>
          <a:bodyPr wrap="square" lIns="0" tIns="0" rIns="0" bIns="0" rtlCol="0" anchor="t"/>
          <a:lstStyle/>
          <a:p>
            <a:pPr indent="0" marL="0">
              <a:spcAft>
                <a:spcPts val="400"/>
              </a:spcAft>
              <a:buNone/>
            </a:pPr>
            <a:r>
              <a:rPr lang="en-US" sz="1300" dirty="0">
                <a:solidFill>
                  <a:srgbClr val="31423B"/>
                </a:solidFill>
                <a:latin typeface="Open Sans" pitchFamily="34" charset="0"/>
                <a:ea typeface="Open Sans" pitchFamily="34" charset="-122"/>
                <a:cs typeface="Open Sans" pitchFamily="34" charset="-120"/>
              </a:rPr>
              <a:t>Your own house, an unfurnished flat, a serviced apartment, a hotel room: if something is stolen, whose camera recordings can you get? </a:t>
            </a:r>
            <a:pPr indent="0" marL="0">
              <a:spcAft>
                <a:spcPts val="400"/>
              </a:spcAft>
              <a:buNone/>
            </a:pPr>
            <a:r>
              <a:rPr lang="en-US" sz="1300" b="1" dirty="0">
                <a:solidFill>
                  <a:srgbClr val="31423B"/>
                </a:solidFill>
                <a:latin typeface="Open Sans" pitchFamily="34" charset="0"/>
                <a:ea typeface="Open Sans" pitchFamily="34" charset="-122"/>
                <a:cs typeface="Open Sans" pitchFamily="34" charset="-120"/>
              </a:rPr>
              <a:t>Why it fits: </a:t>
            </a:r>
            <a:pPr indent="0" marL="0">
              <a:spcAft>
                <a:spcPts val="400"/>
              </a:spcAft>
              <a:buNone/>
            </a:pPr>
            <a:r>
              <a:rPr lang="en-US" sz="1300" dirty="0">
                <a:solidFill>
                  <a:srgbClr val="31423B"/>
                </a:solidFill>
                <a:latin typeface="Open Sans" pitchFamily="34" charset="0"/>
                <a:ea typeface="Open Sans" pitchFamily="34" charset="-122"/>
                <a:cs typeface="Open Sans" pitchFamily="34" charset="-120"/>
              </a:rPr>
              <a:t>your own cameras (own server); the rooms are yours, the corridors the landlord's (IaaS); you bring only your belongings (PaaS); you get what the front desk shows you (SaaS). </a:t>
            </a:r>
            <a:pPr indent="0" marL="0">
              <a:spcAft>
                <a:spcPts val="400"/>
              </a:spcAft>
              <a:buNone/>
            </a:pPr>
            <a:r>
              <a:rPr lang="en-US" sz="1300" b="1" dirty="0">
                <a:solidFill>
                  <a:srgbClr val="31423B"/>
                </a:solidFill>
                <a:latin typeface="Open Sans" pitchFamily="34" charset="0"/>
                <a:ea typeface="Open Sans" pitchFamily="34" charset="-122"/>
                <a:cs typeface="Open Sans" pitchFamily="34" charset="-120"/>
              </a:rPr>
              <a:t>Where it breaks: </a:t>
            </a:r>
            <a:pPr indent="0" marL="0">
              <a:spcAft>
                <a:spcPts val="400"/>
              </a:spcAft>
              <a:buNone/>
            </a:pPr>
            <a:r>
              <a:rPr lang="en-US" sz="1300" dirty="0">
                <a:solidFill>
                  <a:srgbClr val="31423B"/>
                </a:solidFill>
                <a:latin typeface="Open Sans" pitchFamily="34" charset="0"/>
                <a:ea typeface="Open Sans" pitchFamily="34" charset="-122"/>
                <a:cs typeface="Open Sans" pitchFamily="34" charset="-120"/>
              </a:rPr>
              <a:t>a corridor camera records whether you ask or not; a cloud provider records your account only if you switched the record on. And no provider will hand you a record that shows another customer. </a:t>
            </a:r>
            <a:pPr indent="0" marL="0">
              <a:spcAft>
                <a:spcPts val="400"/>
              </a:spcAft>
              <a:buNone/>
            </a:pPr>
            <a:r>
              <a:rPr lang="en-US" sz="1300" b="1" dirty="0">
                <a:solidFill>
                  <a:srgbClr val="31423B"/>
                </a:solidFill>
                <a:latin typeface="Open Sans" pitchFamily="34" charset="0"/>
                <a:ea typeface="Open Sans" pitchFamily="34" charset="-122"/>
                <a:cs typeface="Open Sans" pitchFamily="34" charset="-120"/>
              </a:rPr>
              <a:t>So what: </a:t>
            </a:r>
            <a:pPr indent="0" marL="0">
              <a:spcAft>
                <a:spcPts val="400"/>
              </a:spcAft>
              <a:buNone/>
            </a:pPr>
            <a:r>
              <a:rPr lang="en-US" sz="1300" dirty="0">
                <a:solidFill>
                  <a:srgbClr val="31423B"/>
                </a:solidFill>
                <a:latin typeface="Open Sans" pitchFamily="34" charset="0"/>
                <a:ea typeface="Open Sans" pitchFamily="34" charset="-122"/>
                <a:cs typeface="Open Sans" pitchFamily="34" charset="-120"/>
              </a:rPr>
              <a:t>in the cloud the question is also: did anyone switch the camera on before the theft?</a:t>
            </a:r>
            <a:endParaRPr lang="en-US" sz="1300" dirty="0"/>
          </a:p>
        </p:txBody>
      </p:sp>
      <p:sp>
        <p:nvSpPr>
          <p:cNvPr id="10" name="Text 8"/>
          <p:cNvSpPr/>
          <p:nvPr/>
        </p:nvSpPr>
        <p:spPr>
          <a:xfrm>
            <a:off x="411480" y="4407408"/>
            <a:ext cx="8321040" cy="274320"/>
          </a:xfrm>
          <a:prstGeom prst="rect">
            <a:avLst/>
          </a:prstGeom>
          <a:noFill/>
          <a:ln/>
        </p:spPr>
        <p:txBody>
          <a:bodyPr wrap="square" lIns="0" tIns="0" rIns="0" bIns="0" rtlCol="0" anchor="ctr"/>
          <a:lstStyle/>
          <a:p>
            <a:pPr indent="0" marL="0">
              <a:buNone/>
            </a:pPr>
            <a:r>
              <a:rPr lang="en-US" sz="1200" i="1" dirty="0">
                <a:solidFill>
                  <a:srgbClr val="5C6B63"/>
                </a:solidFill>
                <a:latin typeface="Open Sans" pitchFamily="34" charset="0"/>
                <a:ea typeface="Open Sans" pitchFamily="34" charset="-122"/>
                <a:cs typeface="Open Sans" pitchFamily="34" charset="-120"/>
              </a:rPr>
              <a:t>Page section 3, the comparison box.</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Three challenges, named as the exam names them</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11480" y="1325880"/>
          <a:ext cx="8321040" cy="914400"/>
        </p:xfrm>
        <a:graphic>
          <a:graphicData uri="http://schemas.openxmlformats.org/drawingml/2006/table">
            <a:tbl>
              <a:tblPr/>
              <a:tblGrid>
                <a:gridCol w="1554480"/>
                <a:gridCol w="3200400"/>
                <a:gridCol w="3566160"/>
              </a:tblGrid>
              <a:tr h="713232">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Challenge</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What it means</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In the case's cloud drop</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r>
              <a:tr h="713232">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Volatility</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Whole resources and logs that expire, roll or are deleted</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Used one evening, deleted the next day: only records written elsewhere survive</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r>
              <a:tr h="713232">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Multi-tenancy</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Many customers on the same hardware, kept apart by the provider</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No single disk belongs to the drop; no image is possible</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r>
              <a:tr h="713232">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Jurisdiction</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Whose law reaches the data and the provider</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A Sri Lankan company's data in Mumbai is in India; requests take time</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r>
            </a:tbl>
          </a:graphicData>
        </a:graphic>
      </p:graphicFrame>
      <p:sp>
        <p:nvSpPr>
          <p:cNvPr id="7" name="Text 4"/>
          <p:cNvSpPr/>
          <p:nvPr/>
        </p:nvSpPr>
        <p:spPr>
          <a:xfrm>
            <a:off x="411480" y="4407408"/>
            <a:ext cx="8321040" cy="274320"/>
          </a:xfrm>
          <a:prstGeom prst="rect">
            <a:avLst/>
          </a:prstGeom>
          <a:noFill/>
          <a:ln/>
        </p:spPr>
        <p:txBody>
          <a:bodyPr wrap="square" lIns="0" tIns="0" rIns="0" bIns="0" rtlCol="0" anchor="ctr"/>
          <a:lstStyle/>
          <a:p>
            <a:pPr indent="0" marL="0">
              <a:buNone/>
            </a:pPr>
            <a:r>
              <a:rPr lang="en-US" sz="1200" i="1" dirty="0">
                <a:solidFill>
                  <a:srgbClr val="5C6B63"/>
                </a:solidFill>
                <a:latin typeface="Open Sans" pitchFamily="34" charset="0"/>
                <a:ea typeface="Open Sans" pitchFamily="34" charset="-122"/>
                <a:cs typeface="Open Sans" pitchFamily="34" charset="-120"/>
              </a:rPr>
              <a:t>Page section 4. Volatility removes evidence; multi-tenancy stops you fetching it; jurisdiction slows every request.</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Readiness: records only run forward</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sp>
        <p:nvSpPr>
          <p:cNvPr id="6" name="Shape 4"/>
          <p:cNvSpPr/>
          <p:nvPr/>
        </p:nvSpPr>
        <p:spPr>
          <a:xfrm>
            <a:off x="411480" y="1371600"/>
            <a:ext cx="8321040" cy="777240"/>
          </a:xfrm>
          <a:prstGeom prst="rect">
            <a:avLst/>
          </a:prstGeom>
          <a:solidFill>
            <a:srgbClr val="F1E8F2"/>
          </a:solidFill>
          <a:ln/>
        </p:spPr>
      </p:sp>
      <p:sp>
        <p:nvSpPr>
          <p:cNvPr id="7" name="Text 5"/>
          <p:cNvSpPr/>
          <p:nvPr/>
        </p:nvSpPr>
        <p:spPr>
          <a:xfrm>
            <a:off x="521208" y="1371600"/>
            <a:ext cx="8101584" cy="777240"/>
          </a:xfrm>
          <a:prstGeom prst="rect">
            <a:avLst/>
          </a:prstGeom>
          <a:noFill/>
          <a:ln/>
        </p:spPr>
        <p:txBody>
          <a:bodyPr wrap="square" rtlCol="0" anchor="ctr"/>
          <a:lstStyle/>
          <a:p>
            <a:pPr indent="0" marL="0">
              <a:buNone/>
            </a:pPr>
            <a:r>
              <a:rPr lang="en-US" sz="1700" b="1" dirty="0">
                <a:solidFill>
                  <a:srgbClr val="31423B"/>
                </a:solidFill>
                <a:latin typeface="Open Sans" pitchFamily="34" charset="0"/>
                <a:ea typeface="Open Sans" pitchFamily="34" charset="-122"/>
                <a:cs typeface="Open Sans" pitchFamily="34" charset="-120"/>
              </a:rPr>
              <a:t>A record that was off at the time of the incident cannot be switched on afterwards for the past.</a:t>
            </a:r>
            <a:endParaRPr lang="en-US" sz="1700" dirty="0"/>
          </a:p>
        </p:txBody>
      </p:sp>
      <p:sp>
        <p:nvSpPr>
          <p:cNvPr id="8" name="Shape 6"/>
          <p:cNvSpPr/>
          <p:nvPr/>
        </p:nvSpPr>
        <p:spPr>
          <a:xfrm>
            <a:off x="411480" y="2240280"/>
            <a:ext cx="4133088" cy="402336"/>
          </a:xfrm>
          <a:prstGeom prst="rect">
            <a:avLst/>
          </a:prstGeom>
          <a:solidFill>
            <a:srgbClr val="6E8472"/>
          </a:solidFill>
          <a:ln/>
        </p:spPr>
      </p:sp>
      <p:sp>
        <p:nvSpPr>
          <p:cNvPr id="9" name="Text 7"/>
          <p:cNvSpPr/>
          <p:nvPr/>
        </p:nvSpPr>
        <p:spPr>
          <a:xfrm>
            <a:off x="521208" y="2240280"/>
            <a:ext cx="3913632" cy="402336"/>
          </a:xfrm>
          <a:prstGeom prst="rect">
            <a:avLst/>
          </a:prstGeom>
          <a:noFill/>
          <a:ln/>
        </p:spPr>
        <p:txBody>
          <a:bodyPr wrap="square" lIns="0" tIns="0" rIns="0" bIns="0" rtlCol="0" anchor="ctr"/>
          <a:lstStyle/>
          <a:p>
            <a:pPr indent="0" marL="0">
              <a:buNone/>
            </a:pPr>
            <a:r>
              <a:rPr lang="en-US" sz="1500" b="1" dirty="0">
                <a:solidFill>
                  <a:srgbClr val="FFFFFF"/>
                </a:solidFill>
                <a:latin typeface="Open Sans" pitchFamily="34" charset="0"/>
                <a:ea typeface="Open Sans" pitchFamily="34" charset="-122"/>
                <a:cs typeface="Open Sans" pitchFamily="34" charset="-120"/>
              </a:rPr>
              <a:t>Kept without asking</a:t>
            </a:r>
            <a:endParaRPr lang="en-US" sz="1500" dirty="0"/>
          </a:p>
        </p:txBody>
      </p:sp>
      <p:sp>
        <p:nvSpPr>
          <p:cNvPr id="10" name="Shape 8"/>
          <p:cNvSpPr/>
          <p:nvPr/>
        </p:nvSpPr>
        <p:spPr>
          <a:xfrm>
            <a:off x="411480" y="2642616"/>
            <a:ext cx="4133088" cy="1645920"/>
          </a:xfrm>
          <a:prstGeom prst="rect">
            <a:avLst/>
          </a:prstGeom>
          <a:solidFill>
            <a:srgbClr val="FFFFFF"/>
          </a:solidFill>
          <a:ln w="9525">
            <a:solidFill>
              <a:srgbClr val="CBD6CE"/>
            </a:solidFill>
            <a:prstDash val="solid"/>
          </a:ln>
        </p:spPr>
      </p:sp>
      <p:sp>
        <p:nvSpPr>
          <p:cNvPr id="11" name="Text 9"/>
          <p:cNvSpPr/>
          <p:nvPr/>
        </p:nvSpPr>
        <p:spPr>
          <a:xfrm>
            <a:off x="539496" y="2697480"/>
            <a:ext cx="3877056" cy="1536192"/>
          </a:xfrm>
          <a:prstGeom prst="rect">
            <a:avLst/>
          </a:prstGeom>
          <a:noFill/>
          <a:ln/>
        </p:spPr>
        <p:txBody>
          <a:bodyPr wrap="square" lIns="0" tIns="0" rIns="0" bIns="0" rtlCol="0" anchor="t"/>
          <a:lstStyle/>
          <a:p>
            <a:pPr indent="0" marL="0">
              <a:buNone/>
            </a:pPr>
            <a:r>
              <a:rPr lang="en-US" sz="1300" b="1" dirty="0">
                <a:solidFill>
                  <a:srgbClr val="4F6356"/>
                </a:solidFill>
                <a:latin typeface="Open Sans" pitchFamily="34" charset="0"/>
                <a:ea typeface="Open Sans" pitchFamily="34" charset="-122"/>
                <a:cs typeface="Open Sans" pitchFamily="34" charset="-120"/>
              </a:rPr>
              <a:t>Event history</a:t>
            </a:r>
            <a:endParaRPr lang="en-US" sz="1300" dirty="0"/>
          </a:p>
          <a:p>
            <a:pPr indent="0" marL="0">
              <a:spcAft>
                <a:spcPts val="700"/>
              </a:spcAft>
              <a:buNone/>
            </a:pPr>
            <a:r>
              <a:rPr lang="en-US" sz="1200" dirty="0">
                <a:solidFill>
                  <a:srgbClr val="31423B"/>
                </a:solidFill>
                <a:latin typeface="Open Sans" pitchFamily="34" charset="0"/>
                <a:ea typeface="Open Sans" pitchFamily="34" charset="-122"/>
                <a:cs typeface="Open Sans" pitchFamily="34" charset="-120"/>
              </a:rPr>
              <a:t>The last 90 days of management events, per Region</a:t>
            </a:r>
            <a:endParaRPr lang="en-US" sz="1300" dirty="0"/>
          </a:p>
          <a:p>
            <a:pPr indent="0" marL="0">
              <a:buNone/>
            </a:pPr>
            <a:r>
              <a:rPr lang="en-US" sz="1300" b="1" dirty="0">
                <a:solidFill>
                  <a:srgbClr val="4F6356"/>
                </a:solidFill>
                <a:latin typeface="Open Sans" pitchFamily="34" charset="0"/>
                <a:ea typeface="Open Sans" pitchFamily="34" charset="-122"/>
                <a:cs typeface="Open Sans" pitchFamily="34" charset="-120"/>
              </a:rPr>
              <a:t>Never data events</a:t>
            </a:r>
            <a:endParaRPr lang="en-US" sz="1300" dirty="0"/>
          </a:p>
          <a:p>
            <a:pPr indent="0" marL="0">
              <a:spcAft>
                <a:spcPts val="700"/>
              </a:spcAft>
              <a:buNone/>
            </a:pPr>
            <a:r>
              <a:rPr lang="en-US" sz="1200" dirty="0">
                <a:solidFill>
                  <a:srgbClr val="31423B"/>
                </a:solidFill>
                <a:latin typeface="Open Sans" pitchFamily="34" charset="0"/>
                <a:ea typeface="Open Sans" pitchFamily="34" charset="-122"/>
                <a:cs typeface="Open Sans" pitchFamily="34" charset="-120"/>
              </a:rPr>
              <a:t>No reads, writes or deletes of files</a:t>
            </a:r>
            <a:endParaRPr lang="en-US" sz="1300" dirty="0"/>
          </a:p>
        </p:txBody>
      </p:sp>
      <p:sp>
        <p:nvSpPr>
          <p:cNvPr id="12" name="Shape 10"/>
          <p:cNvSpPr/>
          <p:nvPr/>
        </p:nvSpPr>
        <p:spPr>
          <a:xfrm>
            <a:off x="4645152" y="2240280"/>
            <a:ext cx="4133088" cy="402336"/>
          </a:xfrm>
          <a:prstGeom prst="rect">
            <a:avLst/>
          </a:prstGeom>
          <a:solidFill>
            <a:srgbClr val="8A4E8F"/>
          </a:solidFill>
          <a:ln/>
        </p:spPr>
      </p:sp>
      <p:sp>
        <p:nvSpPr>
          <p:cNvPr id="13" name="Text 11"/>
          <p:cNvSpPr/>
          <p:nvPr/>
        </p:nvSpPr>
        <p:spPr>
          <a:xfrm>
            <a:off x="4754880" y="2240280"/>
            <a:ext cx="3913632" cy="402336"/>
          </a:xfrm>
          <a:prstGeom prst="rect">
            <a:avLst/>
          </a:prstGeom>
          <a:noFill/>
          <a:ln/>
        </p:spPr>
        <p:txBody>
          <a:bodyPr wrap="square" lIns="0" tIns="0" rIns="0" bIns="0" rtlCol="0" anchor="ctr"/>
          <a:lstStyle/>
          <a:p>
            <a:pPr indent="0" marL="0">
              <a:buNone/>
            </a:pPr>
            <a:r>
              <a:rPr lang="en-US" sz="1500" b="1" dirty="0">
                <a:solidFill>
                  <a:srgbClr val="FFFFFF"/>
                </a:solidFill>
                <a:latin typeface="Open Sans" pitchFamily="34" charset="0"/>
                <a:ea typeface="Open Sans" pitchFamily="34" charset="-122"/>
                <a:cs typeface="Open Sans" pitchFamily="34" charset="-120"/>
              </a:rPr>
              <a:t>Off until you switch it on</a:t>
            </a:r>
            <a:endParaRPr lang="en-US" sz="1500" dirty="0"/>
          </a:p>
        </p:txBody>
      </p:sp>
      <p:sp>
        <p:nvSpPr>
          <p:cNvPr id="14" name="Shape 12"/>
          <p:cNvSpPr/>
          <p:nvPr/>
        </p:nvSpPr>
        <p:spPr>
          <a:xfrm>
            <a:off x="4645152" y="2642616"/>
            <a:ext cx="4133088" cy="1645920"/>
          </a:xfrm>
          <a:prstGeom prst="rect">
            <a:avLst/>
          </a:prstGeom>
          <a:solidFill>
            <a:srgbClr val="FFFFFF"/>
          </a:solidFill>
          <a:ln w="9525">
            <a:solidFill>
              <a:srgbClr val="CBD6CE"/>
            </a:solidFill>
            <a:prstDash val="solid"/>
          </a:ln>
        </p:spPr>
      </p:sp>
      <p:sp>
        <p:nvSpPr>
          <p:cNvPr id="15" name="Text 13"/>
          <p:cNvSpPr/>
          <p:nvPr/>
        </p:nvSpPr>
        <p:spPr>
          <a:xfrm>
            <a:off x="4773168" y="2697480"/>
            <a:ext cx="3877056" cy="1536192"/>
          </a:xfrm>
          <a:prstGeom prst="rect">
            <a:avLst/>
          </a:prstGeom>
          <a:noFill/>
          <a:ln/>
        </p:spPr>
        <p:txBody>
          <a:bodyPr wrap="square" lIns="0" tIns="0" rIns="0" bIns="0" rtlCol="0" anchor="t"/>
          <a:lstStyle/>
          <a:p>
            <a:pPr indent="0" marL="0">
              <a:buNone/>
            </a:pPr>
            <a:r>
              <a:rPr lang="en-US" sz="1300" b="1" dirty="0">
                <a:solidFill>
                  <a:srgbClr val="8A4E8F"/>
                </a:solidFill>
                <a:latin typeface="Open Sans" pitchFamily="34" charset="0"/>
                <a:ea typeface="Open Sans" pitchFamily="34" charset="-122"/>
                <a:cs typeface="Open Sans" pitchFamily="34" charset="-120"/>
              </a:rPr>
              <a:t>A trail</a:t>
            </a:r>
            <a:endParaRPr lang="en-US" sz="1300" dirty="0"/>
          </a:p>
          <a:p>
            <a:pPr indent="0" marL="0">
              <a:spcAft>
                <a:spcPts val="700"/>
              </a:spcAft>
              <a:buNone/>
            </a:pPr>
            <a:r>
              <a:rPr lang="en-US" sz="1200" dirty="0">
                <a:solidFill>
                  <a:srgbClr val="31423B"/>
                </a:solidFill>
                <a:latin typeface="Open Sans" pitchFamily="34" charset="0"/>
                <a:ea typeface="Open Sans" pitchFamily="34" charset="-122"/>
                <a:cs typeface="Open Sans" pitchFamily="34" charset="-120"/>
              </a:rPr>
              <a:t>Management events as files you keep</a:t>
            </a:r>
            <a:endParaRPr lang="en-US" sz="1300" dirty="0"/>
          </a:p>
          <a:p>
            <a:pPr indent="0" marL="0">
              <a:buNone/>
            </a:pPr>
            <a:r>
              <a:rPr lang="en-US" sz="1300" b="1" dirty="0">
                <a:solidFill>
                  <a:srgbClr val="8A4E8F"/>
                </a:solidFill>
                <a:latin typeface="Open Sans" pitchFamily="34" charset="0"/>
                <a:ea typeface="Open Sans" pitchFamily="34" charset="-122"/>
                <a:cs typeface="Open Sans" pitchFamily="34" charset="-120"/>
              </a:rPr>
              <a:t>Data events</a:t>
            </a:r>
            <a:endParaRPr lang="en-US" sz="1300" dirty="0"/>
          </a:p>
          <a:p>
            <a:pPr indent="0" marL="0">
              <a:spcAft>
                <a:spcPts val="700"/>
              </a:spcAft>
              <a:buNone/>
            </a:pPr>
            <a:r>
              <a:rPr lang="en-US" sz="1200" dirty="0">
                <a:solidFill>
                  <a:srgbClr val="31423B"/>
                </a:solidFill>
                <a:latin typeface="Open Sans" pitchFamily="34" charset="0"/>
                <a:ea typeface="Open Sans" pitchFamily="34" charset="-122"/>
                <a:cs typeface="Open Sans" pitchFamily="34" charset="-120"/>
              </a:rPr>
              <a:t>Reads, writes, deletes: who, when, from where</a:t>
            </a:r>
            <a:endParaRPr lang="en-US" sz="1300" dirty="0"/>
          </a:p>
          <a:p>
            <a:pPr indent="0" marL="0">
              <a:buNone/>
            </a:pPr>
            <a:r>
              <a:rPr lang="en-US" sz="1300" b="1" dirty="0">
                <a:solidFill>
                  <a:srgbClr val="8A4E8F"/>
                </a:solidFill>
                <a:latin typeface="Open Sans" pitchFamily="34" charset="0"/>
                <a:ea typeface="Open Sans" pitchFamily="34" charset="-122"/>
                <a:cs typeface="Open Sans" pitchFamily="34" charset="-120"/>
              </a:rPr>
              <a:t>Server access logs, versioning, validation</a:t>
            </a:r>
            <a:endParaRPr lang="en-US" sz="1300" dirty="0"/>
          </a:p>
          <a:p>
            <a:pPr indent="0" marL="0">
              <a:spcAft>
                <a:spcPts val="700"/>
              </a:spcAft>
              <a:buNone/>
            </a:pPr>
            <a:r>
              <a:rPr lang="en-US" sz="1200" dirty="0">
                <a:solidFill>
                  <a:srgbClr val="31423B"/>
                </a:solidFill>
                <a:latin typeface="Open Sans" pitchFamily="34" charset="0"/>
                <a:ea typeface="Open Sans" pitchFamily="34" charset="-122"/>
                <a:cs typeface="Open Sans" pitchFamily="34" charset="-120"/>
              </a:rPr>
              <a:t>Sections 6 and 7</a:t>
            </a:r>
            <a:endParaRPr lang="en-US" sz="1300" dirty="0"/>
          </a:p>
        </p:txBody>
      </p:sp>
      <p:sp>
        <p:nvSpPr>
          <p:cNvPr id="16" name="Text 14"/>
          <p:cNvSpPr/>
          <p:nvPr/>
        </p:nvSpPr>
        <p:spPr>
          <a:xfrm>
            <a:off x="411480" y="4407408"/>
            <a:ext cx="8321040" cy="274320"/>
          </a:xfrm>
          <a:prstGeom prst="rect">
            <a:avLst/>
          </a:prstGeom>
          <a:noFill/>
          <a:ln/>
        </p:spPr>
        <p:txBody>
          <a:bodyPr wrap="square" lIns="0" tIns="0" rIns="0" bIns="0" rtlCol="0" anchor="ctr"/>
          <a:lstStyle/>
          <a:p>
            <a:pPr indent="0" marL="0">
              <a:buNone/>
            </a:pPr>
            <a:r>
              <a:rPr lang="en-US" sz="1200" i="1" dirty="0">
                <a:solidFill>
                  <a:srgbClr val="5C6B63"/>
                </a:solidFill>
                <a:latin typeface="Open Sans" pitchFamily="34" charset="0"/>
                <a:ea typeface="Open Sans" pitchFamily="34" charset="-122"/>
                <a:cs typeface="Open Sans" pitchFamily="34" charset="-120"/>
              </a:rPr>
              <a:t>Demo S11-D2: a record that only runs forward.</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Four records and one safeguard</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11480" y="1325880"/>
          <a:ext cx="8321040" cy="914400"/>
        </p:xfrm>
        <a:graphic>
          <a:graphicData uri="http://schemas.openxmlformats.org/drawingml/2006/table">
            <a:tbl>
              <a:tblPr/>
              <a:tblGrid>
                <a:gridCol w="3291840"/>
                <a:gridCol w="5029200"/>
              </a:tblGrid>
              <a:tr h="402336">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Setting</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Records or protects</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r>
              <a:tr h="402336">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Trail: management events</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Every change to the account's settings, as files you keep</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r>
              <a:tr h="402336">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Trail: S3 data events, case bucket only</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Every read, write and delete of an object</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r>
              <a:tr h="402336">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S3 server access logs</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S3's own record of each request, to a separate bucket</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r>
              <a:tr h="402336">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Object versioning</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Every earlier version after an overwrite or delete</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r>
              <a:tr h="402336">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Log-file integrity validation</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Proof that CloudTrail's files are unchanged</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r>
              <a:tr h="402336">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Budget alarm at US$1</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You: an e-mail if anything unexpected runs</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r>
            </a:tbl>
          </a:graphicData>
        </a:graphic>
      </p:graphicFrame>
      <p:sp>
        <p:nvSpPr>
          <p:cNvPr id="7" name="Text 4"/>
          <p:cNvSpPr/>
          <p:nvPr/>
        </p:nvSpPr>
        <p:spPr>
          <a:xfrm>
            <a:off x="411480" y="4407408"/>
            <a:ext cx="8321040" cy="274320"/>
          </a:xfrm>
          <a:prstGeom prst="rect">
            <a:avLst/>
          </a:prstGeom>
          <a:noFill/>
          <a:ln/>
        </p:spPr>
        <p:txBody>
          <a:bodyPr wrap="square" lIns="0" tIns="0" rIns="0" bIns="0" rtlCol="0" anchor="ctr"/>
          <a:lstStyle/>
          <a:p>
            <a:pPr indent="0" marL="0">
              <a:buNone/>
            </a:pPr>
            <a:r>
              <a:rPr lang="en-US" sz="1200" i="1" dirty="0">
                <a:solidFill>
                  <a:srgbClr val="5C6B63"/>
                </a:solidFill>
                <a:latin typeface="Open Sans" pitchFamily="34" charset="0"/>
                <a:ea typeface="Open Sans" pitchFamily="34" charset="-122"/>
                <a:cs typeface="Open Sans" pitchFamily="34" charset="-120"/>
              </a:rPr>
              <a:t>Page section 5, the readiness table. All switched on before anything happens.</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Two records, two clocks</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sp>
        <p:nvSpPr>
          <p:cNvPr id="6" name="Shape 4"/>
          <p:cNvSpPr/>
          <p:nvPr/>
        </p:nvSpPr>
        <p:spPr>
          <a:xfrm>
            <a:off x="411480" y="1371600"/>
            <a:ext cx="4133088" cy="402336"/>
          </a:xfrm>
          <a:prstGeom prst="rect">
            <a:avLst/>
          </a:prstGeom>
          <a:solidFill>
            <a:srgbClr val="6E8472"/>
          </a:solidFill>
          <a:ln/>
        </p:spPr>
      </p:sp>
      <p:sp>
        <p:nvSpPr>
          <p:cNvPr id="7" name="Text 5"/>
          <p:cNvSpPr/>
          <p:nvPr/>
        </p:nvSpPr>
        <p:spPr>
          <a:xfrm>
            <a:off x="521208" y="1371600"/>
            <a:ext cx="3913632" cy="402336"/>
          </a:xfrm>
          <a:prstGeom prst="rect">
            <a:avLst/>
          </a:prstGeom>
          <a:noFill/>
          <a:ln/>
        </p:spPr>
        <p:txBody>
          <a:bodyPr wrap="square" lIns="0" tIns="0" rIns="0" bIns="0" rtlCol="0" anchor="ctr"/>
          <a:lstStyle/>
          <a:p>
            <a:pPr indent="0" marL="0">
              <a:buNone/>
            </a:pPr>
            <a:r>
              <a:rPr lang="en-US" sz="1500" b="1" dirty="0">
                <a:solidFill>
                  <a:srgbClr val="FFFFFF"/>
                </a:solidFill>
                <a:latin typeface="Open Sans" pitchFamily="34" charset="0"/>
                <a:ea typeface="Open Sans" pitchFamily="34" charset="-122"/>
                <a:cs typeface="Open Sans" pitchFamily="34" charset="-120"/>
              </a:rPr>
              <a:t>CloudTrail</a:t>
            </a:r>
            <a:endParaRPr lang="en-US" sz="1500" dirty="0"/>
          </a:p>
        </p:txBody>
      </p:sp>
      <p:sp>
        <p:nvSpPr>
          <p:cNvPr id="8" name="Shape 6"/>
          <p:cNvSpPr/>
          <p:nvPr/>
        </p:nvSpPr>
        <p:spPr>
          <a:xfrm>
            <a:off x="411480" y="1773936"/>
            <a:ext cx="4133088" cy="2103120"/>
          </a:xfrm>
          <a:prstGeom prst="rect">
            <a:avLst/>
          </a:prstGeom>
          <a:solidFill>
            <a:srgbClr val="FFFFFF"/>
          </a:solidFill>
          <a:ln w="9525">
            <a:solidFill>
              <a:srgbClr val="CBD6CE"/>
            </a:solidFill>
            <a:prstDash val="solid"/>
          </a:ln>
        </p:spPr>
      </p:sp>
      <p:sp>
        <p:nvSpPr>
          <p:cNvPr id="9" name="Text 7"/>
          <p:cNvSpPr/>
          <p:nvPr/>
        </p:nvSpPr>
        <p:spPr>
          <a:xfrm>
            <a:off x="539496" y="1828800"/>
            <a:ext cx="3877056" cy="1993392"/>
          </a:xfrm>
          <a:prstGeom prst="rect">
            <a:avLst/>
          </a:prstGeom>
          <a:noFill/>
          <a:ln/>
        </p:spPr>
        <p:txBody>
          <a:bodyPr wrap="square" lIns="0" tIns="0" rIns="0" bIns="0" rtlCol="0" anchor="t"/>
          <a:lstStyle/>
          <a:p>
            <a:pPr indent="0" marL="0">
              <a:buNone/>
            </a:pPr>
            <a:r>
              <a:rPr lang="en-US" sz="1300" b="1" dirty="0">
                <a:solidFill>
                  <a:srgbClr val="4F6356"/>
                </a:solidFill>
                <a:latin typeface="Open Sans" pitchFamily="34" charset="0"/>
                <a:ea typeface="Open Sans" pitchFamily="34" charset="-122"/>
                <a:cs typeface="Open Sans" pitchFamily="34" charset="-120"/>
              </a:rPr>
              <a:t>Who, what, when, from where, which program</a:t>
            </a:r>
            <a:endParaRPr lang="en-US" sz="1300" dirty="0"/>
          </a:p>
          <a:p>
            <a:pPr indent="0" marL="0">
              <a:spcAft>
                <a:spcPts val="700"/>
              </a:spcAft>
              <a:buNone/>
            </a:pPr>
            <a:r>
              <a:rPr lang="en-US" sz="1200" dirty="0">
                <a:solidFill>
                  <a:srgbClr val="31423B"/>
                </a:solidFill>
                <a:latin typeface="Open Sans" pitchFamily="34" charset="0"/>
                <a:ea typeface="Open Sans" pitchFamily="34" charset="-122"/>
                <a:cs typeface="Open Sans" pitchFamily="34" charset="-120"/>
              </a:rPr>
              <a:t>The account's audit record</a:t>
            </a:r>
            <a:endParaRPr lang="en-US" sz="1300" dirty="0"/>
          </a:p>
          <a:p>
            <a:pPr indent="0" marL="0">
              <a:buNone/>
            </a:pPr>
            <a:r>
              <a:rPr lang="en-US" sz="1300" b="1" dirty="0">
                <a:solidFill>
                  <a:srgbClr val="4F6356"/>
                </a:solidFill>
                <a:latin typeface="Open Sans" pitchFamily="34" charset="0"/>
                <a:ea typeface="Open Sans" pitchFamily="34" charset="-122"/>
                <a:cs typeface="Open Sans" pitchFamily="34" charset="-120"/>
              </a:rPr>
              <a:t>Delivered about every five minutes</a:t>
            </a:r>
            <a:endParaRPr lang="en-US" sz="1300" dirty="0"/>
          </a:p>
          <a:p>
            <a:pPr indent="0" marL="0">
              <a:spcAft>
                <a:spcPts val="700"/>
              </a:spcAft>
              <a:buNone/>
            </a:pPr>
            <a:r>
              <a:rPr lang="en-US" sz="1200" dirty="0">
                <a:solidFill>
                  <a:srgbClr val="31423B"/>
                </a:solidFill>
                <a:latin typeface="Open Sans" pitchFamily="34" charset="0"/>
                <a:ea typeface="Open Sans" pitchFamily="34" charset="-122"/>
                <a:cs typeface="Open Sans" pitchFamily="34" charset="-120"/>
              </a:rPr>
              <a:t>Usually within about five minutes; not guaranteed</a:t>
            </a:r>
            <a:endParaRPr lang="en-US" sz="1300" dirty="0"/>
          </a:p>
        </p:txBody>
      </p:sp>
      <p:sp>
        <p:nvSpPr>
          <p:cNvPr id="10" name="Shape 8"/>
          <p:cNvSpPr/>
          <p:nvPr/>
        </p:nvSpPr>
        <p:spPr>
          <a:xfrm>
            <a:off x="4645152" y="1371600"/>
            <a:ext cx="4133088" cy="402336"/>
          </a:xfrm>
          <a:prstGeom prst="rect">
            <a:avLst/>
          </a:prstGeom>
          <a:solidFill>
            <a:srgbClr val="8A4E8F"/>
          </a:solidFill>
          <a:ln/>
        </p:spPr>
      </p:sp>
      <p:sp>
        <p:nvSpPr>
          <p:cNvPr id="11" name="Text 9"/>
          <p:cNvSpPr/>
          <p:nvPr/>
        </p:nvSpPr>
        <p:spPr>
          <a:xfrm>
            <a:off x="4754880" y="1371600"/>
            <a:ext cx="3913632" cy="402336"/>
          </a:xfrm>
          <a:prstGeom prst="rect">
            <a:avLst/>
          </a:prstGeom>
          <a:noFill/>
          <a:ln/>
        </p:spPr>
        <p:txBody>
          <a:bodyPr wrap="square" lIns="0" tIns="0" rIns="0" bIns="0" rtlCol="0" anchor="ctr"/>
          <a:lstStyle/>
          <a:p>
            <a:pPr indent="0" marL="0">
              <a:buNone/>
            </a:pPr>
            <a:r>
              <a:rPr lang="en-US" sz="1500" b="1" dirty="0">
                <a:solidFill>
                  <a:srgbClr val="FFFFFF"/>
                </a:solidFill>
                <a:latin typeface="Open Sans" pitchFamily="34" charset="0"/>
                <a:ea typeface="Open Sans" pitchFamily="34" charset="-122"/>
                <a:cs typeface="Open Sans" pitchFamily="34" charset="-120"/>
              </a:rPr>
              <a:t>S3 server access logs</a:t>
            </a:r>
            <a:endParaRPr lang="en-US" sz="1500" dirty="0"/>
          </a:p>
        </p:txBody>
      </p:sp>
      <p:sp>
        <p:nvSpPr>
          <p:cNvPr id="12" name="Shape 10"/>
          <p:cNvSpPr/>
          <p:nvPr/>
        </p:nvSpPr>
        <p:spPr>
          <a:xfrm>
            <a:off x="4645152" y="1773936"/>
            <a:ext cx="4133088" cy="2103120"/>
          </a:xfrm>
          <a:prstGeom prst="rect">
            <a:avLst/>
          </a:prstGeom>
          <a:solidFill>
            <a:srgbClr val="FFFFFF"/>
          </a:solidFill>
          <a:ln w="9525">
            <a:solidFill>
              <a:srgbClr val="CBD6CE"/>
            </a:solidFill>
            <a:prstDash val="solid"/>
          </a:ln>
        </p:spPr>
      </p:sp>
      <p:sp>
        <p:nvSpPr>
          <p:cNvPr id="13" name="Text 11"/>
          <p:cNvSpPr/>
          <p:nvPr/>
        </p:nvSpPr>
        <p:spPr>
          <a:xfrm>
            <a:off x="4773168" y="1828800"/>
            <a:ext cx="3877056" cy="1993392"/>
          </a:xfrm>
          <a:prstGeom prst="rect">
            <a:avLst/>
          </a:prstGeom>
          <a:noFill/>
          <a:ln/>
        </p:spPr>
        <p:txBody>
          <a:bodyPr wrap="square" lIns="0" tIns="0" rIns="0" bIns="0" rtlCol="0" anchor="t"/>
          <a:lstStyle/>
          <a:p>
            <a:pPr indent="0" marL="0">
              <a:buNone/>
            </a:pPr>
            <a:r>
              <a:rPr lang="en-US" sz="1300" b="1" dirty="0">
                <a:solidFill>
                  <a:srgbClr val="8A4E8F"/>
                </a:solidFill>
                <a:latin typeface="Open Sans" pitchFamily="34" charset="0"/>
                <a:ea typeface="Open Sans" pitchFamily="34" charset="-122"/>
                <a:cs typeface="Open Sans" pitchFamily="34" charset="-120"/>
              </a:rPr>
              <a:t>Written by S3 itself</a:t>
            </a:r>
            <a:endParaRPr lang="en-US" sz="1300" dirty="0"/>
          </a:p>
          <a:p>
            <a:pPr indent="0" marL="0">
              <a:spcAft>
                <a:spcPts val="700"/>
              </a:spcAft>
              <a:buNone/>
            </a:pPr>
            <a:r>
              <a:rPr lang="en-US" sz="1200" dirty="0">
                <a:solidFill>
                  <a:srgbClr val="31423B"/>
                </a:solidFill>
                <a:latin typeface="Open Sans" pitchFamily="34" charset="0"/>
                <a:ea typeface="Open Sans" pitchFamily="34" charset="-122"/>
                <a:cs typeface="Open Sans" pitchFamily="34" charset="-120"/>
              </a:rPr>
              <a:t>One line per request, anonymous ones too</a:t>
            </a:r>
            <a:endParaRPr lang="en-US" sz="1300" dirty="0"/>
          </a:p>
          <a:p>
            <a:pPr indent="0" marL="0">
              <a:buNone/>
            </a:pPr>
            <a:r>
              <a:rPr lang="en-US" sz="1300" b="1" dirty="0">
                <a:solidFill>
                  <a:srgbClr val="8A4E8F"/>
                </a:solidFill>
                <a:latin typeface="Open Sans" pitchFamily="34" charset="0"/>
                <a:ea typeface="Open Sans" pitchFamily="34" charset="-122"/>
                <a:cs typeface="Open Sans" pitchFamily="34" charset="-120"/>
              </a:rPr>
              <a:t>Best effort</a:t>
            </a:r>
            <a:endParaRPr lang="en-US" sz="1300" dirty="0"/>
          </a:p>
          <a:p>
            <a:pPr indent="0" marL="0">
              <a:spcAft>
                <a:spcPts val="700"/>
              </a:spcAft>
              <a:buNone/>
            </a:pPr>
            <a:r>
              <a:rPr lang="en-US" sz="1200" dirty="0">
                <a:solidFill>
                  <a:srgbClr val="31423B"/>
                </a:solidFill>
                <a:latin typeface="Open Sans" pitchFamily="34" charset="0"/>
                <a:ea typeface="Open Sans" pitchFamily="34" charset="-122"/>
                <a:cs typeface="Open Sans" pitchFamily="34" charset="-120"/>
              </a:rPr>
              <a:t>Usually within hours; some may never arrive</a:t>
            </a:r>
            <a:endParaRPr lang="en-US" sz="1300" dirty="0"/>
          </a:p>
        </p:txBody>
      </p:sp>
      <p:sp>
        <p:nvSpPr>
          <p:cNvPr id="14" name="Text 12"/>
          <p:cNvSpPr/>
          <p:nvPr/>
        </p:nvSpPr>
        <p:spPr>
          <a:xfrm>
            <a:off x="411480" y="4407408"/>
            <a:ext cx="8321040" cy="274320"/>
          </a:xfrm>
          <a:prstGeom prst="rect">
            <a:avLst/>
          </a:prstGeom>
          <a:noFill/>
          <a:ln/>
        </p:spPr>
        <p:txBody>
          <a:bodyPr wrap="square" lIns="0" tIns="0" rIns="0" bIns="0" rtlCol="0" anchor="ctr"/>
          <a:lstStyle/>
          <a:p>
            <a:pPr indent="0" marL="0">
              <a:buNone/>
            </a:pPr>
            <a:r>
              <a:rPr lang="en-US" sz="1200" i="1" dirty="0">
                <a:solidFill>
                  <a:srgbClr val="5C6B63"/>
                </a:solidFill>
                <a:latin typeface="Open Sans" pitchFamily="34" charset="0"/>
                <a:ea typeface="Open Sans" pitchFamily="34" charset="-122"/>
                <a:cs typeface="Open Sans" pitchFamily="34" charset="-120"/>
              </a:rPr>
              <a:t>Demo S11-D4: two logs, two clocks. So the incident runs tonight, and Session 12 opens on what landed.</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Versions pile up under a delete</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sp>
        <p:nvSpPr>
          <p:cNvPr id="6" name="Shape 4"/>
          <p:cNvSpPr/>
          <p:nvPr/>
        </p:nvSpPr>
        <p:spPr>
          <a:xfrm>
            <a:off x="411480" y="1353312"/>
            <a:ext cx="8321040" cy="1417320"/>
          </a:xfrm>
          <a:prstGeom prst="rect">
            <a:avLst/>
          </a:prstGeom>
          <a:solidFill>
            <a:srgbClr val="FFFFFF"/>
          </a:solidFill>
          <a:ln w="9525">
            <a:solidFill>
              <a:srgbClr val="CBD6CE"/>
            </a:solidFill>
            <a:prstDash val="solid"/>
          </a:ln>
        </p:spPr>
      </p:sp>
      <p:sp>
        <p:nvSpPr>
          <p:cNvPr id="7" name="Text 5"/>
          <p:cNvSpPr/>
          <p:nvPr/>
        </p:nvSpPr>
        <p:spPr>
          <a:xfrm>
            <a:off x="502920" y="1353312"/>
            <a:ext cx="8138160" cy="1417320"/>
          </a:xfrm>
          <a:prstGeom prst="rect">
            <a:avLst/>
          </a:prstGeom>
          <a:noFill/>
          <a:ln/>
        </p:spPr>
        <p:txBody>
          <a:bodyPr wrap="square" lIns="0" tIns="0" rIns="0" bIns="0" rtlCol="0" anchor="ctr"/>
          <a:lstStyle/>
          <a:p>
            <a:pPr algn="l" indent="0" marL="0">
              <a:buNone/>
            </a:pPr>
            <a:r>
              <a:rPr lang="en-US" sz="1200" dirty="0">
                <a:solidFill>
                  <a:srgbClr val="31423B"/>
                </a:solidFill>
                <a:latin typeface="Consolas" pitchFamily="34" charset="0"/>
                <a:ea typeface="Consolas" pitchFamily="34" charset="-122"/>
                <a:cs typeface="Consolas" pitchFamily="34" charset="-120"/>
              </a:rPr>
              <a:t>staging/pricing-plan.txt</a:t>
            </a:r>
            <a:endParaRPr lang="en-US" sz="1200" dirty="0"/>
          </a:p>
          <a:p>
            <a:pPr algn="l" indent="0" marL="0">
              <a:buNone/>
            </a:pPr>
            <a:r>
              <a:rPr lang="en-US" sz="1200" dirty="0">
                <a:solidFill>
                  <a:srgbClr val="31423B"/>
                </a:solidFill>
                <a:latin typeface="Consolas" pitchFamily="34" charset="0"/>
                <a:ea typeface="Consolas" pitchFamily="34" charset="-122"/>
                <a:cs typeface="Consolas" pitchFamily="34" charset="-120"/>
              </a:rPr>
              <a:t>  delete marker (current)       ID Hc4pZ9tR...  18:24:31 UTC</a:t>
            </a:r>
            <a:endParaRPr lang="en-US" sz="1200" dirty="0"/>
          </a:p>
          <a:p>
            <a:pPr algn="l" indent="0" marL="0">
              <a:buNone/>
            </a:pPr>
            <a:r>
              <a:rPr lang="en-US" sz="1200" dirty="0">
                <a:solidFill>
                  <a:srgbClr val="31423B"/>
                </a:solidFill>
                <a:latin typeface="Consolas" pitchFamily="34" charset="0"/>
                <a:ea typeface="Consolas" pitchFamily="34" charset="-122"/>
                <a:cs typeface="Consolas" pitchFamily="34" charset="-120"/>
              </a:rPr>
              <a:t>  version 3                     ID f5NbW3qY...  905 bytes</a:t>
            </a:r>
            <a:endParaRPr lang="en-US" sz="1200" dirty="0"/>
          </a:p>
          <a:p>
            <a:pPr algn="l" indent="0" marL="0">
              <a:buNone/>
            </a:pPr>
            <a:r>
              <a:rPr lang="en-US" sz="1200" dirty="0">
                <a:solidFill>
                  <a:srgbClr val="31423B"/>
                </a:solidFill>
                <a:latin typeface="Consolas" pitchFamily="34" charset="0"/>
                <a:ea typeface="Consolas" pitchFamily="34" charset="-122"/>
                <a:cs typeface="Consolas" pitchFamily="34" charset="-120"/>
              </a:rPr>
              <a:t>  version 2                     ID R2vXc8Lm...  608 bytes</a:t>
            </a:r>
            <a:endParaRPr lang="en-US" sz="1200" dirty="0"/>
          </a:p>
          <a:p>
            <a:pPr algn="l" indent="0" marL="0">
              <a:buNone/>
            </a:pPr>
            <a:r>
              <a:rPr lang="en-US" sz="1200" dirty="0">
                <a:solidFill>
                  <a:srgbClr val="31423B"/>
                </a:solidFill>
                <a:latin typeface="Consolas" pitchFamily="34" charset="0"/>
                <a:ea typeface="Consolas" pitchFamily="34" charset="-122"/>
                <a:cs typeface="Consolas" pitchFamily="34" charset="-120"/>
              </a:rPr>
              <a:t>  version 1                     ID kq7Tz0pF...  312 bytes</a:t>
            </a:r>
            <a:endParaRPr lang="en-US" sz="1200" dirty="0"/>
          </a:p>
        </p:txBody>
      </p:sp>
      <p:sp>
        <p:nvSpPr>
          <p:cNvPr id="8" name="Shape 6"/>
          <p:cNvSpPr/>
          <p:nvPr/>
        </p:nvSpPr>
        <p:spPr>
          <a:xfrm>
            <a:off x="411480" y="2880360"/>
            <a:ext cx="8321040" cy="1463040"/>
          </a:xfrm>
          <a:prstGeom prst="rect">
            <a:avLst/>
          </a:prstGeom>
          <a:solidFill>
            <a:srgbClr val="DCE6DE"/>
          </a:solidFill>
          <a:ln/>
        </p:spPr>
      </p:sp>
      <p:sp>
        <p:nvSpPr>
          <p:cNvPr id="9" name="Text 7"/>
          <p:cNvSpPr/>
          <p:nvPr/>
        </p:nvSpPr>
        <p:spPr>
          <a:xfrm>
            <a:off x="502920" y="2880360"/>
            <a:ext cx="8138160" cy="1463040"/>
          </a:xfrm>
          <a:prstGeom prst="rect">
            <a:avLst/>
          </a:prstGeom>
          <a:noFill/>
          <a:ln/>
        </p:spPr>
        <p:txBody>
          <a:bodyPr wrap="square" rtlCol="0" anchor="ctr"/>
          <a:lstStyle/>
          <a:p>
            <a:pPr marL="342900" indent="-342900">
              <a:spcAft>
                <a:spcPts val="600"/>
              </a:spcAft>
              <a:buSzPct val="100000"/>
              <a:buChar char="•"/>
            </a:pPr>
            <a:r>
              <a:rPr lang="en-US" sz="1300" b="1" dirty="0">
                <a:solidFill>
                  <a:srgbClr val="31423B"/>
                </a:solidFill>
                <a:latin typeface="Open Sans" pitchFamily="34" charset="0"/>
                <a:ea typeface="Open Sans" pitchFamily="34" charset="-122"/>
                <a:cs typeface="Open Sans" pitchFamily="34" charset="-120"/>
              </a:rPr>
              <a:t>An overwrite adds a version; a delete adds a delete marker on top</a:t>
            </a:r>
            <a:endParaRPr lang="en-US" sz="1300" dirty="0"/>
          </a:p>
          <a:p>
            <a:pPr marL="342900" indent="-342900">
              <a:spcAft>
                <a:spcPts val="600"/>
              </a:spcAft>
              <a:buSzPct val="100000"/>
              <a:buChar char="•"/>
            </a:pPr>
            <a:r>
              <a:rPr lang="en-US" sz="1300" b="1" dirty="0">
                <a:solidFill>
                  <a:srgbClr val="31423B"/>
                </a:solidFill>
                <a:latin typeface="Open Sans" pitchFamily="34" charset="0"/>
                <a:ea typeface="Open Sans" pitchFamily="34" charset="-122"/>
                <a:cs typeface="Open Sans" pitchFamily="34" charset="-120"/>
              </a:rPr>
              <a:t>The current view looks empty; every version is still there, each with its version ID</a:t>
            </a:r>
            <a:endParaRPr lang="en-US" sz="1300" dirty="0"/>
          </a:p>
          <a:p>
            <a:pPr marL="342900" indent="-342900">
              <a:spcAft>
                <a:spcPts val="600"/>
              </a:spcAft>
              <a:buSzPct val="100000"/>
              <a:buChar char="•"/>
            </a:pPr>
            <a:r>
              <a:rPr lang="en-US" sz="1300" b="1" dirty="0">
                <a:solidFill>
                  <a:srgbClr val="31423B"/>
                </a:solidFill>
                <a:latin typeface="Open Sans" pitchFamily="34" charset="0"/>
                <a:ea typeface="Open Sans" pitchFamily="34" charset="-122"/>
                <a:cs typeface="Open Sans" pitchFamily="34" charset="-120"/>
              </a:rPr>
              <a:t>Session 2's pointer idea, by design. Where it breaks: deleting a version itself is permanent</a:t>
            </a:r>
            <a:endParaRPr lang="en-US" sz="1300" dirty="0"/>
          </a:p>
          <a:p>
            <a:pPr marL="342900" indent="-342900">
              <a:spcAft>
                <a:spcPts val="600"/>
              </a:spcAft>
              <a:buSzPct val="100000"/>
              <a:buChar char="•"/>
            </a:pPr>
            <a:r>
              <a:rPr lang="en-US" sz="1300" b="1" dirty="0">
                <a:solidFill>
                  <a:srgbClr val="31423B"/>
                </a:solidFill>
                <a:latin typeface="Open Sans" pitchFamily="34" charset="0"/>
                <a:ea typeface="Open Sans" pitchFamily="34" charset="-122"/>
                <a:cs typeface="Open Sans" pitchFamily="34" charset="-120"/>
              </a:rPr>
              <a:t>Getting a version back is Session 12's work</a:t>
            </a:r>
            <a:endParaRPr lang="en-US" sz="1300" dirty="0"/>
          </a:p>
        </p:txBody>
      </p:sp>
      <p:sp>
        <p:nvSpPr>
          <p:cNvPr id="10" name="Text 8"/>
          <p:cNvSpPr/>
          <p:nvPr/>
        </p:nvSpPr>
        <p:spPr>
          <a:xfrm>
            <a:off x="411480" y="4407408"/>
            <a:ext cx="8321040" cy="274320"/>
          </a:xfrm>
          <a:prstGeom prst="rect">
            <a:avLst/>
          </a:prstGeom>
          <a:noFill/>
          <a:ln/>
        </p:spPr>
        <p:txBody>
          <a:bodyPr wrap="square" lIns="0" tIns="0" rIns="0" bIns="0" rtlCol="0" anchor="ctr"/>
          <a:lstStyle/>
          <a:p>
            <a:pPr indent="0" marL="0">
              <a:buNone/>
            </a:pPr>
            <a:r>
              <a:rPr lang="en-US" sz="1200" i="1" dirty="0">
                <a:solidFill>
                  <a:srgbClr val="5C6B63"/>
                </a:solidFill>
                <a:latin typeface="Open Sans" pitchFamily="34" charset="0"/>
                <a:ea typeface="Open Sans" pitchFamily="34" charset="-122"/>
                <a:cs typeface="Open Sans" pitchFamily="34" charset="-120"/>
              </a:rPr>
              <a:t>Demo S11-D3: versions pile up under a delete. Invented IDs.</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Log-file integrity validation: the signed record</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411480" y="1325880"/>
          <a:ext cx="8321040" cy="914400"/>
        </p:xfrm>
        <a:graphic>
          <a:graphicData uri="http://schemas.openxmlformats.org/drawingml/2006/table">
            <a:tbl>
              <a:tblPr/>
              <a:tblGrid>
                <a:gridCol w="640080"/>
                <a:gridCol w="4572000"/>
                <a:gridCol w="3108960"/>
              </a:tblGrid>
              <a:tr h="502920">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Step</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What CloudTrail does</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What it catches</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r>
              <a:tr h="502920">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1</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SHA-256 hash value of every log file</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A changed file</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r>
              <a:tr h="502920">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2</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Hourly digest file listing those hash values, signed by AWS</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A removed file; a forged digest</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r>
              <a:tr h="502920">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3</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Each digest carries the previous digest's signature</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A removed digest: the chain breaks</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r>
            </a:tbl>
          </a:graphicData>
        </a:graphic>
      </p:graphicFrame>
      <p:sp>
        <p:nvSpPr>
          <p:cNvPr id="7" name="Shape 4"/>
          <p:cNvSpPr/>
          <p:nvPr/>
        </p:nvSpPr>
        <p:spPr>
          <a:xfrm>
            <a:off x="411480" y="3429000"/>
            <a:ext cx="8321040" cy="914400"/>
          </a:xfrm>
          <a:prstGeom prst="rect">
            <a:avLst/>
          </a:prstGeom>
          <a:solidFill>
            <a:srgbClr val="F1E8F2"/>
          </a:solidFill>
          <a:ln/>
        </p:spPr>
      </p:sp>
      <p:sp>
        <p:nvSpPr>
          <p:cNvPr id="8" name="Text 5"/>
          <p:cNvSpPr/>
          <p:nvPr/>
        </p:nvSpPr>
        <p:spPr>
          <a:xfrm>
            <a:off x="521208" y="3429000"/>
            <a:ext cx="8101584" cy="914400"/>
          </a:xfrm>
          <a:prstGeom prst="rect">
            <a:avLst/>
          </a:prstGeom>
          <a:noFill/>
          <a:ln/>
        </p:spPr>
        <p:txBody>
          <a:bodyPr wrap="square" rtlCol="0" anchor="ctr"/>
          <a:lstStyle/>
          <a:p>
            <a:pPr indent="0" marL="0">
              <a:buNone/>
            </a:pPr>
            <a:r>
              <a:rPr lang="en-US" sz="1300" b="1" dirty="0">
                <a:solidFill>
                  <a:srgbClr val="31423B"/>
                </a:solidFill>
                <a:latin typeface="Open Sans" pitchFamily="34" charset="0"/>
                <a:ea typeface="Open Sans" pitchFamily="34" charset="-122"/>
                <a:cs typeface="Open Sans" pitchFamily="34" charset="-120"/>
              </a:rPr>
              <a:t>Where it breaks: a seal proves the bag is unopened, not that everything went in. Validation proves files unchanged since delivery, not that every action was recorded, and it does not cover server access logs.</a:t>
            </a:r>
            <a:endParaRPr lang="en-US" sz="1300" dirty="0"/>
          </a:p>
        </p:txBody>
      </p:sp>
      <p:sp>
        <p:nvSpPr>
          <p:cNvPr id="9" name="Text 6"/>
          <p:cNvSpPr/>
          <p:nvPr/>
        </p:nvSpPr>
        <p:spPr>
          <a:xfrm>
            <a:off x="411480" y="4407408"/>
            <a:ext cx="8321040" cy="274320"/>
          </a:xfrm>
          <a:prstGeom prst="rect">
            <a:avLst/>
          </a:prstGeom>
          <a:noFill/>
          <a:ln/>
        </p:spPr>
        <p:txBody>
          <a:bodyPr wrap="square" lIns="0" tIns="0" rIns="0" bIns="0" rtlCol="0" anchor="ctr"/>
          <a:lstStyle/>
          <a:p>
            <a:pPr indent="0" marL="0">
              <a:buNone/>
            </a:pPr>
            <a:r>
              <a:rPr lang="en-US" sz="1200" i="1" dirty="0">
                <a:solidFill>
                  <a:srgbClr val="5C6B63"/>
                </a:solidFill>
                <a:latin typeface="Open Sans" pitchFamily="34" charset="0"/>
                <a:ea typeface="Open Sans" pitchFamily="34" charset="-122"/>
                <a:cs typeface="Open Sans" pitchFamily="34" charset="-120"/>
              </a:rPr>
              <a:t>Demo S11-D5: the digest chain.</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Through another lens: Inception</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sp>
        <p:nvSpPr>
          <p:cNvPr id="6" name="Shape 4"/>
          <p:cNvSpPr/>
          <p:nvPr/>
        </p:nvSpPr>
        <p:spPr>
          <a:xfrm>
            <a:off x="411480" y="1371600"/>
            <a:ext cx="8321040" cy="2514600"/>
          </a:xfrm>
          <a:prstGeom prst="rect">
            <a:avLst/>
          </a:prstGeom>
          <a:solidFill>
            <a:srgbClr val="F1E8F2"/>
          </a:solidFill>
          <a:ln/>
        </p:spPr>
      </p:sp>
      <p:sp>
        <p:nvSpPr>
          <p:cNvPr id="7" name="Shape 5"/>
          <p:cNvSpPr/>
          <p:nvPr/>
        </p:nvSpPr>
        <p:spPr>
          <a:xfrm>
            <a:off x="411480" y="1371600"/>
            <a:ext cx="82296" cy="2514600"/>
          </a:xfrm>
          <a:prstGeom prst="rect">
            <a:avLst/>
          </a:prstGeom>
          <a:solidFill>
            <a:srgbClr val="8A4E8F"/>
          </a:solidFill>
          <a:ln/>
        </p:spPr>
      </p:sp>
      <p:sp>
        <p:nvSpPr>
          <p:cNvPr id="8" name="Text 6"/>
          <p:cNvSpPr/>
          <p:nvPr/>
        </p:nvSpPr>
        <p:spPr>
          <a:xfrm>
            <a:off x="621792" y="1444752"/>
            <a:ext cx="7955280" cy="237744"/>
          </a:xfrm>
          <a:prstGeom prst="rect">
            <a:avLst/>
          </a:prstGeom>
          <a:noFill/>
          <a:ln/>
        </p:spPr>
        <p:txBody>
          <a:bodyPr wrap="square" lIns="0" tIns="0" rIns="0" bIns="0" rtlCol="0" anchor="ctr"/>
          <a:lstStyle/>
          <a:p>
            <a:pPr indent="0" marL="0">
              <a:buNone/>
            </a:pPr>
            <a:r>
              <a:rPr lang="en-US" sz="1300" b="1" spc="200" kern="0" dirty="0">
                <a:solidFill>
                  <a:srgbClr val="8A4E8F"/>
                </a:solidFill>
                <a:latin typeface="Open Sans" pitchFamily="34" charset="0"/>
                <a:ea typeface="Open Sans" pitchFamily="34" charset="-122"/>
                <a:cs typeface="Open Sans" pitchFamily="34" charset="-120"/>
              </a:rPr>
              <a:t>THROUGH ANOTHER LENS</a:t>
            </a:r>
            <a:endParaRPr lang="en-US" sz="1300" dirty="0"/>
          </a:p>
        </p:txBody>
      </p:sp>
      <p:sp>
        <p:nvSpPr>
          <p:cNvPr id="9" name="Text 7"/>
          <p:cNvSpPr/>
          <p:nvPr/>
        </p:nvSpPr>
        <p:spPr>
          <a:xfrm>
            <a:off x="621792" y="1700784"/>
            <a:ext cx="7955280" cy="2112264"/>
          </a:xfrm>
          <a:prstGeom prst="rect">
            <a:avLst/>
          </a:prstGeom>
          <a:noFill/>
          <a:ln/>
        </p:spPr>
        <p:txBody>
          <a:bodyPr wrap="square" lIns="0" tIns="0" rIns="0" bIns="0" rtlCol="0" anchor="t"/>
          <a:lstStyle/>
          <a:p>
            <a:pPr indent="0" marL="0">
              <a:spcAft>
                <a:spcPts val="400"/>
              </a:spcAft>
              <a:buNone/>
            </a:pPr>
            <a:r>
              <a:rPr lang="en-US" sz="1300" dirty="0">
                <a:solidFill>
                  <a:srgbClr val="31423B"/>
                </a:solidFill>
                <a:latin typeface="Open Sans" pitchFamily="34" charset="0"/>
                <a:ea typeface="Open Sans" pitchFamily="34" charset="-122"/>
                <a:cs typeface="Open Sans" pitchFamily="34" charset="-120"/>
              </a:rPr>
              <a:t>In Christopher Nolan's Inception (2010), a team enters dreams inside dreams; every level looks real, and the hero tests reality with a small spinning top that only he can read. In the cloud you never touch the original: the console is the provider's view, the logs are the provider's account. Every layer is someone else's version of events. </a:t>
            </a:r>
            <a:pPr indent="0" marL="0">
              <a:spcAft>
                <a:spcPts val="400"/>
              </a:spcAft>
              <a:buNone/>
            </a:pPr>
            <a:r>
              <a:rPr lang="en-US" sz="1300" b="1" dirty="0">
                <a:solidFill>
                  <a:srgbClr val="31423B"/>
                </a:solidFill>
                <a:latin typeface="Open Sans" pitchFamily="34" charset="0"/>
                <a:ea typeface="Open Sans" pitchFamily="34" charset="-122"/>
                <a:cs typeface="Open Sans" pitchFamily="34" charset="-120"/>
              </a:rPr>
              <a:t>Where it breaks: </a:t>
            </a:r>
            <a:pPr indent="0" marL="0">
              <a:spcAft>
                <a:spcPts val="400"/>
              </a:spcAft>
              <a:buNone/>
            </a:pPr>
            <a:r>
              <a:rPr lang="en-US" sz="1300" dirty="0">
                <a:solidFill>
                  <a:srgbClr val="31423B"/>
                </a:solidFill>
                <a:latin typeface="Open Sans" pitchFamily="34" charset="0"/>
                <a:ea typeface="Open Sans" pitchFamily="34" charset="-122"/>
                <a:cs typeface="Open Sans" pitchFamily="34" charset="-120"/>
              </a:rPr>
              <a:t>the provider's record is not a dream. It is written as it happens, kept out of the reach of those it records, and sealed with hash values and signatures that anyone can check with a public key. </a:t>
            </a:r>
            <a:pPr indent="0" marL="0">
              <a:spcAft>
                <a:spcPts val="400"/>
              </a:spcAft>
              <a:buNone/>
            </a:pPr>
            <a:r>
              <a:rPr lang="en-US" sz="1300" b="1" dirty="0">
                <a:solidFill>
                  <a:srgbClr val="31423B"/>
                </a:solidFill>
                <a:latin typeface="Open Sans" pitchFamily="34" charset="0"/>
                <a:ea typeface="Open Sans" pitchFamily="34" charset="-122"/>
                <a:cs typeface="Open Sans" pitchFamily="34" charset="-120"/>
              </a:rPr>
              <a:t>So what: </a:t>
            </a:r>
            <a:pPr indent="0" marL="0">
              <a:spcAft>
                <a:spcPts val="400"/>
              </a:spcAft>
              <a:buNone/>
            </a:pPr>
            <a:r>
              <a:rPr lang="en-US" sz="1300" dirty="0">
                <a:solidFill>
                  <a:srgbClr val="31423B"/>
                </a:solidFill>
                <a:latin typeface="Open Sans" pitchFamily="34" charset="0"/>
                <a:ea typeface="Open Sans" pitchFamily="34" charset="-122"/>
                <a:cs typeface="Open Sans" pitchFamily="34" charset="-120"/>
              </a:rPr>
              <a:t>the test of what is real belongs to everyone, but only if it was switched on before the incident.</a:t>
            </a:r>
            <a:endParaRPr lang="en-US" sz="1300" dirty="0"/>
          </a:p>
        </p:txBody>
      </p:sp>
      <p:sp>
        <p:nvSpPr>
          <p:cNvPr id="10" name="Shape 8"/>
          <p:cNvSpPr/>
          <p:nvPr/>
        </p:nvSpPr>
        <p:spPr>
          <a:xfrm>
            <a:off x="411480" y="3977640"/>
            <a:ext cx="8321040" cy="685800"/>
          </a:xfrm>
          <a:prstGeom prst="rect">
            <a:avLst/>
          </a:prstGeom>
          <a:solidFill>
            <a:srgbClr val="F1E8F2"/>
          </a:solidFill>
          <a:ln/>
        </p:spPr>
      </p:sp>
      <p:sp>
        <p:nvSpPr>
          <p:cNvPr id="11" name="Text 9"/>
          <p:cNvSpPr/>
          <p:nvPr/>
        </p:nvSpPr>
        <p:spPr>
          <a:xfrm>
            <a:off x="521208" y="3977640"/>
            <a:ext cx="8101584" cy="685800"/>
          </a:xfrm>
          <a:prstGeom prst="rect">
            <a:avLst/>
          </a:prstGeom>
          <a:noFill/>
          <a:ln/>
        </p:spPr>
        <p:txBody>
          <a:bodyPr wrap="square" rtlCol="0" anchor="ctr"/>
          <a:lstStyle/>
          <a:p>
            <a:pPr indent="0" marL="0">
              <a:buNone/>
            </a:pPr>
            <a:r>
              <a:rPr lang="en-US" sz="1500" b="1" dirty="0">
                <a:solidFill>
                  <a:srgbClr val="31423B"/>
                </a:solidFill>
                <a:latin typeface="Open Sans" pitchFamily="34" charset="0"/>
                <a:ea typeface="Open Sans" pitchFamily="34" charset="-122"/>
                <a:cs typeface="Open Sans" pitchFamily="34" charset="-120"/>
              </a:rPr>
              <a:t>When you write "the file was read at 02:14 from this address", which layer are you standing on?</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31423B"/>
        </a:solidFill>
      </p:bgPr>
    </p:bg>
    <p:spTree>
      <p:nvGrpSpPr>
        <p:cNvPr id="1" name=""/>
        <p:cNvGrpSpPr/>
        <p:nvPr/>
      </p:nvGrpSpPr>
      <p:grpSpPr>
        <a:xfrm>
          <a:off x="0" y="0"/>
          <a:ext cx="0" cy="0"/>
          <a:chOff x="0" y="0"/>
          <a:chExt cx="0" cy="0"/>
        </a:xfrm>
      </p:grpSpPr>
      <p:sp>
        <p:nvSpPr>
          <p:cNvPr id="2" name="Shape 0"/>
          <p:cNvSpPr/>
          <p:nvPr/>
        </p:nvSpPr>
        <p:spPr>
          <a:xfrm>
            <a:off x="731520" y="731520"/>
            <a:ext cx="502920" cy="64008"/>
          </a:xfrm>
          <a:prstGeom prst="rect">
            <a:avLst/>
          </a:prstGeom>
          <a:solidFill>
            <a:srgbClr val="6E8472"/>
          </a:solidFill>
          <a:ln/>
        </p:spPr>
      </p:sp>
      <p:sp>
        <p:nvSpPr>
          <p:cNvPr id="3" name="Shape 1"/>
          <p:cNvSpPr/>
          <p:nvPr/>
        </p:nvSpPr>
        <p:spPr>
          <a:xfrm>
            <a:off x="1280160" y="731520"/>
            <a:ext cx="256032" cy="64008"/>
          </a:xfrm>
          <a:prstGeom prst="rect">
            <a:avLst/>
          </a:prstGeom>
          <a:solidFill>
            <a:srgbClr val="8A4E8F"/>
          </a:solidFill>
          <a:ln/>
        </p:spPr>
      </p:sp>
      <p:sp>
        <p:nvSpPr>
          <p:cNvPr id="4" name="Text 2"/>
          <p:cNvSpPr/>
          <p:nvPr/>
        </p:nvSpPr>
        <p:spPr>
          <a:xfrm>
            <a:off x="731520" y="987552"/>
            <a:ext cx="7680960" cy="365760"/>
          </a:xfrm>
          <a:prstGeom prst="rect">
            <a:avLst/>
          </a:prstGeom>
          <a:noFill/>
          <a:ln/>
        </p:spPr>
        <p:txBody>
          <a:bodyPr wrap="square" lIns="0" tIns="0" rIns="0" bIns="0" rtlCol="0" anchor="ctr"/>
          <a:lstStyle/>
          <a:p>
            <a:pPr indent="0" marL="0">
              <a:buNone/>
            </a:pPr>
            <a:r>
              <a:rPr lang="en-US" sz="1300" b="1" spc="200" kern="0" dirty="0">
                <a:solidFill>
                  <a:srgbClr val="C9A6CC"/>
                </a:solidFill>
                <a:latin typeface="Open Sans" pitchFamily="34" charset="0"/>
                <a:ea typeface="Open Sans" pitchFamily="34" charset="-122"/>
                <a:cs typeface="Open Sans" pitchFamily="34" charset="-120"/>
              </a:rPr>
              <a:t>KEY CONCEPT</a:t>
            </a:r>
            <a:endParaRPr lang="en-US" sz="1300" dirty="0"/>
          </a:p>
        </p:txBody>
      </p:sp>
      <p:sp>
        <p:nvSpPr>
          <p:cNvPr id="5" name="Text 3"/>
          <p:cNvSpPr/>
          <p:nvPr/>
        </p:nvSpPr>
        <p:spPr>
          <a:xfrm>
            <a:off x="731520" y="1554480"/>
            <a:ext cx="7680960" cy="1371600"/>
          </a:xfrm>
          <a:prstGeom prst="rect">
            <a:avLst/>
          </a:prstGeom>
          <a:noFill/>
          <a:ln/>
        </p:spPr>
        <p:txBody>
          <a:bodyPr wrap="square" lIns="0" tIns="0" rIns="0" bIns="0" rtlCol="0" anchor="t"/>
          <a:lstStyle/>
          <a:p>
            <a:pPr indent="0" marL="0">
              <a:buNone/>
            </a:pPr>
            <a:r>
              <a:rPr lang="en-US" sz="3200" b="1" dirty="0">
                <a:solidFill>
                  <a:srgbClr val="FFFFFF"/>
                </a:solidFill>
                <a:latin typeface="Open Sans" pitchFamily="34" charset="0"/>
                <a:ea typeface="Open Sans" pitchFamily="34" charset="-122"/>
                <a:cs typeface="Open Sans" pitchFamily="34" charset="-120"/>
              </a:rPr>
              <a:t>In the cloud you never hold the original.</a:t>
            </a:r>
            <a:endParaRPr lang="en-US" sz="3200" dirty="0"/>
          </a:p>
        </p:txBody>
      </p:sp>
      <p:sp>
        <p:nvSpPr>
          <p:cNvPr id="6" name="Text 4"/>
          <p:cNvSpPr/>
          <p:nvPr/>
        </p:nvSpPr>
        <p:spPr>
          <a:xfrm>
            <a:off x="731520" y="3063240"/>
            <a:ext cx="7680960" cy="914400"/>
          </a:xfrm>
          <a:prstGeom prst="rect">
            <a:avLst/>
          </a:prstGeom>
          <a:noFill/>
          <a:ln/>
        </p:spPr>
        <p:txBody>
          <a:bodyPr wrap="square" lIns="0" tIns="0" rIns="0" bIns="0" rtlCol="0" anchor="t"/>
          <a:lstStyle/>
          <a:p>
            <a:pPr indent="0" marL="0">
              <a:buNone/>
            </a:pPr>
            <a:r>
              <a:rPr lang="en-US" sz="2200" i="1" dirty="0">
                <a:solidFill>
                  <a:srgbClr val="E8F0EA"/>
                </a:solidFill>
                <a:latin typeface="Open Sans" pitchFamily="34" charset="0"/>
                <a:ea typeface="Open Sans" pitchFamily="34" charset="-122"/>
                <a:cs typeface="Open Sans" pitchFamily="34" charset="-120"/>
              </a:rPr>
              <a:t>You trust, and must verify, the provider's record.</a:t>
            </a:r>
            <a:endParaRPr lang="en-US" sz="2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8A4E8F"/>
          </a:solidFill>
          <a:ln/>
        </p:spPr>
      </p:sp>
      <p:sp>
        <p:nvSpPr>
          <p:cNvPr id="3" name="Shape 1"/>
          <p:cNvSpPr/>
          <p:nvPr/>
        </p:nvSpPr>
        <p:spPr>
          <a:xfrm>
            <a:off x="731520" y="566928"/>
            <a:ext cx="502920" cy="45720"/>
          </a:xfrm>
          <a:prstGeom prst="rect">
            <a:avLst/>
          </a:prstGeom>
          <a:solidFill>
            <a:srgbClr val="FFFFFF"/>
          </a:solidFill>
          <a:ln/>
        </p:spPr>
      </p:sp>
      <p:sp>
        <p:nvSpPr>
          <p:cNvPr id="4" name="Text 2"/>
          <p:cNvSpPr/>
          <p:nvPr/>
        </p:nvSpPr>
        <p:spPr>
          <a:xfrm>
            <a:off x="731520" y="768096"/>
            <a:ext cx="6949440" cy="566928"/>
          </a:xfrm>
          <a:prstGeom prst="rect">
            <a:avLst/>
          </a:prstGeom>
          <a:noFill/>
          <a:ln/>
        </p:spPr>
        <p:txBody>
          <a:bodyPr wrap="square" lIns="0" tIns="0" rIns="0" bIns="0" rtlCol="0" anchor="t"/>
          <a:lstStyle/>
          <a:p>
            <a:pPr indent="0" marL="0">
              <a:buNone/>
            </a:pPr>
            <a:r>
              <a:rPr lang="en-US" sz="2600" b="1" dirty="0">
                <a:solidFill>
                  <a:srgbClr val="FFFFFF"/>
                </a:solidFill>
                <a:latin typeface="Open Sans" pitchFamily="34" charset="0"/>
                <a:ea typeface="Open Sans" pitchFamily="34" charset="-122"/>
                <a:cs typeface="Open Sans" pitchFamily="34" charset="-120"/>
              </a:rPr>
              <a:t>The lab: build, verify, trigger, stop</a:t>
            </a:r>
            <a:endParaRPr lang="en-US" sz="2600" dirty="0"/>
          </a:p>
        </p:txBody>
      </p:sp>
      <p:pic>
        <p:nvPicPr>
          <p:cNvPr id="5" name="Image 0" descr="preencoded.png">    </p:cNvPr>
          <p:cNvPicPr>
            <a:picLocks noChangeAspect="1"/>
          </p:cNvPicPr>
          <p:nvPr/>
        </p:nvPicPr>
        <p:blipFill>
          <a:blip r:embed="rId1"/>
          <a:stretch>
            <a:fillRect/>
          </a:stretch>
        </p:blipFill>
        <p:spPr>
          <a:xfrm>
            <a:off x="8001000" y="566928"/>
            <a:ext cx="731520" cy="731520"/>
          </a:xfrm>
          <a:prstGeom prst="rect">
            <a:avLst/>
          </a:prstGeom>
        </p:spPr>
      </p:pic>
      <p:sp>
        <p:nvSpPr>
          <p:cNvPr id="6" name="Shape 3"/>
          <p:cNvSpPr/>
          <p:nvPr/>
        </p:nvSpPr>
        <p:spPr>
          <a:xfrm>
            <a:off x="411480" y="1463040"/>
            <a:ext cx="3749040" cy="3246120"/>
          </a:xfrm>
          <a:prstGeom prst="rect">
            <a:avLst/>
          </a:prstGeom>
          <a:solidFill>
            <a:srgbClr val="31423B"/>
          </a:solidFill>
          <a:ln/>
        </p:spPr>
      </p:sp>
      <p:sp>
        <p:nvSpPr>
          <p:cNvPr id="7" name="Text 4"/>
          <p:cNvSpPr/>
          <p:nvPr/>
        </p:nvSpPr>
        <p:spPr>
          <a:xfrm>
            <a:off x="548640" y="1463040"/>
            <a:ext cx="3474720" cy="3246120"/>
          </a:xfrm>
          <a:prstGeom prst="rect">
            <a:avLst/>
          </a:prstGeom>
          <a:noFill/>
          <a:ln/>
        </p:spPr>
        <p:txBody>
          <a:bodyPr wrap="square" lIns="0" tIns="0" rIns="0" bIns="0" rtlCol="0" anchor="ctr"/>
          <a:lstStyle/>
          <a:p>
            <a:pPr indent="0" marL="0">
              <a:spcAft>
                <a:spcPts val="700"/>
              </a:spcAft>
              <a:buNone/>
            </a:pPr>
            <a:r>
              <a:rPr lang="en-US" sz="1800" b="1" dirty="0">
                <a:solidFill>
                  <a:srgbClr val="FFFFFF"/>
                </a:solidFill>
                <a:latin typeface="Open Sans" pitchFamily="34" charset="0"/>
                <a:ea typeface="Open Sans" pitchFamily="34" charset="-122"/>
                <a:cs typeface="Open Sans" pitchFamily="34" charset="-120"/>
              </a:rPr>
              <a:t>Real account: the rules</a:t>
            </a:r>
            <a:endParaRPr lang="en-US" sz="1500" dirty="0"/>
          </a:p>
          <a:p>
            <a:pPr indent="0" marL="0">
              <a:spcAft>
                <a:spcPts val="700"/>
              </a:spcAft>
              <a:buNone/>
            </a:pPr>
            <a:r>
              <a:rPr lang="en-US" sz="1500" b="1" dirty="0">
                <a:solidFill>
                  <a:srgbClr val="FFFFFF"/>
                </a:solidFill>
                <a:latin typeface="Open Sans" pitchFamily="34" charset="0"/>
                <a:ea typeface="Open Sans" pitchFamily="34" charset="-122"/>
                <a:cs typeface="Open Sans" pitchFamily="34" charset="-120"/>
              </a:rPr>
              <a:t>Only your account and flaws.cloud</a:t>
            </a:r>
            <a:endParaRPr lang="en-US" sz="1500" dirty="0"/>
          </a:p>
          <a:p>
            <a:pPr indent="0" marL="0">
              <a:spcAft>
                <a:spcPts val="700"/>
              </a:spcAft>
              <a:buNone/>
            </a:pPr>
            <a:r>
              <a:rPr lang="en-US" sz="1500" b="1" dirty="0">
                <a:solidFill>
                  <a:srgbClr val="FFFFFF"/>
                </a:solidFill>
                <a:latin typeface="Open Sans" pitchFamily="34" charset="0"/>
                <a:ea typeface="Open Sans" pitchFamily="34" charset="-122"/>
                <a:cs typeface="Open Sans" pitchFamily="34" charset="-120"/>
              </a:rPr>
              <a:t>Never show a secret</a:t>
            </a:r>
            <a:endParaRPr lang="en-US" sz="1500" dirty="0"/>
          </a:p>
          <a:p>
            <a:pPr indent="0" marL="0">
              <a:spcAft>
                <a:spcPts val="700"/>
              </a:spcAft>
              <a:buNone/>
            </a:pPr>
            <a:r>
              <a:rPr lang="en-US" sz="1500" b="1" dirty="0">
                <a:solidFill>
                  <a:srgbClr val="FFFFFF"/>
                </a:solidFill>
                <a:latin typeface="Open Sans" pitchFamily="34" charset="0"/>
                <a:ea typeface="Open Sans" pitchFamily="34" charset="-122"/>
                <a:cs typeface="Open Sans" pitchFamily="34" charset="-120"/>
              </a:rPr>
              <a:t>Mask the account ID: ********3333</a:t>
            </a:r>
            <a:endParaRPr lang="en-US" sz="1500" dirty="0"/>
          </a:p>
          <a:p>
            <a:pPr indent="0" marL="0">
              <a:spcAft>
                <a:spcPts val="700"/>
              </a:spcAft>
              <a:buNone/>
            </a:pPr>
            <a:r>
              <a:rPr lang="en-US" sz="1500" b="1" dirty="0">
                <a:solidFill>
                  <a:srgbClr val="FFFFFF"/>
                </a:solidFill>
                <a:latin typeface="Open Sans" pitchFamily="34" charset="0"/>
                <a:ea typeface="Open Sans" pitchFamily="34" charset="-122"/>
                <a:cs typeface="Open Sans" pitchFamily="34" charset="-120"/>
              </a:rPr>
              <a:t>Synthetic files only</a:t>
            </a:r>
            <a:endParaRPr lang="en-US" sz="1500" dirty="0"/>
          </a:p>
          <a:p>
            <a:pPr indent="0" marL="0">
              <a:spcAft>
                <a:spcPts val="700"/>
              </a:spcAft>
              <a:buNone/>
            </a:pPr>
            <a:r>
              <a:rPr lang="en-US" sz="1500" b="1" dirty="0">
                <a:solidFill>
                  <a:srgbClr val="FFFFFF"/>
                </a:solidFill>
                <a:latin typeface="Open Sans" pitchFamily="34" charset="0"/>
                <a:ea typeface="Open Sans" pitchFamily="34" charset="-122"/>
                <a:cs typeface="Open Sans" pitchFamily="34" charset="-120"/>
              </a:rPr>
              <a:t>Never destroy your evidence</a:t>
            </a:r>
            <a:endParaRPr lang="en-US" sz="1500" dirty="0"/>
          </a:p>
        </p:txBody>
      </p:sp>
      <p:sp>
        <p:nvSpPr>
          <p:cNvPr id="8" name="Shape 5"/>
          <p:cNvSpPr/>
          <p:nvPr/>
        </p:nvSpPr>
        <p:spPr>
          <a:xfrm>
            <a:off x="4297680" y="1463040"/>
            <a:ext cx="4434840" cy="3246120"/>
          </a:xfrm>
          <a:prstGeom prst="rect">
            <a:avLst/>
          </a:prstGeom>
          <a:solidFill>
            <a:srgbClr val="31423B"/>
          </a:solidFill>
          <a:ln/>
        </p:spPr>
      </p:sp>
      <p:sp>
        <p:nvSpPr>
          <p:cNvPr id="9" name="Text 6"/>
          <p:cNvSpPr/>
          <p:nvPr/>
        </p:nvSpPr>
        <p:spPr>
          <a:xfrm>
            <a:off x="4434840" y="1463040"/>
            <a:ext cx="4160520" cy="3246120"/>
          </a:xfrm>
          <a:prstGeom prst="rect">
            <a:avLst/>
          </a:prstGeom>
          <a:noFill/>
          <a:ln/>
        </p:spPr>
        <p:txBody>
          <a:bodyPr wrap="square" lIns="0" tIns="0" rIns="0" bIns="0" rtlCol="0" anchor="ctr"/>
          <a:lstStyle/>
          <a:p>
            <a:pPr indent="0" marL="0">
              <a:spcAft>
                <a:spcPts val="600"/>
              </a:spcAft>
              <a:buNone/>
            </a:pPr>
            <a:r>
              <a:rPr lang="en-US" sz="1500" b="1" dirty="0">
                <a:solidFill>
                  <a:srgbClr val="FFFFFF"/>
                </a:solidFill>
                <a:latin typeface="Open Sans" pitchFamily="34" charset="0"/>
                <a:ea typeface="Open Sans" pitchFamily="34" charset="-122"/>
                <a:cs typeface="Open Sans" pitchFamily="34" charset="-120"/>
              </a:rPr>
              <a:t>A  Budget, MFA, IAM user, CLI</a:t>
            </a:r>
            <a:endParaRPr lang="en-US" sz="1500" dirty="0"/>
          </a:p>
          <a:p>
            <a:pPr indent="0" marL="0">
              <a:spcAft>
                <a:spcPts val="600"/>
              </a:spcAft>
              <a:buNone/>
            </a:pPr>
            <a:r>
              <a:rPr lang="en-US" sz="1500" b="1" dirty="0">
                <a:solidFill>
                  <a:srgbClr val="FFFFFF"/>
                </a:solidFill>
                <a:latin typeface="Open Sans" pitchFamily="34" charset="0"/>
                <a:ea typeface="Open Sans" pitchFamily="34" charset="-122"/>
                <a:cs typeface="Open Sans" pitchFamily="34" charset="-120"/>
              </a:rPr>
              <a:t>B  Case bucket, versioning, access logs</a:t>
            </a:r>
            <a:endParaRPr lang="en-US" sz="1500" dirty="0"/>
          </a:p>
          <a:p>
            <a:pPr indent="0" marL="0">
              <a:spcAft>
                <a:spcPts val="600"/>
              </a:spcAft>
              <a:buNone/>
            </a:pPr>
            <a:r>
              <a:rPr lang="en-US" sz="1500" b="1" dirty="0">
                <a:solidFill>
                  <a:srgbClr val="FFFFFF"/>
                </a:solidFill>
                <a:latin typeface="Open Sans" pitchFamily="34" charset="0"/>
                <a:ea typeface="Open Sans" pitchFamily="34" charset="-122"/>
                <a:cs typeface="Open Sans" pitchFamily="34" charset="-120"/>
              </a:rPr>
              <a:t>C  Trail: events, validation</a:t>
            </a:r>
            <a:endParaRPr lang="en-US" sz="1500" dirty="0"/>
          </a:p>
          <a:p>
            <a:pPr indent="0" marL="0">
              <a:spcAft>
                <a:spcPts val="600"/>
              </a:spcAft>
              <a:buNone/>
            </a:pPr>
            <a:r>
              <a:rPr lang="en-US" sz="1500" b="1" dirty="0">
                <a:solidFill>
                  <a:srgbClr val="FFFFFF"/>
                </a:solidFill>
                <a:latin typeface="Open Sans" pitchFamily="34" charset="0"/>
                <a:ea typeface="Open Sans" pitchFamily="34" charset="-122"/>
                <a:cs typeface="Open Sans" pitchFamily="34" charset="-120"/>
              </a:rPr>
              <a:t>D  Verify and save the proof</a:t>
            </a:r>
            <a:endParaRPr lang="en-US" sz="1500" dirty="0"/>
          </a:p>
          <a:p>
            <a:pPr indent="0" marL="0">
              <a:spcAft>
                <a:spcPts val="600"/>
              </a:spcAft>
              <a:buNone/>
            </a:pPr>
            <a:r>
              <a:rPr lang="en-US" sz="1500" b="1" dirty="0">
                <a:solidFill>
                  <a:srgbClr val="FFFFFF"/>
                </a:solidFill>
                <a:latin typeface="Open Sans" pitchFamily="34" charset="0"/>
                <a:ea typeface="Open Sans" pitchFamily="34" charset="-122"/>
                <a:cs typeface="Open Sans" pitchFamily="34" charset="-120"/>
              </a:rPr>
              <a:t>E  flaws.cloud levels 1 and 2</a:t>
            </a:r>
            <a:endParaRPr lang="en-US" sz="1500" dirty="0"/>
          </a:p>
          <a:p>
            <a:pPr indent="0" marL="0">
              <a:spcAft>
                <a:spcPts val="600"/>
              </a:spcAft>
              <a:buNone/>
            </a:pPr>
            <a:r>
              <a:rPr lang="en-US" sz="1500" b="1" dirty="0">
                <a:solidFill>
                  <a:srgbClr val="FFFFFF"/>
                </a:solidFill>
                <a:latin typeface="Open Sans" pitchFamily="34" charset="0"/>
                <a:ea typeface="Open Sans" pitchFamily="34" charset="-122"/>
                <a:cs typeface="Open Sans" pitchFamily="34" charset="-120"/>
              </a:rPr>
              <a:t>F  Incident: Kali, then CloudShell</a:t>
            </a:r>
            <a:endParaRPr lang="en-US" sz="1500" dirty="0"/>
          </a:p>
          <a:p>
            <a:pPr indent="0" marL="0">
              <a:spcAft>
                <a:spcPts val="600"/>
              </a:spcAft>
              <a:buNone/>
            </a:pPr>
            <a:r>
              <a:rPr lang="en-US" sz="1500" b="1" dirty="0">
                <a:solidFill>
                  <a:srgbClr val="FFFFFF"/>
                </a:solidFill>
                <a:latin typeface="Open Sans" pitchFamily="34" charset="0"/>
                <a:ea typeface="Open Sans" pitchFamily="34" charset="-122"/>
                <a:cs typeface="Open Sans" pitchFamily="34" charset="-120"/>
              </a:rPr>
              <a:t>Then stop. One hour between C and F</a:t>
            </a:r>
            <a:endParaRPr lang="en-US" sz="15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6E8472"/>
          </a:solidFill>
          <a:ln/>
        </p:spPr>
      </p:sp>
      <p:sp>
        <p:nvSpPr>
          <p:cNvPr id="3" name="Shape 1"/>
          <p:cNvSpPr/>
          <p:nvPr/>
        </p:nvSpPr>
        <p:spPr>
          <a:xfrm>
            <a:off x="731520" y="566928"/>
            <a:ext cx="502920" cy="45720"/>
          </a:xfrm>
          <a:prstGeom prst="rect">
            <a:avLst/>
          </a:prstGeom>
          <a:solidFill>
            <a:srgbClr val="FFFFFF"/>
          </a:solidFill>
          <a:ln/>
        </p:spPr>
      </p:sp>
      <p:sp>
        <p:nvSpPr>
          <p:cNvPr id="4" name="Text 2"/>
          <p:cNvSpPr/>
          <p:nvPr/>
        </p:nvSpPr>
        <p:spPr>
          <a:xfrm>
            <a:off x="731520" y="768096"/>
            <a:ext cx="7690104" cy="640080"/>
          </a:xfrm>
          <a:prstGeom prst="rect">
            <a:avLst/>
          </a:prstGeom>
          <a:noFill/>
          <a:ln/>
        </p:spPr>
        <p:txBody>
          <a:bodyPr wrap="square" lIns="0" tIns="0" rIns="0" bIns="0" rtlCol="0" anchor="t"/>
          <a:lstStyle/>
          <a:p>
            <a:pPr indent="0" marL="0">
              <a:buNone/>
            </a:pPr>
            <a:r>
              <a:rPr lang="en-US" sz="3600" b="1" dirty="0">
                <a:solidFill>
                  <a:srgbClr val="FFFFFF"/>
                </a:solidFill>
                <a:latin typeface="Open Sans" pitchFamily="34" charset="0"/>
                <a:ea typeface="Open Sans" pitchFamily="34" charset="-122"/>
                <a:cs typeface="Open Sans" pitchFamily="34" charset="-120"/>
              </a:rPr>
              <a:t>Discuss</a:t>
            </a:r>
            <a:endParaRPr lang="en-US" sz="3600" dirty="0"/>
          </a:p>
        </p:txBody>
      </p:sp>
      <p:sp>
        <p:nvSpPr>
          <p:cNvPr id="5" name="Shape 3"/>
          <p:cNvSpPr/>
          <p:nvPr/>
        </p:nvSpPr>
        <p:spPr>
          <a:xfrm>
            <a:off x="1097280" y="1737360"/>
            <a:ext cx="6949440" cy="2468880"/>
          </a:xfrm>
          <a:prstGeom prst="rect">
            <a:avLst/>
          </a:prstGeom>
          <a:solidFill>
            <a:srgbClr val="FFFFFF"/>
          </a:solidFill>
          <a:ln/>
        </p:spPr>
      </p:sp>
      <p:sp>
        <p:nvSpPr>
          <p:cNvPr id="6" name="Text 4"/>
          <p:cNvSpPr/>
          <p:nvPr/>
        </p:nvSpPr>
        <p:spPr>
          <a:xfrm>
            <a:off x="1280160" y="1737360"/>
            <a:ext cx="6583680" cy="2468880"/>
          </a:xfrm>
          <a:prstGeom prst="rect">
            <a:avLst/>
          </a:prstGeom>
          <a:noFill/>
          <a:ln/>
        </p:spPr>
        <p:txBody>
          <a:bodyPr wrap="square" lIns="0" tIns="0" rIns="0" bIns="0" rtlCol="0" anchor="ctr"/>
          <a:lstStyle/>
          <a:p>
            <a:pPr indent="0" marL="0">
              <a:buNone/>
            </a:pPr>
            <a:r>
              <a:rPr lang="en-US" sz="1800" b="1" dirty="0">
                <a:solidFill>
                  <a:srgbClr val="31423B"/>
                </a:solidFill>
                <a:latin typeface="Open Sans" pitchFamily="34" charset="0"/>
                <a:ea typeface="Open Sans" pitchFamily="34" charset="-122"/>
                <a:cs typeface="Open Sans" pitchFamily="34" charset="-120"/>
              </a:rPr>
              <a:t>A manager says: "Logging everything costs money. We will switch it on if we ever have an incident." What do you answer, and what would you switch on first if the budget allowed only one record?</a:t>
            </a:r>
            <a:endParaRPr lang="en-US" sz="1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6035040" y="0"/>
            <a:ext cx="3108960" cy="5143500"/>
          </a:xfrm>
          <a:prstGeom prst="rect">
            <a:avLst/>
          </a:prstGeom>
          <a:solidFill>
            <a:srgbClr val="6E8472"/>
          </a:solidFill>
          <a:ln/>
        </p:spPr>
      </p:sp>
      <p:pic>
        <p:nvPicPr>
          <p:cNvPr id="3" name="Image 0" descr="preencoded.png">    </p:cNvPr>
          <p:cNvPicPr>
            <a:picLocks noChangeAspect="1"/>
          </p:cNvPicPr>
          <p:nvPr/>
        </p:nvPicPr>
        <p:blipFill>
          <a:blip r:embed="rId1"/>
          <a:stretch>
            <a:fillRect/>
          </a:stretch>
        </p:blipFill>
        <p:spPr>
          <a:xfrm>
            <a:off x="6583680" y="1554480"/>
            <a:ext cx="2011680" cy="2011680"/>
          </a:xfrm>
          <a:prstGeom prst="rect">
            <a:avLst/>
          </a:prstGeom>
        </p:spPr>
      </p:pic>
      <p:sp>
        <p:nvSpPr>
          <p:cNvPr id="4" name="Text 1"/>
          <p:cNvSpPr/>
          <p:nvPr/>
        </p:nvSpPr>
        <p:spPr>
          <a:xfrm>
            <a:off x="384048" y="1097280"/>
            <a:ext cx="5303520" cy="868680"/>
          </a:xfrm>
          <a:prstGeom prst="rect">
            <a:avLst/>
          </a:prstGeom>
          <a:noFill/>
          <a:ln/>
        </p:spPr>
        <p:txBody>
          <a:bodyPr wrap="square" lIns="0" tIns="0" rIns="0" bIns="0" rtlCol="0" anchor="ctr"/>
          <a:lstStyle/>
          <a:p>
            <a:pPr indent="0" marL="0">
              <a:buNone/>
            </a:pPr>
            <a:r>
              <a:rPr lang="en-US" sz="4800" b="1" dirty="0">
                <a:solidFill>
                  <a:srgbClr val="31423B"/>
                </a:solidFill>
                <a:latin typeface="Open Sans" pitchFamily="34" charset="0"/>
                <a:ea typeface="Open Sans" pitchFamily="34" charset="-122"/>
                <a:cs typeface="Open Sans" pitchFamily="34" charset="-120"/>
              </a:rPr>
              <a:t>Questions &amp;</a:t>
            </a:r>
            <a:endParaRPr lang="en-US" sz="4800" dirty="0"/>
          </a:p>
        </p:txBody>
      </p:sp>
      <p:sp>
        <p:nvSpPr>
          <p:cNvPr id="5" name="Text 2"/>
          <p:cNvSpPr/>
          <p:nvPr/>
        </p:nvSpPr>
        <p:spPr>
          <a:xfrm>
            <a:off x="384048" y="1938528"/>
            <a:ext cx="5303520" cy="868680"/>
          </a:xfrm>
          <a:prstGeom prst="rect">
            <a:avLst/>
          </a:prstGeom>
          <a:noFill/>
          <a:ln/>
        </p:spPr>
        <p:txBody>
          <a:bodyPr wrap="square" lIns="0" tIns="0" rIns="0" bIns="0" rtlCol="0" anchor="ctr"/>
          <a:lstStyle/>
          <a:p>
            <a:pPr indent="0" marL="0">
              <a:buNone/>
            </a:pPr>
            <a:r>
              <a:rPr lang="en-US" sz="4800" b="1" dirty="0">
                <a:solidFill>
                  <a:srgbClr val="6E8472"/>
                </a:solidFill>
                <a:latin typeface="Open Sans" pitchFamily="34" charset="0"/>
                <a:ea typeface="Open Sans" pitchFamily="34" charset="-122"/>
                <a:cs typeface="Open Sans" pitchFamily="34" charset="-120"/>
              </a:rPr>
              <a:t>Discussion</a:t>
            </a:r>
            <a:endParaRPr lang="en-US" sz="4800" dirty="0"/>
          </a:p>
        </p:txBody>
      </p:sp>
      <p:sp>
        <p:nvSpPr>
          <p:cNvPr id="6" name="Shape 3"/>
          <p:cNvSpPr/>
          <p:nvPr/>
        </p:nvSpPr>
        <p:spPr>
          <a:xfrm>
            <a:off x="384048" y="2852928"/>
            <a:ext cx="749808" cy="73152"/>
          </a:xfrm>
          <a:prstGeom prst="rect">
            <a:avLst/>
          </a:prstGeom>
          <a:solidFill>
            <a:srgbClr val="6E8472"/>
          </a:solidFill>
          <a:ln/>
        </p:spPr>
      </p:sp>
      <p:sp>
        <p:nvSpPr>
          <p:cNvPr id="7" name="Shape 4"/>
          <p:cNvSpPr/>
          <p:nvPr/>
        </p:nvSpPr>
        <p:spPr>
          <a:xfrm>
            <a:off x="1188720" y="2852928"/>
            <a:ext cx="384048" cy="73152"/>
          </a:xfrm>
          <a:prstGeom prst="rect">
            <a:avLst/>
          </a:prstGeom>
          <a:solidFill>
            <a:srgbClr val="8A4E8F"/>
          </a:solidFill>
          <a:ln/>
        </p:spPr>
      </p:sp>
      <p:sp>
        <p:nvSpPr>
          <p:cNvPr id="8" name="Text 5"/>
          <p:cNvSpPr/>
          <p:nvPr/>
        </p:nvSpPr>
        <p:spPr>
          <a:xfrm>
            <a:off x="384048" y="3035808"/>
            <a:ext cx="5394960" cy="1691640"/>
          </a:xfrm>
          <a:prstGeom prst="rect">
            <a:avLst/>
          </a:prstGeom>
          <a:noFill/>
          <a:ln/>
        </p:spPr>
        <p:txBody>
          <a:bodyPr wrap="square" lIns="0" tIns="0" rIns="0" bIns="0" rtlCol="0" anchor="t"/>
          <a:lstStyle/>
          <a:p>
            <a:pPr marL="342900" indent="-342900">
              <a:spcAft>
                <a:spcPts val="300"/>
              </a:spcAft>
              <a:buSzPct val="100000"/>
              <a:buChar char="•"/>
            </a:pPr>
            <a:r>
              <a:rPr lang="en-US" sz="1300" b="1" dirty="0">
                <a:solidFill>
                  <a:srgbClr val="31423B"/>
                </a:solidFill>
                <a:latin typeface="Open Sans" pitchFamily="34" charset="0"/>
                <a:ea typeface="Open Sans" pitchFamily="34" charset="-122"/>
                <a:cs typeface="Open Sans" pitchFamily="34" charset="-120"/>
              </a:rPr>
              <a:t>The responsibility line is an evidence line</a:t>
            </a:r>
            <a:endParaRPr lang="en-US" sz="1300" dirty="0"/>
          </a:p>
          <a:p>
            <a:pPr marL="342900" indent="-342900">
              <a:spcAft>
                <a:spcPts val="300"/>
              </a:spcAft>
              <a:buSzPct val="100000"/>
              <a:buChar char="•"/>
            </a:pPr>
            <a:r>
              <a:rPr lang="en-US" sz="1300" b="1" dirty="0">
                <a:solidFill>
                  <a:srgbClr val="31423B"/>
                </a:solidFill>
                <a:latin typeface="Open Sans" pitchFamily="34" charset="0"/>
                <a:ea typeface="Open Sans" pitchFamily="34" charset="-122"/>
                <a:cs typeface="Open Sans" pitchFamily="34" charset="-120"/>
              </a:rPr>
              <a:t>Records only run forward: readiness comes first</a:t>
            </a:r>
            <a:endParaRPr lang="en-US" sz="1300" dirty="0"/>
          </a:p>
          <a:p>
            <a:pPr marL="342900" indent="-342900">
              <a:spcAft>
                <a:spcPts val="300"/>
              </a:spcAft>
              <a:buSzPct val="100000"/>
              <a:buChar char="•"/>
            </a:pPr>
            <a:r>
              <a:rPr lang="en-US" sz="1300" b="1" dirty="0">
                <a:solidFill>
                  <a:srgbClr val="31423B"/>
                </a:solidFill>
                <a:latin typeface="Open Sans" pitchFamily="34" charset="0"/>
                <a:ea typeface="Open Sans" pitchFamily="34" charset="-122"/>
                <a:cs typeface="Open Sans" pitchFamily="34" charset="-120"/>
              </a:rPr>
              <a:t>Two records, two clocks: collect after the slow one</a:t>
            </a:r>
            <a:endParaRPr lang="en-US" sz="1300" dirty="0"/>
          </a:p>
          <a:p>
            <a:pPr marL="342900" indent="-342900">
              <a:spcAft>
                <a:spcPts val="800"/>
              </a:spcAft>
              <a:buSzPct val="100000"/>
              <a:buChar char="•"/>
            </a:pPr>
            <a:r>
              <a:rPr lang="en-US" sz="1300" b="1" dirty="0">
                <a:solidFill>
                  <a:srgbClr val="31423B"/>
                </a:solidFill>
                <a:latin typeface="Open Sans" pitchFamily="34" charset="0"/>
                <a:ea typeface="Open Sans" pitchFamily="34" charset="-122"/>
                <a:cs typeface="Open Sans" pitchFamily="34" charset="-120"/>
              </a:rPr>
              <a:t>Versions keep the content; validation seals the record</a:t>
            </a:r>
            <a:endParaRPr lang="en-US" sz="1300" dirty="0"/>
          </a:p>
          <a:p>
            <a:pPr indent="0" marL="0">
              <a:spcAft>
                <a:spcPts val="300"/>
              </a:spcAft>
              <a:buNone/>
            </a:pPr>
            <a:r>
              <a:rPr lang="en-US" sz="1300" i="1" dirty="0">
                <a:solidFill>
                  <a:srgbClr val="5C6B63"/>
                </a:solidFill>
                <a:latin typeface="Open Sans" pitchFamily="34" charset="0"/>
                <a:ea typeface="Open Sans" pitchFamily="34" charset="-122"/>
                <a:cs typeface="Open Sans" pitchFamily="34" charset="-120"/>
              </a:rPr>
              <a:t>Next: Session 12 checks what landed overnight, then collects and preserves. It closes Day 6 with the quiz.</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Disclaimer &amp; Copyrights</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sp>
        <p:nvSpPr>
          <p:cNvPr id="6" name="Text 4"/>
          <p:cNvSpPr/>
          <p:nvPr/>
        </p:nvSpPr>
        <p:spPr>
          <a:xfrm>
            <a:off x="731520" y="1417320"/>
            <a:ext cx="7863840" cy="2331720"/>
          </a:xfrm>
          <a:prstGeom prst="rect">
            <a:avLst/>
          </a:prstGeom>
          <a:noFill/>
          <a:ln/>
        </p:spPr>
        <p:txBody>
          <a:bodyPr wrap="square" lIns="0" tIns="0" rIns="0" bIns="0" rtlCol="0" anchor="t"/>
          <a:lstStyle/>
          <a:p>
            <a:pPr indent="0" marL="0">
              <a:spcAft>
                <a:spcPts val="1000"/>
              </a:spcAft>
              <a:buNone/>
            </a:pPr>
            <a:r>
              <a:rPr lang="en-US" sz="1200" dirty="0">
                <a:solidFill>
                  <a:srgbClr val="31423B"/>
                </a:solidFill>
                <a:latin typeface="Open Sans" pitchFamily="34" charset="0"/>
                <a:ea typeface="Open Sans" pitchFamily="34" charset="-122"/>
                <a:cs typeface="Open Sans" pitchFamily="34" charset="-120"/>
              </a:rPr>
              <a:t>The information presented in this presentation is intended for general informational purposes only. It is not meant to be comprehensive or to constitute professional advice. Any reliance you place on such information is strictly at your own risk. While I strive to keep the information accurate and up-to-date, I make no representations or warranties of any kind, express or implied, about the completeness, accuracy, reliability, suitability or availability concerning the content within this presentation.</a:t>
            </a:r>
            <a:endParaRPr lang="en-US" sz="1200" dirty="0"/>
          </a:p>
          <a:p>
            <a:pPr indent="0" marL="0">
              <a:spcAft>
                <a:spcPts val="1000"/>
              </a:spcAft>
              <a:buNone/>
            </a:pPr>
            <a:r>
              <a:rPr lang="en-US" sz="1200" dirty="0">
                <a:solidFill>
                  <a:srgbClr val="31423B"/>
                </a:solidFill>
                <a:latin typeface="Open Sans" pitchFamily="34" charset="0"/>
                <a:ea typeface="Open Sans" pitchFamily="34" charset="-122"/>
                <a:cs typeface="Open Sans" pitchFamily="34" charset="-120"/>
              </a:rPr>
              <a:t>This presentation may include references or links to third-party websites or content. I do not endorse the views expressed or the information provided on such external sites. I am not responsible for the content of any linked site or any link contained in a linked site.</a:t>
            </a:r>
            <a:endParaRPr lang="en-US" sz="1200" dirty="0"/>
          </a:p>
          <a:p>
            <a:pPr indent="0" marL="0">
              <a:spcAft>
                <a:spcPts val="1000"/>
              </a:spcAft>
              <a:buNone/>
            </a:pPr>
            <a:r>
              <a:rPr lang="en-US" sz="1200" dirty="0">
                <a:solidFill>
                  <a:srgbClr val="31423B"/>
                </a:solidFill>
                <a:latin typeface="Open Sans" pitchFamily="34" charset="0"/>
                <a:ea typeface="Open Sans" pitchFamily="34" charset="-122"/>
                <a:cs typeface="Open Sans" pitchFamily="34" charset="-120"/>
              </a:rPr>
              <a:t>Any action you take upon the information presented in this presentation is strictly at your own discretion. I will not be liable for any losses or damages in connection with the use of this information.</a:t>
            </a:r>
            <a:endParaRPr lang="en-US" sz="1200" dirty="0"/>
          </a:p>
          <a:p>
            <a:pPr indent="0" marL="0">
              <a:buNone/>
            </a:pPr>
            <a:r>
              <a:rPr lang="en-US" sz="1200" dirty="0">
                <a:solidFill>
                  <a:srgbClr val="31423B"/>
                </a:solidFill>
                <a:latin typeface="Open Sans" pitchFamily="34" charset="0"/>
                <a:ea typeface="Open Sans" pitchFamily="34" charset="-122"/>
                <a:cs typeface="Open Sans" pitchFamily="34" charset="-120"/>
              </a:rPr>
              <a:t>This disclaimer is subject to change without notice.</a:t>
            </a:r>
            <a:endParaRPr lang="en-US" sz="1200" dirty="0"/>
          </a:p>
        </p:txBody>
      </p:sp>
      <p:sp>
        <p:nvSpPr>
          <p:cNvPr id="7" name="Shape 5"/>
          <p:cNvSpPr/>
          <p:nvPr/>
        </p:nvSpPr>
        <p:spPr>
          <a:xfrm>
            <a:off x="731520" y="3931920"/>
            <a:ext cx="54864" cy="621792"/>
          </a:xfrm>
          <a:prstGeom prst="rect">
            <a:avLst/>
          </a:prstGeom>
          <a:solidFill>
            <a:srgbClr val="E8F0EA"/>
          </a:solidFill>
          <a:ln/>
        </p:spPr>
      </p:sp>
      <p:sp>
        <p:nvSpPr>
          <p:cNvPr id="8" name="Text 6"/>
          <p:cNvSpPr/>
          <p:nvPr/>
        </p:nvSpPr>
        <p:spPr>
          <a:xfrm>
            <a:off x="859536" y="3931920"/>
            <a:ext cx="7735824" cy="621792"/>
          </a:xfrm>
          <a:prstGeom prst="rect">
            <a:avLst/>
          </a:prstGeom>
          <a:noFill/>
          <a:ln/>
        </p:spPr>
        <p:txBody>
          <a:bodyPr wrap="square" lIns="0" tIns="0" rIns="0" bIns="0" rtlCol="0" anchor="t"/>
          <a:lstStyle/>
          <a:p>
            <a:pPr indent="0" marL="0">
              <a:buNone/>
            </a:pPr>
            <a:r>
              <a:rPr lang="en-US" sz="1100" dirty="0">
                <a:solidFill>
                  <a:srgbClr val="5C6B63"/>
                </a:solidFill>
                <a:latin typeface="Open Sans" pitchFamily="34" charset="0"/>
                <a:ea typeface="Open Sans" pitchFamily="34" charset="-122"/>
                <a:cs typeface="Open Sans" pitchFamily="34" charset="-120"/>
              </a:rPr>
              <a:t>@ Images and artworks used in this presentation are used for general informational purposes only. It may contain copyrighted material, the use of which may not have been specifically authorised by the copyright owner. This material is available in an effort to explain issues relevant to the topic. This should constitute a 'fair use' of any such copyrighted material.</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National Institute of Business Management (NIBM)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NB6018CEM S11 - Cloud Forensics: Readiness and Architecture</dc:title>
  <dc:subject>PptxGenJS Presentation</dc:subject>
  <dc:creator>Niranga Dharmaratna</dc:creator>
  <cp:lastModifiedBy>Niranga Dharmaratna</cp:lastModifiedBy>
  <cp:revision>1</cp:revision>
  <dcterms:created xsi:type="dcterms:W3CDTF">2026-10-14T22:21:26Z</dcterms:created>
  <dcterms:modified xsi:type="dcterms:W3CDTF">2026-10-14T22:21:26Z</dcterms:modified>
</cp:coreProperties>
</file>