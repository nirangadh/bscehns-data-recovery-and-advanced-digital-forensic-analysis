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2 of 18. The portal page for this session is the content master: these slides project it. Start the three long lab jobs (copy, Autopsy install, image verification) before this slide, so that they run under the concept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LO1 and LO2. The lab checkpoint helps with the phase test and the coursework. This session closes Day 1 with the end-of-day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case opens. Two exhibits from the NIST CFReDS Data Leakage Case: the image of the suspect's computer and the image of the USB stick found on him at the security checkpoint. Both look clean. Session 1 promised that the unlisted space matters: today pays that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1 and demo S02-D1. Run the demo live to the step where entry 2 is removed. Then show the USB stick: a 4 GB stick with one partition of 1 GB. Land registry comparison: the map shows plots; where it breaks is that a partition has no fence, only two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suspect's computer uses an MBR with two of four entries filled. Students must recognise both kinds. For an examiner, the second copy of a GPT is useful: if the two copies differ, something changed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2. The centre of the session: unallocated is what the index says about a cluster, not what the cluster contains. A file of 10,000 bytes takes three clusters of 4,096 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3. Today's evidence gives two of the three: NTFS on the computer, FAT32 on the stick. Stress how much FAT depends on its table: the directory entry holds only the first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4 and demo S02-D2. Run the demo for all three file systems. Ask the room before the demo: how can deleting many megabytes take one second? Orphan files: old folders found by their shape after a quick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lens in two minutes. Give the one-line gist, do not assume anyone has seen the film, name and paraphrase only. Ask the question on the slide and let the room answer: the route. Then show the next slide. Session 3 only calls back to this, so land it fully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here. Then test the film against the disk. In the film the residue is a vague feeling; on a disk it is exact bytes. The film's erasure is hard work by people who hunt each memory, which is closer to wiping (Session 4) than to ordinary deletion, the lazy removal of a pointer.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5 and demo S02-D3. One cluster drawn as its 8 sectors. Let a student move the slider. Modern Windows fills RAM slack with zeros; drive slack keeps the old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reason behind the Session 1 rule: copy everything. Content found in these places has no name, dates or owner attached. You can report that it is present; who put it there needs other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6. Record and content are stored separately and lost separately. State 3 is the film turned around: the trace of the event without the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S02-D4. A write blocker cannot stop the drive's own controller, which clears trimmed blocks whenever the drive has power. The record survives TRIM, so names, sizes and dates remain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two hours. The steps, with what students should see at each one, are on the portal page, section 7. The full ingest of the computer was done in advance; students run a complete ingest themselves on the small USB image. Checkpoint: a list of recovered confidential files with SHA-256 values, judged against the published answer key. The instructor companion has the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prompt. There is no single right answer. The stick gives content that a hash value ties to the client's documents. The computer gives names, dates and the acts of renaming and deleting, which show what the suspect did and when. Together they connect the documents to his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ten minutes of the day. The questions and model answers are on the portal page, under End-of-day quiz. They are not set on the slide. A longer answer does not earn more; a correct, relevant point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CFReDS case is free from NIST. Students do not need the book; the portal page gives what the module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1 ends here. Session 3 calls back to the film and to the key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4"/>
        </a:solidFill>
      </p:bgPr>
    </p:bg>
    <p:spTree>
      <p:nvGrpSpPr>
        <p:cNvPr id="1" name=""/>
        <p:cNvGrpSpPr/>
        <p:nvPr/>
      </p:nvGrpSpPr>
      <p:grpSpPr>
        <a:xfrm>
          <a:off x="0" y="0"/>
          <a:ext cx="0" cy="0"/>
          <a:chOff x="0" y="0"/>
          <a:chExt cx="0" cy="0"/>
        </a:xfrm>
      </p:grpSpPr>
      <p:sp>
        <p:nvSpPr>
          <p:cNvPr id="2" name="Text 0"/>
          <p:cNvSpPr txBox="1"/>
          <p:nvPr/>
        </p:nvSpPr>
        <p:spPr>
          <a:xfrm>
            <a:off x="384048" y="292608"/>
            <a:ext cx="5486400" cy="548640"/>
          </a:xfrm>
          <a:prstGeom prst="rect">
            <a:avLst/>
          </a:prstGeom>
          <a:noFill/>
          <a:ln/>
        </p:spPr>
        <p:txBody>
          <a:bodyPr wrap="square" lIns="0" tIns="0" rIns="0" bIns="0" rtlCol="0" anchor="t"/>
          <a:lstStyle/>
          <a:p>
            <a:pPr indent="0" marL="0">
              <a:buNone/>
            </a:pPr>
            <a:r>
              <a:rPr lang="en-US" sz="1300" b="1" dirty="0">
                <a:solidFill>
                  <a:srgbClr val="31423B"/>
                </a:solidFill>
                <a:latin typeface="Open Sans" pitchFamily="34" charset="0"/>
                <a:ea typeface="Open Sans" pitchFamily="34" charset="-122"/>
                <a:cs typeface="Open Sans" pitchFamily="34" charset="-120"/>
              </a:rPr>
              <a:t>BSc (Hons) Ethical Hacking &amp; Network Security</a:t>
            </a:r>
            <a:endParaRPr lang="en-US" sz="1300" dirty="0"/>
          </a:p>
          <a:p>
            <a:pPr indent="0" marL="0">
              <a:buNone/>
            </a:pPr>
            <a:r>
              <a:rPr lang="en-US" sz="1300" b="1" dirty="0">
                <a:solidFill>
                  <a:srgbClr val="31423B"/>
                </a:solidFill>
                <a:latin typeface="Open Sans" pitchFamily="34" charset="0"/>
                <a:ea typeface="Open Sans" pitchFamily="34" charset="-122"/>
                <a:cs typeface="Open Sans" pitchFamily="34" charset="-120"/>
              </a:rPr>
              <a:t>Coventry University (CU) - NIBM</a:t>
            </a:r>
            <a:endParaRPr lang="en-US" sz="1300" dirty="0"/>
          </a:p>
        </p:txBody>
      </p:sp>
      <p:sp>
        <p:nvSpPr>
          <p:cNvPr id="3" name="Text 1"/>
          <p:cNvSpPr txBox="1"/>
          <p:nvPr/>
        </p:nvSpPr>
        <p:spPr>
          <a:xfrm>
            <a:off x="384048" y="886968"/>
            <a:ext cx="4572000" cy="256032"/>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NB6018CEM  |  Level 6  |  20 Credits</a:t>
            </a:r>
            <a:endParaRPr lang="en-US" sz="1300" dirty="0"/>
          </a:p>
        </p:txBody>
      </p:sp>
      <p:sp>
        <p:nvSpPr>
          <p:cNvPr id="4" name="Text 2"/>
          <p:cNvSpPr txBox="1"/>
          <p:nvPr/>
        </p:nvSpPr>
        <p:spPr>
          <a:xfrm>
            <a:off x="384048" y="1188720"/>
            <a:ext cx="5486400" cy="1920240"/>
          </a:xfrm>
          <a:prstGeom prst="rect">
            <a:avLst/>
          </a:prstGeom>
          <a:noFill/>
          <a:ln/>
        </p:spPr>
        <p:txBody>
          <a:bodyPr wrap="square" lIns="0" tIns="0" rIns="0" bIns="0" rtlCol="0" anchor="ctr"/>
          <a:lstStyle/>
          <a:p>
            <a:pPr indent="0" marL="0">
              <a:buNone/>
            </a:pPr>
            <a:r>
              <a:rPr lang="en-US" sz="3800" b="1" dirty="0">
                <a:solidFill>
                  <a:srgbClr val="31423B"/>
                </a:solidFill>
                <a:latin typeface="Open Sans" pitchFamily="34" charset="0"/>
                <a:ea typeface="Open Sans" pitchFamily="34" charset="-122"/>
                <a:cs typeface="Open Sans" pitchFamily="34" charset="-120"/>
              </a:rPr>
              <a:t>Storage, File Systems and First Recoveries</a:t>
            </a:r>
            <a:endParaRPr lang="en-US" sz="3800" dirty="0"/>
          </a:p>
        </p:txBody>
      </p:sp>
      <p:sp>
        <p:nvSpPr>
          <p:cNvPr id="5" name="Shape 3"/>
          <p:cNvSpPr/>
          <p:nvPr/>
        </p:nvSpPr>
        <p:spPr>
          <a:xfrm>
            <a:off x="384048" y="3145536"/>
            <a:ext cx="749808" cy="82296"/>
          </a:xfrm>
          <a:prstGeom prst="rect">
            <a:avLst/>
          </a:prstGeom>
          <a:solidFill>
            <a:srgbClr val="6E8472"/>
          </a:solidFill>
          <a:ln/>
        </p:spPr>
      </p:sp>
      <p:sp>
        <p:nvSpPr>
          <p:cNvPr id="6" name="Shape 4"/>
          <p:cNvSpPr/>
          <p:nvPr/>
        </p:nvSpPr>
        <p:spPr>
          <a:xfrm>
            <a:off x="1188720" y="3145536"/>
            <a:ext cx="384048" cy="82296"/>
          </a:xfrm>
          <a:prstGeom prst="rect">
            <a:avLst/>
          </a:prstGeom>
          <a:solidFill>
            <a:srgbClr val="8A4E8F"/>
          </a:solidFill>
          <a:ln/>
        </p:spPr>
      </p:sp>
      <p:sp>
        <p:nvSpPr>
          <p:cNvPr id="7" name="Text 5"/>
          <p:cNvSpPr txBox="1"/>
          <p:nvPr/>
        </p:nvSpPr>
        <p:spPr>
          <a:xfrm>
            <a:off x="384048" y="3310128"/>
            <a:ext cx="5029200" cy="548640"/>
          </a:xfrm>
          <a:prstGeom prst="rect">
            <a:avLst/>
          </a:prstGeom>
          <a:noFill/>
          <a:ln/>
        </p:spPr>
        <p:txBody>
          <a:bodyPr wrap="square" lIns="0" tIns="0" rIns="0" bIns="0" rtlCol="0" anchor="t"/>
          <a:lstStyle/>
          <a:p>
            <a:pPr indent="0" marL="0">
              <a:buNone/>
            </a:pPr>
            <a:r>
              <a:rPr lang="en-US" sz="1800" i="1" dirty="0">
                <a:solidFill>
                  <a:srgbClr val="5C6B63"/>
                </a:solidFill>
                <a:latin typeface="Open Sans" pitchFamily="34" charset="0"/>
                <a:ea typeface="Open Sans" pitchFamily="34" charset="-122"/>
                <a:cs typeface="Open Sans" pitchFamily="34" charset="-120"/>
              </a:rPr>
              <a:t>Session 2 - Day 1: Foundations and Forensic Readiness</a:t>
            </a:r>
            <a:endParaRPr lang="en-US" sz="1800" dirty="0"/>
          </a:p>
        </p:txBody>
      </p:sp>
      <p:sp>
        <p:nvSpPr>
          <p:cNvPr id="8" name="Text 6"/>
          <p:cNvSpPr txBox="1"/>
          <p:nvPr/>
        </p:nvSpPr>
        <p:spPr>
          <a:xfrm>
            <a:off x="384048" y="4681728"/>
            <a:ext cx="5029200" cy="329184"/>
          </a:xfrm>
          <a:prstGeom prst="rect">
            <a:avLst/>
          </a:prstGeom>
          <a:noFill/>
          <a:ln/>
        </p:spPr>
        <p:txBody>
          <a:bodyPr wrap="square" lIns="0" tIns="0" rIns="0" bIns="0" rtlCol="0" anchor="t"/>
          <a:lstStyle/>
          <a:p>
            <a:pPr indent="0" marL="0">
              <a:buNone/>
            </a:pPr>
            <a:r>
              <a:rPr lang="en-US" sz="1300" dirty="0">
                <a:solidFill>
                  <a:srgbClr val="5C6B63"/>
                </a:solidFill>
                <a:latin typeface="Open Sans" pitchFamily="34" charset="0"/>
                <a:ea typeface="Open Sans" pitchFamily="34" charset="-122"/>
                <a:cs typeface="Open Sans" pitchFamily="34" charset="-120"/>
              </a:rPr>
              <a:t>Niranga Dharmaratna - niranga@nibm.lk</a:t>
            </a:r>
            <a:endParaRPr lang="en-US" sz="1300" dirty="0"/>
          </a:p>
        </p:txBody>
      </p:sp>
      <p:pic>
        <p:nvPicPr>
          <p:cNvPr id="9" name="Image 0" descr="preencoded.png">    </p:cNvPr>
          <p:cNvPicPr>
            <a:picLocks noChangeAspect="1"/>
          </p:cNvPicPr>
          <p:nvPr/>
        </p:nvPicPr>
        <p:blipFill>
          <a:blip r:embed="rId1"/>
          <a:stretch>
            <a:fillRect/>
          </a:stretch>
        </p:blipFill>
        <p:spPr>
          <a:xfrm>
            <a:off x="6309360" y="1463040"/>
            <a:ext cx="2194560" cy="21945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0EA"/>
        </a:solidFill>
      </p:bgPr>
    </p:bg>
    <p:spTree>
      <p:nvGrpSpPr>
        <p:cNvPr id="1" name=""/>
        <p:cNvGrpSpPr/>
        <p:nvPr/>
      </p:nvGrpSpPr>
      <p:grpSpPr>
        <a:xfrm>
          <a:off x="0" y="0"/>
          <a:ext cx="0" cy="0"/>
          <a:chOff x="0" y="0"/>
          <a:chExt cx="0" cy="0"/>
        </a:xfrm>
      </p:grpSpPr>
      <p:sp>
        <p:nvSpPr>
          <p:cNvPr id="2" name="Shape 0"/>
          <p:cNvSpPr/>
          <p:nvPr/>
        </p:nvSpPr>
        <p:spPr>
          <a:xfrm>
            <a:off x="731520" y="1097280"/>
            <a:ext cx="502920" cy="45720"/>
          </a:xfrm>
          <a:prstGeom prst="rect">
            <a:avLst/>
          </a:prstGeom>
          <a:solidFill>
            <a:srgbClr val="6E8472"/>
          </a:solidFill>
          <a:ln/>
        </p:spPr>
      </p:sp>
      <p:sp>
        <p:nvSpPr>
          <p:cNvPr id="3" name="Text 1"/>
          <p:cNvSpPr txBox="1"/>
          <p:nvPr/>
        </p:nvSpPr>
        <p:spPr>
          <a:xfrm>
            <a:off x="731520" y="1325880"/>
            <a:ext cx="7690104" cy="1371600"/>
          </a:xfrm>
          <a:prstGeom prst="rect">
            <a:avLst/>
          </a:prstGeom>
          <a:noFill/>
          <a:ln/>
        </p:spPr>
        <p:txBody>
          <a:bodyPr wrap="square" lIns="0" tIns="0" rIns="0" bIns="0" rtlCol="0" anchor="ctr"/>
          <a:lstStyle/>
          <a:p>
            <a:pPr indent="0" marL="0">
              <a:buNone/>
            </a:pPr>
            <a:r>
              <a:rPr lang="en-US" sz="3600" b="1" dirty="0">
                <a:solidFill>
                  <a:srgbClr val="31423B"/>
                </a:solidFill>
                <a:latin typeface="Open Sans" pitchFamily="34" charset="0"/>
                <a:ea typeface="Open Sans" pitchFamily="34" charset="-122"/>
                <a:cs typeface="Open Sans" pitchFamily="34" charset="-120"/>
              </a:rPr>
              <a:t>S02 Storage, File Systems and First Recoveries</a:t>
            </a:r>
            <a:endParaRPr lang="en-US" sz="3600" dirty="0"/>
          </a:p>
        </p:txBody>
      </p:sp>
      <p:sp>
        <p:nvSpPr>
          <p:cNvPr id="4" name="Shape 2"/>
          <p:cNvSpPr/>
          <p:nvPr/>
        </p:nvSpPr>
        <p:spPr>
          <a:xfrm>
            <a:off x="731520" y="2788920"/>
            <a:ext cx="749808" cy="82296"/>
          </a:xfrm>
          <a:prstGeom prst="rect">
            <a:avLst/>
          </a:prstGeom>
          <a:solidFill>
            <a:srgbClr val="6E8472"/>
          </a:solidFill>
          <a:ln/>
        </p:spPr>
      </p:sp>
      <p:sp>
        <p:nvSpPr>
          <p:cNvPr id="5" name="Shape 3"/>
          <p:cNvSpPr/>
          <p:nvPr/>
        </p:nvSpPr>
        <p:spPr>
          <a:xfrm>
            <a:off x="1536192" y="2788920"/>
            <a:ext cx="384048" cy="82296"/>
          </a:xfrm>
          <a:prstGeom prst="rect">
            <a:avLst/>
          </a:prstGeom>
          <a:solidFill>
            <a:srgbClr val="8A4E8F"/>
          </a:solidFill>
          <a:ln/>
        </p:spPr>
      </p:sp>
      <p:sp>
        <p:nvSpPr>
          <p:cNvPr id="6" name="Shape 4"/>
          <p:cNvSpPr/>
          <p:nvPr/>
        </p:nvSpPr>
        <p:spPr>
          <a:xfrm>
            <a:off x="731520" y="3108960"/>
            <a:ext cx="640080" cy="347472"/>
          </a:xfrm>
          <a:prstGeom prst="rect">
            <a:avLst/>
          </a:prstGeom>
          <a:solidFill>
            <a:srgbClr val="6E8472"/>
          </a:solidFill>
          <a:ln/>
        </p:spPr>
      </p:sp>
      <p:sp>
        <p:nvSpPr>
          <p:cNvPr id="7" name="Text 5"/>
          <p:cNvSpPr txBox="1"/>
          <p:nvPr/>
        </p:nvSpPr>
        <p:spPr>
          <a:xfrm>
            <a:off x="73152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LO1</a:t>
            </a:r>
            <a:endParaRPr lang="en-US" sz="1400" dirty="0"/>
          </a:p>
        </p:txBody>
      </p:sp>
      <p:sp>
        <p:nvSpPr>
          <p:cNvPr id="8" name="Shape 6"/>
          <p:cNvSpPr/>
          <p:nvPr/>
        </p:nvSpPr>
        <p:spPr>
          <a:xfrm>
            <a:off x="1463040" y="3108960"/>
            <a:ext cx="640080" cy="347472"/>
          </a:xfrm>
          <a:prstGeom prst="rect">
            <a:avLst/>
          </a:prstGeom>
          <a:solidFill>
            <a:srgbClr val="4F6356"/>
          </a:solidFill>
          <a:ln/>
        </p:spPr>
      </p:sp>
      <p:sp>
        <p:nvSpPr>
          <p:cNvPr id="9" name="Text 7"/>
          <p:cNvSpPr txBox="1"/>
          <p:nvPr/>
        </p:nvSpPr>
        <p:spPr>
          <a:xfrm>
            <a:off x="146304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LO2</a:t>
            </a:r>
            <a:endParaRPr lang="en-US" sz="1400" dirty="0"/>
          </a:p>
        </p:txBody>
      </p:sp>
      <p:sp>
        <p:nvSpPr>
          <p:cNvPr id="10" name="Text 8"/>
          <p:cNvSpPr txBox="1"/>
          <p:nvPr/>
        </p:nvSpPr>
        <p:spPr>
          <a:xfrm>
            <a:off x="731520" y="3584448"/>
            <a:ext cx="7690104" cy="329184"/>
          </a:xfrm>
          <a:prstGeom prst="rect">
            <a:avLst/>
          </a:prstGeom>
          <a:noFill/>
          <a:ln/>
        </p:spPr>
        <p:txBody>
          <a:bodyPr wrap="square" lIns="0" tIns="0" rIns="0" bIns="0" rtlCol="0" anchor="t"/>
          <a:lstStyle/>
          <a:p>
            <a:pPr indent="0" marL="0">
              <a:buNone/>
            </a:pPr>
            <a:r>
              <a:rPr lang="en-US" sz="1400" dirty="0">
                <a:solidFill>
                  <a:srgbClr val="5C6B63"/>
                </a:solidFill>
                <a:latin typeface="Open Sans" pitchFamily="34" charset="0"/>
                <a:ea typeface="Open Sans" pitchFamily="34" charset="-122"/>
                <a:cs typeface="Open Sans" pitchFamily="34" charset="-120"/>
              </a:rPr>
              <a:t>Feeds: PT, CW</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case today</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228600" y="1417320"/>
            <a:ext cx="4937760" cy="777240"/>
          </a:xfrm>
          <a:prstGeom prst="rect">
            <a:avLst/>
          </a:prstGeom>
          <a:solidFill>
            <a:srgbClr val="F1E8F2"/>
          </a:solidFill>
          <a:ln/>
        </p:spPr>
      </p:sp>
      <p:sp>
        <p:nvSpPr>
          <p:cNvPr id="7" name="Text 5"/>
          <p:cNvSpPr txBox="1"/>
          <p:nvPr/>
        </p:nvSpPr>
        <p:spPr>
          <a:xfrm>
            <a:off x="356616" y="1417320"/>
            <a:ext cx="4681728" cy="777240"/>
          </a:xfrm>
          <a:prstGeom prst="rect">
            <a:avLst/>
          </a:prstGeom>
          <a:noFill/>
          <a:ln/>
        </p:spPr>
        <p:txBody>
          <a:bodyPr wrap="square" lIns="0" tIns="0" rIns="0" bIns="0" rtlCol="0" anchor="ctr"/>
          <a:lstStyle/>
          <a:p>
            <a:pPr indent="0" marL="0">
              <a:buNone/>
            </a:pPr>
            <a:r>
              <a:rPr lang="en-US" sz="1600" b="1" dirty="0">
                <a:solidFill>
                  <a:srgbClr val="31423B"/>
                </a:solidFill>
                <a:latin typeface="Open Sans" pitchFamily="34" charset="0"/>
                <a:ea typeface="Open Sans" pitchFamily="34" charset="-122"/>
                <a:cs typeface="Open Sans" pitchFamily="34" charset="-120"/>
              </a:rPr>
              <a:t>If he deleted the documents, what did he really remove?</a:t>
            </a:r>
            <a:endParaRPr lang="en-US" sz="1600" dirty="0"/>
          </a:p>
        </p:txBody>
      </p:sp>
      <p:sp>
        <p:nvSpPr>
          <p:cNvPr id="8" name="Shape 6"/>
          <p:cNvSpPr/>
          <p:nvPr/>
        </p:nvSpPr>
        <p:spPr>
          <a:xfrm>
            <a:off x="228600" y="2286000"/>
            <a:ext cx="4937760" cy="2377440"/>
          </a:xfrm>
          <a:prstGeom prst="rect">
            <a:avLst/>
          </a:prstGeom>
          <a:solidFill>
            <a:srgbClr val="DCE6DE"/>
          </a:solidFill>
          <a:ln/>
        </p:spPr>
      </p:sp>
      <p:sp>
        <p:nvSpPr>
          <p:cNvPr id="9" name="Text 7"/>
          <p:cNvSpPr txBox="1"/>
          <p:nvPr/>
        </p:nvSpPr>
        <p:spPr>
          <a:xfrm>
            <a:off x="338328" y="2340864"/>
            <a:ext cx="4718304" cy="2267712"/>
          </a:xfrm>
          <a:prstGeom prst="rect">
            <a:avLst/>
          </a:prstGeom>
          <a:noFill/>
          <a:ln/>
        </p:spPr>
        <p:txBody>
          <a:bodyPr wrap="square" lIns="0" tIns="0" rIns="0" bIns="0" rtlCol="0" anchor="ctr"/>
          <a:lstStyle/>
          <a:p>
            <a:pPr marL="342900" indent="-342900">
              <a:spcAft>
                <a:spcPts val="600"/>
              </a:spcAft>
              <a:buSzPct val="100000"/>
              <a:buChar char="•"/>
            </a:pPr>
            <a:r>
              <a:rPr lang="en-US" sz="1500" b="1" dirty="0">
                <a:solidFill>
                  <a:srgbClr val="31423B"/>
                </a:solidFill>
                <a:latin typeface="Open Sans" pitchFamily="34" charset="0"/>
                <a:ea typeface="Open Sans" pitchFamily="34" charset="-122"/>
                <a:cs typeface="Open Sans" pitchFamily="34" charset="-120"/>
              </a:rPr>
              <a:t>Read the map of a disk: partitions, MBR and GPT</a:t>
            </a:r>
            <a:endParaRPr lang="en-US" sz="1500" dirty="0"/>
          </a:p>
          <a:p>
            <a:pPr marL="342900" indent="-342900">
              <a:spcAft>
                <a:spcPts val="600"/>
              </a:spcAft>
              <a:buSzPct val="100000"/>
              <a:buChar char="•"/>
            </a:pPr>
            <a:r>
              <a:rPr lang="en-US" sz="1500" b="1" dirty="0">
                <a:solidFill>
                  <a:srgbClr val="31423B"/>
                </a:solidFill>
                <a:latin typeface="Open Sans" pitchFamily="34" charset="0"/>
                <a:ea typeface="Open Sans" pitchFamily="34" charset="-122"/>
                <a:cs typeface="Open Sans" pitchFamily="34" charset="-120"/>
              </a:rPr>
              <a:t>Compare what FAT, NTFS and ext4 keep about a file</a:t>
            </a:r>
            <a:endParaRPr lang="en-US" sz="1500" dirty="0"/>
          </a:p>
          <a:p>
            <a:pPr marL="342900" indent="-342900">
              <a:spcAft>
                <a:spcPts val="600"/>
              </a:spcAft>
              <a:buSzPct val="100000"/>
              <a:buChar char="•"/>
            </a:pPr>
            <a:r>
              <a:rPr lang="en-US" sz="1500" b="1" dirty="0">
                <a:solidFill>
                  <a:srgbClr val="31423B"/>
                </a:solidFill>
                <a:latin typeface="Open Sans" pitchFamily="34" charset="0"/>
                <a:ea typeface="Open Sans" pitchFamily="34" charset="-122"/>
                <a:cs typeface="Open Sans" pitchFamily="34" charset="-120"/>
              </a:rPr>
              <a:t>Find where deleted data remains, and when it is gone</a:t>
            </a:r>
            <a:endParaRPr lang="en-US" sz="1500" dirty="0"/>
          </a:p>
          <a:p>
            <a:pPr marL="342900" indent="-342900">
              <a:spcAft>
                <a:spcPts val="600"/>
              </a:spcAft>
              <a:buSzPct val="100000"/>
              <a:buChar char="•"/>
            </a:pPr>
            <a:r>
              <a:rPr lang="en-US" sz="1500" b="1" dirty="0">
                <a:solidFill>
                  <a:srgbClr val="31423B"/>
                </a:solidFill>
                <a:latin typeface="Open Sans" pitchFamily="34" charset="0"/>
                <a:ea typeface="Open Sans" pitchFamily="34" charset="-122"/>
                <a:cs typeface="Open Sans" pitchFamily="34" charset="-120"/>
              </a:rPr>
              <a:t>Recover the documents and prove them with SHA-256</a:t>
            </a:r>
            <a:endParaRPr lang="en-US" sz="1500" dirty="0"/>
          </a:p>
        </p:txBody>
      </p:sp>
      <p:pic>
        <p:nvPicPr>
          <p:cNvPr id="10" name="Image 0" descr="preencoded.png">    </p:cNvPr>
          <p:cNvPicPr>
            <a:picLocks noChangeAspect="1"/>
          </p:cNvPicPr>
          <p:nvPr/>
        </p:nvPicPr>
        <p:blipFill>
          <a:blip r:embed="rId1"/>
          <a:stretch>
            <a:fillRect/>
          </a:stretch>
        </p:blipFill>
        <p:spPr>
          <a:xfrm>
            <a:off x="6035040" y="1920240"/>
            <a:ext cx="2103120" cy="21031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disk has a map: sectors and partitions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31520" y="1417320"/>
          <a:ext cx="7690104" cy="914400"/>
        </p:xfrm>
        <a:graphic>
          <a:graphicData uri="http://schemas.openxmlformats.org/drawingml/2006/table">
            <a:tbl>
              <a:tblPr/>
              <a:tblGrid>
                <a:gridCol w="4215384"/>
                <a:gridCol w="1737360"/>
                <a:gridCol w="1737360"/>
              </a:tblGrid>
              <a:tr h="310896">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Area of the suspect's disk</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Starts at sector</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Size</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24688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Not in any partition</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0</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1 MB</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24688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Partition 1 (NTFS, used by Windows to start)</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2,048</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100 MB</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24688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Partition 2 (NTFS, the C: drive)</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206,848</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19.9 GB</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24688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Not in any partition</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41,940,992</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1 MB</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Shape 4"/>
          <p:cNvSpPr/>
          <p:nvPr/>
        </p:nvSpPr>
        <p:spPr>
          <a:xfrm>
            <a:off x="731520" y="2834640"/>
            <a:ext cx="7690104" cy="1143000"/>
          </a:xfrm>
          <a:prstGeom prst="rect">
            <a:avLst/>
          </a:prstGeom>
          <a:solidFill>
            <a:srgbClr val="DCE6DE"/>
          </a:solidFill>
          <a:ln/>
        </p:spPr>
      </p:sp>
      <p:sp>
        <p:nvSpPr>
          <p:cNvPr id="8" name="Text 5"/>
          <p:cNvSpPr txBox="1"/>
          <p:nvPr/>
        </p:nvSpPr>
        <p:spPr>
          <a:xfrm>
            <a:off x="841248" y="2889504"/>
            <a:ext cx="7470648" cy="1033272"/>
          </a:xfrm>
          <a:prstGeom prst="rect">
            <a:avLst/>
          </a:prstGeom>
          <a:noFill/>
          <a:ln/>
        </p:spPr>
        <p:txBody>
          <a:bodyPr wrap="square" lIns="0" tIns="0" rIns="0" bIns="0" rtlCol="0" anchor="ctr"/>
          <a:lstStyle/>
          <a:p>
            <a:pPr marL="342900" indent="-342900">
              <a:spcAft>
                <a:spcPts val="600"/>
              </a:spcAft>
              <a:buSzPct val="100000"/>
              <a:buChar char="•"/>
            </a:pPr>
            <a:r>
              <a:rPr lang="en-US" sz="1500" b="1" dirty="0">
                <a:solidFill>
                  <a:srgbClr val="31423B"/>
                </a:solidFill>
                <a:latin typeface="Open Sans" pitchFamily="34" charset="0"/>
                <a:ea typeface="Open Sans" pitchFamily="34" charset="-122"/>
                <a:cs typeface="Open Sans" pitchFamily="34" charset="-120"/>
              </a:rPr>
              <a:t>A partition table is a few bytes at the start of the disk</a:t>
            </a:r>
            <a:endParaRPr lang="en-US" sz="1500" dirty="0"/>
          </a:p>
          <a:p>
            <a:pPr marL="342900" indent="-342900">
              <a:spcAft>
                <a:spcPts val="600"/>
              </a:spcAft>
              <a:buSzPct val="100000"/>
              <a:buChar char="•"/>
            </a:pPr>
            <a:r>
              <a:rPr lang="en-US" sz="1500" b="1" dirty="0">
                <a:solidFill>
                  <a:srgbClr val="31423B"/>
                </a:solidFill>
                <a:latin typeface="Open Sans" pitchFamily="34" charset="0"/>
                <a:ea typeface="Open Sans" pitchFamily="34" charset="-122"/>
                <a:cs typeface="Open Sans" pitchFamily="34" charset="-120"/>
              </a:rPr>
              <a:t>It lists ranges of sectors. It is not the data</a:t>
            </a:r>
            <a:endParaRPr lang="en-US" sz="1500" dirty="0"/>
          </a:p>
          <a:p>
            <a:pPr marL="342900" indent="-342900">
              <a:spcAft>
                <a:spcPts val="600"/>
              </a:spcAft>
              <a:buSzPct val="100000"/>
              <a:buChar char="•"/>
            </a:pPr>
            <a:r>
              <a:rPr lang="en-US" sz="1500" b="1" dirty="0">
                <a:solidFill>
                  <a:srgbClr val="31423B"/>
                </a:solidFill>
                <a:latin typeface="Open Sans" pitchFamily="34" charset="0"/>
                <a:ea typeface="Open Sans" pitchFamily="34" charset="-122"/>
                <a:cs typeface="Open Sans" pitchFamily="34" charset="-120"/>
              </a:rPr>
              <a:t>Remove an entry: the map changes, the sectors do not</a:t>
            </a:r>
            <a:endParaRPr lang="en-US" sz="1500" dirty="0"/>
          </a:p>
        </p:txBody>
      </p:sp>
      <p:sp>
        <p:nvSpPr>
          <p:cNvPr id="9" name="Shape 6"/>
          <p:cNvSpPr/>
          <p:nvPr/>
        </p:nvSpPr>
        <p:spPr>
          <a:xfrm>
            <a:off x="731520" y="4069080"/>
            <a:ext cx="7690104" cy="548640"/>
          </a:xfrm>
          <a:prstGeom prst="rect">
            <a:avLst/>
          </a:prstGeom>
          <a:solidFill>
            <a:srgbClr val="F1E8F2"/>
          </a:solidFill>
          <a:ln/>
        </p:spPr>
      </p:sp>
      <p:sp>
        <p:nvSpPr>
          <p:cNvPr id="10" name="Text 7"/>
          <p:cNvSpPr txBox="1"/>
          <p:nvPr/>
        </p:nvSpPr>
        <p:spPr>
          <a:xfrm>
            <a:off x="859536" y="4069080"/>
            <a:ext cx="7434072" cy="548640"/>
          </a:xfrm>
          <a:prstGeom prst="rect">
            <a:avLst/>
          </a:prstGeom>
          <a:noFill/>
          <a:ln/>
        </p:spPr>
        <p:txBody>
          <a:bodyPr wrap="square" lIns="0" tIns="0" rIns="0" bIns="0" rtlCol="0" anchor="ctr"/>
          <a:lstStyle/>
          <a:p>
            <a:pPr indent="0" marL="0">
              <a:buNone/>
            </a:pPr>
            <a:r>
              <a:rPr lang="en-US" sz="1500" b="1" dirty="0">
                <a:solidFill>
                  <a:srgbClr val="31423B"/>
                </a:solidFill>
                <a:latin typeface="Open Sans" pitchFamily="34" charset="0"/>
                <a:ea typeface="Open Sans" pitchFamily="34" charset="-122"/>
                <a:cs typeface="Open Sans" pitchFamily="34" charset="-120"/>
              </a:rPr>
              <a:t>Sectors that the map does not show are still on the disk and still in your image.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Two kinds of partition table: MBR and GPT</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417320"/>
            <a:ext cx="4133088" cy="402336"/>
          </a:xfrm>
          <a:prstGeom prst="rect">
            <a:avLst/>
          </a:prstGeom>
          <a:solidFill>
            <a:srgbClr val="6E8472"/>
          </a:solidFill>
          <a:ln/>
        </p:spPr>
      </p:sp>
      <p:sp>
        <p:nvSpPr>
          <p:cNvPr id="7" name="Text 5"/>
          <p:cNvSpPr txBox="1"/>
          <p:nvPr/>
        </p:nvSpPr>
        <p:spPr>
          <a:xfrm>
            <a:off x="521208" y="141732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MBR - Master Boot Record</a:t>
            </a:r>
            <a:endParaRPr lang="en-US" sz="1500" dirty="0"/>
          </a:p>
        </p:txBody>
      </p:sp>
      <p:sp>
        <p:nvSpPr>
          <p:cNvPr id="8" name="Shape 6"/>
          <p:cNvSpPr/>
          <p:nvPr/>
        </p:nvSpPr>
        <p:spPr>
          <a:xfrm>
            <a:off x="411480" y="1819656"/>
            <a:ext cx="4133088" cy="2240280"/>
          </a:xfrm>
          <a:prstGeom prst="rect">
            <a:avLst/>
          </a:prstGeom>
          <a:solidFill>
            <a:srgbClr val="FFFFFF"/>
          </a:solidFill>
          <a:ln w="9525">
            <a:solidFill>
              <a:srgbClr val="CBD6CE"/>
            </a:solidFill>
            <a:prstDash val="solid"/>
          </a:ln>
        </p:spPr>
      </p:sp>
      <p:sp>
        <p:nvSpPr>
          <p:cNvPr id="9" name="Text 7"/>
          <p:cNvSpPr txBox="1"/>
          <p:nvPr/>
        </p:nvSpPr>
        <p:spPr>
          <a:xfrm>
            <a:off x="539496" y="1883664"/>
            <a:ext cx="3877056" cy="2121408"/>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Where it is</a:t>
            </a:r>
            <a:endParaRPr lang="en-US" sz="1300" dirty="0"/>
          </a:p>
          <a:p>
            <a:pPr indent="0" marL="0">
              <a:spcAft>
                <a:spcPts val="500"/>
              </a:spcAft>
              <a:buNone/>
            </a:pPr>
            <a:r>
              <a:rPr lang="en-US" sz="1200" dirty="0">
                <a:solidFill>
                  <a:srgbClr val="31423B"/>
                </a:solidFill>
                <a:latin typeface="Open Sans" pitchFamily="34" charset="0"/>
                <a:ea typeface="Open Sans" pitchFamily="34" charset="-122"/>
                <a:cs typeface="Open Sans" pitchFamily="34" charset="-120"/>
              </a:rPr>
              <a:t>Sector 0 only</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Partitions</a:t>
            </a:r>
            <a:endParaRPr lang="en-US" sz="1300" dirty="0"/>
          </a:p>
          <a:p>
            <a:pPr indent="0" marL="0">
              <a:spcAft>
                <a:spcPts val="500"/>
              </a:spcAft>
              <a:buNone/>
            </a:pPr>
            <a:r>
              <a:rPr lang="en-US" sz="1200" dirty="0">
                <a:solidFill>
                  <a:srgbClr val="31423B"/>
                </a:solidFill>
                <a:latin typeface="Open Sans" pitchFamily="34" charset="0"/>
                <a:ea typeface="Open Sans" pitchFamily="34" charset="-122"/>
                <a:cs typeface="Open Sans" pitchFamily="34" charset="-120"/>
              </a:rPr>
              <a:t>4</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Largest disk</a:t>
            </a:r>
            <a:endParaRPr lang="en-US" sz="1300" dirty="0"/>
          </a:p>
          <a:p>
            <a:pPr indent="0" marL="0">
              <a:spcAft>
                <a:spcPts val="500"/>
              </a:spcAft>
              <a:buNone/>
            </a:pPr>
            <a:r>
              <a:rPr lang="en-US" sz="1200" dirty="0">
                <a:solidFill>
                  <a:srgbClr val="31423B"/>
                </a:solidFill>
                <a:latin typeface="Open Sans" pitchFamily="34" charset="0"/>
                <a:ea typeface="Open Sans" pitchFamily="34" charset="-122"/>
                <a:cs typeface="Open Sans" pitchFamily="34" charset="-120"/>
              </a:rPr>
              <a:t>About 2 TB with 512-byte sectors</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Second copy and self-check</a:t>
            </a:r>
            <a:endParaRPr lang="en-US" sz="1300" dirty="0"/>
          </a:p>
          <a:p>
            <a:pPr indent="0" marL="0">
              <a:spcAft>
                <a:spcPts val="500"/>
              </a:spcAft>
              <a:buNone/>
            </a:pPr>
            <a:r>
              <a:rPr lang="en-US" sz="1200" dirty="0">
                <a:solidFill>
                  <a:srgbClr val="31423B"/>
                </a:solidFill>
                <a:latin typeface="Open Sans" pitchFamily="34" charset="0"/>
                <a:ea typeface="Open Sans" pitchFamily="34" charset="-122"/>
                <a:cs typeface="Open Sans" pitchFamily="34" charset="-120"/>
              </a:rPr>
              <a:t>None</a:t>
            </a:r>
            <a:endParaRPr lang="en-US" sz="1300" dirty="0"/>
          </a:p>
        </p:txBody>
      </p:sp>
      <p:sp>
        <p:nvSpPr>
          <p:cNvPr id="10" name="Shape 8"/>
          <p:cNvSpPr/>
          <p:nvPr/>
        </p:nvSpPr>
        <p:spPr>
          <a:xfrm>
            <a:off x="4645152" y="1417320"/>
            <a:ext cx="4133088" cy="402336"/>
          </a:xfrm>
          <a:prstGeom prst="rect">
            <a:avLst/>
          </a:prstGeom>
          <a:solidFill>
            <a:srgbClr val="8A4E8F"/>
          </a:solidFill>
          <a:ln/>
        </p:spPr>
      </p:sp>
      <p:sp>
        <p:nvSpPr>
          <p:cNvPr id="11" name="Text 9"/>
          <p:cNvSpPr txBox="1"/>
          <p:nvPr/>
        </p:nvSpPr>
        <p:spPr>
          <a:xfrm>
            <a:off x="4754880" y="141732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GPT - GUID Partition Table</a:t>
            </a:r>
            <a:endParaRPr lang="en-US" sz="1500" dirty="0"/>
          </a:p>
        </p:txBody>
      </p:sp>
      <p:sp>
        <p:nvSpPr>
          <p:cNvPr id="12" name="Shape 10"/>
          <p:cNvSpPr/>
          <p:nvPr/>
        </p:nvSpPr>
        <p:spPr>
          <a:xfrm>
            <a:off x="4645152" y="1819656"/>
            <a:ext cx="4133088" cy="2240280"/>
          </a:xfrm>
          <a:prstGeom prst="rect">
            <a:avLst/>
          </a:prstGeom>
          <a:solidFill>
            <a:srgbClr val="FFFFFF"/>
          </a:solidFill>
          <a:ln w="9525">
            <a:solidFill>
              <a:srgbClr val="CBD6CE"/>
            </a:solidFill>
            <a:prstDash val="solid"/>
          </a:ln>
        </p:spPr>
      </p:sp>
      <p:sp>
        <p:nvSpPr>
          <p:cNvPr id="13" name="Text 11"/>
          <p:cNvSpPr txBox="1"/>
          <p:nvPr/>
        </p:nvSpPr>
        <p:spPr>
          <a:xfrm>
            <a:off x="4773168" y="1883664"/>
            <a:ext cx="3877056" cy="2121408"/>
          </a:xfrm>
          <a:prstGeom prst="rect">
            <a:avLst/>
          </a:prstGeom>
          <a:noFill/>
          <a:ln/>
        </p:spPr>
        <p:txBody>
          <a:bodyPr wrap="square" lIns="0" tIns="0" rIns="0" bIns="0" rtlCol="0" anchor="t"/>
          <a:lstStyle/>
          <a:p>
            <a:pPr indent="0" marL="0">
              <a:buNone/>
            </a:pPr>
            <a:r>
              <a:rPr lang="en-US" sz="1300" b="1" dirty="0">
                <a:solidFill>
                  <a:srgbClr val="8A4E8F"/>
                </a:solidFill>
                <a:latin typeface="Open Sans" pitchFamily="34" charset="0"/>
                <a:ea typeface="Open Sans" pitchFamily="34" charset="-122"/>
                <a:cs typeface="Open Sans" pitchFamily="34" charset="-120"/>
              </a:rPr>
              <a:t>Where it is</a:t>
            </a:r>
            <a:endParaRPr lang="en-US" sz="1300" dirty="0"/>
          </a:p>
          <a:p>
            <a:pPr indent="0" marL="0">
              <a:spcAft>
                <a:spcPts val="500"/>
              </a:spcAft>
              <a:buNone/>
            </a:pPr>
            <a:r>
              <a:rPr lang="en-US" sz="1200" dirty="0">
                <a:solidFill>
                  <a:srgbClr val="31423B"/>
                </a:solidFill>
                <a:latin typeface="Open Sans" pitchFamily="34" charset="0"/>
                <a:ea typeface="Open Sans" pitchFamily="34" charset="-122"/>
                <a:cs typeface="Open Sans" pitchFamily="34" charset="-120"/>
              </a:rPr>
              <a:t>Header in sector 1, then a list of entries</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Partitions</a:t>
            </a:r>
            <a:endParaRPr lang="en-US" sz="1300" dirty="0"/>
          </a:p>
          <a:p>
            <a:pPr indent="0" marL="0">
              <a:spcAft>
                <a:spcPts val="500"/>
              </a:spcAft>
              <a:buNone/>
            </a:pPr>
            <a:r>
              <a:rPr lang="en-US" sz="1200" dirty="0">
                <a:solidFill>
                  <a:srgbClr val="31423B"/>
                </a:solidFill>
                <a:latin typeface="Open Sans" pitchFamily="34" charset="0"/>
                <a:ea typeface="Open Sans" pitchFamily="34" charset="-122"/>
                <a:cs typeface="Open Sans" pitchFamily="34" charset="-120"/>
              </a:rPr>
              <a:t>Usually 128</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Largest disk</a:t>
            </a:r>
            <a:endParaRPr lang="en-US" sz="1300" dirty="0"/>
          </a:p>
          <a:p>
            <a:pPr indent="0" marL="0">
              <a:spcAft>
                <a:spcPts val="500"/>
              </a:spcAft>
              <a:buNone/>
            </a:pPr>
            <a:r>
              <a:rPr lang="en-US" sz="1200" dirty="0">
                <a:solidFill>
                  <a:srgbClr val="31423B"/>
                </a:solidFill>
                <a:latin typeface="Open Sans" pitchFamily="34" charset="0"/>
                <a:ea typeface="Open Sans" pitchFamily="34" charset="-122"/>
                <a:cs typeface="Open Sans" pitchFamily="34" charset="-120"/>
              </a:rPr>
              <a:t>Far larger than any disk made today</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Second copy and self-check</a:t>
            </a:r>
            <a:endParaRPr lang="en-US" sz="1300" dirty="0"/>
          </a:p>
          <a:p>
            <a:pPr indent="0" marL="0">
              <a:spcAft>
                <a:spcPts val="500"/>
              </a:spcAft>
              <a:buNone/>
            </a:pPr>
            <a:r>
              <a:rPr lang="en-US" sz="1200" dirty="0">
                <a:solidFill>
                  <a:srgbClr val="31423B"/>
                </a:solidFill>
                <a:latin typeface="Open Sans" pitchFamily="34" charset="0"/>
                <a:ea typeface="Open Sans" pitchFamily="34" charset="-122"/>
                <a:cs typeface="Open Sans" pitchFamily="34" charset="-120"/>
              </a:rPr>
              <a:t>A full copy at the end of the disk, and a checksum</a:t>
            </a:r>
            <a:endParaRPr lang="en-US" sz="1300" dirty="0"/>
          </a:p>
        </p:txBody>
      </p:sp>
      <p:sp>
        <p:nvSpPr>
          <p:cNvPr id="14" name="Shape 12"/>
          <p:cNvSpPr/>
          <p:nvPr/>
        </p:nvSpPr>
        <p:spPr>
          <a:xfrm>
            <a:off x="411480" y="4160520"/>
            <a:ext cx="8366760" cy="502920"/>
          </a:xfrm>
          <a:prstGeom prst="rect">
            <a:avLst/>
          </a:prstGeom>
          <a:solidFill>
            <a:srgbClr val="E8F0EA"/>
          </a:solidFill>
          <a:ln/>
        </p:spPr>
      </p:sp>
      <p:sp>
        <p:nvSpPr>
          <p:cNvPr id="15" name="Text 13"/>
          <p:cNvSpPr txBox="1"/>
          <p:nvPr/>
        </p:nvSpPr>
        <p:spPr>
          <a:xfrm>
            <a:off x="539496" y="4160520"/>
            <a:ext cx="8110728" cy="502920"/>
          </a:xfrm>
          <a:prstGeom prst="rect">
            <a:avLst/>
          </a:prstGeom>
          <a:noFill/>
          <a:ln/>
        </p:spPr>
        <p:txBody>
          <a:bodyPr wrap="square" lIns="0" tIns="0" rIns="0" bIns="0" rtlCol="0" anchor="ctr"/>
          <a:lstStyle/>
          <a:p>
            <a:pPr indent="0" marL="0">
              <a:buNone/>
            </a:pPr>
            <a:r>
              <a:rPr lang="en-US" sz="1500" b="1" dirty="0">
                <a:solidFill>
                  <a:srgbClr val="31423B"/>
                </a:solidFill>
                <a:latin typeface="Open Sans" pitchFamily="34" charset="0"/>
                <a:ea typeface="Open Sans" pitchFamily="34" charset="-122"/>
                <a:cs typeface="Open Sans" pitchFamily="34" charset="-120"/>
              </a:rPr>
              <a:t>A GPT disk keeps a protective MBR in sector 0, so that old software does not see an empty disk.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file system: an index and a storage area</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731520" y="1417320"/>
            <a:ext cx="7690104" cy="1600200"/>
          </a:xfrm>
          <a:prstGeom prst="rect">
            <a:avLst/>
          </a:prstGeom>
          <a:solidFill>
            <a:srgbClr val="DCE6DE"/>
          </a:solidFill>
          <a:ln/>
        </p:spPr>
      </p:sp>
      <p:sp>
        <p:nvSpPr>
          <p:cNvPr id="7" name="Text 5"/>
          <p:cNvSpPr txBox="1"/>
          <p:nvPr/>
        </p:nvSpPr>
        <p:spPr>
          <a:xfrm>
            <a:off x="841248" y="1472184"/>
            <a:ext cx="7470648" cy="1490472"/>
          </a:xfrm>
          <a:prstGeom prst="rect">
            <a:avLst/>
          </a:prstGeom>
          <a:noFill/>
          <a:ln/>
        </p:spPr>
        <p:txBody>
          <a:bodyPr wrap="square" lIns="0" tIns="0" rIns="0" bIns="0" rtlCol="0" anchor="ctr"/>
          <a:lstStyle/>
          <a:p>
            <a:pPr marL="342900" indent="-342900">
              <a:spcAft>
                <a:spcPts val="600"/>
              </a:spcAft>
              <a:buSzPct val="100000"/>
              <a:buChar char="•"/>
            </a:pPr>
            <a:r>
              <a:rPr lang="en-US" sz="1500" b="1" dirty="0">
                <a:solidFill>
                  <a:srgbClr val="31423B"/>
                </a:solidFill>
                <a:latin typeface="Open Sans" pitchFamily="34" charset="0"/>
                <a:ea typeface="Open Sans" pitchFamily="34" charset="-122"/>
                <a:cs typeface="Open Sans" pitchFamily="34" charset="-120"/>
              </a:rPr>
              <a:t>The index holds metadata: name, size, dates, place of the content</a:t>
            </a:r>
            <a:endParaRPr lang="en-US" sz="1500" dirty="0"/>
          </a:p>
          <a:p>
            <a:pPr marL="342900" indent="-342900">
              <a:spcAft>
                <a:spcPts val="600"/>
              </a:spcAft>
              <a:buSzPct val="100000"/>
              <a:buChar char="•"/>
            </a:pPr>
            <a:r>
              <a:rPr lang="en-US" sz="1500" b="1" dirty="0">
                <a:solidFill>
                  <a:srgbClr val="31423B"/>
                </a:solidFill>
                <a:latin typeface="Open Sans" pitchFamily="34" charset="0"/>
                <a:ea typeface="Open Sans" pitchFamily="34" charset="-122"/>
                <a:cs typeface="Open Sans" pitchFamily="34" charset="-120"/>
              </a:rPr>
              <a:t>The storage area holds content, in clusters</a:t>
            </a:r>
            <a:endParaRPr lang="en-US" sz="1500" dirty="0"/>
          </a:p>
          <a:p>
            <a:pPr marL="342900" indent="-342900">
              <a:spcAft>
                <a:spcPts val="600"/>
              </a:spcAft>
              <a:buSzPct val="100000"/>
              <a:buChar char="•"/>
            </a:pPr>
            <a:r>
              <a:rPr lang="en-US" sz="1500" b="1" dirty="0">
                <a:solidFill>
                  <a:srgbClr val="31423B"/>
                </a:solidFill>
                <a:latin typeface="Open Sans" pitchFamily="34" charset="0"/>
                <a:ea typeface="Open Sans" pitchFamily="34" charset="-122"/>
                <a:cs typeface="Open Sans" pitchFamily="34" charset="-120"/>
              </a:rPr>
              <a:t>Allocated: a current file uses this cluster</a:t>
            </a:r>
            <a:endParaRPr lang="en-US" sz="1500" dirty="0"/>
          </a:p>
          <a:p>
            <a:pPr marL="342900" indent="-342900">
              <a:spcAft>
                <a:spcPts val="600"/>
              </a:spcAft>
              <a:buSzPct val="100000"/>
              <a:buChar char="•"/>
            </a:pPr>
            <a:r>
              <a:rPr lang="en-US" sz="1500" b="1" dirty="0">
                <a:solidFill>
                  <a:srgbClr val="31423B"/>
                </a:solidFill>
                <a:latin typeface="Open Sans" pitchFamily="34" charset="0"/>
                <a:ea typeface="Open Sans" pitchFamily="34" charset="-122"/>
                <a:cs typeface="Open Sans" pitchFamily="34" charset="-120"/>
              </a:rPr>
              <a:t>Unallocated: the index says "free" - not "empty"</a:t>
            </a:r>
            <a:endParaRPr lang="en-US" sz="1500" dirty="0"/>
          </a:p>
        </p:txBody>
      </p:sp>
      <p:sp>
        <p:nvSpPr>
          <p:cNvPr id="8" name="Shape 6"/>
          <p:cNvSpPr/>
          <p:nvPr/>
        </p:nvSpPr>
        <p:spPr>
          <a:xfrm>
            <a:off x="731520" y="3127248"/>
            <a:ext cx="7690104" cy="1536192"/>
          </a:xfrm>
          <a:prstGeom prst="rect">
            <a:avLst/>
          </a:prstGeom>
          <a:solidFill>
            <a:srgbClr val="E8F0EA"/>
          </a:solidFill>
          <a:ln/>
        </p:spPr>
      </p:sp>
      <p:sp>
        <p:nvSpPr>
          <p:cNvPr id="9" name="Shape 7"/>
          <p:cNvSpPr/>
          <p:nvPr/>
        </p:nvSpPr>
        <p:spPr>
          <a:xfrm>
            <a:off x="731520" y="3127248"/>
            <a:ext cx="82296" cy="1536192"/>
          </a:xfrm>
          <a:prstGeom prst="rect">
            <a:avLst/>
          </a:prstGeom>
          <a:solidFill>
            <a:srgbClr val="6E8472"/>
          </a:solidFill>
          <a:ln/>
        </p:spPr>
      </p:sp>
      <p:sp>
        <p:nvSpPr>
          <p:cNvPr id="10" name="Text 8"/>
          <p:cNvSpPr txBox="1"/>
          <p:nvPr/>
        </p:nvSpPr>
        <p:spPr>
          <a:xfrm>
            <a:off x="941832" y="3218688"/>
            <a:ext cx="7324344" cy="219456"/>
          </a:xfrm>
          <a:prstGeom prst="rect">
            <a:avLst/>
          </a:prstGeom>
          <a:noFill/>
          <a:ln/>
        </p:spPr>
        <p:txBody>
          <a:bodyPr wrap="square" lIns="0" tIns="0" rIns="0" bIns="0" rtlCol="0" anchor="t"/>
          <a:lstStyle/>
          <a:p>
            <a:pPr indent="0" marL="0">
              <a:buNone/>
            </a:pPr>
            <a:r>
              <a:rPr lang="en-US" sz="1300" b="1" spc="200" kern="0" dirty="0">
                <a:solidFill>
                  <a:srgbClr val="4F6356"/>
                </a:solidFill>
                <a:latin typeface="Open Sans" pitchFamily="34" charset="0"/>
                <a:ea typeface="Open Sans" pitchFamily="34" charset="-122"/>
                <a:cs typeface="Open Sans" pitchFamily="34" charset="-120"/>
              </a:rPr>
              <a:t>ANALOGY</a:t>
            </a:r>
            <a:endParaRPr lang="en-US" sz="1300" dirty="0"/>
          </a:p>
        </p:txBody>
      </p:sp>
      <p:sp>
        <p:nvSpPr>
          <p:cNvPr id="11" name="Text 9"/>
          <p:cNvSpPr txBox="1"/>
          <p:nvPr/>
        </p:nvSpPr>
        <p:spPr>
          <a:xfrm>
            <a:off x="941832" y="3474720"/>
            <a:ext cx="7324344" cy="1115568"/>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A library: the catalogue card gives the title and the shelf. A shelf position with no card is "free", whatever stands on it.</a:t>
            </a:r>
            <a:endParaRPr lang="en-US" sz="1300" dirty="0"/>
          </a:p>
          <a:p>
            <a:pPr indent="0" marL="0">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a book is whole or gone, but a file can be half replaced. And nobody walks the computer's shelves except an examiner's tools.</a:t>
            </a:r>
            <a:endParaRPr lang="en-US" sz="1300" dirty="0"/>
          </a:p>
          <a:p>
            <a:pPr indent="0" marL="0">
              <a:buNone/>
            </a:pPr>
            <a:r>
              <a:rPr lang="en-US" sz="13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always ask two questions. What does the catalogue say? What is on the shelf?</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Three file systems, one job</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8321040" cy="914400"/>
        </p:xfrm>
        <a:graphic>
          <a:graphicData uri="http://schemas.openxmlformats.org/drawingml/2006/table">
            <a:tbl>
              <a:tblPr/>
              <a:tblGrid>
                <a:gridCol w="2011680"/>
                <a:gridCol w="2468880"/>
                <a:gridCol w="1920240"/>
                <a:gridCol w="1920240"/>
              </a:tblGrid>
              <a:tr h="310896">
                <a:tc>
                  <a:txBody>
                    <a:bodyPr/>
                    <a:lstStyle/>
                    <a:p>
                      <a:pPr indent="0" marL="0">
                        <a:buNone/>
                      </a:pP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FAT32</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NTFS</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ext4</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53035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Where you meet it</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USB sticks, memory cards</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Windows system disks</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Linux, Android phones</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53035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The name is in</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directory entry</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file's MFT record</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directory entry</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53035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Size and dates are in</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directory entry</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file's MFT record</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inode</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53035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The place of the content is in</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First cluster in the directory entry; the rest as a chain in the file allocation table</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MFT record, as a list of runs</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inode, as a list of ranges</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Shape 4"/>
          <p:cNvSpPr/>
          <p:nvPr/>
        </p:nvSpPr>
        <p:spPr>
          <a:xfrm>
            <a:off x="411480" y="4114800"/>
            <a:ext cx="8321040" cy="548640"/>
          </a:xfrm>
          <a:prstGeom prst="rect">
            <a:avLst/>
          </a:prstGeom>
          <a:solidFill>
            <a:srgbClr val="F1E8F2"/>
          </a:solidFill>
          <a:ln/>
        </p:spPr>
      </p:sp>
      <p:sp>
        <p:nvSpPr>
          <p:cNvPr id="8" name="Text 5"/>
          <p:cNvSpPr txBox="1"/>
          <p:nvPr/>
        </p:nvSpPr>
        <p:spPr>
          <a:xfrm>
            <a:off x="539496" y="4114800"/>
            <a:ext cx="8065008" cy="548640"/>
          </a:xfrm>
          <a:prstGeom prst="rect">
            <a:avLst/>
          </a:prstGeom>
          <a:noFill/>
          <a:ln/>
        </p:spPr>
        <p:txBody>
          <a:bodyPr wrap="square" lIns="0" tIns="0" rIns="0" bIns="0" rtlCol="0" anchor="ctr"/>
          <a:lstStyle/>
          <a:p>
            <a:pPr indent="0" marL="0">
              <a:buNone/>
            </a:pPr>
            <a:r>
              <a:rPr lang="en-US" sz="1500" b="1" dirty="0">
                <a:solidFill>
                  <a:srgbClr val="31423B"/>
                </a:solidFill>
                <a:latin typeface="Open Sans" pitchFamily="34" charset="0"/>
                <a:ea typeface="Open Sans" pitchFamily="34" charset="-122"/>
                <a:cs typeface="Open Sans" pitchFamily="34" charset="-120"/>
              </a:rPr>
              <a:t>Where each answer is written decides what survives a deletion.</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How deletion really works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8321040" cy="914400"/>
        </p:xfrm>
        <a:graphic>
          <a:graphicData uri="http://schemas.openxmlformats.org/drawingml/2006/table">
            <a:tbl>
              <a:tblPr/>
              <a:tblGrid>
                <a:gridCol w="1005840"/>
                <a:gridCol w="3657600"/>
                <a:gridCol w="3657600"/>
              </a:tblGrid>
              <a:tr h="310896">
                <a:tc>
                  <a:txBody>
                    <a:bodyPr/>
                    <a:lstStyle/>
                    <a:p>
                      <a:pPr indent="0" marL="0">
                        <a:buNone/>
                      </a:pP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What deletion changes</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What is left</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51206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FAT32</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First byte of the name becomes E5. The chain in the table is set to zero.</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Name, dates, size and the first cluster. All the content.</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51206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NTFS</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in-use flag and the bitmap bits are cleared.</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whole record, with the full list of runs. All the content.</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51206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ext4</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inode's ranges are cleared. A deletion time is written.</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name, for a while. All the content, with no record of where it is.</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Shape 4"/>
          <p:cNvSpPr/>
          <p:nvPr/>
        </p:nvSpPr>
        <p:spPr>
          <a:xfrm>
            <a:off x="411480" y="3401568"/>
            <a:ext cx="8321040" cy="868680"/>
          </a:xfrm>
          <a:prstGeom prst="rect">
            <a:avLst/>
          </a:prstGeom>
          <a:solidFill>
            <a:srgbClr val="DCE6DE"/>
          </a:solidFill>
          <a:ln/>
        </p:spPr>
      </p:sp>
      <p:sp>
        <p:nvSpPr>
          <p:cNvPr id="8" name="Text 5"/>
          <p:cNvSpPr txBox="1"/>
          <p:nvPr/>
        </p:nvSpPr>
        <p:spPr>
          <a:xfrm>
            <a:off x="521208" y="3456432"/>
            <a:ext cx="8101584" cy="758952"/>
          </a:xfrm>
          <a:prstGeom prst="rect">
            <a:avLst/>
          </a:prstGeom>
          <a:noFill/>
          <a:ln/>
        </p:spPr>
        <p:txBody>
          <a:bodyPr wrap="square" lIns="0" tIns="0" rIns="0" bIns="0" rtlCol="0" anchor="ctr"/>
          <a:lstStyle/>
          <a:p>
            <a:pPr marL="342900" indent="-342900">
              <a:spcAft>
                <a:spcPts val="600"/>
              </a:spcAft>
              <a:buSzPct val="100000"/>
              <a:buChar char="•"/>
            </a:pPr>
            <a:r>
              <a:rPr lang="en-US" sz="1500" b="1" dirty="0">
                <a:solidFill>
                  <a:srgbClr val="31423B"/>
                </a:solidFill>
                <a:latin typeface="Open Sans" pitchFamily="34" charset="0"/>
                <a:ea typeface="Open Sans" pitchFamily="34" charset="-122"/>
                <a:cs typeface="Open Sans" pitchFamily="34" charset="-120"/>
              </a:rPr>
              <a:t>Recycle Bin: a move and a rename, not a deletion</a:t>
            </a:r>
            <a:endParaRPr lang="en-US" sz="1500" dirty="0"/>
          </a:p>
          <a:p>
            <a:pPr marL="342900" indent="-342900">
              <a:spcAft>
                <a:spcPts val="600"/>
              </a:spcAft>
              <a:buSzPct val="100000"/>
              <a:buChar char="•"/>
            </a:pPr>
            <a:r>
              <a:rPr lang="en-US" sz="1500" b="1" dirty="0">
                <a:solidFill>
                  <a:srgbClr val="31423B"/>
                </a:solidFill>
                <a:latin typeface="Open Sans" pitchFamily="34" charset="0"/>
                <a:ea typeface="Open Sans" pitchFamily="34" charset="-122"/>
                <a:cs typeface="Open Sans" pitchFamily="34" charset="-120"/>
              </a:rPr>
              <a:t>Quick format: a new empty index; the storage area is not touched</a:t>
            </a:r>
            <a:endParaRPr lang="en-US" sz="1500" dirty="0"/>
          </a:p>
        </p:txBody>
      </p:sp>
      <p:sp>
        <p:nvSpPr>
          <p:cNvPr id="9" name="Text 6"/>
          <p:cNvSpPr txBox="1"/>
          <p:nvPr/>
        </p:nvSpPr>
        <p:spPr>
          <a:xfrm>
            <a:off x="411480" y="4343400"/>
            <a:ext cx="8321040" cy="329184"/>
          </a:xfrm>
          <a:prstGeom prst="rect">
            <a:avLst/>
          </a:prstGeom>
          <a:noFill/>
          <a:ln/>
        </p:spPr>
        <p:txBody>
          <a:bodyPr wrap="square" lIns="0" tIns="0" rIns="0" bIns="0" rtlCol="0" anchor="t"/>
          <a:lstStyle/>
          <a:p>
            <a:pPr indent="0" marL="0">
              <a:buNone/>
            </a:pPr>
            <a:r>
              <a:rPr lang="en-US" sz="1300" i="1" dirty="0">
                <a:solidFill>
                  <a:srgbClr val="5C6B63"/>
                </a:solidFill>
                <a:latin typeface="Open Sans" pitchFamily="34" charset="0"/>
                <a:ea typeface="Open Sans" pitchFamily="34" charset="-122"/>
                <a:cs typeface="Open Sans" pitchFamily="34" charset="-120"/>
              </a:rPr>
              <a:t>He pressed Shift and Delete. It took a second. The files held many megabytes.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What deletion leaves behind</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731520" y="1417320"/>
            <a:ext cx="7690104" cy="1188720"/>
          </a:xfrm>
          <a:prstGeom prst="rect">
            <a:avLst/>
          </a:prstGeom>
          <a:solidFill>
            <a:srgbClr val="DCE6DE"/>
          </a:solidFill>
          <a:ln/>
        </p:spPr>
      </p:sp>
      <p:sp>
        <p:nvSpPr>
          <p:cNvPr id="7" name="Text 5"/>
          <p:cNvSpPr txBox="1"/>
          <p:nvPr/>
        </p:nvSpPr>
        <p:spPr>
          <a:xfrm>
            <a:off x="841248" y="1472184"/>
            <a:ext cx="7470648" cy="1078992"/>
          </a:xfrm>
          <a:prstGeom prst="rect">
            <a:avLst/>
          </a:prstGeom>
          <a:noFill/>
          <a:ln/>
        </p:spPr>
        <p:txBody>
          <a:bodyPr wrap="square" lIns="0" tIns="0" rIns="0" bIns="0" rtlCol="0" anchor="ctr"/>
          <a:lstStyle/>
          <a:p>
            <a:pPr marL="342900" indent="-342900">
              <a:spcAft>
                <a:spcPts val="600"/>
              </a:spcAft>
              <a:buSzPct val="100000"/>
              <a:buChar char="•"/>
            </a:pPr>
            <a:r>
              <a:rPr lang="en-US" sz="1500" b="1" dirty="0">
                <a:solidFill>
                  <a:srgbClr val="31423B"/>
                </a:solidFill>
                <a:latin typeface="Open Sans" pitchFamily="34" charset="0"/>
                <a:ea typeface="Open Sans" pitchFamily="34" charset="-122"/>
                <a:cs typeface="Open Sans" pitchFamily="34" charset="-120"/>
              </a:rPr>
              <a:t>The system loses its route to the content</a:t>
            </a:r>
            <a:endParaRPr lang="en-US" sz="1500" dirty="0"/>
          </a:p>
          <a:p>
            <a:pPr marL="342900" indent="-342900">
              <a:spcAft>
                <a:spcPts val="600"/>
              </a:spcAft>
              <a:buSzPct val="100000"/>
              <a:buChar char="•"/>
            </a:pPr>
            <a:r>
              <a:rPr lang="en-US" sz="1500" b="1" dirty="0">
                <a:solidFill>
                  <a:srgbClr val="31423B"/>
                </a:solidFill>
                <a:latin typeface="Open Sans" pitchFamily="34" charset="0"/>
                <a:ea typeface="Open Sans" pitchFamily="34" charset="-122"/>
                <a:cs typeface="Open Sans" pitchFamily="34" charset="-120"/>
              </a:rPr>
              <a:t>The content stays in unallocated space</a:t>
            </a:r>
            <a:endParaRPr lang="en-US" sz="1500" dirty="0"/>
          </a:p>
          <a:p>
            <a:pPr marL="342900" indent="-342900">
              <a:spcAft>
                <a:spcPts val="600"/>
              </a:spcAft>
              <a:buSzPct val="100000"/>
              <a:buChar char="•"/>
            </a:pPr>
            <a:r>
              <a:rPr lang="en-US" sz="1500" b="1" dirty="0">
                <a:solidFill>
                  <a:srgbClr val="31423B"/>
                </a:solidFill>
                <a:latin typeface="Open Sans" pitchFamily="34" charset="0"/>
                <a:ea typeface="Open Sans" pitchFamily="34" charset="-122"/>
                <a:cs typeface="Open Sans" pitchFamily="34" charset="-120"/>
              </a:rPr>
              <a:t>A tool that reads the storage directly can still reach it</a:t>
            </a:r>
            <a:endParaRPr lang="en-US" sz="1500" dirty="0"/>
          </a:p>
        </p:txBody>
      </p:sp>
      <p:sp>
        <p:nvSpPr>
          <p:cNvPr id="8" name="Shape 6"/>
          <p:cNvSpPr/>
          <p:nvPr/>
        </p:nvSpPr>
        <p:spPr>
          <a:xfrm>
            <a:off x="731520" y="2715768"/>
            <a:ext cx="7690104" cy="1947672"/>
          </a:xfrm>
          <a:prstGeom prst="rect">
            <a:avLst/>
          </a:prstGeom>
          <a:solidFill>
            <a:srgbClr val="F1E8F2"/>
          </a:solidFill>
          <a:ln/>
        </p:spPr>
      </p:sp>
      <p:sp>
        <p:nvSpPr>
          <p:cNvPr id="9" name="Shape 7"/>
          <p:cNvSpPr/>
          <p:nvPr/>
        </p:nvSpPr>
        <p:spPr>
          <a:xfrm>
            <a:off x="731520" y="2715768"/>
            <a:ext cx="82296" cy="1947672"/>
          </a:xfrm>
          <a:prstGeom prst="rect">
            <a:avLst/>
          </a:prstGeom>
          <a:solidFill>
            <a:srgbClr val="8A4E8F"/>
          </a:solidFill>
          <a:ln/>
        </p:spPr>
      </p:sp>
      <p:sp>
        <p:nvSpPr>
          <p:cNvPr id="10" name="Text 8"/>
          <p:cNvSpPr txBox="1"/>
          <p:nvPr/>
        </p:nvSpPr>
        <p:spPr>
          <a:xfrm>
            <a:off x="941832" y="2807208"/>
            <a:ext cx="7324344" cy="219456"/>
          </a:xfrm>
          <a:prstGeom prst="rect">
            <a:avLst/>
          </a:prstGeom>
          <a:noFill/>
          <a:ln/>
        </p:spPr>
        <p:txBody>
          <a:bodyPr wrap="square" lIns="0" tIns="0" rIns="0" bIns="0" rtlCol="0" anchor="t"/>
          <a:lstStyle/>
          <a:p>
            <a:pPr indent="0" marL="0">
              <a:buNone/>
            </a:pPr>
            <a:r>
              <a:rPr lang="en-US" sz="1300" b="1" spc="200" kern="0" dirty="0">
                <a:solidFill>
                  <a:srgbClr val="8A4E8F"/>
                </a:solidFill>
                <a:latin typeface="Open Sans" pitchFamily="34" charset="0"/>
                <a:ea typeface="Open Sans" pitchFamily="34" charset="-122"/>
                <a:cs typeface="Open Sans" pitchFamily="34" charset="-120"/>
              </a:rPr>
              <a:t>THROUGH ANOTHER LENS</a:t>
            </a:r>
            <a:endParaRPr lang="en-US" sz="1300" dirty="0"/>
          </a:p>
        </p:txBody>
      </p:sp>
      <p:sp>
        <p:nvSpPr>
          <p:cNvPr id="11" name="Text 9"/>
          <p:cNvSpPr txBox="1"/>
          <p:nvPr/>
        </p:nvSpPr>
        <p:spPr>
          <a:xfrm>
            <a:off x="941832" y="3063240"/>
            <a:ext cx="7324344" cy="1527048"/>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Eternal Sunshine of the Spotless Mind: two former lovers pay a company to erase each other from memory. In the morning neither can recall the other, yet they meet as strangers and are drawn together again.</a:t>
            </a:r>
            <a:endParaRPr lang="en-US" sz="1300" dirty="0"/>
          </a:p>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Psychology makes the same distinction: a memory you cannot recall is often still stored. The route is lost, not the trace.</a:t>
            </a:r>
            <a:endParaRPr lang="en-US" sz="1300" dirty="0"/>
          </a:p>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What is a deleted file missing: the trace, or the route?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31423B"/>
          </a:solidFill>
          <a:ln/>
        </p:spPr>
      </p:sp>
      <p:sp>
        <p:nvSpPr>
          <p:cNvPr id="3" name="Shape 1"/>
          <p:cNvSpPr/>
          <p:nvPr/>
        </p:nvSpPr>
        <p:spPr>
          <a:xfrm>
            <a:off x="731520" y="731520"/>
            <a:ext cx="502920" cy="64008"/>
          </a:xfrm>
          <a:prstGeom prst="rect">
            <a:avLst/>
          </a:prstGeom>
          <a:solidFill>
            <a:srgbClr val="6E8472"/>
          </a:solidFill>
          <a:ln/>
        </p:spPr>
      </p:sp>
      <p:sp>
        <p:nvSpPr>
          <p:cNvPr id="4" name="Shape 2"/>
          <p:cNvSpPr/>
          <p:nvPr/>
        </p:nvSpPr>
        <p:spPr>
          <a:xfrm>
            <a:off x="1280160" y="731520"/>
            <a:ext cx="256032" cy="64008"/>
          </a:xfrm>
          <a:prstGeom prst="rect">
            <a:avLst/>
          </a:prstGeom>
          <a:solidFill>
            <a:srgbClr val="8A4E8F"/>
          </a:solidFill>
          <a:ln/>
        </p:spPr>
      </p:sp>
      <p:sp>
        <p:nvSpPr>
          <p:cNvPr id="5" name="Text 3"/>
          <p:cNvSpPr txBox="1"/>
          <p:nvPr/>
        </p:nvSpPr>
        <p:spPr>
          <a:xfrm>
            <a:off x="731520" y="987552"/>
            <a:ext cx="7680960" cy="365760"/>
          </a:xfrm>
          <a:prstGeom prst="rect">
            <a:avLst/>
          </a:prstGeom>
          <a:noFill/>
          <a:ln/>
        </p:spPr>
        <p:txBody>
          <a:bodyPr wrap="square" lIns="0" tIns="0" rIns="0" bIns="0" rtlCol="0" anchor="t"/>
          <a:lstStyle/>
          <a:p>
            <a:pPr indent="0" marL="0">
              <a:buNone/>
            </a:pPr>
            <a:r>
              <a:rPr lang="en-US" sz="1300" b="1" spc="200" kern="0" dirty="0">
                <a:solidFill>
                  <a:srgbClr val="C9A6CC"/>
                </a:solidFill>
                <a:latin typeface="Open Sans" pitchFamily="34" charset="0"/>
                <a:ea typeface="Open Sans" pitchFamily="34" charset="-122"/>
                <a:cs typeface="Open Sans" pitchFamily="34" charset="-120"/>
              </a:rPr>
              <a:t>KEY CONCEPT</a:t>
            </a:r>
            <a:endParaRPr lang="en-US" sz="1300" dirty="0"/>
          </a:p>
        </p:txBody>
      </p:sp>
      <p:sp>
        <p:nvSpPr>
          <p:cNvPr id="6" name="Text 4"/>
          <p:cNvSpPr txBox="1"/>
          <p:nvPr/>
        </p:nvSpPr>
        <p:spPr>
          <a:xfrm>
            <a:off x="731520" y="1554480"/>
            <a:ext cx="7680960" cy="1920240"/>
          </a:xfrm>
          <a:prstGeom prst="rect">
            <a:avLst/>
          </a:prstGeom>
          <a:noFill/>
          <a:ln/>
        </p:spPr>
        <p:txBody>
          <a:bodyPr wrap="square" lIns="0" tIns="0" rIns="0" bIns="0" rtlCol="0" anchor="t"/>
          <a:lstStyle/>
          <a:p>
            <a:pPr indent="0" marL="0">
              <a:buNone/>
            </a:pPr>
            <a:r>
              <a:rPr lang="en-US" sz="3200" b="1" dirty="0">
                <a:solidFill>
                  <a:srgbClr val="FFFFFF"/>
                </a:solidFill>
                <a:latin typeface="Open Sans" pitchFamily="34" charset="0"/>
                <a:ea typeface="Open Sans" pitchFamily="34" charset="-122"/>
                <a:cs typeface="Open Sans" pitchFamily="34" charset="-120"/>
              </a:rPr>
              <a:t>Deletion removes the pointer, not the data; recovery reads what the system stopped indexing.</a:t>
            </a:r>
            <a:endParaRPr lang="en-US" sz="3200" dirty="0"/>
          </a:p>
        </p:txBody>
      </p:sp>
      <p:sp>
        <p:nvSpPr>
          <p:cNvPr id="7" name="Text 5"/>
          <p:cNvSpPr txBox="1"/>
          <p:nvPr/>
        </p:nvSpPr>
        <p:spPr>
          <a:xfrm>
            <a:off x="731520" y="3703320"/>
            <a:ext cx="7680960" cy="1005840"/>
          </a:xfrm>
          <a:prstGeom prst="rect">
            <a:avLst/>
          </a:prstGeom>
          <a:noFill/>
          <a:ln/>
        </p:spPr>
        <p:txBody>
          <a:bodyPr wrap="square" lIns="0" tIns="0" rIns="0" bIns="0" rtlCol="0" anchor="t"/>
          <a:lstStyle/>
          <a:p>
            <a:pPr indent="0" marL="0">
              <a:buNone/>
            </a:pPr>
            <a:r>
              <a:rPr lang="en-US" sz="1600" b="1" i="1" dirty="0">
                <a:solidFill>
                  <a:srgbClr val="E8F0EA"/>
                </a:solidFill>
                <a:latin typeface="Open Sans" pitchFamily="34" charset="0"/>
                <a:ea typeface="Open Sans" pitchFamily="34" charset="-122"/>
                <a:cs typeface="Open Sans" pitchFamily="34" charset="-120"/>
              </a:rPr>
              <a:t>On a disk the residue is exact: the same bytes, and a hash value can prove it.</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File slack: old data inside a current file</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731520" y="1481328"/>
            <a:ext cx="914400" cy="566928"/>
          </a:xfrm>
          <a:prstGeom prst="rect">
            <a:avLst/>
          </a:prstGeom>
          <a:solidFill>
            <a:srgbClr val="4F6356"/>
          </a:solidFill>
          <a:ln/>
        </p:spPr>
      </p:sp>
      <p:sp>
        <p:nvSpPr>
          <p:cNvPr id="7" name="Text 5"/>
          <p:cNvSpPr txBox="1"/>
          <p:nvPr/>
        </p:nvSpPr>
        <p:spPr>
          <a:xfrm>
            <a:off x="731520" y="2066544"/>
            <a:ext cx="914400" cy="219456"/>
          </a:xfrm>
          <a:prstGeom prst="rect">
            <a:avLst/>
          </a:prstGeom>
          <a:noFill/>
          <a:ln/>
        </p:spPr>
        <p:txBody>
          <a:bodyPr wrap="square" lIns="0" tIns="0" rIns="0" bIns="0" rtlCol="0" anchor="t"/>
          <a:lstStyle/>
          <a:p>
            <a:pPr algn="ctr" indent="0" marL="0">
              <a:buNone/>
            </a:pPr>
            <a:r>
              <a:rPr lang="en-US" sz="1100" dirty="0">
                <a:solidFill>
                  <a:srgbClr val="5C6B63"/>
                </a:solidFill>
                <a:latin typeface="Open Sans" pitchFamily="34" charset="0"/>
                <a:ea typeface="Open Sans" pitchFamily="34" charset="-122"/>
                <a:cs typeface="Open Sans" pitchFamily="34" charset="-120"/>
              </a:rPr>
              <a:t>1</a:t>
            </a:r>
            <a:endParaRPr lang="en-US" sz="1100" dirty="0"/>
          </a:p>
        </p:txBody>
      </p:sp>
      <p:sp>
        <p:nvSpPr>
          <p:cNvPr id="8" name="Shape 6"/>
          <p:cNvSpPr/>
          <p:nvPr/>
        </p:nvSpPr>
        <p:spPr>
          <a:xfrm>
            <a:off x="1691640" y="1481328"/>
            <a:ext cx="914400" cy="566928"/>
          </a:xfrm>
          <a:prstGeom prst="rect">
            <a:avLst/>
          </a:prstGeom>
          <a:solidFill>
            <a:srgbClr val="4F6356"/>
          </a:solidFill>
          <a:ln/>
        </p:spPr>
      </p:sp>
      <p:sp>
        <p:nvSpPr>
          <p:cNvPr id="9" name="Text 7"/>
          <p:cNvSpPr txBox="1"/>
          <p:nvPr/>
        </p:nvSpPr>
        <p:spPr>
          <a:xfrm>
            <a:off x="1691640" y="2066544"/>
            <a:ext cx="914400" cy="219456"/>
          </a:xfrm>
          <a:prstGeom prst="rect">
            <a:avLst/>
          </a:prstGeom>
          <a:noFill/>
          <a:ln/>
        </p:spPr>
        <p:txBody>
          <a:bodyPr wrap="square" lIns="0" tIns="0" rIns="0" bIns="0" rtlCol="0" anchor="t"/>
          <a:lstStyle/>
          <a:p>
            <a:pPr algn="ctr" indent="0" marL="0">
              <a:buNone/>
            </a:pPr>
            <a:r>
              <a:rPr lang="en-US" sz="1100" dirty="0">
                <a:solidFill>
                  <a:srgbClr val="5C6B63"/>
                </a:solidFill>
                <a:latin typeface="Open Sans" pitchFamily="34" charset="0"/>
                <a:ea typeface="Open Sans" pitchFamily="34" charset="-122"/>
                <a:cs typeface="Open Sans" pitchFamily="34" charset="-120"/>
              </a:rPr>
              <a:t>2</a:t>
            </a:r>
            <a:endParaRPr lang="en-US" sz="1100" dirty="0"/>
          </a:p>
        </p:txBody>
      </p:sp>
      <p:sp>
        <p:nvSpPr>
          <p:cNvPr id="10" name="Shape 8"/>
          <p:cNvSpPr/>
          <p:nvPr/>
        </p:nvSpPr>
        <p:spPr>
          <a:xfrm>
            <a:off x="2651760" y="1481328"/>
            <a:ext cx="914400" cy="566928"/>
          </a:xfrm>
          <a:prstGeom prst="rect">
            <a:avLst/>
          </a:prstGeom>
          <a:solidFill>
            <a:srgbClr val="4F6356"/>
          </a:solidFill>
          <a:ln/>
        </p:spPr>
      </p:sp>
      <p:sp>
        <p:nvSpPr>
          <p:cNvPr id="11" name="Text 9"/>
          <p:cNvSpPr txBox="1"/>
          <p:nvPr/>
        </p:nvSpPr>
        <p:spPr>
          <a:xfrm>
            <a:off x="2651760" y="2066544"/>
            <a:ext cx="914400" cy="219456"/>
          </a:xfrm>
          <a:prstGeom prst="rect">
            <a:avLst/>
          </a:prstGeom>
          <a:noFill/>
          <a:ln/>
        </p:spPr>
        <p:txBody>
          <a:bodyPr wrap="square" lIns="0" tIns="0" rIns="0" bIns="0" rtlCol="0" anchor="t"/>
          <a:lstStyle/>
          <a:p>
            <a:pPr algn="ctr" indent="0" marL="0">
              <a:buNone/>
            </a:pPr>
            <a:r>
              <a:rPr lang="en-US" sz="1100" dirty="0">
                <a:solidFill>
                  <a:srgbClr val="5C6B63"/>
                </a:solidFill>
                <a:latin typeface="Open Sans" pitchFamily="34" charset="0"/>
                <a:ea typeface="Open Sans" pitchFamily="34" charset="-122"/>
                <a:cs typeface="Open Sans" pitchFamily="34" charset="-120"/>
              </a:rPr>
              <a:t>3</a:t>
            </a:r>
            <a:endParaRPr lang="en-US" sz="1100" dirty="0"/>
          </a:p>
        </p:txBody>
      </p:sp>
      <p:sp>
        <p:nvSpPr>
          <p:cNvPr id="12" name="Shape 10"/>
          <p:cNvSpPr/>
          <p:nvPr/>
        </p:nvSpPr>
        <p:spPr>
          <a:xfrm>
            <a:off x="3611880" y="1481328"/>
            <a:ext cx="484632" cy="566928"/>
          </a:xfrm>
          <a:prstGeom prst="rect">
            <a:avLst/>
          </a:prstGeom>
          <a:solidFill>
            <a:srgbClr val="4F6356"/>
          </a:solidFill>
          <a:ln/>
        </p:spPr>
      </p:sp>
      <p:sp>
        <p:nvSpPr>
          <p:cNvPr id="13" name="Shape 11"/>
          <p:cNvSpPr/>
          <p:nvPr/>
        </p:nvSpPr>
        <p:spPr>
          <a:xfrm>
            <a:off x="4096512" y="1481328"/>
            <a:ext cx="429768" cy="566928"/>
          </a:xfrm>
          <a:prstGeom prst="rect">
            <a:avLst/>
          </a:prstGeom>
          <a:solidFill>
            <a:srgbClr val="FFFFFF"/>
          </a:solidFill>
          <a:ln w="9525">
            <a:solidFill>
              <a:srgbClr val="5C6B63"/>
            </a:solidFill>
            <a:prstDash val="solid"/>
          </a:ln>
        </p:spPr>
      </p:sp>
      <p:sp>
        <p:nvSpPr>
          <p:cNvPr id="14" name="Text 12"/>
          <p:cNvSpPr txBox="1"/>
          <p:nvPr/>
        </p:nvSpPr>
        <p:spPr>
          <a:xfrm>
            <a:off x="3611880" y="2066544"/>
            <a:ext cx="914400" cy="219456"/>
          </a:xfrm>
          <a:prstGeom prst="rect">
            <a:avLst/>
          </a:prstGeom>
          <a:noFill/>
          <a:ln/>
        </p:spPr>
        <p:txBody>
          <a:bodyPr wrap="square" lIns="0" tIns="0" rIns="0" bIns="0" rtlCol="0" anchor="t"/>
          <a:lstStyle/>
          <a:p>
            <a:pPr algn="ctr" indent="0" marL="0">
              <a:buNone/>
            </a:pPr>
            <a:r>
              <a:rPr lang="en-US" sz="1100" dirty="0">
                <a:solidFill>
                  <a:srgbClr val="5C6B63"/>
                </a:solidFill>
                <a:latin typeface="Open Sans" pitchFamily="34" charset="0"/>
                <a:ea typeface="Open Sans" pitchFamily="34" charset="-122"/>
                <a:cs typeface="Open Sans" pitchFamily="34" charset="-120"/>
              </a:rPr>
              <a:t>4</a:t>
            </a:r>
            <a:endParaRPr lang="en-US" sz="1100" dirty="0"/>
          </a:p>
        </p:txBody>
      </p:sp>
      <p:sp>
        <p:nvSpPr>
          <p:cNvPr id="15" name="Shape 13"/>
          <p:cNvSpPr/>
          <p:nvPr/>
        </p:nvSpPr>
        <p:spPr>
          <a:xfrm>
            <a:off x="4572000" y="1481328"/>
            <a:ext cx="914400" cy="566928"/>
          </a:xfrm>
          <a:prstGeom prst="rect">
            <a:avLst/>
          </a:prstGeom>
          <a:solidFill>
            <a:srgbClr val="8A4E8F"/>
          </a:solidFill>
          <a:ln/>
        </p:spPr>
      </p:sp>
      <p:sp>
        <p:nvSpPr>
          <p:cNvPr id="16" name="Text 14"/>
          <p:cNvSpPr txBox="1"/>
          <p:nvPr/>
        </p:nvSpPr>
        <p:spPr>
          <a:xfrm>
            <a:off x="4572000" y="2066544"/>
            <a:ext cx="914400" cy="219456"/>
          </a:xfrm>
          <a:prstGeom prst="rect">
            <a:avLst/>
          </a:prstGeom>
          <a:noFill/>
          <a:ln/>
        </p:spPr>
        <p:txBody>
          <a:bodyPr wrap="square" lIns="0" tIns="0" rIns="0" bIns="0" rtlCol="0" anchor="t"/>
          <a:lstStyle/>
          <a:p>
            <a:pPr algn="ctr" indent="0" marL="0">
              <a:buNone/>
            </a:pPr>
            <a:r>
              <a:rPr lang="en-US" sz="1100" dirty="0">
                <a:solidFill>
                  <a:srgbClr val="5C6B63"/>
                </a:solidFill>
                <a:latin typeface="Open Sans" pitchFamily="34" charset="0"/>
                <a:ea typeface="Open Sans" pitchFamily="34" charset="-122"/>
                <a:cs typeface="Open Sans" pitchFamily="34" charset="-120"/>
              </a:rPr>
              <a:t>5</a:t>
            </a:r>
            <a:endParaRPr lang="en-US" sz="1100" dirty="0"/>
          </a:p>
        </p:txBody>
      </p:sp>
      <p:sp>
        <p:nvSpPr>
          <p:cNvPr id="17" name="Shape 15"/>
          <p:cNvSpPr/>
          <p:nvPr/>
        </p:nvSpPr>
        <p:spPr>
          <a:xfrm>
            <a:off x="5532120" y="1481328"/>
            <a:ext cx="914400" cy="566928"/>
          </a:xfrm>
          <a:prstGeom prst="rect">
            <a:avLst/>
          </a:prstGeom>
          <a:solidFill>
            <a:srgbClr val="8A4E8F"/>
          </a:solidFill>
          <a:ln/>
        </p:spPr>
      </p:sp>
      <p:sp>
        <p:nvSpPr>
          <p:cNvPr id="18" name="Text 16"/>
          <p:cNvSpPr txBox="1"/>
          <p:nvPr/>
        </p:nvSpPr>
        <p:spPr>
          <a:xfrm>
            <a:off x="5532120" y="2066544"/>
            <a:ext cx="914400" cy="219456"/>
          </a:xfrm>
          <a:prstGeom prst="rect">
            <a:avLst/>
          </a:prstGeom>
          <a:noFill/>
          <a:ln/>
        </p:spPr>
        <p:txBody>
          <a:bodyPr wrap="square" lIns="0" tIns="0" rIns="0" bIns="0" rtlCol="0" anchor="t"/>
          <a:lstStyle/>
          <a:p>
            <a:pPr algn="ctr" indent="0" marL="0">
              <a:buNone/>
            </a:pPr>
            <a:r>
              <a:rPr lang="en-US" sz="1100" dirty="0">
                <a:solidFill>
                  <a:srgbClr val="5C6B63"/>
                </a:solidFill>
                <a:latin typeface="Open Sans" pitchFamily="34" charset="0"/>
                <a:ea typeface="Open Sans" pitchFamily="34" charset="-122"/>
                <a:cs typeface="Open Sans" pitchFamily="34" charset="-120"/>
              </a:rPr>
              <a:t>6</a:t>
            </a:r>
            <a:endParaRPr lang="en-US" sz="1100" dirty="0"/>
          </a:p>
        </p:txBody>
      </p:sp>
      <p:sp>
        <p:nvSpPr>
          <p:cNvPr id="19" name="Shape 17"/>
          <p:cNvSpPr/>
          <p:nvPr/>
        </p:nvSpPr>
        <p:spPr>
          <a:xfrm>
            <a:off x="6492240" y="1481328"/>
            <a:ext cx="914400" cy="566928"/>
          </a:xfrm>
          <a:prstGeom prst="rect">
            <a:avLst/>
          </a:prstGeom>
          <a:solidFill>
            <a:srgbClr val="8A4E8F"/>
          </a:solidFill>
          <a:ln/>
        </p:spPr>
      </p:sp>
      <p:sp>
        <p:nvSpPr>
          <p:cNvPr id="20" name="Text 18"/>
          <p:cNvSpPr txBox="1"/>
          <p:nvPr/>
        </p:nvSpPr>
        <p:spPr>
          <a:xfrm>
            <a:off x="6492240" y="2066544"/>
            <a:ext cx="914400" cy="219456"/>
          </a:xfrm>
          <a:prstGeom prst="rect">
            <a:avLst/>
          </a:prstGeom>
          <a:noFill/>
          <a:ln/>
        </p:spPr>
        <p:txBody>
          <a:bodyPr wrap="square" lIns="0" tIns="0" rIns="0" bIns="0" rtlCol="0" anchor="t"/>
          <a:lstStyle/>
          <a:p>
            <a:pPr algn="ctr" indent="0" marL="0">
              <a:buNone/>
            </a:pPr>
            <a:r>
              <a:rPr lang="en-US" sz="1100" dirty="0">
                <a:solidFill>
                  <a:srgbClr val="5C6B63"/>
                </a:solidFill>
                <a:latin typeface="Open Sans" pitchFamily="34" charset="0"/>
                <a:ea typeface="Open Sans" pitchFamily="34" charset="-122"/>
                <a:cs typeface="Open Sans" pitchFamily="34" charset="-120"/>
              </a:rPr>
              <a:t>7</a:t>
            </a:r>
            <a:endParaRPr lang="en-US" sz="1100" dirty="0"/>
          </a:p>
        </p:txBody>
      </p:sp>
      <p:sp>
        <p:nvSpPr>
          <p:cNvPr id="21" name="Shape 19"/>
          <p:cNvSpPr/>
          <p:nvPr/>
        </p:nvSpPr>
        <p:spPr>
          <a:xfrm>
            <a:off x="7452360" y="1481328"/>
            <a:ext cx="914400" cy="566928"/>
          </a:xfrm>
          <a:prstGeom prst="rect">
            <a:avLst/>
          </a:prstGeom>
          <a:solidFill>
            <a:srgbClr val="8A4E8F"/>
          </a:solidFill>
          <a:ln/>
        </p:spPr>
      </p:sp>
      <p:sp>
        <p:nvSpPr>
          <p:cNvPr id="22" name="Text 20"/>
          <p:cNvSpPr txBox="1"/>
          <p:nvPr/>
        </p:nvSpPr>
        <p:spPr>
          <a:xfrm>
            <a:off x="7452360" y="2066544"/>
            <a:ext cx="914400" cy="219456"/>
          </a:xfrm>
          <a:prstGeom prst="rect">
            <a:avLst/>
          </a:prstGeom>
          <a:noFill/>
          <a:ln/>
        </p:spPr>
        <p:txBody>
          <a:bodyPr wrap="square" lIns="0" tIns="0" rIns="0" bIns="0" rtlCol="0" anchor="t"/>
          <a:lstStyle/>
          <a:p>
            <a:pPr algn="ctr" indent="0" marL="0">
              <a:buNone/>
            </a:pPr>
            <a:r>
              <a:rPr lang="en-US" sz="1100" dirty="0">
                <a:solidFill>
                  <a:srgbClr val="5C6B63"/>
                </a:solidFill>
                <a:latin typeface="Open Sans" pitchFamily="34" charset="0"/>
                <a:ea typeface="Open Sans" pitchFamily="34" charset="-122"/>
                <a:cs typeface="Open Sans" pitchFamily="34" charset="-120"/>
              </a:rPr>
              <a:t>8</a:t>
            </a:r>
            <a:endParaRPr lang="en-US" sz="1100" dirty="0"/>
          </a:p>
        </p:txBody>
      </p:sp>
      <p:sp>
        <p:nvSpPr>
          <p:cNvPr id="23" name="Text 21"/>
          <p:cNvSpPr txBox="1"/>
          <p:nvPr/>
        </p:nvSpPr>
        <p:spPr>
          <a:xfrm>
            <a:off x="731520" y="2304288"/>
            <a:ext cx="7690104" cy="402336"/>
          </a:xfrm>
          <a:prstGeom prst="rect">
            <a:avLst/>
          </a:prstGeom>
          <a:noFill/>
          <a:ln/>
        </p:spPr>
        <p:txBody>
          <a:bodyPr wrap="square" lIns="0" tIns="0" rIns="0" bIns="0" rtlCol="0" anchor="t"/>
          <a:lstStyle/>
          <a:p>
            <a:pPr indent="0" marL="0">
              <a:buNone/>
            </a:pPr>
            <a:r>
              <a:rPr lang="en-US" sz="1200" dirty="0">
                <a:solidFill>
                  <a:srgbClr val="31423B"/>
                </a:solidFill>
                <a:latin typeface="Open Sans" pitchFamily="34" charset="0"/>
                <a:ea typeface="Open Sans" pitchFamily="34" charset="-122"/>
                <a:cs typeface="Open Sans" pitchFamily="34" charset="-120"/>
              </a:rPr>
              <a:t>Dark: new file, 1,808 bytes.  White: RAM slack, 240 bytes of zeros.  Plum: drive slack, 2,048 bytes of old data.</a:t>
            </a:r>
            <a:endParaRPr lang="en-US" sz="1200" dirty="0"/>
          </a:p>
        </p:txBody>
      </p:sp>
      <p:sp>
        <p:nvSpPr>
          <p:cNvPr id="24" name="Shape 22"/>
          <p:cNvSpPr/>
          <p:nvPr/>
        </p:nvSpPr>
        <p:spPr>
          <a:xfrm>
            <a:off x="731520" y="2761488"/>
            <a:ext cx="7690104" cy="457200"/>
          </a:xfrm>
          <a:prstGeom prst="rect">
            <a:avLst/>
          </a:prstGeom>
          <a:solidFill>
            <a:srgbClr val="DCE6DE"/>
          </a:solidFill>
          <a:ln/>
        </p:spPr>
      </p:sp>
      <p:sp>
        <p:nvSpPr>
          <p:cNvPr id="25" name="Text 23"/>
          <p:cNvSpPr txBox="1"/>
          <p:nvPr/>
        </p:nvSpPr>
        <p:spPr>
          <a:xfrm>
            <a:off x="859536" y="2761488"/>
            <a:ext cx="7434072" cy="457200"/>
          </a:xfrm>
          <a:prstGeom prst="rect">
            <a:avLst/>
          </a:prstGeom>
          <a:noFill/>
          <a:ln/>
        </p:spPr>
        <p:txBody>
          <a:bodyPr wrap="square" lIns="0" tIns="0" rIns="0" bIns="0" rtlCol="0" anchor="ctr"/>
          <a:lstStyle/>
          <a:p>
            <a:pPr indent="0" marL="0">
              <a:buNone/>
            </a:pPr>
            <a:r>
              <a:rPr lang="en-US" sz="1500" b="1" dirty="0">
                <a:solidFill>
                  <a:srgbClr val="31423B"/>
                </a:solidFill>
                <a:latin typeface="Open Sans" pitchFamily="34" charset="0"/>
                <a:ea typeface="Open Sans" pitchFamily="34" charset="-122"/>
                <a:cs typeface="Open Sans" pitchFamily="34" charset="-120"/>
              </a:rPr>
              <a:t>A file takes whole clusters. The cluster is not cleaned first. File slack here: 2,288 bytes.</a:t>
            </a:r>
            <a:endParaRPr lang="en-US" sz="1500" dirty="0"/>
          </a:p>
        </p:txBody>
      </p:sp>
      <p:sp>
        <p:nvSpPr>
          <p:cNvPr id="26" name="Shape 24"/>
          <p:cNvSpPr/>
          <p:nvPr/>
        </p:nvSpPr>
        <p:spPr>
          <a:xfrm>
            <a:off x="731520" y="3310128"/>
            <a:ext cx="7690104" cy="1371600"/>
          </a:xfrm>
          <a:prstGeom prst="rect">
            <a:avLst/>
          </a:prstGeom>
          <a:solidFill>
            <a:srgbClr val="E8F0EA"/>
          </a:solidFill>
          <a:ln/>
        </p:spPr>
      </p:sp>
      <p:sp>
        <p:nvSpPr>
          <p:cNvPr id="27" name="Shape 25"/>
          <p:cNvSpPr/>
          <p:nvPr/>
        </p:nvSpPr>
        <p:spPr>
          <a:xfrm>
            <a:off x="731520" y="3310128"/>
            <a:ext cx="82296" cy="1371600"/>
          </a:xfrm>
          <a:prstGeom prst="rect">
            <a:avLst/>
          </a:prstGeom>
          <a:solidFill>
            <a:srgbClr val="6E8472"/>
          </a:solidFill>
          <a:ln/>
        </p:spPr>
      </p:sp>
      <p:sp>
        <p:nvSpPr>
          <p:cNvPr id="28" name="Text 26"/>
          <p:cNvSpPr txBox="1"/>
          <p:nvPr/>
        </p:nvSpPr>
        <p:spPr>
          <a:xfrm>
            <a:off x="941832" y="3401568"/>
            <a:ext cx="7324344" cy="219456"/>
          </a:xfrm>
          <a:prstGeom prst="rect">
            <a:avLst/>
          </a:prstGeom>
          <a:noFill/>
          <a:ln/>
        </p:spPr>
        <p:txBody>
          <a:bodyPr wrap="square" lIns="0" tIns="0" rIns="0" bIns="0" rtlCol="0" anchor="t"/>
          <a:lstStyle/>
          <a:p>
            <a:pPr indent="0" marL="0">
              <a:buNone/>
            </a:pPr>
            <a:r>
              <a:rPr lang="en-US" sz="1300" b="1" spc="200" kern="0" dirty="0">
                <a:solidFill>
                  <a:srgbClr val="4F6356"/>
                </a:solidFill>
                <a:latin typeface="Open Sans" pitchFamily="34" charset="0"/>
                <a:ea typeface="Open Sans" pitchFamily="34" charset="-122"/>
                <a:cs typeface="Open Sans" pitchFamily="34" charset="-120"/>
              </a:rPr>
              <a:t>ANALOGY</a:t>
            </a:r>
            <a:endParaRPr lang="en-US" sz="1300" dirty="0"/>
          </a:p>
        </p:txBody>
      </p:sp>
      <p:sp>
        <p:nvSpPr>
          <p:cNvPr id="29" name="Text 27"/>
          <p:cNvSpPr txBox="1"/>
          <p:nvPr/>
        </p:nvSpPr>
        <p:spPr>
          <a:xfrm>
            <a:off x="941832" y="3657600"/>
            <a:ext cx="7324344" cy="950976"/>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A whiteboard wiped only where the next teacher needs space: below her short note, the last lesson is still there.</a:t>
            </a:r>
            <a:endParaRPr lang="en-US" sz="1300" dirty="0"/>
          </a:p>
          <a:p>
            <a:pPr indent="0" marL="0">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everyone can see old writing on a board. Nobody sees slack, because the system stops reading at the end of the file.</a:t>
            </a:r>
            <a:endParaRPr lang="en-US" sz="1300" dirty="0"/>
          </a:p>
          <a:p>
            <a:pPr indent="0" marL="0">
              <a:buNone/>
            </a:pPr>
            <a:r>
              <a:rPr lang="en-US" sz="13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slack gives fragments, not documents. A fragment can still show that content was once on this disk.</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Where recoverable data lives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31520" y="1417320"/>
          <a:ext cx="7690104" cy="914400"/>
        </p:xfrm>
        <a:graphic>
          <a:graphicData uri="http://schemas.openxmlformats.org/drawingml/2006/table">
            <a:tbl>
              <a:tblPr/>
              <a:tblGrid>
                <a:gridCol w="2011680"/>
                <a:gridCol w="2834640"/>
                <a:gridCol w="2843784"/>
              </a:tblGrid>
              <a:tr h="310896">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Place</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What it is</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What you may find</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475488">
                <a:tc>
                  <a:txBody>
                    <a:bodyPr/>
                    <a:lstStyle/>
                    <a:p>
                      <a:pPr indent="0" marL="0">
                        <a:buNone/>
                      </a:pPr>
                      <a:r>
                        <a:rPr lang="en-US" sz="1300" b="1" dirty="0">
                          <a:solidFill>
                            <a:srgbClr val="31423B"/>
                          </a:solidFill>
                          <a:latin typeface="Open Sans" pitchFamily="34" charset="0"/>
                          <a:ea typeface="Open Sans" pitchFamily="34" charset="-122"/>
                          <a:cs typeface="Open Sans" pitchFamily="34" charset="-120"/>
                        </a:rPr>
                        <a:t>Unallocated space</a:t>
                      </a:r>
                      <a:endParaRPr lang="en-US" sz="13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300" dirty="0">
                          <a:solidFill>
                            <a:srgbClr val="31423B"/>
                          </a:solidFill>
                          <a:latin typeface="Open Sans" pitchFamily="34" charset="0"/>
                          <a:ea typeface="Open Sans" pitchFamily="34" charset="-122"/>
                          <a:cs typeface="Open Sans" pitchFamily="34" charset="-120"/>
                        </a:rPr>
                        <a:t>Clusters that the file system marks as free</a:t>
                      </a:r>
                      <a:endParaRPr lang="en-US" sz="13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300" dirty="0">
                          <a:solidFill>
                            <a:srgbClr val="31423B"/>
                          </a:solidFill>
                          <a:latin typeface="Open Sans" pitchFamily="34" charset="0"/>
                          <a:ea typeface="Open Sans" pitchFamily="34" charset="-122"/>
                          <a:cs typeface="Open Sans" pitchFamily="34" charset="-120"/>
                        </a:rPr>
                        <a:t>Whole deleted files, or large parts of them</a:t>
                      </a:r>
                      <a:endParaRPr lang="en-US" sz="13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31423B"/>
                          </a:solidFill>
                          <a:latin typeface="Open Sans" pitchFamily="34" charset="0"/>
                          <a:ea typeface="Open Sans" pitchFamily="34" charset="-122"/>
                          <a:cs typeface="Open Sans" pitchFamily="34" charset="-120"/>
                        </a:rPr>
                        <a:t>File slack</a:t>
                      </a:r>
                      <a:endParaRPr lang="en-US" sz="13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300" dirty="0">
                          <a:solidFill>
                            <a:srgbClr val="31423B"/>
                          </a:solidFill>
                          <a:latin typeface="Open Sans" pitchFamily="34" charset="0"/>
                          <a:ea typeface="Open Sans" pitchFamily="34" charset="-122"/>
                          <a:cs typeface="Open Sans" pitchFamily="34" charset="-120"/>
                        </a:rPr>
                        <a:t>The end of a current file's last cluster</a:t>
                      </a:r>
                      <a:endParaRPr lang="en-US" sz="13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300" dirty="0">
                          <a:solidFill>
                            <a:srgbClr val="31423B"/>
                          </a:solidFill>
                          <a:latin typeface="Open Sans" pitchFamily="34" charset="0"/>
                          <a:ea typeface="Open Sans" pitchFamily="34" charset="-122"/>
                          <a:cs typeface="Open Sans" pitchFamily="34" charset="-120"/>
                        </a:rPr>
                        <a:t>The tail of whatever used that cluster before</a:t>
                      </a:r>
                      <a:endParaRPr lang="en-US" sz="13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75488">
                <a:tc>
                  <a:txBody>
                    <a:bodyPr/>
                    <a:lstStyle/>
                    <a:p>
                      <a:pPr indent="0" marL="0">
                        <a:buNone/>
                      </a:pPr>
                      <a:r>
                        <a:rPr lang="en-US" sz="1300" b="1" dirty="0">
                          <a:solidFill>
                            <a:srgbClr val="31423B"/>
                          </a:solidFill>
                          <a:latin typeface="Open Sans" pitchFamily="34" charset="0"/>
                          <a:ea typeface="Open Sans" pitchFamily="34" charset="-122"/>
                          <a:cs typeface="Open Sans" pitchFamily="34" charset="-120"/>
                        </a:rPr>
                        <a:t>Unpartitioned space</a:t>
                      </a:r>
                      <a:endParaRPr lang="en-US" sz="13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300" dirty="0">
                          <a:solidFill>
                            <a:srgbClr val="31423B"/>
                          </a:solidFill>
                          <a:latin typeface="Open Sans" pitchFamily="34" charset="0"/>
                          <a:ea typeface="Open Sans" pitchFamily="34" charset="-122"/>
                          <a:cs typeface="Open Sans" pitchFamily="34" charset="-120"/>
                        </a:rPr>
                        <a:t>Sectors outside every partition</a:t>
                      </a:r>
                      <a:endParaRPr lang="en-US" sz="13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300" dirty="0">
                          <a:solidFill>
                            <a:srgbClr val="31423B"/>
                          </a:solidFill>
                          <a:latin typeface="Open Sans" pitchFamily="34" charset="0"/>
                          <a:ea typeface="Open Sans" pitchFamily="34" charset="-122"/>
                          <a:cs typeface="Open Sans" pitchFamily="34" charset="-120"/>
                        </a:rPr>
                        <a:t>Anything: an old volume, hidden data, or nothing</a:t>
                      </a:r>
                      <a:endParaRPr lang="en-US" sz="13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Shape 4"/>
          <p:cNvSpPr/>
          <p:nvPr/>
        </p:nvSpPr>
        <p:spPr>
          <a:xfrm>
            <a:off x="731520" y="3246120"/>
            <a:ext cx="7690104" cy="548640"/>
          </a:xfrm>
          <a:prstGeom prst="rect">
            <a:avLst/>
          </a:prstGeom>
          <a:solidFill>
            <a:srgbClr val="F1E8F2"/>
          </a:solidFill>
          <a:ln/>
        </p:spPr>
      </p:sp>
      <p:sp>
        <p:nvSpPr>
          <p:cNvPr id="8" name="Text 5"/>
          <p:cNvSpPr txBox="1"/>
          <p:nvPr/>
        </p:nvSpPr>
        <p:spPr>
          <a:xfrm>
            <a:off x="859536" y="3246120"/>
            <a:ext cx="7434072" cy="548640"/>
          </a:xfrm>
          <a:prstGeom prst="rect">
            <a:avLst/>
          </a:prstGeom>
          <a:noFill/>
          <a:ln/>
        </p:spPr>
        <p:txBody>
          <a:bodyPr wrap="square" lIns="0" tIns="0" rIns="0" bIns="0" rtlCol="0" anchor="ctr"/>
          <a:lstStyle/>
          <a:p>
            <a:pPr indent="0" marL="0">
              <a:buNone/>
            </a:pPr>
            <a:r>
              <a:rPr lang="en-US" sz="1500" b="1" dirty="0">
                <a:solidFill>
                  <a:srgbClr val="31423B"/>
                </a:solidFill>
                <a:latin typeface="Open Sans" pitchFamily="34" charset="0"/>
                <a:ea typeface="Open Sans" pitchFamily="34" charset="-122"/>
                <a:cs typeface="Open Sans" pitchFamily="34" charset="-120"/>
              </a:rPr>
              <a:t>All three are in a forensic image. None of them is in a file copy.</a:t>
            </a:r>
            <a:endParaRPr lang="en-US" sz="1500" dirty="0"/>
          </a:p>
        </p:txBody>
      </p:sp>
      <p:sp>
        <p:nvSpPr>
          <p:cNvPr id="9" name="Text 6"/>
          <p:cNvSpPr txBox="1"/>
          <p:nvPr/>
        </p:nvSpPr>
        <p:spPr>
          <a:xfrm>
            <a:off x="731520" y="3931920"/>
            <a:ext cx="7690104" cy="548640"/>
          </a:xfrm>
          <a:prstGeom prst="rect">
            <a:avLst/>
          </a:prstGeom>
          <a:noFill/>
          <a:ln/>
        </p:spPr>
        <p:txBody>
          <a:bodyPr wrap="square" lIns="0" tIns="0" rIns="0" bIns="0" rtlCol="0" anchor="t"/>
          <a:lstStyle/>
          <a:p>
            <a:pPr indent="0" marL="0">
              <a:buNone/>
            </a:pPr>
            <a:r>
              <a:rPr lang="en-US" sz="1300" i="1" dirty="0">
                <a:solidFill>
                  <a:srgbClr val="5C6B63"/>
                </a:solidFill>
                <a:latin typeface="Open Sans" pitchFamily="34" charset="0"/>
                <a:ea typeface="Open Sans" pitchFamily="34" charset="-122"/>
                <a:cs typeface="Open Sans" pitchFamily="34" charset="-120"/>
              </a:rPr>
              <a:t>Tools print "Unallocated" for both unallocated and unpartitioned space. In your notes, say which one you mean.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limits of recovery: record and content</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8321040" cy="914400"/>
        </p:xfrm>
        <a:graphic>
          <a:graphicData uri="http://schemas.openxmlformats.org/drawingml/2006/table">
            <a:tbl>
              <a:tblPr/>
              <a:tblGrid>
                <a:gridCol w="731520"/>
                <a:gridCol w="1280160"/>
                <a:gridCol w="1828800"/>
                <a:gridCol w="4480560"/>
              </a:tblGrid>
              <a:tr h="310896">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State</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The record</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The content</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What you can do</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42062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1</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Survives</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Survives</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Recover the file exactly, and show it with a hash value</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2</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Survives</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Partly overwritten</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damaged file. The hash value will not match</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2062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3</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Survives</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Fully overwritten</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Report that the file existed. Its content is gone</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4</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Reused</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Survives</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Content with no name in unallocated space - Session 3</a:t>
                      </a:r>
                      <a:endParaRPr lang="en-US" sz="1200" dirty="0">
                        <a:latin typeface="Open Sans" charset="0"/>
                        <a:ea typeface="Open Sans" charset="0"/>
                        <a:cs typeface="Open Sans" charset="0"/>
                      </a:endParaRPr>
                    </a:p>
                  </a:txBody>
                  <a:tcPr marL="73152" marR="73152"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Shape 4"/>
          <p:cNvSpPr/>
          <p:nvPr/>
        </p:nvSpPr>
        <p:spPr>
          <a:xfrm>
            <a:off x="411480" y="3611880"/>
            <a:ext cx="8321040" cy="548640"/>
          </a:xfrm>
          <a:prstGeom prst="rect">
            <a:avLst/>
          </a:prstGeom>
          <a:solidFill>
            <a:srgbClr val="F1E8F2"/>
          </a:solidFill>
          <a:ln/>
        </p:spPr>
      </p:sp>
      <p:sp>
        <p:nvSpPr>
          <p:cNvPr id="8" name="Text 5"/>
          <p:cNvSpPr txBox="1"/>
          <p:nvPr/>
        </p:nvSpPr>
        <p:spPr>
          <a:xfrm>
            <a:off x="539496" y="3611880"/>
            <a:ext cx="8065008" cy="548640"/>
          </a:xfrm>
          <a:prstGeom prst="rect">
            <a:avLst/>
          </a:prstGeom>
          <a:noFill/>
          <a:ln/>
        </p:spPr>
        <p:txBody>
          <a:bodyPr wrap="square" lIns="0" tIns="0" rIns="0" bIns="0" rtlCol="0" anchor="ctr"/>
          <a:lstStyle/>
          <a:p>
            <a:pPr indent="0" marL="0">
              <a:buNone/>
            </a:pPr>
            <a:r>
              <a:rPr lang="en-US" sz="1500" b="1" dirty="0">
                <a:solidFill>
                  <a:srgbClr val="31423B"/>
                </a:solidFill>
                <a:latin typeface="Open Sans" pitchFamily="34" charset="0"/>
                <a:ea typeface="Open Sans" pitchFamily="34" charset="-122"/>
                <a:cs typeface="Open Sans" pitchFamily="34" charset="-120"/>
              </a:rPr>
              <a:t>State 2 is the dangerous one: right name, right size, wrong content. Only the hash value tells you.</a:t>
            </a:r>
            <a:endParaRPr lang="en-US" sz="1500" dirty="0"/>
          </a:p>
        </p:txBody>
      </p:sp>
      <p:sp>
        <p:nvSpPr>
          <p:cNvPr id="9" name="Text 6"/>
          <p:cNvSpPr txBox="1"/>
          <p:nvPr/>
        </p:nvSpPr>
        <p:spPr>
          <a:xfrm>
            <a:off x="411480" y="4279392"/>
            <a:ext cx="8321040" cy="329184"/>
          </a:xfrm>
          <a:prstGeom prst="rect">
            <a:avLst/>
          </a:prstGeom>
          <a:noFill/>
          <a:ln/>
        </p:spPr>
        <p:txBody>
          <a:bodyPr wrap="square" lIns="0" tIns="0" rIns="0" bIns="0" rtlCol="0" anchor="t"/>
          <a:lstStyle/>
          <a:p>
            <a:pPr indent="0" marL="0">
              <a:buNone/>
            </a:pPr>
            <a:r>
              <a:rPr lang="en-US" sz="1300" i="1" dirty="0">
                <a:solidFill>
                  <a:srgbClr val="5C6B63"/>
                </a:solidFill>
                <a:latin typeface="Open Sans" pitchFamily="34" charset="0"/>
                <a:ea typeface="Open Sans" pitchFamily="34" charset="-122"/>
                <a:cs typeface="Open Sans" pitchFamily="34" charset="-120"/>
              </a:rPr>
              <a:t>Wiping and encryption also end recovery. Both belong to Session 4.</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Hard disk and solid-state drive</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417320"/>
            <a:ext cx="4133088" cy="402336"/>
          </a:xfrm>
          <a:prstGeom prst="rect">
            <a:avLst/>
          </a:prstGeom>
          <a:solidFill>
            <a:srgbClr val="6E8472"/>
          </a:solidFill>
          <a:ln/>
        </p:spPr>
      </p:sp>
      <p:sp>
        <p:nvSpPr>
          <p:cNvPr id="7" name="Text 5"/>
          <p:cNvSpPr txBox="1"/>
          <p:nvPr/>
        </p:nvSpPr>
        <p:spPr>
          <a:xfrm>
            <a:off x="521208" y="141732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Hard disk</a:t>
            </a:r>
            <a:endParaRPr lang="en-US" sz="1500" dirty="0"/>
          </a:p>
        </p:txBody>
      </p:sp>
      <p:sp>
        <p:nvSpPr>
          <p:cNvPr id="8" name="Shape 6"/>
          <p:cNvSpPr/>
          <p:nvPr/>
        </p:nvSpPr>
        <p:spPr>
          <a:xfrm>
            <a:off x="411480" y="1819656"/>
            <a:ext cx="4133088" cy="1920240"/>
          </a:xfrm>
          <a:prstGeom prst="rect">
            <a:avLst/>
          </a:prstGeom>
          <a:solidFill>
            <a:srgbClr val="FFFFFF"/>
          </a:solidFill>
          <a:ln w="9525">
            <a:solidFill>
              <a:srgbClr val="CBD6CE"/>
            </a:solidFill>
            <a:prstDash val="solid"/>
          </a:ln>
        </p:spPr>
      </p:sp>
      <p:sp>
        <p:nvSpPr>
          <p:cNvPr id="9" name="Text 7"/>
          <p:cNvSpPr txBox="1"/>
          <p:nvPr/>
        </p:nvSpPr>
        <p:spPr>
          <a:xfrm>
            <a:off x="539496" y="1883664"/>
            <a:ext cx="3877056" cy="1792224"/>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Deleted content</a:t>
            </a:r>
            <a:endParaRPr lang="en-US" sz="1300" dirty="0"/>
          </a:p>
          <a:p>
            <a:pPr indent="0" marL="0">
              <a:spcAft>
                <a:spcPts val="600"/>
              </a:spcAft>
              <a:buNone/>
            </a:pPr>
            <a:r>
              <a:rPr lang="en-US" sz="1200" dirty="0">
                <a:solidFill>
                  <a:srgbClr val="31423B"/>
                </a:solidFill>
                <a:latin typeface="Open Sans" pitchFamily="34" charset="0"/>
                <a:ea typeface="Open Sans" pitchFamily="34" charset="-122"/>
                <a:cs typeface="Open Sans" pitchFamily="34" charset="-120"/>
              </a:rPr>
              <a:t>Stays until a new file happens to need that cluster</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How long it survives</a:t>
            </a:r>
            <a:endParaRPr lang="en-US" sz="1300" dirty="0"/>
          </a:p>
          <a:p>
            <a:pPr indent="0" marL="0">
              <a:spcAft>
                <a:spcPts val="600"/>
              </a:spcAft>
              <a:buNone/>
            </a:pPr>
            <a:r>
              <a:rPr lang="en-US" sz="1200" dirty="0">
                <a:solidFill>
                  <a:srgbClr val="31423B"/>
                </a:solidFill>
                <a:latin typeface="Open Sans" pitchFamily="34" charset="0"/>
                <a:ea typeface="Open Sans" pitchFamily="34" charset="-122"/>
                <a:cs typeface="Open Sans" pitchFamily="34" charset="-120"/>
              </a:rPr>
              <a:t>Minutes to years</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What remains</a:t>
            </a:r>
            <a:endParaRPr lang="en-US" sz="1300" dirty="0"/>
          </a:p>
          <a:p>
            <a:pPr indent="0" marL="0">
              <a:spcAft>
                <a:spcPts val="600"/>
              </a:spcAft>
              <a:buNone/>
            </a:pPr>
            <a:r>
              <a:rPr lang="en-US" sz="1200" dirty="0">
                <a:solidFill>
                  <a:srgbClr val="31423B"/>
                </a:solidFill>
                <a:latin typeface="Open Sans" pitchFamily="34" charset="0"/>
                <a:ea typeface="Open Sans" pitchFamily="34" charset="-122"/>
                <a:cs typeface="Open Sans" pitchFamily="34" charset="-120"/>
              </a:rPr>
              <a:t>Often the record and the content</a:t>
            </a:r>
            <a:endParaRPr lang="en-US" sz="1300" dirty="0"/>
          </a:p>
        </p:txBody>
      </p:sp>
      <p:sp>
        <p:nvSpPr>
          <p:cNvPr id="10" name="Shape 8"/>
          <p:cNvSpPr/>
          <p:nvPr/>
        </p:nvSpPr>
        <p:spPr>
          <a:xfrm>
            <a:off x="4645152" y="1417320"/>
            <a:ext cx="4133088" cy="402336"/>
          </a:xfrm>
          <a:prstGeom prst="rect">
            <a:avLst/>
          </a:prstGeom>
          <a:solidFill>
            <a:srgbClr val="8A4E8F"/>
          </a:solidFill>
          <a:ln/>
        </p:spPr>
      </p:sp>
      <p:sp>
        <p:nvSpPr>
          <p:cNvPr id="11" name="Text 9"/>
          <p:cNvSpPr txBox="1"/>
          <p:nvPr/>
        </p:nvSpPr>
        <p:spPr>
          <a:xfrm>
            <a:off x="4754880" y="141732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Solid-state drive with TRIM</a:t>
            </a:r>
            <a:endParaRPr lang="en-US" sz="1500" dirty="0"/>
          </a:p>
        </p:txBody>
      </p:sp>
      <p:sp>
        <p:nvSpPr>
          <p:cNvPr id="12" name="Shape 10"/>
          <p:cNvSpPr/>
          <p:nvPr/>
        </p:nvSpPr>
        <p:spPr>
          <a:xfrm>
            <a:off x="4645152" y="1819656"/>
            <a:ext cx="4133088" cy="1920240"/>
          </a:xfrm>
          <a:prstGeom prst="rect">
            <a:avLst/>
          </a:prstGeom>
          <a:solidFill>
            <a:srgbClr val="FFFFFF"/>
          </a:solidFill>
          <a:ln w="9525">
            <a:solidFill>
              <a:srgbClr val="CBD6CE"/>
            </a:solidFill>
            <a:prstDash val="solid"/>
          </a:ln>
        </p:spPr>
      </p:sp>
      <p:sp>
        <p:nvSpPr>
          <p:cNvPr id="13" name="Text 11"/>
          <p:cNvSpPr txBox="1"/>
          <p:nvPr/>
        </p:nvSpPr>
        <p:spPr>
          <a:xfrm>
            <a:off x="4773168" y="1883664"/>
            <a:ext cx="3877056" cy="1792224"/>
          </a:xfrm>
          <a:prstGeom prst="rect">
            <a:avLst/>
          </a:prstGeom>
          <a:noFill/>
          <a:ln/>
        </p:spPr>
        <p:txBody>
          <a:bodyPr wrap="square" lIns="0" tIns="0" rIns="0" bIns="0" rtlCol="0" anchor="t"/>
          <a:lstStyle/>
          <a:p>
            <a:pPr indent="0" marL="0">
              <a:buNone/>
            </a:pPr>
            <a:r>
              <a:rPr lang="en-US" sz="1300" b="1" dirty="0">
                <a:solidFill>
                  <a:srgbClr val="8A4E8F"/>
                </a:solidFill>
                <a:latin typeface="Open Sans" pitchFamily="34" charset="0"/>
                <a:ea typeface="Open Sans" pitchFamily="34" charset="-122"/>
                <a:cs typeface="Open Sans" pitchFamily="34" charset="-120"/>
              </a:rPr>
              <a:t>Deleted content</a:t>
            </a:r>
            <a:endParaRPr lang="en-US" sz="1300" dirty="0"/>
          </a:p>
          <a:p>
            <a:pPr indent="0" marL="0">
              <a:spcAft>
                <a:spcPts val="600"/>
              </a:spcAft>
              <a:buNone/>
            </a:pPr>
            <a:r>
              <a:rPr lang="en-US" sz="1200" dirty="0">
                <a:solidFill>
                  <a:srgbClr val="31423B"/>
                </a:solidFill>
                <a:latin typeface="Open Sans" pitchFamily="34" charset="0"/>
                <a:ea typeface="Open Sans" pitchFamily="34" charset="-122"/>
                <a:cs typeface="Open Sans" pitchFamily="34" charset="-120"/>
              </a:rPr>
              <a:t>The drive is told at once, and clears the blocks soon</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How long it survives</a:t>
            </a:r>
            <a:endParaRPr lang="en-US" sz="1300" dirty="0"/>
          </a:p>
          <a:p>
            <a:pPr indent="0" marL="0">
              <a:spcAft>
                <a:spcPts val="600"/>
              </a:spcAft>
              <a:buNone/>
            </a:pPr>
            <a:r>
              <a:rPr lang="en-US" sz="1200" dirty="0">
                <a:solidFill>
                  <a:srgbClr val="31423B"/>
                </a:solidFill>
                <a:latin typeface="Open Sans" pitchFamily="34" charset="0"/>
                <a:ea typeface="Open Sans" pitchFamily="34" charset="-122"/>
                <a:cs typeface="Open Sans" pitchFamily="34" charset="-120"/>
              </a:rPr>
              <a:t>Often seconds to minutes</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What remains</a:t>
            </a:r>
            <a:endParaRPr lang="en-US" sz="1300" dirty="0"/>
          </a:p>
          <a:p>
            <a:pPr indent="0" marL="0">
              <a:spcAft>
                <a:spcPts val="600"/>
              </a:spcAft>
              <a:buNone/>
            </a:pPr>
            <a:r>
              <a:rPr lang="en-US" sz="1200" dirty="0">
                <a:solidFill>
                  <a:srgbClr val="31423B"/>
                </a:solidFill>
                <a:latin typeface="Open Sans" pitchFamily="34" charset="0"/>
                <a:ea typeface="Open Sans" pitchFamily="34" charset="-122"/>
                <a:cs typeface="Open Sans" pitchFamily="34" charset="-120"/>
              </a:rPr>
              <a:t>Often the record only</a:t>
            </a:r>
            <a:endParaRPr lang="en-US" sz="1300" dirty="0"/>
          </a:p>
        </p:txBody>
      </p:sp>
      <p:sp>
        <p:nvSpPr>
          <p:cNvPr id="14" name="Shape 12"/>
          <p:cNvSpPr/>
          <p:nvPr/>
        </p:nvSpPr>
        <p:spPr>
          <a:xfrm>
            <a:off x="411480" y="3858768"/>
            <a:ext cx="8366760" cy="731520"/>
          </a:xfrm>
          <a:prstGeom prst="rect">
            <a:avLst/>
          </a:prstGeom>
          <a:solidFill>
            <a:srgbClr val="F1E8F2"/>
          </a:solidFill>
          <a:ln/>
        </p:spPr>
      </p:sp>
      <p:sp>
        <p:nvSpPr>
          <p:cNvPr id="15" name="Text 13"/>
          <p:cNvSpPr txBox="1"/>
          <p:nvPr/>
        </p:nvSpPr>
        <p:spPr>
          <a:xfrm>
            <a:off x="539496" y="3858768"/>
            <a:ext cx="8110728" cy="731520"/>
          </a:xfrm>
          <a:prstGeom prst="rect">
            <a:avLst/>
          </a:prstGeom>
          <a:noFill/>
          <a:ln/>
        </p:spPr>
        <p:txBody>
          <a:bodyPr wrap="square" lIns="0" tIns="0" rIns="0" bIns="0" rtlCol="0" anchor="ctr"/>
          <a:lstStyle/>
          <a:p>
            <a:pPr indent="0" marL="0">
              <a:buNone/>
            </a:pPr>
            <a:r>
              <a:rPr lang="en-US" sz="1500" b="1" dirty="0">
                <a:solidFill>
                  <a:srgbClr val="31423B"/>
                </a:solidFill>
                <a:latin typeface="Open Sans" pitchFamily="34" charset="0"/>
                <a:ea typeface="Open Sans" pitchFamily="34" charset="-122"/>
                <a:cs typeface="Open Sans" pitchFamily="34" charset="-120"/>
              </a:rPr>
              <a:t>Many USB sticks do not use TRIM. That is why today's stick can be recovered. Image a solid-state drive once, and soon.</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8A4E8F"/>
          </a:solidFill>
          <a:ln/>
        </p:spPr>
      </p:sp>
      <p:sp>
        <p:nvSpPr>
          <p:cNvPr id="3" name="Shape 1"/>
          <p:cNvSpPr/>
          <p:nvPr/>
        </p:nvSpPr>
        <p:spPr>
          <a:xfrm>
            <a:off x="731520" y="566928"/>
            <a:ext cx="502920" cy="45720"/>
          </a:xfrm>
          <a:prstGeom prst="rect">
            <a:avLst/>
          </a:prstGeom>
          <a:solidFill>
            <a:srgbClr val="FFFFFF"/>
          </a:solidFill>
          <a:ln/>
        </p:spPr>
      </p:sp>
      <p:sp>
        <p:nvSpPr>
          <p:cNvPr id="4" name="Text 2"/>
          <p:cNvSpPr txBox="1"/>
          <p:nvPr/>
        </p:nvSpPr>
        <p:spPr>
          <a:xfrm>
            <a:off x="731520" y="768096"/>
            <a:ext cx="4389120" cy="1097280"/>
          </a:xfrm>
          <a:prstGeom prst="rect">
            <a:avLst/>
          </a:prstGeom>
          <a:noFill/>
          <a:ln/>
        </p:spPr>
        <p:txBody>
          <a:bodyPr wrap="square" lIns="0" tIns="0" rIns="0" bIns="0" rtlCol="0" anchor="t"/>
          <a:lstStyle/>
          <a:p>
            <a:pPr indent="0" marL="0">
              <a:buNone/>
            </a:pPr>
            <a:r>
              <a:rPr lang="en-US" sz="3600" b="1" dirty="0">
                <a:solidFill>
                  <a:srgbClr val="FFFFFF"/>
                </a:solidFill>
                <a:latin typeface="Open Sans" pitchFamily="34" charset="0"/>
                <a:ea typeface="Open Sans" pitchFamily="34" charset="-122"/>
                <a:cs typeface="Open Sans" pitchFamily="34" charset="-120"/>
              </a:rPr>
              <a:t>Lab: triage and recover</a:t>
            </a:r>
            <a:endParaRPr lang="en-US" sz="3600" dirty="0"/>
          </a:p>
        </p:txBody>
      </p:sp>
      <p:sp>
        <p:nvSpPr>
          <p:cNvPr id="5" name="Shape 3"/>
          <p:cNvSpPr/>
          <p:nvPr/>
        </p:nvSpPr>
        <p:spPr>
          <a:xfrm>
            <a:off x="731520" y="1920240"/>
            <a:ext cx="4206240" cy="2560320"/>
          </a:xfrm>
          <a:prstGeom prst="rect">
            <a:avLst/>
          </a:prstGeom>
          <a:solidFill>
            <a:srgbClr val="31423B"/>
          </a:solidFill>
          <a:ln/>
        </p:spPr>
      </p:sp>
      <p:sp>
        <p:nvSpPr>
          <p:cNvPr id="6" name="Text 4"/>
          <p:cNvSpPr txBox="1"/>
          <p:nvPr/>
        </p:nvSpPr>
        <p:spPr>
          <a:xfrm>
            <a:off x="868680" y="2011680"/>
            <a:ext cx="3931920" cy="2377440"/>
          </a:xfrm>
          <a:prstGeom prst="rect">
            <a:avLst/>
          </a:prstGeom>
          <a:noFill/>
          <a:ln/>
        </p:spPr>
        <p:txBody>
          <a:bodyPr wrap="square" lIns="0" tIns="0" rIns="0" bIns="0" rtlCol="0" anchor="ctr"/>
          <a:lstStyle/>
          <a:p>
            <a:pPr indent="0" marL="0">
              <a:spcAft>
                <a:spcPts val="400"/>
              </a:spcAft>
              <a:buNone/>
            </a:pPr>
            <a:r>
              <a:rPr lang="en-US" sz="1700" b="1" dirty="0">
                <a:solidFill>
                  <a:srgbClr val="FFFFFF"/>
                </a:solidFill>
                <a:latin typeface="Open Sans" pitchFamily="34" charset="0"/>
                <a:ea typeface="Open Sans" pitchFamily="34" charset="-122"/>
                <a:cs typeface="Open Sans" pitchFamily="34" charset="-120"/>
              </a:rPr>
              <a:t>1.  Verify both exhibits</a:t>
            </a:r>
            <a:endParaRPr lang="en-US" sz="1700" dirty="0"/>
          </a:p>
          <a:p>
            <a:pPr indent="0" marL="0">
              <a:spcAft>
                <a:spcPts val="400"/>
              </a:spcAft>
              <a:buNone/>
            </a:pPr>
            <a:r>
              <a:rPr lang="en-US" sz="1700" b="1" dirty="0">
                <a:solidFill>
                  <a:srgbClr val="FFFFFF"/>
                </a:solidFill>
                <a:latin typeface="Open Sans" pitchFamily="34" charset="0"/>
                <a:ea typeface="Open Sans" pitchFamily="34" charset="-122"/>
                <a:cs typeface="Open Sans" pitchFamily="34" charset="-120"/>
              </a:rPr>
              <a:t>2.  Open the prepared case</a:t>
            </a:r>
            <a:endParaRPr lang="en-US" sz="1700" dirty="0"/>
          </a:p>
          <a:p>
            <a:pPr indent="0" marL="0">
              <a:spcAft>
                <a:spcPts val="400"/>
              </a:spcAft>
              <a:buNone/>
            </a:pPr>
            <a:r>
              <a:rPr lang="en-US" sz="1700" b="1" dirty="0">
                <a:solidFill>
                  <a:srgbClr val="FFFFFF"/>
                </a:solidFill>
                <a:latin typeface="Open Sans" pitchFamily="34" charset="0"/>
                <a:ea typeface="Open Sans" pitchFamily="34" charset="-122"/>
                <a:cs typeface="Open Sans" pitchFamily="34" charset="-120"/>
              </a:rPr>
              <a:t>3.  Read the disk's map</a:t>
            </a:r>
            <a:endParaRPr lang="en-US" sz="1700" dirty="0"/>
          </a:p>
          <a:p>
            <a:pPr indent="0" marL="0">
              <a:spcAft>
                <a:spcPts val="400"/>
              </a:spcAft>
              <a:buNone/>
            </a:pPr>
            <a:r>
              <a:rPr lang="en-US" sz="1700" b="1" dirty="0">
                <a:solidFill>
                  <a:srgbClr val="FFFFFF"/>
                </a:solidFill>
                <a:latin typeface="Open Sans" pitchFamily="34" charset="0"/>
                <a:ea typeface="Open Sans" pitchFamily="34" charset="-122"/>
                <a:cs typeface="Open Sans" pitchFamily="34" charset="-120"/>
              </a:rPr>
              <a:t>4.  Triage the deleted files</a:t>
            </a:r>
            <a:endParaRPr lang="en-US" sz="1700" dirty="0"/>
          </a:p>
          <a:p>
            <a:pPr indent="0" marL="0">
              <a:spcAft>
                <a:spcPts val="400"/>
              </a:spcAft>
              <a:buNone/>
            </a:pPr>
            <a:r>
              <a:rPr lang="en-US" sz="1700" b="1" dirty="0">
                <a:solidFill>
                  <a:srgbClr val="FFFFFF"/>
                </a:solidFill>
                <a:latin typeface="Open Sans" pitchFamily="34" charset="0"/>
                <a:ea typeface="Open Sans" pitchFamily="34" charset="-122"/>
                <a:cs typeface="Open Sans" pitchFamily="34" charset="-120"/>
              </a:rPr>
              <a:t>5.  Ingest the USB stick</a:t>
            </a:r>
            <a:endParaRPr lang="en-US" sz="1700" dirty="0"/>
          </a:p>
          <a:p>
            <a:pPr indent="0" marL="0">
              <a:spcAft>
                <a:spcPts val="400"/>
              </a:spcAft>
              <a:buNone/>
            </a:pPr>
            <a:r>
              <a:rPr lang="en-US" sz="1700" b="1" dirty="0">
                <a:solidFill>
                  <a:srgbClr val="FFFFFF"/>
                </a:solidFill>
                <a:latin typeface="Open Sans" pitchFamily="34" charset="0"/>
                <a:ea typeface="Open Sans" pitchFamily="34" charset="-122"/>
                <a:cs typeface="Open Sans" pitchFamily="34" charset="-120"/>
              </a:rPr>
              <a:t>6.  Recover, hash and match</a:t>
            </a:r>
            <a:endParaRPr lang="en-US" sz="1700" dirty="0"/>
          </a:p>
        </p:txBody>
      </p:sp>
      <p:pic>
        <p:nvPicPr>
          <p:cNvPr id="7" name="Image 0" descr="preencoded.png">    </p:cNvPr>
          <p:cNvPicPr>
            <a:picLocks noChangeAspect="1"/>
          </p:cNvPicPr>
          <p:nvPr/>
        </p:nvPicPr>
        <p:blipFill>
          <a:blip r:embed="rId1"/>
          <a:stretch>
            <a:fillRect/>
          </a:stretch>
        </p:blipFill>
        <p:spPr>
          <a:xfrm>
            <a:off x="5989320" y="1600200"/>
            <a:ext cx="2011680" cy="20116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6E8472"/>
          </a:solidFill>
          <a:ln/>
        </p:spPr>
      </p:sp>
      <p:sp>
        <p:nvSpPr>
          <p:cNvPr id="3" name="Shape 1"/>
          <p:cNvSpPr/>
          <p:nvPr/>
        </p:nvSpPr>
        <p:spPr>
          <a:xfrm>
            <a:off x="731520" y="566928"/>
            <a:ext cx="502920" cy="45720"/>
          </a:xfrm>
          <a:prstGeom prst="rect">
            <a:avLst/>
          </a:prstGeom>
          <a:solidFill>
            <a:srgbClr val="FFFFFF"/>
          </a:solidFill>
          <a:ln/>
        </p:spPr>
      </p:sp>
      <p:sp>
        <p:nvSpPr>
          <p:cNvPr id="4" name="Text 2"/>
          <p:cNvSpPr txBox="1"/>
          <p:nvPr/>
        </p:nvSpPr>
        <p:spPr>
          <a:xfrm>
            <a:off x="731520" y="768096"/>
            <a:ext cx="7690104" cy="640080"/>
          </a:xfrm>
          <a:prstGeom prst="rect">
            <a:avLst/>
          </a:prstGeom>
          <a:noFill/>
          <a:ln/>
        </p:spPr>
        <p:txBody>
          <a:bodyPr wrap="square" lIns="0" tIns="0" rIns="0" bIns="0" rtlCol="0" anchor="t"/>
          <a:lstStyle/>
          <a:p>
            <a:pPr indent="0" marL="0">
              <a:buNone/>
            </a:pPr>
            <a:r>
              <a:rPr lang="en-US" sz="3600" b="1" dirty="0">
                <a:solidFill>
                  <a:srgbClr val="FFFFFF"/>
                </a:solidFill>
                <a:latin typeface="Open Sans" pitchFamily="34" charset="0"/>
                <a:ea typeface="Open Sans" pitchFamily="34" charset="-122"/>
                <a:cs typeface="Open Sans" pitchFamily="34" charset="-120"/>
              </a:rPr>
              <a:t>Discuss</a:t>
            </a:r>
            <a:endParaRPr lang="en-US" sz="3600" dirty="0"/>
          </a:p>
        </p:txBody>
      </p:sp>
      <p:sp>
        <p:nvSpPr>
          <p:cNvPr id="5" name="Shape 3"/>
          <p:cNvSpPr/>
          <p:nvPr/>
        </p:nvSpPr>
        <p:spPr>
          <a:xfrm>
            <a:off x="1371600" y="2011680"/>
            <a:ext cx="6400800" cy="1645920"/>
          </a:xfrm>
          <a:prstGeom prst="rect">
            <a:avLst/>
          </a:prstGeom>
          <a:solidFill>
            <a:srgbClr val="FFFFFF"/>
          </a:solidFill>
          <a:ln/>
        </p:spPr>
      </p:sp>
      <p:sp>
        <p:nvSpPr>
          <p:cNvPr id="6" name="Text 4"/>
          <p:cNvSpPr txBox="1"/>
          <p:nvPr/>
        </p:nvSpPr>
        <p:spPr>
          <a:xfrm>
            <a:off x="1481328" y="2011680"/>
            <a:ext cx="6181344" cy="1645920"/>
          </a:xfrm>
          <a:prstGeom prst="rect">
            <a:avLst/>
          </a:prstGeom>
          <a:noFill/>
          <a:ln/>
        </p:spPr>
        <p:txBody>
          <a:bodyPr wrap="square" lIns="0" tIns="0" rIns="0" bIns="0" rtlCol="0" anchor="ctr"/>
          <a:lstStyle/>
          <a:p>
            <a:pPr indent="0" marL="0">
              <a:buNone/>
            </a:pPr>
            <a:r>
              <a:rPr lang="en-US" sz="1800" b="1" dirty="0">
                <a:solidFill>
                  <a:srgbClr val="31423B"/>
                </a:solidFill>
                <a:latin typeface="Open Sans" pitchFamily="34" charset="0"/>
                <a:ea typeface="Open Sans" pitchFamily="34" charset="-122"/>
                <a:cs typeface="Open Sans" pitchFamily="34" charset="-120"/>
              </a:rPr>
              <a:t>The computer shows names of deleted files and no content. The USB stick gives content with false names. Which is the stronger evidence, and why do you need both?</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8A4E8F"/>
          </a:solidFill>
          <a:ln/>
        </p:spPr>
      </p:sp>
      <p:sp>
        <p:nvSpPr>
          <p:cNvPr id="3" name="Shape 1"/>
          <p:cNvSpPr/>
          <p:nvPr/>
        </p:nvSpPr>
        <p:spPr>
          <a:xfrm>
            <a:off x="731520" y="566928"/>
            <a:ext cx="502920" cy="45720"/>
          </a:xfrm>
          <a:prstGeom prst="rect">
            <a:avLst/>
          </a:prstGeom>
          <a:solidFill>
            <a:srgbClr val="FFFFFF"/>
          </a:solidFill>
          <a:ln/>
        </p:spPr>
      </p:sp>
      <p:sp>
        <p:nvSpPr>
          <p:cNvPr id="4" name="Text 2"/>
          <p:cNvSpPr txBox="1"/>
          <p:nvPr/>
        </p:nvSpPr>
        <p:spPr>
          <a:xfrm>
            <a:off x="731520" y="768096"/>
            <a:ext cx="4389120" cy="1097280"/>
          </a:xfrm>
          <a:prstGeom prst="rect">
            <a:avLst/>
          </a:prstGeom>
          <a:noFill/>
          <a:ln/>
        </p:spPr>
        <p:txBody>
          <a:bodyPr wrap="square" lIns="0" tIns="0" rIns="0" bIns="0" rtlCol="0" anchor="t"/>
          <a:lstStyle/>
          <a:p>
            <a:pPr indent="0" marL="0">
              <a:buNone/>
            </a:pPr>
            <a:r>
              <a:rPr lang="en-US" sz="3600" b="1" dirty="0">
                <a:solidFill>
                  <a:srgbClr val="FFFFFF"/>
                </a:solidFill>
                <a:latin typeface="Open Sans" pitchFamily="34" charset="0"/>
                <a:ea typeface="Open Sans" pitchFamily="34" charset="-122"/>
                <a:cs typeface="Open Sans" pitchFamily="34" charset="-120"/>
              </a:rPr>
              <a:t>Day-closing micro-quiz</a:t>
            </a:r>
            <a:endParaRPr lang="en-US" sz="3600" dirty="0"/>
          </a:p>
        </p:txBody>
      </p:sp>
      <p:sp>
        <p:nvSpPr>
          <p:cNvPr id="5" name="Shape 3"/>
          <p:cNvSpPr/>
          <p:nvPr/>
        </p:nvSpPr>
        <p:spPr>
          <a:xfrm>
            <a:off x="731520" y="1920240"/>
            <a:ext cx="4206240" cy="2560320"/>
          </a:xfrm>
          <a:prstGeom prst="rect">
            <a:avLst/>
          </a:prstGeom>
          <a:solidFill>
            <a:srgbClr val="31423B"/>
          </a:solidFill>
          <a:ln/>
        </p:spPr>
      </p:sp>
      <p:sp>
        <p:nvSpPr>
          <p:cNvPr id="6" name="Text 4"/>
          <p:cNvSpPr txBox="1"/>
          <p:nvPr/>
        </p:nvSpPr>
        <p:spPr>
          <a:xfrm>
            <a:off x="868680" y="2011680"/>
            <a:ext cx="3931920" cy="2377440"/>
          </a:xfrm>
          <a:prstGeom prst="rect">
            <a:avLst/>
          </a:prstGeom>
          <a:noFill/>
          <a:ln/>
        </p:spPr>
        <p:txBody>
          <a:bodyPr wrap="square" lIns="0" tIns="0" rIns="0" bIns="0" rtlCol="0" anchor="ctr"/>
          <a:lstStyle/>
          <a:p>
            <a:pPr marL="342900" indent="-342900">
              <a:spcAft>
                <a:spcPts val="600"/>
              </a:spcAft>
              <a:buSzPct val="100000"/>
              <a:buChar char="•"/>
            </a:pPr>
            <a:r>
              <a:rPr lang="en-US" sz="1700" b="1" dirty="0">
                <a:solidFill>
                  <a:srgbClr val="FFFFFF"/>
                </a:solidFill>
                <a:latin typeface="Open Sans" pitchFamily="34" charset="0"/>
                <a:ea typeface="Open Sans" pitchFamily="34" charset="-122"/>
                <a:cs typeface="Open Sans" pitchFamily="34" charset="-120"/>
              </a:rPr>
              <a:t>Five short answers on Sessions 1 and 2</a:t>
            </a:r>
            <a:endParaRPr lang="en-US" sz="1700" dirty="0"/>
          </a:p>
          <a:p>
            <a:pPr marL="342900" indent="-342900">
              <a:spcAft>
                <a:spcPts val="600"/>
              </a:spcAft>
              <a:buSzPct val="100000"/>
              <a:buChar char="•"/>
            </a:pPr>
            <a:r>
              <a:rPr lang="en-US" sz="1700" b="1" dirty="0">
                <a:solidFill>
                  <a:srgbClr val="FFFFFF"/>
                </a:solidFill>
                <a:latin typeface="Open Sans" pitchFamily="34" charset="0"/>
                <a:ea typeface="Open Sans" pitchFamily="34" charset="-122"/>
                <a:cs typeface="Open Sans" pitchFamily="34" charset="-120"/>
              </a:rPr>
              <a:t>About two sentences each</a:t>
            </a:r>
            <a:endParaRPr lang="en-US" sz="1700" dirty="0"/>
          </a:p>
          <a:p>
            <a:pPr marL="342900" indent="-342900">
              <a:spcAft>
                <a:spcPts val="600"/>
              </a:spcAft>
              <a:buSzPct val="100000"/>
              <a:buChar char="•"/>
            </a:pPr>
            <a:r>
              <a:rPr lang="en-US" sz="1700" b="1" dirty="0">
                <a:solidFill>
                  <a:srgbClr val="FFFFFF"/>
                </a:solidFill>
                <a:latin typeface="Open Sans" pitchFamily="34" charset="0"/>
                <a:ea typeface="Open Sans" pitchFamily="34" charset="-122"/>
                <a:cs typeface="Open Sans" pitchFamily="34" charset="-120"/>
              </a:rPr>
              <a:t>Write first, then open the model answer</a:t>
            </a:r>
            <a:endParaRPr lang="en-US" sz="1700" dirty="0"/>
          </a:p>
          <a:p>
            <a:pPr marL="342900" indent="-342900">
              <a:spcAft>
                <a:spcPts val="600"/>
              </a:spcAft>
              <a:buSzPct val="100000"/>
              <a:buChar char="•"/>
            </a:pPr>
            <a:r>
              <a:rPr lang="en-US" sz="1700" b="1" dirty="0">
                <a:solidFill>
                  <a:srgbClr val="FFFFFF"/>
                </a:solidFill>
                <a:latin typeface="Open Sans" pitchFamily="34" charset="0"/>
                <a:ea typeface="Open Sans" pitchFamily="34" charset="-122"/>
                <a:cs typeface="Open Sans" pitchFamily="34" charset="-120"/>
              </a:rPr>
              <a:t>Mark yourself on the points you made</a:t>
            </a:r>
            <a:endParaRPr lang="en-US" sz="1700" dirty="0"/>
          </a:p>
        </p:txBody>
      </p:sp>
      <p:pic>
        <p:nvPicPr>
          <p:cNvPr id="7" name="Image 0" descr="preencoded.png">    </p:cNvPr>
          <p:cNvPicPr>
            <a:picLocks noChangeAspect="1"/>
          </p:cNvPicPr>
          <p:nvPr/>
        </p:nvPicPr>
        <p:blipFill>
          <a:blip r:embed="rId1"/>
          <a:stretch>
            <a:fillRect/>
          </a:stretch>
        </p:blipFill>
        <p:spPr>
          <a:xfrm>
            <a:off x="5989320" y="1600200"/>
            <a:ext cx="2011680" cy="201168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sources behind this session</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417320"/>
            <a:ext cx="1737360" cy="1554480"/>
          </a:xfrm>
          <a:prstGeom prst="rect">
            <a:avLst/>
          </a:prstGeom>
          <a:solidFill>
            <a:srgbClr val="4F6356"/>
          </a:solidFill>
          <a:ln/>
        </p:spPr>
      </p:sp>
      <p:pic>
        <p:nvPicPr>
          <p:cNvPr id="7" name="Image 0" descr="preencoded.png">    </p:cNvPr>
          <p:cNvPicPr>
            <a:picLocks noChangeAspect="1"/>
          </p:cNvPicPr>
          <p:nvPr/>
        </p:nvPicPr>
        <p:blipFill>
          <a:blip r:embed="rId1"/>
          <a:stretch>
            <a:fillRect/>
          </a:stretch>
        </p:blipFill>
        <p:spPr>
          <a:xfrm>
            <a:off x="868680" y="1783080"/>
            <a:ext cx="822960" cy="822960"/>
          </a:xfrm>
          <a:prstGeom prst="rect">
            <a:avLst/>
          </a:prstGeom>
        </p:spPr>
      </p:pic>
      <p:sp>
        <p:nvSpPr>
          <p:cNvPr id="8" name="Shape 5"/>
          <p:cNvSpPr/>
          <p:nvPr/>
        </p:nvSpPr>
        <p:spPr>
          <a:xfrm>
            <a:off x="2148840" y="1417320"/>
            <a:ext cx="6446520" cy="1554480"/>
          </a:xfrm>
          <a:prstGeom prst="rect">
            <a:avLst/>
          </a:prstGeom>
          <a:solidFill>
            <a:srgbClr val="FFFFFF"/>
          </a:solidFill>
          <a:ln w="9525">
            <a:solidFill>
              <a:srgbClr val="CBD6CE"/>
            </a:solidFill>
            <a:prstDash val="solid"/>
          </a:ln>
        </p:spPr>
      </p:sp>
      <p:sp>
        <p:nvSpPr>
          <p:cNvPr id="9" name="Text 6"/>
          <p:cNvSpPr txBox="1"/>
          <p:nvPr/>
        </p:nvSpPr>
        <p:spPr>
          <a:xfrm>
            <a:off x="2286000" y="1508760"/>
            <a:ext cx="6172200" cy="1371600"/>
          </a:xfrm>
          <a:prstGeom prst="rect">
            <a:avLst/>
          </a:prstGeom>
          <a:noFill/>
          <a:ln/>
        </p:spPr>
        <p:txBody>
          <a:bodyPr wrap="square" lIns="0" tIns="0" rIns="0" bIns="0" rtlCol="0" anchor="ctr"/>
          <a:lstStyle/>
          <a:p>
            <a:pPr indent="0" marL="0">
              <a:buNone/>
            </a:pPr>
            <a:r>
              <a:rPr lang="en-US" sz="1800" b="1" dirty="0">
                <a:solidFill>
                  <a:srgbClr val="31423B"/>
                </a:solidFill>
                <a:latin typeface="Open Sans" pitchFamily="34" charset="0"/>
                <a:ea typeface="Open Sans" pitchFamily="34" charset="-122"/>
                <a:cs typeface="Open Sans" pitchFamily="34" charset="-120"/>
              </a:rPr>
              <a:t>Data Leakage Case</a:t>
            </a:r>
            <a:endParaRPr lang="en-US" sz="1800" dirty="0"/>
          </a:p>
          <a:p>
            <a:pPr indent="0" marL="0">
              <a:buNone/>
            </a:pPr>
            <a:r>
              <a:rPr lang="en-US" sz="1300" i="1" dirty="0">
                <a:solidFill>
                  <a:srgbClr val="4F6356"/>
                </a:solidFill>
                <a:latin typeface="Open Sans" pitchFamily="34" charset="0"/>
                <a:ea typeface="Open Sans" pitchFamily="34" charset="-122"/>
                <a:cs typeface="Open Sans" pitchFamily="34" charset="-120"/>
              </a:rPr>
              <a:t>NIST Computer Forensic Reference Data Sets (CFReDS)</a:t>
            </a:r>
            <a:endParaRPr lang="en-US" sz="1800" dirty="0"/>
          </a:p>
          <a:p>
            <a:pPr indent="0" marL="0">
              <a:buNone/>
            </a:pPr>
            <a:r>
              <a:rPr lang="en-US" sz="1300" dirty="0">
                <a:solidFill>
                  <a:srgbClr val="31423B"/>
                </a:solidFill>
                <a:latin typeface="Open Sans" pitchFamily="34" charset="0"/>
                <a:ea typeface="Open Sans" pitchFamily="34" charset="-122"/>
                <a:cs typeface="Open Sans" pitchFamily="34" charset="-120"/>
              </a:rPr>
              <a:t>National Institute of Standards and Technology</a:t>
            </a:r>
            <a:endParaRPr lang="en-US" sz="1800" dirty="0"/>
          </a:p>
          <a:p>
            <a:pPr indent="0" marL="0">
              <a:buNone/>
            </a:pPr>
            <a:r>
              <a:rPr lang="en-US" sz="1200" i="1" dirty="0">
                <a:solidFill>
                  <a:srgbClr val="4F6356"/>
                </a:solidFill>
                <a:latin typeface="Open Sans" pitchFamily="34" charset="0"/>
                <a:ea typeface="Open Sans" pitchFamily="34" charset="-122"/>
                <a:cs typeface="Open Sans" pitchFamily="34" charset="-120"/>
              </a:rPr>
              <a:t>Today's evidence: the computer image, the USB image and the published answer key</a:t>
            </a:r>
            <a:endParaRPr lang="en-US" sz="1800" dirty="0"/>
          </a:p>
        </p:txBody>
      </p:sp>
      <p:sp>
        <p:nvSpPr>
          <p:cNvPr id="10" name="Shape 7"/>
          <p:cNvSpPr/>
          <p:nvPr/>
        </p:nvSpPr>
        <p:spPr>
          <a:xfrm>
            <a:off x="411480" y="3099816"/>
            <a:ext cx="1737360" cy="1554480"/>
          </a:xfrm>
          <a:prstGeom prst="rect">
            <a:avLst/>
          </a:prstGeom>
          <a:solidFill>
            <a:srgbClr val="6E8472"/>
          </a:solidFill>
          <a:ln/>
        </p:spPr>
      </p:sp>
      <p:pic>
        <p:nvPicPr>
          <p:cNvPr id="11" name="Image 1" descr="preencoded.png">    </p:cNvPr>
          <p:cNvPicPr>
            <a:picLocks noChangeAspect="1"/>
          </p:cNvPicPr>
          <p:nvPr/>
        </p:nvPicPr>
        <p:blipFill>
          <a:blip r:embed="rId2"/>
          <a:stretch>
            <a:fillRect/>
          </a:stretch>
        </p:blipFill>
        <p:spPr>
          <a:xfrm>
            <a:off x="868680" y="3465576"/>
            <a:ext cx="822960" cy="822960"/>
          </a:xfrm>
          <a:prstGeom prst="rect">
            <a:avLst/>
          </a:prstGeom>
        </p:spPr>
      </p:pic>
      <p:sp>
        <p:nvSpPr>
          <p:cNvPr id="12" name="Shape 8"/>
          <p:cNvSpPr/>
          <p:nvPr/>
        </p:nvSpPr>
        <p:spPr>
          <a:xfrm>
            <a:off x="2148840" y="3099816"/>
            <a:ext cx="6446520" cy="1554480"/>
          </a:xfrm>
          <a:prstGeom prst="rect">
            <a:avLst/>
          </a:prstGeom>
          <a:solidFill>
            <a:srgbClr val="FFFFFF"/>
          </a:solidFill>
          <a:ln w="9525">
            <a:solidFill>
              <a:srgbClr val="CBD6CE"/>
            </a:solidFill>
            <a:prstDash val="solid"/>
          </a:ln>
        </p:spPr>
      </p:sp>
      <p:sp>
        <p:nvSpPr>
          <p:cNvPr id="13" name="Text 9"/>
          <p:cNvSpPr txBox="1"/>
          <p:nvPr/>
        </p:nvSpPr>
        <p:spPr>
          <a:xfrm>
            <a:off x="2286000" y="3191256"/>
            <a:ext cx="6172200" cy="1371600"/>
          </a:xfrm>
          <a:prstGeom prst="rect">
            <a:avLst/>
          </a:prstGeom>
          <a:noFill/>
          <a:ln/>
        </p:spPr>
        <p:txBody>
          <a:bodyPr wrap="square" lIns="0" tIns="0" rIns="0" bIns="0" rtlCol="0" anchor="ctr"/>
          <a:lstStyle/>
          <a:p>
            <a:pPr indent="0" marL="0">
              <a:buNone/>
            </a:pPr>
            <a:r>
              <a:rPr lang="en-US" sz="1800" b="1" dirty="0">
                <a:solidFill>
                  <a:srgbClr val="31423B"/>
                </a:solidFill>
                <a:latin typeface="Open Sans" pitchFamily="34" charset="0"/>
                <a:ea typeface="Open Sans" pitchFamily="34" charset="-122"/>
                <a:cs typeface="Open Sans" pitchFamily="34" charset="-120"/>
              </a:rPr>
              <a:t>File System Forensic Analysis</a:t>
            </a:r>
            <a:endParaRPr lang="en-US" sz="1800" dirty="0"/>
          </a:p>
          <a:p>
            <a:pPr indent="0" marL="0">
              <a:buNone/>
            </a:pPr>
            <a:r>
              <a:rPr lang="en-US" sz="1300" i="1" dirty="0">
                <a:solidFill>
                  <a:srgbClr val="4F6356"/>
                </a:solidFill>
                <a:latin typeface="Open Sans" pitchFamily="34" charset="0"/>
                <a:ea typeface="Open Sans" pitchFamily="34" charset="-122"/>
                <a:cs typeface="Open Sans" pitchFamily="34" charset="-120"/>
              </a:rPr>
              <a:t>Addison-Wesley (2005)</a:t>
            </a:r>
            <a:endParaRPr lang="en-US" sz="1800" dirty="0"/>
          </a:p>
          <a:p>
            <a:pPr indent="0" marL="0">
              <a:buNone/>
            </a:pPr>
            <a:r>
              <a:rPr lang="en-US" sz="1300" dirty="0">
                <a:solidFill>
                  <a:srgbClr val="31423B"/>
                </a:solidFill>
                <a:latin typeface="Open Sans" pitchFamily="34" charset="0"/>
                <a:ea typeface="Open Sans" pitchFamily="34" charset="-122"/>
                <a:cs typeface="Open Sans" pitchFamily="34" charset="-120"/>
              </a:rPr>
              <a:t>Brian Carrier</a:t>
            </a:r>
            <a:endParaRPr lang="en-US" sz="1800" dirty="0"/>
          </a:p>
          <a:p>
            <a:pPr indent="0" marL="0">
              <a:buNone/>
            </a:pPr>
            <a:r>
              <a:rPr lang="en-US" sz="1200" i="1" dirty="0">
                <a:solidFill>
                  <a:srgbClr val="4F6356"/>
                </a:solidFill>
                <a:latin typeface="Open Sans" pitchFamily="34" charset="0"/>
                <a:ea typeface="Open Sans" pitchFamily="34" charset="-122"/>
                <a:cs typeface="Open Sans" pitchFamily="34" charset="-120"/>
              </a:rPr>
              <a:t>The standard text on partitions, FAT, NTFS and ext, by the author of the Sleuth Kit</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6035040" y="0"/>
            <a:ext cx="3108960" cy="5143500"/>
          </a:xfrm>
          <a:prstGeom prst="rect">
            <a:avLst/>
          </a:prstGeom>
          <a:solidFill>
            <a:srgbClr val="6E8472"/>
          </a:solidFill>
          <a:ln/>
        </p:spPr>
      </p:sp>
      <p:pic>
        <p:nvPicPr>
          <p:cNvPr id="3" name="Image 0" descr="preencoded.png">    </p:cNvPr>
          <p:cNvPicPr>
            <a:picLocks noChangeAspect="1"/>
          </p:cNvPicPr>
          <p:nvPr/>
        </p:nvPicPr>
        <p:blipFill>
          <a:blip r:embed="rId1"/>
          <a:stretch>
            <a:fillRect/>
          </a:stretch>
        </p:blipFill>
        <p:spPr>
          <a:xfrm>
            <a:off x="6583680" y="1554480"/>
            <a:ext cx="2011680" cy="2011680"/>
          </a:xfrm>
          <a:prstGeom prst="rect">
            <a:avLst/>
          </a:prstGeom>
        </p:spPr>
      </p:pic>
      <p:sp>
        <p:nvSpPr>
          <p:cNvPr id="4" name="Text 1"/>
          <p:cNvSpPr txBox="1"/>
          <p:nvPr/>
        </p:nvSpPr>
        <p:spPr>
          <a:xfrm>
            <a:off x="384048" y="1097280"/>
            <a:ext cx="5303520" cy="868680"/>
          </a:xfrm>
          <a:prstGeom prst="rect">
            <a:avLst/>
          </a:prstGeom>
          <a:noFill/>
          <a:ln/>
        </p:spPr>
        <p:txBody>
          <a:bodyPr wrap="square" lIns="0" tIns="0" rIns="0" bIns="0" rtlCol="0" anchor="ctr"/>
          <a:lstStyle/>
          <a:p>
            <a:pPr indent="0" marL="0">
              <a:buNone/>
            </a:pPr>
            <a:r>
              <a:rPr lang="en-US" sz="4800" b="1" dirty="0">
                <a:solidFill>
                  <a:srgbClr val="31423B"/>
                </a:solidFill>
                <a:latin typeface="Open Sans" pitchFamily="34" charset="0"/>
                <a:ea typeface="Open Sans" pitchFamily="34" charset="-122"/>
                <a:cs typeface="Open Sans" pitchFamily="34" charset="-120"/>
              </a:rPr>
              <a:t>Questions &amp;</a:t>
            </a:r>
            <a:endParaRPr lang="en-US" sz="4800" dirty="0"/>
          </a:p>
        </p:txBody>
      </p:sp>
      <p:sp>
        <p:nvSpPr>
          <p:cNvPr id="5" name="Text 2"/>
          <p:cNvSpPr txBox="1"/>
          <p:nvPr/>
        </p:nvSpPr>
        <p:spPr>
          <a:xfrm>
            <a:off x="384048" y="1938528"/>
            <a:ext cx="5303520" cy="868680"/>
          </a:xfrm>
          <a:prstGeom prst="rect">
            <a:avLst/>
          </a:prstGeom>
          <a:noFill/>
          <a:ln/>
        </p:spPr>
        <p:txBody>
          <a:bodyPr wrap="square" lIns="0" tIns="0" rIns="0" bIns="0" rtlCol="0" anchor="ctr"/>
          <a:lstStyle/>
          <a:p>
            <a:pPr indent="0" marL="0">
              <a:buNone/>
            </a:pPr>
            <a:r>
              <a:rPr lang="en-US" sz="4800" b="1" dirty="0">
                <a:solidFill>
                  <a:srgbClr val="6E8472"/>
                </a:solidFill>
                <a:latin typeface="Open Sans" pitchFamily="34" charset="0"/>
                <a:ea typeface="Open Sans" pitchFamily="34" charset="-122"/>
                <a:cs typeface="Open Sans" pitchFamily="34" charset="-120"/>
              </a:rPr>
              <a:t>Discussion</a:t>
            </a:r>
            <a:endParaRPr lang="en-US" sz="4800" dirty="0"/>
          </a:p>
        </p:txBody>
      </p:sp>
      <p:sp>
        <p:nvSpPr>
          <p:cNvPr id="6" name="Shape 3"/>
          <p:cNvSpPr/>
          <p:nvPr/>
        </p:nvSpPr>
        <p:spPr>
          <a:xfrm>
            <a:off x="384048" y="2852928"/>
            <a:ext cx="749808" cy="73152"/>
          </a:xfrm>
          <a:prstGeom prst="rect">
            <a:avLst/>
          </a:prstGeom>
          <a:solidFill>
            <a:srgbClr val="6E8472"/>
          </a:solidFill>
          <a:ln/>
        </p:spPr>
      </p:sp>
      <p:sp>
        <p:nvSpPr>
          <p:cNvPr id="7" name="Shape 4"/>
          <p:cNvSpPr/>
          <p:nvPr/>
        </p:nvSpPr>
        <p:spPr>
          <a:xfrm>
            <a:off x="1188720" y="2852928"/>
            <a:ext cx="384048" cy="73152"/>
          </a:xfrm>
          <a:prstGeom prst="rect">
            <a:avLst/>
          </a:prstGeom>
          <a:solidFill>
            <a:srgbClr val="8A4E8F"/>
          </a:solidFill>
          <a:ln/>
        </p:spPr>
      </p:sp>
      <p:sp>
        <p:nvSpPr>
          <p:cNvPr id="8" name="Text 5"/>
          <p:cNvSpPr txBox="1"/>
          <p:nvPr/>
        </p:nvSpPr>
        <p:spPr>
          <a:xfrm>
            <a:off x="384048" y="3035808"/>
            <a:ext cx="5303520" cy="822960"/>
          </a:xfrm>
          <a:prstGeom prst="rect">
            <a:avLst/>
          </a:prstGeom>
          <a:noFill/>
          <a:ln/>
        </p:spPr>
        <p:txBody>
          <a:bodyPr wrap="square" lIns="0" tIns="0" rIns="0" bIns="0" rtlCol="0" anchor="t"/>
          <a:lstStyle/>
          <a:p>
            <a:pPr indent="0" marL="0">
              <a:buNone/>
            </a:pPr>
            <a:r>
              <a:rPr lang="en-US" sz="1600" i="1" dirty="0">
                <a:solidFill>
                  <a:srgbClr val="5C6B63"/>
                </a:solidFill>
                <a:latin typeface="Open Sans" pitchFamily="34" charset="0"/>
                <a:ea typeface="Open Sans" pitchFamily="34" charset="-122"/>
                <a:cs typeface="Open Sans" pitchFamily="34" charset="-120"/>
              </a:rPr>
              <a:t>Next: Session 3 - Advanced data recovery and carving. The record is gone; find the content by its shape.</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Disclaimer &amp; Copyrights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Text 4"/>
          <p:cNvSpPr txBox="1"/>
          <p:nvPr/>
        </p:nvSpPr>
        <p:spPr>
          <a:xfrm>
            <a:off x="731520" y="1508760"/>
            <a:ext cx="7863840" cy="2286000"/>
          </a:xfrm>
          <a:prstGeom prst="rect">
            <a:avLst/>
          </a:prstGeom>
          <a:noFill/>
          <a:ln/>
        </p:spPr>
        <p:txBody>
          <a:bodyPr wrap="square" lIns="0" tIns="0" rIns="0" bIns="0" rtlCol="0" anchor="t"/>
          <a:lstStyle/>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The information presented in this presentation is intended for general informational purposes only. It is not meant to be comprehensive or to constitute professional advice. Any reliance you place on such information is strictly at your own risk. While I strive to keep the information accurate and up-to-date, I make no representations or warranties of any kind, express or implied, about the completeness, accuracy, reliability, suitability or availability concerning the content within this presentation.</a:t>
            </a:r>
            <a:endParaRPr lang="en-US" sz="1200" dirty="0"/>
          </a:p>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This presentation may include references or links to third-party websites or content. I do not endorse the views expressed or the information provided on such external sites. I am not responsible for the content of any linked site or any link contained in a linked site.</a:t>
            </a:r>
            <a:endParaRPr lang="en-US" sz="1200" dirty="0"/>
          </a:p>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Any action you take upon the information presented in this presentation is strictly at your own discretion. I will not be liable for any losses or damages in connection with the use of this information.</a:t>
            </a:r>
            <a:endParaRPr lang="en-US" sz="1200" dirty="0"/>
          </a:p>
          <a:p>
            <a:pPr indent="0" marL="0">
              <a:buNone/>
            </a:pPr>
            <a:r>
              <a:rPr lang="en-US" sz="1200" dirty="0">
                <a:solidFill>
                  <a:srgbClr val="31423B"/>
                </a:solidFill>
                <a:latin typeface="Open Sans" pitchFamily="34" charset="0"/>
                <a:ea typeface="Open Sans" pitchFamily="34" charset="-122"/>
                <a:cs typeface="Open Sans" pitchFamily="34" charset="-120"/>
              </a:rPr>
              <a:t>This disclaimer is subject to change without notice.</a:t>
            </a:r>
            <a:endParaRPr lang="en-US" sz="1200" dirty="0"/>
          </a:p>
        </p:txBody>
      </p:sp>
      <p:sp>
        <p:nvSpPr>
          <p:cNvPr id="7" name="Shape 5"/>
          <p:cNvSpPr/>
          <p:nvPr/>
        </p:nvSpPr>
        <p:spPr>
          <a:xfrm>
            <a:off x="731520" y="3913632"/>
            <a:ext cx="54864" cy="621792"/>
          </a:xfrm>
          <a:prstGeom prst="rect">
            <a:avLst/>
          </a:prstGeom>
          <a:solidFill>
            <a:srgbClr val="E8F0EA"/>
          </a:solidFill>
          <a:ln/>
        </p:spPr>
      </p:sp>
      <p:sp>
        <p:nvSpPr>
          <p:cNvPr id="8" name="Text 6"/>
          <p:cNvSpPr txBox="1"/>
          <p:nvPr/>
        </p:nvSpPr>
        <p:spPr>
          <a:xfrm>
            <a:off x="859536" y="3913632"/>
            <a:ext cx="7735824" cy="621792"/>
          </a:xfrm>
          <a:prstGeom prst="rect">
            <a:avLst/>
          </a:prstGeom>
          <a:noFill/>
          <a:ln/>
        </p:spPr>
        <p:txBody>
          <a:bodyPr wrap="square" lIns="0" tIns="0" rIns="0" bIns="0" rtlCol="0" anchor="t"/>
          <a:lstStyle/>
          <a:p>
            <a:pPr indent="0" marL="0">
              <a:buNone/>
            </a:pPr>
            <a:r>
              <a:rPr lang="en-US" sz="1100" dirty="0">
                <a:solidFill>
                  <a:srgbClr val="5C6B63"/>
                </a:solidFill>
                <a:latin typeface="Open Sans" pitchFamily="34" charset="0"/>
                <a:ea typeface="Open Sans" pitchFamily="34" charset="-122"/>
                <a:cs typeface="Open Sans" pitchFamily="34" charset="-120"/>
              </a:rPr>
              <a:t>@ Images and artworks used in this presentation are used for general informational purposes only. It may contain copyrighted material, the use of which may not have been specifically authorised by the copyright owner. This material is available in an effort to explain issues relevant to the topic. This should constitute a 'fair use' of any such copyrighted material.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National Institute of Business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NB6018CEM S02 - Storage, File Systems and First Recoveries</dc:title>
  <dc:subject>PptxGenJS Presentation</dc:subject>
  <dc:creator>Niranga Dharmaratna</dc:creator>
  <cp:lastModifiedBy>Niranga Dharmaratna</cp:lastModifiedBy>
  <cp:revision>1</cp:revision>
  <dcterms:created xsi:type="dcterms:W3CDTF">2026-10-03T18:46:08Z</dcterms:created>
  <dcterms:modified xsi:type="dcterms:W3CDTF">2026-10-03T18:46:08Z</dcterms:modified>
</cp:coreProperties>
</file>