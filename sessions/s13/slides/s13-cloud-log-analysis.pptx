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13 opens Day 7 and closes the coursework block. Students analyse the evidence they collected in Session 12. The portal page is the content master; every slide points to a section of it. Before the concept part, ask each student to show both sealed collections and their collection log; anyone without them follows the page's missed-session route, practising first on the practice set. Misconception to watch for: that the page or the lecturer will say what their records show. The page teaches the method; the findings are theirs.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LO2, LO4 and LO5. The checkpoint, a timeline in Session 5's columns, the correlation table, and the template's timeline section and one recommendation, feeds the coursework directly and is not marked here. No quiz today: Session 14 closes Day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case hook, then the ten sections in order. The three questions map to sections 4 and 8 (agree), 5 (where they do not, and why) and 6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opening of the page. Misconception to watch for: copying wording from the page's examples into the report. The examples come from an invented account; their rows will not match anyone's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 with demo S13-D1 from the front. AKIA keys are long-term, ASIA keys temporary (AWS's own documentation); CloudShell signs with temporary credentials. eventID is CloudTrail's label for the event, not Session 5's Windows event ID. Mix-ups: naming a person from userIdentity; treating the user agent as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2, with demo S13-D2. The pattern is Session 8's jq on eve.json. Build it live, one stage at a time, and show the count after each stage. The lab's filter has twelve columns and turns every empty value into a dash.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3. Walk one line from the page left to right. Operation names: PUT.OBJECT, GET.OBJECT, HEAD.OBJECT, DELETE.OBJECT, GET.BUCKET (listing), GET.BUCKETVERSIONS. Point out that an upload's line has Version Id '-': S3 made the version, the request did not name one; CloudTrail's responseElements holds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4, with demo S13-D3. Name the link to Session 8 explicitly: one shared key across two records. s13-tools.py join writes matched, CloudTrail-only and access-log-only files; the your_reason column is the student's work. Misconception to watch for: deleting lonely rows as noise.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four-part comparison of page section 4. The break carries the lesson: best-effort delivery and differing coverage.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5. Coverage is read from the student's own join, not asserted. Do not tell the room which way the listing check comes out: each student reports what their records show. The reference environment's result is in the instructor key once the list-request test has run. Mix-ups: 'the access log has more lines, so it is better'; 'not in CloudTrail, so it did not happen'.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6, with demo S13-D4, and the test-tone comparison (where it breaks: your requests look exactly like the incident's). A row inside a window that fails the check is not tagged; it needs its own explanation.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7, Session 7's rule applied. The postmark comparison breaks where an AWS address is shared by millions of customers, and the list changes, so the copy used is recorded. Students write their own assessment of what their identifiers show; do not write it for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8. The columns are Session 5's, unchanged: timestamp_utc, timestamp_desc, source, artefact, description, original_zone, tag. Normalisation here is a check, since all three sources are UTC. The own-log test is the session's distinctive move.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lens, inside page section 8. Name and paraphrase only. Connect it to Session 11, where the top was a private test set against the provider's public check: today the student owns a top. Spend the time on the second break: the real case has no totem. About three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pivotal idea, Session 13's angle on the cloud block's shared idea. Let the room read it. Bridge to the lab: join to find agreement, test against your own log, state every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9, with the prescription comparison, and section 10, the template. Categories to examine for limitations: delivery, coverage, retention, clocks, own requests, identity and address. Give no example changes: the students' recommendations must come from their own findings. The template is on the LMS; Session 16 returns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Page section 11, about two hours ten minutes, Kali only. Timing: A 15, B 25, C 15, D 20, E 10, F 15, G 20, H 10 (finished after class). Walk the room at Part D (reasons from evidence, not guesses) and Part E (the check, not just the window). Prowler is optional, at the end, after the last collection, recorded and tagged.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Debrief, five minutes. Draw out the chain from Session 7: the record supports the second sentence; the first needs every further step, identity to person, each with its own evidence. Then ask what in their own evidence goes beyond the record, and what does not. Misconception to watch for: that more confident wording makes a stronger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Take-aways. No quiz today: Session 14 closes Day 7. The checkpoint is self-judged against the page's table; finishing the template draft is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House disclaimer, unchanged. Every identifier on these slides is invented: no real account ID, key, bucket or address appears.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8F4"/>
        </a:solidFill>
      </p:bgPr>
    </p:bg>
    <p:spTree>
      <p:nvGrpSpPr>
        <p:cNvPr id="1" name=""/>
        <p:cNvGrpSpPr/>
        <p:nvPr/>
      </p:nvGrpSpPr>
      <p:grpSpPr>
        <a:xfrm>
          <a:off x="0" y="0"/>
          <a:ext cx="0" cy="0"/>
          <a:chOff x="0" y="0"/>
          <a:chExt cx="0" cy="0"/>
        </a:xfrm>
      </p:grpSpPr>
      <p:sp>
        <p:nvSpPr>
          <p:cNvPr id="2" name="Text 0"/>
          <p:cNvSpPr/>
          <p:nvPr/>
        </p:nvSpPr>
        <p:spPr>
          <a:xfrm>
            <a:off x="384048" y="292608"/>
            <a:ext cx="5486400" cy="548640"/>
          </a:xfrm>
          <a:prstGeom prst="rect">
            <a:avLst/>
          </a:prstGeom>
          <a:noFill/>
          <a:ln/>
        </p:spPr>
        <p:txBody>
          <a:bodyPr wrap="square" lIns="0" tIns="0" rIns="0" bIns="0"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BSc (Hons) Ethical Hacking &amp; Network Security</a:t>
            </a:r>
            <a:endParaRPr lang="en-US" sz="1300" dirty="0"/>
          </a:p>
          <a:p>
            <a:pPr indent="0" marL="0">
              <a:buNone/>
            </a:pPr>
            <a:r>
              <a:rPr lang="en-US" sz="1300" b="1" dirty="0">
                <a:solidFill>
                  <a:srgbClr val="31423B"/>
                </a:solidFill>
                <a:latin typeface="Open Sans" pitchFamily="34" charset="0"/>
                <a:ea typeface="Open Sans" pitchFamily="34" charset="-122"/>
                <a:cs typeface="Open Sans" pitchFamily="34" charset="-120"/>
              </a:rPr>
              <a:t>Coventry University (CU) - NIBM</a:t>
            </a:r>
            <a:endParaRPr lang="en-US" sz="1300" dirty="0"/>
          </a:p>
        </p:txBody>
      </p:sp>
      <p:sp>
        <p:nvSpPr>
          <p:cNvPr id="3" name="Text 1"/>
          <p:cNvSpPr/>
          <p:nvPr/>
        </p:nvSpPr>
        <p:spPr>
          <a:xfrm>
            <a:off x="384048" y="886968"/>
            <a:ext cx="4572000" cy="256032"/>
          </a:xfrm>
          <a:prstGeom prst="rect">
            <a:avLst/>
          </a:prstGeom>
          <a:noFill/>
          <a:ln/>
        </p:spPr>
        <p:txBody>
          <a:bodyPr wrap="square" lIns="0" tIns="0" rIns="0" bIns="0" rtlCol="0" anchor="ctr"/>
          <a:lstStyle/>
          <a:p>
            <a:pPr indent="0" marL="0">
              <a:buNone/>
            </a:pPr>
            <a:r>
              <a:rPr lang="en-US" sz="1300" b="1" dirty="0">
                <a:solidFill>
                  <a:srgbClr val="4F6356"/>
                </a:solidFill>
                <a:latin typeface="Open Sans" pitchFamily="34" charset="0"/>
                <a:ea typeface="Open Sans" pitchFamily="34" charset="-122"/>
                <a:cs typeface="Open Sans" pitchFamily="34" charset="-120"/>
              </a:rPr>
              <a:t>NB6018CEM  |  Level 6  |  20 Credits</a:t>
            </a:r>
            <a:endParaRPr lang="en-US" sz="1300" dirty="0"/>
          </a:p>
        </p:txBody>
      </p:sp>
      <p:sp>
        <p:nvSpPr>
          <p:cNvPr id="4" name="Text 2"/>
          <p:cNvSpPr/>
          <p:nvPr/>
        </p:nvSpPr>
        <p:spPr>
          <a:xfrm>
            <a:off x="384048" y="1188720"/>
            <a:ext cx="5486400" cy="1920240"/>
          </a:xfrm>
          <a:prstGeom prst="rect">
            <a:avLst/>
          </a:prstGeom>
          <a:noFill/>
          <a:ln/>
        </p:spPr>
        <p:txBody>
          <a:bodyPr wrap="square" lIns="0" tIns="0" rIns="0" bIns="0" rtlCol="0" anchor="ctr"/>
          <a:lstStyle/>
          <a:p>
            <a:pPr indent="0" marL="0">
              <a:buNone/>
            </a:pPr>
            <a:r>
              <a:rPr lang="en-US" sz="3400" b="1" dirty="0">
                <a:solidFill>
                  <a:srgbClr val="31423B"/>
                </a:solidFill>
                <a:latin typeface="Open Sans" pitchFamily="34" charset="0"/>
                <a:ea typeface="Open Sans" pitchFamily="34" charset="-122"/>
                <a:cs typeface="Open Sans" pitchFamily="34" charset="-120"/>
              </a:rPr>
              <a:t>Cloud log analysis and timeline reconstruction</a:t>
            </a:r>
            <a:endParaRPr lang="en-US" sz="3400" dirty="0"/>
          </a:p>
        </p:txBody>
      </p:sp>
      <p:sp>
        <p:nvSpPr>
          <p:cNvPr id="5" name="Shape 3"/>
          <p:cNvSpPr/>
          <p:nvPr/>
        </p:nvSpPr>
        <p:spPr>
          <a:xfrm>
            <a:off x="384048" y="3145536"/>
            <a:ext cx="749808" cy="82296"/>
          </a:xfrm>
          <a:prstGeom prst="rect">
            <a:avLst/>
          </a:prstGeom>
          <a:solidFill>
            <a:srgbClr val="6E8472"/>
          </a:solidFill>
          <a:ln/>
        </p:spPr>
      </p:sp>
      <p:sp>
        <p:nvSpPr>
          <p:cNvPr id="6" name="Shape 4"/>
          <p:cNvSpPr/>
          <p:nvPr/>
        </p:nvSpPr>
        <p:spPr>
          <a:xfrm>
            <a:off x="1188720" y="3145536"/>
            <a:ext cx="384048" cy="82296"/>
          </a:xfrm>
          <a:prstGeom prst="rect">
            <a:avLst/>
          </a:prstGeom>
          <a:solidFill>
            <a:srgbClr val="8A4E8F"/>
          </a:solidFill>
          <a:ln/>
        </p:spPr>
      </p:sp>
      <p:sp>
        <p:nvSpPr>
          <p:cNvPr id="7" name="Text 5"/>
          <p:cNvSpPr/>
          <p:nvPr/>
        </p:nvSpPr>
        <p:spPr>
          <a:xfrm>
            <a:off x="384048" y="3310128"/>
            <a:ext cx="5303520" cy="640080"/>
          </a:xfrm>
          <a:prstGeom prst="rect">
            <a:avLst/>
          </a:prstGeom>
          <a:noFill/>
          <a:ln/>
        </p:spPr>
        <p:txBody>
          <a:bodyPr wrap="square" lIns="0" tIns="0" rIns="0" bIns="0" rtlCol="0" anchor="t"/>
          <a:lstStyle/>
          <a:p>
            <a:pPr indent="0" marL="0">
              <a:buNone/>
            </a:pPr>
            <a:r>
              <a:rPr lang="en-US" sz="1800" i="1" dirty="0">
                <a:solidFill>
                  <a:srgbClr val="5C6B63"/>
                </a:solidFill>
                <a:latin typeface="Open Sans" pitchFamily="34" charset="0"/>
                <a:ea typeface="Open Sans" pitchFamily="34" charset="-122"/>
                <a:cs typeface="Open Sans" pitchFamily="34" charset="-120"/>
              </a:rPr>
              <a:t>Session 13 - Day 7: Cloud forensics II and Internet forensics</a:t>
            </a:r>
            <a:endParaRPr lang="en-US" sz="1800" dirty="0"/>
          </a:p>
        </p:txBody>
      </p:sp>
      <p:sp>
        <p:nvSpPr>
          <p:cNvPr id="8" name="Text 6"/>
          <p:cNvSpPr/>
          <p:nvPr/>
        </p:nvSpPr>
        <p:spPr>
          <a:xfrm>
            <a:off x="384048" y="4681728"/>
            <a:ext cx="5029200" cy="329184"/>
          </a:xfrm>
          <a:prstGeom prst="rect">
            <a:avLst/>
          </a:prstGeom>
          <a:noFill/>
          <a:ln/>
        </p:spPr>
        <p:txBody>
          <a:bodyPr wrap="square" lIns="0" tIns="0" rIns="0" bIns="0" rtlCol="0" anchor="ctr"/>
          <a:lstStyle/>
          <a:p>
            <a:pPr indent="0" marL="0">
              <a:buNone/>
            </a:pPr>
            <a:r>
              <a:rPr lang="en-US" sz="1300" dirty="0">
                <a:solidFill>
                  <a:srgbClr val="5C6B63"/>
                </a:solidFill>
                <a:latin typeface="Open Sans" pitchFamily="34" charset="0"/>
                <a:ea typeface="Open Sans" pitchFamily="34" charset="-122"/>
                <a:cs typeface="Open Sans" pitchFamily="34" charset="-120"/>
              </a:rPr>
              <a:t>Niranga Dharmaratna - niranga@nibm.lk</a:t>
            </a:r>
            <a:endParaRPr lang="en-US" sz="1300" dirty="0"/>
          </a:p>
        </p:txBody>
      </p:sp>
      <p:pic>
        <p:nvPicPr>
          <p:cNvPr id="9" name="Image 0" descr="preencoded.png">    </p:cNvPr>
          <p:cNvPicPr>
            <a:picLocks noChangeAspect="1"/>
          </p:cNvPicPr>
          <p:nvPr/>
        </p:nvPicPr>
        <p:blipFill>
          <a:blip r:embed="rId1"/>
          <a:stretch>
            <a:fillRect/>
          </a:stretch>
        </p:blipFill>
        <p:spPr>
          <a:xfrm>
            <a:off x="6309360" y="1463040"/>
            <a:ext cx="2194560" cy="21945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8F0EA"/>
        </a:solidFill>
      </p:bgPr>
    </p:bg>
    <p:spTree>
      <p:nvGrpSpPr>
        <p:cNvPr id="1" name=""/>
        <p:cNvGrpSpPr/>
        <p:nvPr/>
      </p:nvGrpSpPr>
      <p:grpSpPr>
        <a:xfrm>
          <a:off x="0" y="0"/>
          <a:ext cx="0" cy="0"/>
          <a:chOff x="0" y="0"/>
          <a:chExt cx="0" cy="0"/>
        </a:xfrm>
      </p:grpSpPr>
      <p:sp>
        <p:nvSpPr>
          <p:cNvPr id="2" name="Shape 0"/>
          <p:cNvSpPr/>
          <p:nvPr/>
        </p:nvSpPr>
        <p:spPr>
          <a:xfrm>
            <a:off x="731520" y="1097280"/>
            <a:ext cx="502920" cy="45720"/>
          </a:xfrm>
          <a:prstGeom prst="rect">
            <a:avLst/>
          </a:prstGeom>
          <a:solidFill>
            <a:srgbClr val="6E8472"/>
          </a:solidFill>
          <a:ln/>
        </p:spPr>
      </p:sp>
      <p:sp>
        <p:nvSpPr>
          <p:cNvPr id="3" name="Text 1"/>
          <p:cNvSpPr/>
          <p:nvPr/>
        </p:nvSpPr>
        <p:spPr>
          <a:xfrm>
            <a:off x="731520" y="1325880"/>
            <a:ext cx="7690104" cy="1371600"/>
          </a:xfrm>
          <a:prstGeom prst="rect">
            <a:avLst/>
          </a:prstGeom>
          <a:noFill/>
          <a:ln/>
        </p:spPr>
        <p:txBody>
          <a:bodyPr wrap="square" lIns="0" tIns="0" rIns="0" bIns="0" rtlCol="0" anchor="ctr"/>
          <a:lstStyle/>
          <a:p>
            <a:pPr indent="0" marL="0">
              <a:buNone/>
            </a:pPr>
            <a:r>
              <a:rPr lang="en-US" sz="3000" b="1" dirty="0">
                <a:solidFill>
                  <a:srgbClr val="31423B"/>
                </a:solidFill>
                <a:latin typeface="Open Sans" pitchFamily="34" charset="0"/>
                <a:ea typeface="Open Sans" pitchFamily="34" charset="-122"/>
                <a:cs typeface="Open Sans" pitchFamily="34" charset="-120"/>
              </a:rPr>
              <a:t>S13 Cloud log analysis and timeline reconstruction</a:t>
            </a:r>
            <a:endParaRPr lang="en-US" sz="3000" dirty="0"/>
          </a:p>
        </p:txBody>
      </p:sp>
      <p:sp>
        <p:nvSpPr>
          <p:cNvPr id="4" name="Shape 2"/>
          <p:cNvSpPr/>
          <p:nvPr/>
        </p:nvSpPr>
        <p:spPr>
          <a:xfrm>
            <a:off x="731520" y="2788920"/>
            <a:ext cx="749808" cy="82296"/>
          </a:xfrm>
          <a:prstGeom prst="rect">
            <a:avLst/>
          </a:prstGeom>
          <a:solidFill>
            <a:srgbClr val="6E8472"/>
          </a:solidFill>
          <a:ln/>
        </p:spPr>
      </p:sp>
      <p:sp>
        <p:nvSpPr>
          <p:cNvPr id="5" name="Shape 3"/>
          <p:cNvSpPr/>
          <p:nvPr/>
        </p:nvSpPr>
        <p:spPr>
          <a:xfrm>
            <a:off x="1536192" y="2788920"/>
            <a:ext cx="384048" cy="82296"/>
          </a:xfrm>
          <a:prstGeom prst="rect">
            <a:avLst/>
          </a:prstGeom>
          <a:solidFill>
            <a:srgbClr val="8A4E8F"/>
          </a:solidFill>
          <a:ln/>
        </p:spPr>
      </p:sp>
      <p:sp>
        <p:nvSpPr>
          <p:cNvPr id="6" name="Shape 4"/>
          <p:cNvSpPr/>
          <p:nvPr/>
        </p:nvSpPr>
        <p:spPr>
          <a:xfrm>
            <a:off x="731520" y="3108960"/>
            <a:ext cx="640080" cy="347472"/>
          </a:xfrm>
          <a:prstGeom prst="rect">
            <a:avLst/>
          </a:prstGeom>
          <a:solidFill>
            <a:srgbClr val="4F6356"/>
          </a:solidFill>
          <a:ln/>
        </p:spPr>
      </p:sp>
      <p:sp>
        <p:nvSpPr>
          <p:cNvPr id="7" name="Text 5"/>
          <p:cNvSpPr/>
          <p:nvPr/>
        </p:nvSpPr>
        <p:spPr>
          <a:xfrm>
            <a:off x="73152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LO2</a:t>
            </a:r>
            <a:endParaRPr lang="en-US" sz="1400" dirty="0"/>
          </a:p>
        </p:txBody>
      </p:sp>
      <p:sp>
        <p:nvSpPr>
          <p:cNvPr id="8" name="Shape 6"/>
          <p:cNvSpPr/>
          <p:nvPr/>
        </p:nvSpPr>
        <p:spPr>
          <a:xfrm>
            <a:off x="1463040" y="3108960"/>
            <a:ext cx="640080" cy="347472"/>
          </a:xfrm>
          <a:prstGeom prst="rect">
            <a:avLst/>
          </a:prstGeom>
          <a:solidFill>
            <a:srgbClr val="31423B"/>
          </a:solidFill>
          <a:ln/>
        </p:spPr>
      </p:sp>
      <p:sp>
        <p:nvSpPr>
          <p:cNvPr id="9" name="Text 7"/>
          <p:cNvSpPr/>
          <p:nvPr/>
        </p:nvSpPr>
        <p:spPr>
          <a:xfrm>
            <a:off x="146304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LO4</a:t>
            </a:r>
            <a:endParaRPr lang="en-US" sz="1400" dirty="0"/>
          </a:p>
        </p:txBody>
      </p:sp>
      <p:sp>
        <p:nvSpPr>
          <p:cNvPr id="10" name="Shape 8"/>
          <p:cNvSpPr/>
          <p:nvPr/>
        </p:nvSpPr>
        <p:spPr>
          <a:xfrm>
            <a:off x="2194560" y="3108960"/>
            <a:ext cx="640080" cy="347472"/>
          </a:xfrm>
          <a:prstGeom prst="rect">
            <a:avLst/>
          </a:prstGeom>
          <a:solidFill>
            <a:srgbClr val="6E3D72"/>
          </a:solidFill>
          <a:ln/>
        </p:spPr>
      </p:sp>
      <p:sp>
        <p:nvSpPr>
          <p:cNvPr id="11" name="Text 9"/>
          <p:cNvSpPr/>
          <p:nvPr/>
        </p:nvSpPr>
        <p:spPr>
          <a:xfrm>
            <a:off x="2194560" y="3108960"/>
            <a:ext cx="640080" cy="347472"/>
          </a:xfrm>
          <a:prstGeom prst="rect">
            <a:avLst/>
          </a:prstGeom>
          <a:noFill/>
          <a:ln/>
        </p:spPr>
        <p:txBody>
          <a:bodyPr wrap="square" lIns="0" tIns="0" rIns="0" bIns="0" rtlCol="0" anchor="ctr"/>
          <a:lstStyle/>
          <a:p>
            <a:pPr algn="ctr" indent="0" marL="0">
              <a:buNone/>
            </a:pPr>
            <a:r>
              <a:rPr lang="en-US" sz="1400" b="1" dirty="0">
                <a:solidFill>
                  <a:srgbClr val="FFFFFF"/>
                </a:solidFill>
                <a:latin typeface="Open Sans" pitchFamily="34" charset="0"/>
                <a:ea typeface="Open Sans" pitchFamily="34" charset="-122"/>
                <a:cs typeface="Open Sans" pitchFamily="34" charset="-120"/>
              </a:rPr>
              <a:t>LO5</a:t>
            </a:r>
            <a:endParaRPr lang="en-US" sz="1400" dirty="0"/>
          </a:p>
        </p:txBody>
      </p:sp>
      <p:sp>
        <p:nvSpPr>
          <p:cNvPr id="12" name="Text 10"/>
          <p:cNvSpPr/>
          <p:nvPr/>
        </p:nvSpPr>
        <p:spPr>
          <a:xfrm>
            <a:off x="731520" y="3584448"/>
            <a:ext cx="7690104" cy="329184"/>
          </a:xfrm>
          <a:prstGeom prst="rect">
            <a:avLst/>
          </a:prstGeom>
          <a:noFill/>
          <a:ln/>
        </p:spPr>
        <p:txBody>
          <a:bodyPr wrap="square" lIns="0" tIns="0" rIns="0" bIns="0" rtlCol="0" anchor="ctr"/>
          <a:lstStyle/>
          <a:p>
            <a:pPr indent="0" marL="0">
              <a:buNone/>
            </a:pPr>
            <a:r>
              <a:rPr lang="en-US" sz="1400" dirty="0">
                <a:solidFill>
                  <a:srgbClr val="5C6B63"/>
                </a:solidFill>
                <a:latin typeface="Open Sans" pitchFamily="34" charset="0"/>
                <a:ea typeface="Open Sans" pitchFamily="34" charset="-122"/>
                <a:cs typeface="Open Sans" pitchFamily="34" charset="-120"/>
              </a:rPr>
              <a:t>Feeds: Coursework (directly)  |  Day 7 closes with Session 14's quiz</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case today</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4754880" cy="1188720"/>
          </a:xfrm>
          <a:prstGeom prst="rect">
            <a:avLst/>
          </a:prstGeom>
          <a:solidFill>
            <a:srgbClr val="F1E8F2"/>
          </a:solidFill>
          <a:ln/>
        </p:spPr>
      </p:sp>
      <p:sp>
        <p:nvSpPr>
          <p:cNvPr id="7" name="Text 5"/>
          <p:cNvSpPr/>
          <p:nvPr/>
        </p:nvSpPr>
        <p:spPr>
          <a:xfrm>
            <a:off x="521208" y="1371600"/>
            <a:ext cx="4535424" cy="1188720"/>
          </a:xfrm>
          <a:prstGeom prst="rect">
            <a:avLst/>
          </a:prstGeom>
          <a:noFill/>
          <a:ln/>
        </p:spPr>
        <p:txBody>
          <a:bodyPr wrap="square" rtlCol="0" anchor="ctr"/>
          <a:lstStyle/>
          <a:p>
            <a:pPr indent="0" marL="0">
              <a:buNone/>
            </a:pPr>
            <a:r>
              <a:rPr lang="en-US" sz="1400" b="1" dirty="0">
                <a:solidFill>
                  <a:srgbClr val="31423B"/>
                </a:solidFill>
                <a:latin typeface="Open Sans" pitchFamily="34" charset="0"/>
                <a:ea typeface="Open Sans" pitchFamily="34" charset="-122"/>
                <a:cs typeface="Open Sans" pitchFamily="34" charset="-120"/>
              </a:rPr>
              <a:t>The drop's records are collected and sealed. Today the unit reads them: two records written by AWS, and one written by you.</a:t>
            </a:r>
            <a:endParaRPr lang="en-US" sz="1400" dirty="0"/>
          </a:p>
        </p:txBody>
      </p:sp>
      <p:sp>
        <p:nvSpPr>
          <p:cNvPr id="8" name="Shape 6"/>
          <p:cNvSpPr/>
          <p:nvPr/>
        </p:nvSpPr>
        <p:spPr>
          <a:xfrm>
            <a:off x="411480" y="2651760"/>
            <a:ext cx="4754880" cy="2103120"/>
          </a:xfrm>
          <a:prstGeom prst="rect">
            <a:avLst/>
          </a:prstGeom>
          <a:solidFill>
            <a:srgbClr val="DCE6DE"/>
          </a:solidFill>
          <a:ln/>
        </p:spPr>
      </p:sp>
      <p:sp>
        <p:nvSpPr>
          <p:cNvPr id="9" name="Text 7"/>
          <p:cNvSpPr/>
          <p:nvPr/>
        </p:nvSpPr>
        <p:spPr>
          <a:xfrm>
            <a:off x="502920" y="2651760"/>
            <a:ext cx="4572000" cy="2103120"/>
          </a:xfrm>
          <a:prstGeom prst="rect">
            <a:avLst/>
          </a:prstGeom>
          <a:noFill/>
          <a:ln/>
        </p:spPr>
        <p:txBody>
          <a:bodyPr wrap="square" rtlCol="0" anchor="ctr"/>
          <a:lstStyle/>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One record, five questions</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jq at scale</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Reading an access-log line</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One key across two records</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What each record can cover</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Setting your own requests apart</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Identity and network</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The timeline as an argument</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Limitations and recommendations</a:t>
            </a:r>
            <a:endParaRPr lang="en-US" sz="1100" dirty="0"/>
          </a:p>
          <a:p>
            <a:pPr marL="342900" indent="-342900">
              <a:spcAft>
                <a:spcPts val="100"/>
              </a:spcAft>
              <a:buSzPct val="100000"/>
              <a:buChar char="•"/>
            </a:pPr>
            <a:r>
              <a:rPr lang="en-US" sz="1100" b="1" dirty="0">
                <a:solidFill>
                  <a:srgbClr val="31423B"/>
                </a:solidFill>
                <a:latin typeface="Open Sans" pitchFamily="34" charset="0"/>
                <a:ea typeface="Open Sans" pitchFamily="34" charset="-122"/>
                <a:cs typeface="Open Sans" pitchFamily="34" charset="-120"/>
              </a:rPr>
              <a:t>The report template</a:t>
            </a:r>
            <a:endParaRPr lang="en-US" sz="1100" dirty="0"/>
          </a:p>
        </p:txBody>
      </p:sp>
      <p:pic>
        <p:nvPicPr>
          <p:cNvPr id="10" name="Image 0" descr="preencoded.png">    </p:cNvPr>
          <p:cNvPicPr>
            <a:picLocks noChangeAspect="1"/>
          </p:cNvPicPr>
          <p:nvPr/>
        </p:nvPicPr>
        <p:blipFill>
          <a:blip r:embed="rId1"/>
          <a:stretch>
            <a:fillRect/>
          </a:stretch>
        </p:blipFill>
        <p:spPr>
          <a:xfrm>
            <a:off x="6126480" y="1371600"/>
            <a:ext cx="1737360" cy="1737360"/>
          </a:xfrm>
          <a:prstGeom prst="rect">
            <a:avLst/>
          </a:prstGeom>
        </p:spPr>
      </p:pic>
      <p:sp>
        <p:nvSpPr>
          <p:cNvPr id="11" name="Text 8"/>
          <p:cNvSpPr/>
          <p:nvPr/>
        </p:nvSpPr>
        <p:spPr>
          <a:xfrm>
            <a:off x="5349240" y="3337560"/>
            <a:ext cx="3383280" cy="1280160"/>
          </a:xfrm>
          <a:prstGeom prst="rect">
            <a:avLst/>
          </a:prstGeom>
          <a:noFill/>
          <a:ln/>
        </p:spPr>
        <p:txBody>
          <a:bodyPr wrap="square" lIns="0" tIns="0" rIns="0" bIns="0" rtlCol="0" anchor="t"/>
          <a:lstStyle/>
          <a:p>
            <a:pPr indent="0" marL="0">
              <a:buNone/>
            </a:pPr>
            <a:r>
              <a:rPr lang="en-US" sz="1400" i="1" dirty="0">
                <a:solidFill>
                  <a:srgbClr val="5C6B63"/>
                </a:solidFill>
                <a:latin typeface="Open Sans" pitchFamily="34" charset="0"/>
                <a:ea typeface="Open Sans" pitchFamily="34" charset="-122"/>
                <a:cs typeface="Open Sans" pitchFamily="34" charset="-120"/>
              </a:rPr>
              <a:t>Where do the records agree, where do they not, and which of the requests in them were yours?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Three plain statements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194560"/>
          </a:xfrm>
          <a:prstGeom prst="rect">
            <a:avLst/>
          </a:prstGeom>
          <a:solidFill>
            <a:srgbClr val="DCE6DE"/>
          </a:solidFill>
          <a:ln/>
        </p:spPr>
      </p:sp>
      <p:sp>
        <p:nvSpPr>
          <p:cNvPr id="7" name="Text 5"/>
          <p:cNvSpPr/>
          <p:nvPr/>
        </p:nvSpPr>
        <p:spPr>
          <a:xfrm>
            <a:off x="502920" y="1371600"/>
            <a:ext cx="8138160" cy="2194560"/>
          </a:xfrm>
          <a:prstGeom prst="rect">
            <a:avLst/>
          </a:prstGeom>
          <a:noFill/>
          <a:ln/>
        </p:spPr>
        <p:txBody>
          <a:bodyPr wrap="square" rtlCol="0" anchor="ctr"/>
          <a:lstStyle/>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Today you analyse: rows, a join, your own requests set apart, networks, a timeline, a first draft</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The evidence is yours, and so are the conclusions: the page teaches the method, never your findings</a:t>
            </a:r>
            <a:endParaRPr lang="en-US" sz="1500" dirty="0"/>
          </a:p>
          <a:p>
            <a:pPr marL="342900" indent="-342900">
              <a:spcAft>
                <a:spcPts val="600"/>
              </a:spcAft>
              <a:buSzPct val="100000"/>
              <a:buChar char="•"/>
            </a:pPr>
            <a:r>
              <a:rPr lang="en-US" sz="1500" b="1" dirty="0">
                <a:solidFill>
                  <a:srgbClr val="31423B"/>
                </a:solidFill>
                <a:latin typeface="Open Sans" pitchFamily="34" charset="0"/>
                <a:ea typeface="Open Sans" pitchFamily="34" charset="-122"/>
                <a:cs typeface="Open Sans" pitchFamily="34" charset="-120"/>
              </a:rPr>
              <a:t>You still read only: at most a third collection of the log buckets, and an optional audit tool at the end</a:t>
            </a:r>
            <a:endParaRPr lang="en-US" sz="1500" dirty="0"/>
          </a:p>
        </p:txBody>
      </p:sp>
      <p:sp>
        <p:nvSpPr>
          <p:cNvPr id="8" name="Shape 6"/>
          <p:cNvSpPr/>
          <p:nvPr/>
        </p:nvSpPr>
        <p:spPr>
          <a:xfrm>
            <a:off x="411480" y="3703320"/>
            <a:ext cx="8321040" cy="731520"/>
          </a:xfrm>
          <a:prstGeom prst="rect">
            <a:avLst/>
          </a:prstGeom>
          <a:solidFill>
            <a:srgbClr val="F1E8F2"/>
          </a:solidFill>
          <a:ln/>
        </p:spPr>
      </p:sp>
      <p:sp>
        <p:nvSpPr>
          <p:cNvPr id="9" name="Text 7"/>
          <p:cNvSpPr/>
          <p:nvPr/>
        </p:nvSpPr>
        <p:spPr>
          <a:xfrm>
            <a:off x="521208" y="3703320"/>
            <a:ext cx="8101584" cy="731520"/>
          </a:xfrm>
          <a:prstGeom prst="rect">
            <a:avLst/>
          </a:prstGeom>
          <a:noFill/>
          <a:ln/>
        </p:spPr>
        <p:txBody>
          <a:bodyPr wrap="square" rtlCol="0" anchor="ctr"/>
          <a:lstStyle/>
          <a:p>
            <a:pPr indent="0" marL="0">
              <a:buNone/>
            </a:pPr>
            <a:r>
              <a:rPr lang="en-US" sz="1600" b="1" dirty="0">
                <a:solidFill>
                  <a:srgbClr val="31423B"/>
                </a:solidFill>
                <a:latin typeface="Open Sans" pitchFamily="34" charset="0"/>
                <a:ea typeface="Open Sans" pitchFamily="34" charset="-122"/>
                <a:cs typeface="Open Sans" pitchFamily="34" charset="-120"/>
              </a:rPr>
              <a:t>Every request to AWS today goes into the collection log before it runs.</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One record, five questions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2834640"/>
                <a:gridCol w="374904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Question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Field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Read it with care because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Who?</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userIdentity</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An identity is an account, not a person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eventName, requestParameters</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 listing names a prefix, not a key</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What came back?</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responseElements</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null for read-only requests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When?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eventTime (UTC)</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AWS's clock, not yours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From where?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sourceIPAddress</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Sometimes a service name, not an address</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Which program?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userAgent</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program writes it: a claim</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200" b="1" dirty="0">
                          <a:solidFill>
                            <a:srgbClr val="31423B"/>
                          </a:solidFill>
                          <a:latin typeface="Open Sans" pitchFamily="34" charset="0"/>
                          <a:ea typeface="Open Sans" pitchFamily="34" charset="-122"/>
                          <a:cs typeface="Open Sans" pitchFamily="34" charset="-120"/>
                        </a:rPr>
                        <a:t>Which request?</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Consolas" pitchFamily="34" charset="0"/>
                          <a:ea typeface="Consolas" pitchFamily="34" charset="-122"/>
                          <a:cs typeface="Consolas" pitchFamily="34" charset="-120"/>
                        </a:rPr>
                        <a:t>requestID</a:t>
                      </a:r>
                      <a:endParaRPr lang="en-US" sz="12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200" dirty="0">
                          <a:solidFill>
                            <a:srgbClr val="31423B"/>
                          </a:solidFill>
                          <a:latin typeface="Open Sans" pitchFamily="34" charset="0"/>
                          <a:ea typeface="Open Sans" pitchFamily="34" charset="-122"/>
                          <a:cs typeface="Open Sans" pitchFamily="34" charset="-120"/>
                        </a:rPr>
                        <a:t>The join key for Section 4</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1, with demo S13-D1. Data or management: eventCategory. Changed something: readOnly false.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Parsing at scale: a jq filter, stage by stage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2057400"/>
          </a:xfrm>
          <a:prstGeom prst="rect">
            <a:avLst/>
          </a:prstGeom>
          <a:solidFill>
            <a:srgbClr val="FFFFFF"/>
          </a:solidFill>
          <a:ln w="9525">
            <a:solidFill>
              <a:srgbClr val="CBD6CE"/>
            </a:solidFill>
            <a:prstDash val="solid"/>
          </a:ln>
        </p:spPr>
      </p:sp>
      <p:sp>
        <p:nvSpPr>
          <p:cNvPr id="7" name="Text 5"/>
          <p:cNvSpPr/>
          <p:nvPr/>
        </p:nvSpPr>
        <p:spPr>
          <a:xfrm>
            <a:off x="502920" y="1325880"/>
            <a:ext cx="8138160" cy="2057400"/>
          </a:xfrm>
          <a:prstGeom prst="rect">
            <a:avLst/>
          </a:prstGeom>
          <a:noFill/>
          <a:ln/>
        </p:spPr>
        <p:txBody>
          <a:bodyPr wrap="square" lIns="0" tIns="0" rIns="0" bIns="0" rtlCol="0" anchor="ctr"/>
          <a:lstStyle/>
          <a:p>
            <a:pPr algn="l" indent="0" marL="0">
              <a:buNone/>
            </a:pPr>
            <a:r>
              <a:rPr lang="en-US" sz="1300" dirty="0">
                <a:solidFill>
                  <a:srgbClr val="31423B"/>
                </a:solidFill>
                <a:latin typeface="Consolas" pitchFamily="34" charset="0"/>
                <a:ea typeface="Consolas" pitchFamily="34" charset="-122"/>
                <a:cs typeface="Consolas" pitchFamily="34" charset="-120"/>
              </a:rPr>
              <a:t>.Records[]</a:t>
            </a:r>
            <a:endParaRPr lang="en-US" sz="1300" dirty="0"/>
          </a:p>
          <a:p>
            <a:pPr algn="l" indent="0" marL="0">
              <a:buNone/>
            </a:pPr>
            <a:r>
              <a:rPr lang="en-US" sz="1300" dirty="0">
                <a:solidFill>
                  <a:srgbClr val="31423B"/>
                </a:solidFill>
                <a:latin typeface="Consolas" pitchFamily="34" charset="0"/>
                <a:ea typeface="Consolas" pitchFamily="34" charset="-122"/>
                <a:cs typeface="Consolas" pitchFamily="34" charset="-120"/>
              </a:rPr>
              <a:t>| select(.eventSource == "s3.amazonaws.com")</a:t>
            </a:r>
            <a:endParaRPr lang="en-US" sz="1300" dirty="0"/>
          </a:p>
          <a:p>
            <a:pPr algn="l" indent="0" marL="0">
              <a:buNone/>
            </a:pPr>
            <a:r>
              <a:rPr lang="en-US" sz="1300" dirty="0">
                <a:solidFill>
                  <a:srgbClr val="31423B"/>
                </a:solidFill>
                <a:latin typeface="Consolas" pitchFamily="34" charset="0"/>
                <a:ea typeface="Consolas" pitchFamily="34" charset="-122"/>
                <a:cs typeface="Consolas" pitchFamily="34" charset="-120"/>
              </a:rPr>
              <a:t>| select(.requestParameters.bucketName == $case)</a:t>
            </a:r>
            <a:endParaRPr lang="en-US" sz="1300" dirty="0"/>
          </a:p>
          <a:p>
            <a:pPr algn="l" indent="0" marL="0">
              <a:buNone/>
            </a:pPr>
            <a:r>
              <a:rPr lang="en-US" sz="1300" dirty="0">
                <a:solidFill>
                  <a:srgbClr val="31423B"/>
                </a:solidFill>
                <a:latin typeface="Consolas" pitchFamily="34" charset="0"/>
                <a:ea typeface="Consolas" pitchFamily="34" charset="-122"/>
                <a:cs typeface="Consolas" pitchFamily="34" charset="-120"/>
              </a:rPr>
              <a:t>| [ .eventTime, .eventName, .sourceIPAddress, .requestParameters.key, .requestID ]</a:t>
            </a:r>
            <a:endParaRPr lang="en-US" sz="1300" dirty="0"/>
          </a:p>
          <a:p>
            <a:pPr algn="l" indent="0" marL="0">
              <a:buNone/>
            </a:pPr>
            <a:r>
              <a:rPr lang="en-US" sz="1300" dirty="0">
                <a:solidFill>
                  <a:srgbClr val="31423B"/>
                </a:solidFill>
                <a:latin typeface="Consolas" pitchFamily="34" charset="0"/>
                <a:ea typeface="Consolas" pitchFamily="34" charset="-122"/>
                <a:cs typeface="Consolas" pitchFamily="34" charset="-120"/>
              </a:rPr>
              <a:t>| @tsv</a:t>
            </a:r>
            <a:endParaRPr lang="en-US" sz="1300" dirty="0"/>
          </a:p>
          <a:p>
            <a:pPr algn="l" indent="0" marL="0">
              <a:buNone/>
            </a:pPr>
            <a:endParaRPr lang="en-US" sz="1300" dirty="0"/>
          </a:p>
          <a:p>
            <a:pPr algn="l" indent="0" marL="0">
              <a:buNone/>
            </a:pPr>
            <a:r>
              <a:rPr lang="en-US" sz="1300" dirty="0">
                <a:solidFill>
                  <a:srgbClr val="31423B"/>
                </a:solidFill>
                <a:latin typeface="Consolas" pitchFamily="34" charset="0"/>
                <a:ea typeface="Consolas" pitchFamily="34" charset="-122"/>
                <a:cs typeface="Consolas" pitchFamily="34" charset="-120"/>
              </a:rPr>
              <a:t>then:  sort</a:t>
            </a:r>
            <a:endParaRPr lang="en-US" sz="1300" dirty="0"/>
          </a:p>
        </p:txBody>
      </p:sp>
      <p:sp>
        <p:nvSpPr>
          <p:cNvPr id="8" name="Shape 6"/>
          <p:cNvSpPr/>
          <p:nvPr/>
        </p:nvSpPr>
        <p:spPr>
          <a:xfrm>
            <a:off x="411480" y="3520440"/>
            <a:ext cx="8321040" cy="1005840"/>
          </a:xfrm>
          <a:prstGeom prst="rect">
            <a:avLst/>
          </a:prstGeom>
          <a:solidFill>
            <a:srgbClr val="DCE6DE"/>
          </a:solidFill>
          <a:ln/>
        </p:spPr>
      </p:sp>
      <p:sp>
        <p:nvSpPr>
          <p:cNvPr id="9" name="Text 7"/>
          <p:cNvSpPr/>
          <p:nvPr/>
        </p:nvSpPr>
        <p:spPr>
          <a:xfrm>
            <a:off x="502920" y="3520440"/>
            <a:ext cx="8138160" cy="100584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Open the list, keep S3, keep the case bucket, choose fields, print rows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Always sort: CloudTrail stores events in no guaranteed order</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input_filename keeps each row's source file: your provenance</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Reading a server access log line</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554480"/>
                <a:gridCol w="3657600"/>
                <a:gridCol w="3108960"/>
              </a:tblGrid>
              <a:tr h="384048">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Field</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Example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Note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Time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[14/Oct/2026:09:12:05 +0000]</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UTC; when S3 received it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Remote IP</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203.0.113.24</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The address the request came from</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Requester</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arn:aws:iam::...:user/nb6018-analyst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Identity, or - if none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Request ID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CA9ED085EBCC042E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Same kind of code as requestID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Operation</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REST.PUT.OBJECT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REST.METHOD.RESOURCE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384048">
                <a:tc>
                  <a:txBody>
                    <a:bodyPr/>
                    <a:lstStyle/>
                    <a:p>
                      <a:pPr indent="0" marL="0">
                        <a:buNone/>
                      </a:pPr>
                      <a:r>
                        <a:rPr lang="en-US" sz="1100" b="1" dirty="0">
                          <a:solidFill>
                            <a:srgbClr val="31423B"/>
                          </a:solidFill>
                          <a:latin typeface="Open Sans" pitchFamily="34" charset="0"/>
                          <a:ea typeface="Open Sans" pitchFamily="34" charset="-122"/>
                          <a:cs typeface="Open Sans" pitchFamily="34" charset="-120"/>
                        </a:rPr>
                        <a:t>Key / Version Id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Consolas" pitchFamily="34" charset="0"/>
                          <a:ea typeface="Consolas" pitchFamily="34" charset="-122"/>
                          <a:cs typeface="Consolas" pitchFamily="34" charset="-120"/>
                        </a:rPr>
                        <a:t>staging/client-list.csv / -</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Version only if the request named one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3. Any field may be -; new fields may be added at the end. s13-tools.py sal turns lines into rows.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One key across two records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Join</a:t>
            </a:r>
            <a:endParaRPr lang="en-US" sz="1500" dirty="0"/>
          </a:p>
        </p:txBody>
      </p:sp>
      <p:sp>
        <p:nvSpPr>
          <p:cNvPr id="8" name="Shape 6"/>
          <p:cNvSpPr/>
          <p:nvPr/>
        </p:nvSpPr>
        <p:spPr>
          <a:xfrm>
            <a:off x="411480" y="1728216"/>
            <a:ext cx="4133088" cy="2606040"/>
          </a:xfrm>
          <a:prstGeom prst="rect">
            <a:avLst/>
          </a:prstGeom>
          <a:solidFill>
            <a:srgbClr val="FFFFFF"/>
          </a:solidFill>
          <a:ln w="9525">
            <a:solidFill>
              <a:srgbClr val="CBD6CE"/>
            </a:solidFill>
            <a:prstDash val="solid"/>
          </a:ln>
        </p:spPr>
      </p:sp>
      <p:sp>
        <p:nvSpPr>
          <p:cNvPr id="9" name="Text 7"/>
          <p:cNvSpPr/>
          <p:nvPr/>
        </p:nvSpPr>
        <p:spPr>
          <a:xfrm>
            <a:off x="539496" y="1783080"/>
            <a:ext cx="3877056" cy="249631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First: request ID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One code per request, kept by both records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Then: time, key, address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Same kind of request, seconds apart; a weaker join, marked as such</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Then explain every lonely row</a:t>
            </a:r>
            <a:endParaRPr lang="en-US" sz="1500" dirty="0"/>
          </a:p>
        </p:txBody>
      </p:sp>
      <p:sp>
        <p:nvSpPr>
          <p:cNvPr id="12" name="Shape 10"/>
          <p:cNvSpPr/>
          <p:nvPr/>
        </p:nvSpPr>
        <p:spPr>
          <a:xfrm>
            <a:off x="4645152" y="1728216"/>
            <a:ext cx="4133088" cy="260604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49631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Arrived yet?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Delivery times; a later collection</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Could the other record hold it?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Selectors, logging settings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Did it succeed?</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HTTP status, errorCode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Is it yours?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collection log</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with demo S13-D3. The same move as Session 8's Community ID join.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A receipt and a card statement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834640"/>
          </a:xfrm>
          <a:prstGeom prst="rect">
            <a:avLst/>
          </a:prstGeom>
          <a:solidFill>
            <a:srgbClr val="E8F0EA"/>
          </a:solidFill>
          <a:ln/>
        </p:spPr>
      </p:sp>
      <p:sp>
        <p:nvSpPr>
          <p:cNvPr id="7" name="Shape 5"/>
          <p:cNvSpPr/>
          <p:nvPr/>
        </p:nvSpPr>
        <p:spPr>
          <a:xfrm>
            <a:off x="411480" y="1371600"/>
            <a:ext cx="82296" cy="2834640"/>
          </a:xfrm>
          <a:prstGeom prst="rect">
            <a:avLst/>
          </a:prstGeom>
          <a:solidFill>
            <a:srgbClr val="6E8472"/>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4F6356"/>
                </a:solidFill>
                <a:latin typeface="Open Sans" pitchFamily="34" charset="0"/>
                <a:ea typeface="Open Sans" pitchFamily="34" charset="-122"/>
                <a:cs typeface="Open Sans" pitchFamily="34" charset="-120"/>
              </a:rPr>
              <a:t>ANALOGY</a:t>
            </a:r>
            <a:endParaRPr lang="en-US" sz="1300" dirty="0"/>
          </a:p>
        </p:txBody>
      </p:sp>
      <p:sp>
        <p:nvSpPr>
          <p:cNvPr id="9" name="Text 7"/>
          <p:cNvSpPr/>
          <p:nvPr/>
        </p:nvSpPr>
        <p:spPr>
          <a:xfrm>
            <a:off x="621792" y="1700784"/>
            <a:ext cx="7955280" cy="243230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Matching a shop receipt with a line on a card statement by the transaction reference printed on both.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Why it fits: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two parties record the same payment separately; the shared reference matches them without trusting amount or time alone.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a statement arrives every month, complete; an access-log line may arrive late or never. And some requests are written into only one record, so a lonely row may be normal.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request ID first, fall back only where you must, and give every lonely row a reason from your evidence.</a:t>
            </a:r>
            <a:endParaRPr lang="en-US" sz="1300" dirty="0"/>
          </a:p>
        </p:txBody>
      </p:sp>
      <p:sp>
        <p:nvSpPr>
          <p:cNvPr id="10" name="Text 8"/>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4, the comparison box.</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What each record can cover</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8321040" cy="1737360"/>
          </a:xfrm>
          <a:prstGeom prst="rect">
            <a:avLst/>
          </a:prstGeom>
          <a:solidFill>
            <a:srgbClr val="DCE6DE"/>
          </a:solidFill>
          <a:ln/>
        </p:spPr>
      </p:sp>
      <p:sp>
        <p:nvSpPr>
          <p:cNvPr id="7" name="Text 5"/>
          <p:cNvSpPr/>
          <p:nvPr/>
        </p:nvSpPr>
        <p:spPr>
          <a:xfrm>
            <a:off x="502920" y="1325880"/>
            <a:ext cx="8138160" cy="1737360"/>
          </a:xfrm>
          <a:prstGeom prst="rect">
            <a:avLst/>
          </a:prstGeom>
          <a:noFill/>
          <a:ln/>
        </p:spPr>
        <p:txBody>
          <a:bodyPr wrap="square" rtlCol="0" anchor="ctr"/>
          <a:lstStyle/>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Selector: data events only for objects under the case bucket's ARN and a slash</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Failed authentication: in the access logs, not in CloudTrail (AWS)</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S3's own lifecycle actions: access logs only</a:t>
            </a:r>
            <a:endParaRPr lang="en-US" sz="1300" dirty="0"/>
          </a:p>
          <a:p>
            <a:pPr marL="342900" indent="-342900">
              <a:spcAft>
                <a:spcPts val="600"/>
              </a:spcAft>
              <a:buSzPct val="100000"/>
              <a:buChar char="•"/>
            </a:pPr>
            <a:r>
              <a:rPr lang="en-US" sz="1300" b="1" dirty="0">
                <a:solidFill>
                  <a:srgbClr val="31423B"/>
                </a:solidFill>
                <a:latin typeface="Open Sans" pitchFamily="34" charset="0"/>
                <a:ea typeface="Open Sans" pitchFamily="34" charset="-122"/>
                <a:cs typeface="Open Sans" pitchFamily="34" charset="-120"/>
              </a:rPr>
              <a:t>Requests to the log buckets: in neither</a:t>
            </a:r>
            <a:endParaRPr lang="en-US" sz="1300" dirty="0"/>
          </a:p>
        </p:txBody>
      </p:sp>
      <p:sp>
        <p:nvSpPr>
          <p:cNvPr id="8" name="Shape 6"/>
          <p:cNvSpPr/>
          <p:nvPr/>
        </p:nvSpPr>
        <p:spPr>
          <a:xfrm>
            <a:off x="411480" y="3200400"/>
            <a:ext cx="8321040" cy="1143000"/>
          </a:xfrm>
          <a:prstGeom prst="rect">
            <a:avLst/>
          </a:prstGeom>
          <a:solidFill>
            <a:srgbClr val="F1E8F2"/>
          </a:solidFill>
          <a:ln/>
        </p:spPr>
      </p:sp>
      <p:sp>
        <p:nvSpPr>
          <p:cNvPr id="9" name="Text 7"/>
          <p:cNvSpPr/>
          <p:nvPr/>
        </p:nvSpPr>
        <p:spPr>
          <a:xfrm>
            <a:off x="521208" y="3200400"/>
            <a:ext cx="8101584" cy="114300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Open question: AWS lists ListObjects and ListObjectVersions as data events, but does not say whether an object-ARN selector matches a listing. Your part 2 listing and your own S12 listings answer it for your trail.</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Setting your own requests apart</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463040"/>
                <a:gridCol w="6858000"/>
              </a:tblGrid>
              <a:tr h="45720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Step</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Evidence</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57200">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Window</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Start and end of each collection, from collection-log.txt, in UTC</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Tag</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Every row inside a window: analyst-c1</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57200">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Check</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Address as logged; a kind your collection made (version listing, head, get by version ID)</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57200">
                <a:tc>
                  <a:txBody>
                    <a:bodyPr/>
                    <a:lstStyle/>
                    <a:p>
                      <a:pPr indent="0" marL="0">
                        <a:buNone/>
                      </a:pPr>
                      <a:r>
                        <a:rPr lang="en-US" sz="1300" b="1" dirty="0">
                          <a:solidFill>
                            <a:srgbClr val="31423B"/>
                          </a:solidFill>
                          <a:latin typeface="Open Sans" pitchFamily="34" charset="0"/>
                          <a:ea typeface="Open Sans" pitchFamily="34" charset="-122"/>
                          <a:cs typeface="Open Sans" pitchFamily="34" charset="-120"/>
                        </a:rPr>
                        <a:t>Set aside</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300" dirty="0">
                          <a:solidFill>
                            <a:srgbClr val="31423B"/>
                          </a:solidFill>
                          <a:latin typeface="Open Sans" pitchFamily="34" charset="0"/>
                          <a:ea typeface="Open Sans" pitchFamily="34" charset="-122"/>
                          <a:cs typeface="Open Sans" pitchFamily="34" charset="-120"/>
                        </a:rPr>
                        <a:t>Out of the incident's view; never out of the file</a:t>
                      </a:r>
                      <a:endParaRPr lang="en-US" sz="13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Shape 4"/>
          <p:cNvSpPr/>
          <p:nvPr/>
        </p:nvSpPr>
        <p:spPr>
          <a:xfrm>
            <a:off x="411480" y="3520440"/>
            <a:ext cx="8321040" cy="868680"/>
          </a:xfrm>
          <a:prstGeom prst="rect">
            <a:avLst/>
          </a:prstGeom>
          <a:solidFill>
            <a:srgbClr val="F1E8F2"/>
          </a:solidFill>
          <a:ln/>
        </p:spPr>
      </p:sp>
      <p:sp>
        <p:nvSpPr>
          <p:cNvPr id="8" name="Text 5"/>
          <p:cNvSpPr/>
          <p:nvPr/>
        </p:nvSpPr>
        <p:spPr>
          <a:xfrm>
            <a:off x="521208" y="3520440"/>
            <a:ext cx="8101584" cy="86868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Like a sound engineer's test tone: labelled, kept, skipped by the listener. But it looks like the music: only your notes separate it.</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Who and where: identity and network</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Identity</a:t>
            </a:r>
            <a:endParaRPr lang="en-US" sz="1500" dirty="0"/>
          </a:p>
        </p:txBody>
      </p:sp>
      <p:sp>
        <p:nvSpPr>
          <p:cNvPr id="8" name="Shape 6"/>
          <p:cNvSpPr/>
          <p:nvPr/>
        </p:nvSpPr>
        <p:spPr>
          <a:xfrm>
            <a:off x="411480" y="1728216"/>
            <a:ext cx="4133088" cy="2194560"/>
          </a:xfrm>
          <a:prstGeom prst="rect">
            <a:avLst/>
          </a:prstGeom>
          <a:solidFill>
            <a:srgbClr val="FFFFFF"/>
          </a:solidFill>
          <a:ln w="9525">
            <a:solidFill>
              <a:srgbClr val="CBD6CE"/>
            </a:solidFill>
            <a:prstDash val="solid"/>
          </a:ln>
        </p:spPr>
      </p:sp>
      <p:sp>
        <p:nvSpPr>
          <p:cNvPr id="9" name="Text 7"/>
          <p:cNvSpPr/>
          <p:nvPr/>
        </p:nvSpPr>
        <p:spPr>
          <a:xfrm>
            <a:off x="539496" y="1783080"/>
            <a:ext cx="3877056" cy="208483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userIdentity</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Type, ARN, access key kind: AKIA long-term, ASIA temporary</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userAgent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exec-env/CloudShell usually marks CloudShell: a claim</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Network</a:t>
            </a:r>
            <a:endParaRPr lang="en-US" sz="1500" dirty="0"/>
          </a:p>
        </p:txBody>
      </p:sp>
      <p:sp>
        <p:nvSpPr>
          <p:cNvPr id="12" name="Shape 10"/>
          <p:cNvSpPr/>
          <p:nvPr/>
        </p:nvSpPr>
        <p:spPr>
          <a:xfrm>
            <a:off x="4645152" y="1728216"/>
            <a:ext cx="4133088" cy="219456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08483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Your own log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address checkip saw, set beside CloudTrail's</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ip-ranges.json</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Downloaded, hashed, recorded; then a lookup</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whois</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registry's holder for other ranges</a:t>
            </a:r>
            <a:endParaRPr lang="en-US" sz="1300" dirty="0"/>
          </a:p>
        </p:txBody>
      </p:sp>
      <p:sp>
        <p:nvSpPr>
          <p:cNvPr id="14" name="Shape 12"/>
          <p:cNvSpPr/>
          <p:nvPr/>
        </p:nvSpPr>
        <p:spPr>
          <a:xfrm>
            <a:off x="411480" y="3977640"/>
            <a:ext cx="8321040" cy="685800"/>
          </a:xfrm>
          <a:prstGeom prst="rect">
            <a:avLst/>
          </a:prstGeom>
          <a:solidFill>
            <a:srgbClr val="F1E8F2"/>
          </a:solidFill>
          <a:ln/>
        </p:spPr>
      </p:sp>
      <p:sp>
        <p:nvSpPr>
          <p:cNvPr id="15" name="Text 13"/>
          <p:cNvSpPr/>
          <p:nvPr/>
        </p:nvSpPr>
        <p:spPr>
          <a:xfrm>
            <a:off x="521208" y="3977640"/>
            <a:ext cx="8101584" cy="685800"/>
          </a:xfrm>
          <a:prstGeom prst="rect">
            <a:avLst/>
          </a:prstGeom>
          <a:noFill/>
          <a:ln/>
        </p:spPr>
        <p:txBody>
          <a:bodyPr wrap="square" rtlCol="0" anchor="ctr"/>
          <a:lstStyle/>
          <a:p>
            <a:pPr indent="0" marL="0">
              <a:buNone/>
            </a:pPr>
            <a:r>
              <a:rPr lang="en-US" sz="1300" b="1" dirty="0">
                <a:solidFill>
                  <a:srgbClr val="31423B"/>
                </a:solidFill>
                <a:latin typeface="Open Sans" pitchFamily="34" charset="0"/>
                <a:ea typeface="Open Sans" pitchFamily="34" charset="-122"/>
                <a:cs typeface="Open Sans" pitchFamily="34" charset="-120"/>
              </a:rPr>
              <a:t>An address identifies a device on a network at a time, not a person. A range shows the network: like a postmark, never the writer.</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The timeline: three sources, seven columns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737360"/>
                <a:gridCol w="2103120"/>
                <a:gridCol w="2194560"/>
                <a:gridCol w="2286000"/>
              </a:tblGrid>
              <a:tr h="411480">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Column</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CloudTrail</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Access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c>
                  <a:txBody>
                    <a:bodyPr/>
                    <a:lstStyle/>
                    <a:p>
                      <a:pPr indent="0" marL="0">
                        <a:buNone/>
                      </a:pPr>
                      <a:r>
                        <a:rPr lang="en-US" sz="1200" b="1" dirty="0">
                          <a:solidFill>
                            <a:srgbClr val="FFFFFF"/>
                          </a:solidFill>
                          <a:latin typeface="Open Sans" pitchFamily="34" charset="0"/>
                          <a:ea typeface="Open Sans" pitchFamily="34" charset="-122"/>
                          <a:cs typeface="Open Sans" pitchFamily="34" charset="-120"/>
                        </a:rPr>
                        <a:t>Your own log</a:t>
                      </a:r>
                      <a:endParaRPr lang="en-US" sz="12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31423B"/>
                    </a:solidFill>
                  </a:tcPr>
                </a:tc>
              </a:tr>
              <a:tr h="41148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timestamp_desc</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CloudTrail eventTime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Access log request time</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Command started (own log)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artefact</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CloudTrail data event</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S3 server access log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own incident log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r h="41148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original_zone</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UTC</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UTC (+0000 in the record)</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UTC (date -u)</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FFFFFF"/>
                    </a:solidFill>
                  </a:tcPr>
                </a:tc>
              </a:tr>
              <a:tr h="411480">
                <a:tc>
                  <a:txBody>
                    <a:bodyPr/>
                    <a:lstStyle/>
                    <a:p>
                      <a:pPr indent="0" marL="0">
                        <a:buNone/>
                      </a:pPr>
                      <a:r>
                        <a:rPr lang="en-US" sz="1100" b="1" dirty="0">
                          <a:solidFill>
                            <a:srgbClr val="31423B"/>
                          </a:solidFill>
                          <a:latin typeface="Consolas" pitchFamily="34" charset="0"/>
                          <a:ea typeface="Consolas" pitchFamily="34" charset="-122"/>
                          <a:cs typeface="Consolas" pitchFamily="34" charset="-120"/>
                        </a:rPr>
                        <a:t>tag</a:t>
                      </a:r>
                      <a:endParaRPr lang="en-US" sz="1100" dirty="0">
                        <a:latin typeface="Consolas" charset="0"/>
                        <a:ea typeface="Consolas" charset="0"/>
                        <a:cs typeface="Consola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analyst-c1 or empty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analyst-c1 or empty</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c>
                  <a:txBody>
                    <a:bodyPr/>
                    <a:lstStyle/>
                    <a:p>
                      <a:pPr indent="0" marL="0">
                        <a:buNone/>
                      </a:pPr>
                      <a:r>
                        <a:rPr lang="en-US" sz="1100" dirty="0">
                          <a:solidFill>
                            <a:srgbClr val="31423B"/>
                          </a:solidFill>
                          <a:latin typeface="Open Sans" pitchFamily="34" charset="0"/>
                          <a:ea typeface="Open Sans" pitchFamily="34" charset="-122"/>
                          <a:cs typeface="Open Sans" pitchFamily="34" charset="-120"/>
                        </a:rPr>
                        <a:t>own-log</a:t>
                      </a:r>
                      <a:endParaRPr lang="en-US" sz="1100" dirty="0">
                        <a:latin typeface="Open Sans" charset="0"/>
                        <a:ea typeface="Open Sans" charset="0"/>
                        <a:cs typeface="Open Sans" charset="0"/>
                      </a:endParaRPr>
                    </a:p>
                  </a:txBody>
                  <a:tcPr marL="73152" marR="73152" marT="27432" marB="27432" anchor="ctr">
                    <a:lnL w="9525" cap="flat" cmpd="sng" algn="ctr">
                      <a:solidFill>
                        <a:srgbClr val="CBD6CE"/>
                      </a:solidFill>
                      <a:prstDash val="solid"/>
                      <a:round/>
                      <a:headEnd type="none" w="med" len="med"/>
                      <a:tailEnd type="none" w="med" len="med"/>
                    </a:lnL>
                    <a:lnR w="9525" cap="flat" cmpd="sng" algn="ctr">
                      <a:solidFill>
                        <a:srgbClr val="CBD6CE"/>
                      </a:solidFill>
                      <a:prstDash val="solid"/>
                      <a:round/>
                      <a:headEnd type="none" w="med" len="med"/>
                      <a:tailEnd type="none" w="med" len="med"/>
                    </a:lnR>
                    <a:lnT w="9525" cap="flat" cmpd="sng" algn="ctr">
                      <a:solidFill>
                        <a:srgbClr val="CBD6CE"/>
                      </a:solidFill>
                      <a:prstDash val="solid"/>
                      <a:round/>
                      <a:headEnd type="none" w="med" len="med"/>
                      <a:tailEnd type="none" w="med" len="med"/>
                    </a:lnT>
                    <a:lnB w="9525" cap="flat" cmpd="sng" algn="ctr">
                      <a:solidFill>
                        <a:srgbClr val="CBD6CE"/>
                      </a:solidFill>
                      <a:prstDash val="solid"/>
                      <a:round/>
                      <a:headEnd type="none" w="med" len="med"/>
                      <a:tailEnd type="none" w="med" len="med"/>
                    </a:lnB>
                    <a:solidFill>
                      <a:srgbClr val="E8F0EA"/>
                    </a:solidFill>
                  </a:tcPr>
                </a:tc>
              </a:tr>
            </a:tbl>
          </a:graphicData>
        </a:graphic>
      </p:graphicFrame>
      <p:sp>
        <p:nvSpPr>
          <p:cNvPr id="7" name="Text 4"/>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 8, with demo S13-D5. A steady difference on every row is a clock; a missing request is a gap to state.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Through another lens: your own spinning top</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71600"/>
            <a:ext cx="8321040" cy="2514600"/>
          </a:xfrm>
          <a:prstGeom prst="rect">
            <a:avLst/>
          </a:prstGeom>
          <a:solidFill>
            <a:srgbClr val="F1E8F2"/>
          </a:solidFill>
          <a:ln/>
        </p:spPr>
      </p:sp>
      <p:sp>
        <p:nvSpPr>
          <p:cNvPr id="7" name="Shape 5"/>
          <p:cNvSpPr/>
          <p:nvPr/>
        </p:nvSpPr>
        <p:spPr>
          <a:xfrm>
            <a:off x="411480" y="1371600"/>
            <a:ext cx="82296" cy="2514600"/>
          </a:xfrm>
          <a:prstGeom prst="rect">
            <a:avLst/>
          </a:prstGeom>
          <a:solidFill>
            <a:srgbClr val="8A4E8F"/>
          </a:solidFill>
          <a:ln/>
        </p:spPr>
      </p:sp>
      <p:sp>
        <p:nvSpPr>
          <p:cNvPr id="8" name="Text 6"/>
          <p:cNvSpPr/>
          <p:nvPr/>
        </p:nvSpPr>
        <p:spPr>
          <a:xfrm>
            <a:off x="621792" y="1444752"/>
            <a:ext cx="7955280" cy="237744"/>
          </a:xfrm>
          <a:prstGeom prst="rect">
            <a:avLst/>
          </a:prstGeom>
          <a:noFill/>
          <a:ln/>
        </p:spPr>
        <p:txBody>
          <a:bodyPr wrap="square" lIns="0" tIns="0" rIns="0" bIns="0" rtlCol="0" anchor="ctr"/>
          <a:lstStyle/>
          <a:p>
            <a:pPr indent="0" marL="0">
              <a:buNone/>
            </a:pPr>
            <a:r>
              <a:rPr lang="en-US" sz="1300" b="1" spc="200" kern="0" dirty="0">
                <a:solidFill>
                  <a:srgbClr val="8A4E8F"/>
                </a:solidFill>
                <a:latin typeface="Open Sans" pitchFamily="34" charset="0"/>
                <a:ea typeface="Open Sans" pitchFamily="34" charset="-122"/>
                <a:cs typeface="Open Sans" pitchFamily="34" charset="-120"/>
              </a:rPr>
              <a:t>THROUGH ANOTHER LENS</a:t>
            </a:r>
            <a:endParaRPr lang="en-US" sz="1300" dirty="0"/>
          </a:p>
        </p:txBody>
      </p:sp>
      <p:sp>
        <p:nvSpPr>
          <p:cNvPr id="9" name="Text 7"/>
          <p:cNvSpPr/>
          <p:nvPr/>
        </p:nvSpPr>
        <p:spPr>
          <a:xfrm>
            <a:off x="621792" y="1700784"/>
            <a:ext cx="7955280" cy="2112264"/>
          </a:xfrm>
          <a:prstGeom prst="rect">
            <a:avLst/>
          </a:prstGeom>
          <a:noFill/>
          <a:ln/>
        </p:spPr>
        <p:txBody>
          <a:bodyPr wrap="square" lIns="0" tIns="0" rIns="0" bIns="0" rtlCol="0" anchor="t"/>
          <a:lstStyle/>
          <a:p>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In Inception each dreamer keeps a totem, a small object only its owner knows, to test which level of dream they are on. Session 11 called the hero's spinning top a private test. Today you hold one: your incident logs, written by you, never touched by AWS. Set beside the provider's records, they test which layer you stand on.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Where it breaks: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the film never says whether the top falls; your log can be checked line by line. And a real suspect keeps no such log: the investigator has no totem, so the two provider records must test each other. </a:t>
            </a:r>
            <a:pPr indent="0" marL="0">
              <a:spcAft>
                <a:spcPts val="400"/>
              </a:spcAft>
              <a:buNone/>
            </a:pPr>
            <a:r>
              <a:rPr lang="en-US" sz="1300" b="1" dirty="0">
                <a:solidFill>
                  <a:srgbClr val="31423B"/>
                </a:solidFill>
                <a:latin typeface="Open Sans" pitchFamily="34" charset="0"/>
                <a:ea typeface="Open Sans" pitchFamily="34" charset="-122"/>
                <a:cs typeface="Open Sans" pitchFamily="34" charset="-120"/>
              </a:rPr>
              <a:t>So what: </a:t>
            </a:r>
            <a:pPr indent="0" marL="0">
              <a:spcAft>
                <a:spcPts val="400"/>
              </a:spcAft>
              <a:buNone/>
            </a:pPr>
            <a:r>
              <a:rPr lang="en-US" sz="1300" dirty="0">
                <a:solidFill>
                  <a:srgbClr val="31423B"/>
                </a:solidFill>
                <a:latin typeface="Open Sans" pitchFamily="34" charset="0"/>
                <a:ea typeface="Open Sans" pitchFamily="34" charset="-122"/>
                <a:cs typeface="Open Sans" pitchFamily="34" charset="-120"/>
              </a:rPr>
              <a:t>that is what your join did.</a:t>
            </a:r>
            <a:endParaRPr lang="en-US" sz="1300" dirty="0"/>
          </a:p>
        </p:txBody>
      </p:sp>
      <p:sp>
        <p:nvSpPr>
          <p:cNvPr id="10" name="Shape 8"/>
          <p:cNvSpPr/>
          <p:nvPr/>
        </p:nvSpPr>
        <p:spPr>
          <a:xfrm>
            <a:off x="411480" y="3977640"/>
            <a:ext cx="8321040" cy="685800"/>
          </a:xfrm>
          <a:prstGeom prst="rect">
            <a:avLst/>
          </a:prstGeom>
          <a:solidFill>
            <a:srgbClr val="F1E8F2"/>
          </a:solidFill>
          <a:ln/>
        </p:spPr>
      </p:sp>
      <p:sp>
        <p:nvSpPr>
          <p:cNvPr id="11" name="Text 9"/>
          <p:cNvSpPr/>
          <p:nvPr/>
        </p:nvSpPr>
        <p:spPr>
          <a:xfrm>
            <a:off x="521208" y="3977640"/>
            <a:ext cx="8101584" cy="685800"/>
          </a:xfrm>
          <a:prstGeom prst="rect">
            <a:avLst/>
          </a:prstGeom>
          <a:noFill/>
          <a:ln/>
        </p:spPr>
        <p:txBody>
          <a:bodyPr wrap="square" rtlCol="0" anchor="ctr"/>
          <a:lstStyle/>
          <a:p>
            <a:pPr indent="0" marL="0">
              <a:buNone/>
            </a:pPr>
            <a:r>
              <a:rPr lang="en-US" sz="1500" b="1" dirty="0">
                <a:solidFill>
                  <a:srgbClr val="31423B"/>
                </a:solidFill>
                <a:latin typeface="Open Sans" pitchFamily="34" charset="0"/>
                <a:ea typeface="Open Sans" pitchFamily="34" charset="-122"/>
                <a:cs typeface="Open Sans" pitchFamily="34" charset="-120"/>
              </a:rPr>
              <a:t>If your timeline rested on one record only, with nothing to test it against, how much could you defend?</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31423B"/>
        </a:solidFill>
      </p:bgPr>
    </p:bg>
    <p:spTree>
      <p:nvGrpSpPr>
        <p:cNvPr id="1" name=""/>
        <p:cNvGrpSpPr/>
        <p:nvPr/>
      </p:nvGrpSpPr>
      <p:grpSpPr>
        <a:xfrm>
          <a:off x="0" y="0"/>
          <a:ext cx="0" cy="0"/>
          <a:chOff x="0" y="0"/>
          <a:chExt cx="0" cy="0"/>
        </a:xfrm>
      </p:grpSpPr>
      <p:sp>
        <p:nvSpPr>
          <p:cNvPr id="2" name="Shape 0"/>
          <p:cNvSpPr/>
          <p:nvPr/>
        </p:nvSpPr>
        <p:spPr>
          <a:xfrm>
            <a:off x="731520" y="731520"/>
            <a:ext cx="502920" cy="64008"/>
          </a:xfrm>
          <a:prstGeom prst="rect">
            <a:avLst/>
          </a:prstGeom>
          <a:solidFill>
            <a:srgbClr val="6E8472"/>
          </a:solidFill>
          <a:ln/>
        </p:spPr>
      </p:sp>
      <p:sp>
        <p:nvSpPr>
          <p:cNvPr id="3" name="Shape 1"/>
          <p:cNvSpPr/>
          <p:nvPr/>
        </p:nvSpPr>
        <p:spPr>
          <a:xfrm>
            <a:off x="1280160" y="731520"/>
            <a:ext cx="256032" cy="64008"/>
          </a:xfrm>
          <a:prstGeom prst="rect">
            <a:avLst/>
          </a:prstGeom>
          <a:solidFill>
            <a:srgbClr val="8A4E8F"/>
          </a:solidFill>
          <a:ln/>
        </p:spPr>
      </p:sp>
      <p:sp>
        <p:nvSpPr>
          <p:cNvPr id="4" name="Text 2"/>
          <p:cNvSpPr/>
          <p:nvPr/>
        </p:nvSpPr>
        <p:spPr>
          <a:xfrm>
            <a:off x="731520" y="987552"/>
            <a:ext cx="7680960" cy="365760"/>
          </a:xfrm>
          <a:prstGeom prst="rect">
            <a:avLst/>
          </a:prstGeom>
          <a:noFill/>
          <a:ln/>
        </p:spPr>
        <p:txBody>
          <a:bodyPr wrap="square" lIns="0" tIns="0" rIns="0" bIns="0" rtlCol="0" anchor="ctr"/>
          <a:lstStyle/>
          <a:p>
            <a:pPr indent="0" marL="0">
              <a:buNone/>
            </a:pPr>
            <a:r>
              <a:rPr lang="en-US" sz="1300" b="1" spc="200" kern="0" dirty="0">
                <a:solidFill>
                  <a:srgbClr val="C9A6CC"/>
                </a:solidFill>
                <a:latin typeface="Open Sans" pitchFamily="34" charset="0"/>
                <a:ea typeface="Open Sans" pitchFamily="34" charset="-122"/>
                <a:cs typeface="Open Sans" pitchFamily="34" charset="-120"/>
              </a:rPr>
              <a:t>KEY CONCEPT</a:t>
            </a:r>
            <a:endParaRPr lang="en-US" sz="1300" dirty="0"/>
          </a:p>
        </p:txBody>
      </p:sp>
      <p:sp>
        <p:nvSpPr>
          <p:cNvPr id="5" name="Text 3"/>
          <p:cNvSpPr/>
          <p:nvPr/>
        </p:nvSpPr>
        <p:spPr>
          <a:xfrm>
            <a:off x="731520" y="1463040"/>
            <a:ext cx="7680960" cy="1645920"/>
          </a:xfrm>
          <a:prstGeom prst="rect">
            <a:avLst/>
          </a:prstGeom>
          <a:noFill/>
          <a:ln/>
        </p:spPr>
        <p:txBody>
          <a:bodyPr wrap="square" lIns="0" tIns="0" rIns="0" bIns="0" rtlCol="0" anchor="t"/>
          <a:lstStyle/>
          <a:p>
            <a:pPr indent="0" marL="0">
              <a:buNone/>
            </a:pPr>
            <a:r>
              <a:rPr lang="en-US" sz="3000" b="1" dirty="0">
                <a:solidFill>
                  <a:srgbClr val="FFFFFF"/>
                </a:solidFill>
                <a:latin typeface="Open Sans" pitchFamily="34" charset="0"/>
                <a:ea typeface="Open Sans" pitchFamily="34" charset="-122"/>
                <a:cs typeface="Open Sans" pitchFamily="34" charset="-120"/>
              </a:rPr>
              <a:t>A timeline is an argument built from records you did not write.</a:t>
            </a:r>
            <a:endParaRPr lang="en-US" sz="3000" dirty="0"/>
          </a:p>
        </p:txBody>
      </p:sp>
      <p:sp>
        <p:nvSpPr>
          <p:cNvPr id="6" name="Text 4"/>
          <p:cNvSpPr/>
          <p:nvPr/>
        </p:nvSpPr>
        <p:spPr>
          <a:xfrm>
            <a:off x="731520" y="3200400"/>
            <a:ext cx="7680960" cy="914400"/>
          </a:xfrm>
          <a:prstGeom prst="rect">
            <a:avLst/>
          </a:prstGeom>
          <a:noFill/>
          <a:ln/>
        </p:spPr>
        <p:txBody>
          <a:bodyPr wrap="square" lIns="0" tIns="0" rIns="0" bIns="0" rtlCol="0" anchor="t"/>
          <a:lstStyle/>
          <a:p>
            <a:pPr indent="0" marL="0">
              <a:buNone/>
            </a:pPr>
            <a:r>
              <a:rPr lang="en-US" sz="2200" i="1" dirty="0">
                <a:solidFill>
                  <a:srgbClr val="E8F0EA"/>
                </a:solidFill>
                <a:latin typeface="Open Sans" pitchFamily="34" charset="0"/>
                <a:ea typeface="Open Sans" pitchFamily="34" charset="-122"/>
                <a:cs typeface="Open Sans" pitchFamily="34" charset="-120"/>
              </a:rPr>
              <a:t>It holds only where they agree, and its gaps must be stated.</a:t>
            </a:r>
            <a:endParaRPr lang="en-US" sz="2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Limitations and recommendations: two methods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Shape 4"/>
          <p:cNvSpPr/>
          <p:nvPr/>
        </p:nvSpPr>
        <p:spPr>
          <a:xfrm>
            <a:off x="411480" y="1325880"/>
            <a:ext cx="4133088" cy="402336"/>
          </a:xfrm>
          <a:prstGeom prst="rect">
            <a:avLst/>
          </a:prstGeom>
          <a:solidFill>
            <a:srgbClr val="6E8472"/>
          </a:solidFill>
          <a:ln/>
        </p:spPr>
      </p:sp>
      <p:sp>
        <p:nvSpPr>
          <p:cNvPr id="7" name="Text 5"/>
          <p:cNvSpPr/>
          <p:nvPr/>
        </p:nvSpPr>
        <p:spPr>
          <a:xfrm>
            <a:off x="521208"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limitation</a:t>
            </a:r>
            <a:endParaRPr lang="en-US" sz="1500" dirty="0"/>
          </a:p>
        </p:txBody>
      </p:sp>
      <p:sp>
        <p:nvSpPr>
          <p:cNvPr id="8" name="Shape 6"/>
          <p:cNvSpPr/>
          <p:nvPr/>
        </p:nvSpPr>
        <p:spPr>
          <a:xfrm>
            <a:off x="411480" y="1728216"/>
            <a:ext cx="4133088" cy="2331720"/>
          </a:xfrm>
          <a:prstGeom prst="rect">
            <a:avLst/>
          </a:prstGeom>
          <a:solidFill>
            <a:srgbClr val="FFFFFF"/>
          </a:solidFill>
          <a:ln w="9525">
            <a:solidFill>
              <a:srgbClr val="CBD6CE"/>
            </a:solidFill>
            <a:prstDash val="solid"/>
          </a:ln>
        </p:spPr>
      </p:sp>
      <p:sp>
        <p:nvSpPr>
          <p:cNvPr id="9" name="Text 7"/>
          <p:cNvSpPr/>
          <p:nvPr/>
        </p:nvSpPr>
        <p:spPr>
          <a:xfrm>
            <a:off x="539496" y="1783080"/>
            <a:ext cx="3877056" cy="2221992"/>
          </a:xfrm>
          <a:prstGeom prst="rect">
            <a:avLst/>
          </a:prstGeom>
          <a:noFill/>
          <a:ln/>
        </p:spPr>
        <p:txBody>
          <a:bodyPr wrap="square" lIns="0" tIns="0" rIns="0" bIns="0" rtlCol="0" anchor="t"/>
          <a:lstStyle/>
          <a:p>
            <a:pPr indent="0" marL="0">
              <a:buNone/>
            </a:pPr>
            <a:r>
              <a:rPr lang="en-US" sz="1300" b="1" dirty="0">
                <a:solidFill>
                  <a:srgbClr val="4F6356"/>
                </a:solidFill>
                <a:latin typeface="Open Sans" pitchFamily="34" charset="0"/>
                <a:ea typeface="Open Sans" pitchFamily="34" charset="-122"/>
                <a:cs typeface="Open Sans" pitchFamily="34" charset="-120"/>
              </a:rPr>
              <a:t>What you saw</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From your files</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Its effect</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 which conclusion, and how much</a:t>
            </a:r>
            <a:endParaRPr lang="en-US" sz="1300" dirty="0"/>
          </a:p>
          <a:p>
            <a:pPr indent="0" marL="0">
              <a:buNone/>
            </a:pPr>
            <a:r>
              <a:rPr lang="en-US" sz="1300" b="1" dirty="0">
                <a:solidFill>
                  <a:srgbClr val="4F6356"/>
                </a:solidFill>
                <a:latin typeface="Open Sans" pitchFamily="34" charset="0"/>
                <a:ea typeface="Open Sans" pitchFamily="34" charset="-122"/>
                <a:cs typeface="Open Sans" pitchFamily="34" charset="-120"/>
              </a:rPr>
              <a:t>Its evidence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The rows or settings that show it</a:t>
            </a:r>
            <a:endParaRPr lang="en-US" sz="1300" dirty="0"/>
          </a:p>
        </p:txBody>
      </p:sp>
      <p:sp>
        <p:nvSpPr>
          <p:cNvPr id="10" name="Shape 8"/>
          <p:cNvSpPr/>
          <p:nvPr/>
        </p:nvSpPr>
        <p:spPr>
          <a:xfrm>
            <a:off x="4645152" y="1325880"/>
            <a:ext cx="4133088" cy="402336"/>
          </a:xfrm>
          <a:prstGeom prst="rect">
            <a:avLst/>
          </a:prstGeom>
          <a:solidFill>
            <a:srgbClr val="8A4E8F"/>
          </a:solidFill>
          <a:ln/>
        </p:spPr>
      </p:sp>
      <p:sp>
        <p:nvSpPr>
          <p:cNvPr id="11" name="Text 9"/>
          <p:cNvSpPr/>
          <p:nvPr/>
        </p:nvSpPr>
        <p:spPr>
          <a:xfrm>
            <a:off x="4754880" y="1325880"/>
            <a:ext cx="3913632" cy="402336"/>
          </a:xfrm>
          <a:prstGeom prst="rect">
            <a:avLst/>
          </a:prstGeom>
          <a:noFill/>
          <a:ln/>
        </p:spPr>
        <p:txBody>
          <a:bodyPr wrap="square" lIns="0" tIns="0" rIns="0" bIns="0" rtlCol="0" anchor="ctr"/>
          <a:lstStyle/>
          <a:p>
            <a:pPr indent="0" marL="0">
              <a:buNone/>
            </a:pPr>
            <a:r>
              <a:rPr lang="en-US" sz="1500" b="1" dirty="0">
                <a:solidFill>
                  <a:srgbClr val="FFFFFF"/>
                </a:solidFill>
                <a:latin typeface="Open Sans" pitchFamily="34" charset="0"/>
                <a:ea typeface="Open Sans" pitchFamily="34" charset="-122"/>
                <a:cs typeface="Open Sans" pitchFamily="34" charset="-120"/>
              </a:rPr>
              <a:t>A recommendation</a:t>
            </a:r>
            <a:endParaRPr lang="en-US" sz="1500" dirty="0"/>
          </a:p>
        </p:txBody>
      </p:sp>
      <p:sp>
        <p:nvSpPr>
          <p:cNvPr id="12" name="Shape 10"/>
          <p:cNvSpPr/>
          <p:nvPr/>
        </p:nvSpPr>
        <p:spPr>
          <a:xfrm>
            <a:off x="4645152" y="1728216"/>
            <a:ext cx="4133088" cy="2331720"/>
          </a:xfrm>
          <a:prstGeom prst="rect">
            <a:avLst/>
          </a:prstGeom>
          <a:solidFill>
            <a:srgbClr val="FFFFFF"/>
          </a:solidFill>
          <a:ln w="9525">
            <a:solidFill>
              <a:srgbClr val="CBD6CE"/>
            </a:solidFill>
            <a:prstDash val="solid"/>
          </a:ln>
        </p:spPr>
      </p:sp>
      <p:sp>
        <p:nvSpPr>
          <p:cNvPr id="13" name="Text 11"/>
          <p:cNvSpPr/>
          <p:nvPr/>
        </p:nvSpPr>
        <p:spPr>
          <a:xfrm>
            <a:off x="4773168" y="1783080"/>
            <a:ext cx="3877056" cy="2221992"/>
          </a:xfrm>
          <a:prstGeom prst="rect">
            <a:avLst/>
          </a:prstGeom>
          <a:noFill/>
          <a:ln/>
        </p:spPr>
        <p:txBody>
          <a:bodyPr wrap="square" lIns="0" tIns="0" rIns="0" bIns="0" rtlCol="0" anchor="t"/>
          <a:lstStyle/>
          <a:p>
            <a:pPr indent="0" marL="0">
              <a:buNone/>
            </a:pPr>
            <a:r>
              <a:rPr lang="en-US" sz="1300" b="1" dirty="0">
                <a:solidFill>
                  <a:srgbClr val="8A4E8F"/>
                </a:solidFill>
                <a:latin typeface="Open Sans" pitchFamily="34" charset="0"/>
                <a:ea typeface="Open Sans" pitchFamily="34" charset="-122"/>
                <a:cs typeface="Open Sans" pitchFamily="34" charset="-120"/>
              </a:rPr>
              <a:t>The finding</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From your timeline</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risk</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For this bucket, this data</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change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One, specific</a:t>
            </a:r>
            <a:endParaRPr lang="en-US" sz="1300" dirty="0"/>
          </a:p>
          <a:p>
            <a:pPr indent="0" marL="0">
              <a:buNone/>
            </a:pPr>
            <a:r>
              <a:rPr lang="en-US" sz="1300" b="1" dirty="0">
                <a:solidFill>
                  <a:srgbClr val="8A4E8F"/>
                </a:solidFill>
                <a:latin typeface="Open Sans" pitchFamily="34" charset="0"/>
                <a:ea typeface="Open Sans" pitchFamily="34" charset="-122"/>
                <a:cs typeface="Open Sans" pitchFamily="34" charset="-120"/>
              </a:rPr>
              <a:t>The evidence</a:t>
            </a:r>
            <a:endParaRPr lang="en-US" sz="1300" dirty="0"/>
          </a:p>
          <a:p>
            <a:pPr indent="0" marL="0">
              <a:spcAft>
                <a:spcPts val="700"/>
              </a:spcAft>
              <a:buNone/>
            </a:pPr>
            <a:r>
              <a:rPr lang="en-US" sz="1200" dirty="0">
                <a:solidFill>
                  <a:srgbClr val="31423B"/>
                </a:solidFill>
                <a:latin typeface="Open Sans" pitchFamily="34" charset="0"/>
                <a:ea typeface="Open Sans" pitchFamily="34" charset="-122"/>
                <a:cs typeface="Open Sans" pitchFamily="34" charset="-120"/>
              </a:rPr>
              <a:t>That ties them together</a:t>
            </a:r>
            <a:endParaRPr lang="en-US" sz="1300" dirty="0"/>
          </a:p>
        </p:txBody>
      </p:sp>
      <p:sp>
        <p:nvSpPr>
          <p:cNvPr id="14" name="Text 12"/>
          <p:cNvSpPr/>
          <p:nvPr/>
        </p:nvSpPr>
        <p:spPr>
          <a:xfrm>
            <a:off x="411480" y="4407408"/>
            <a:ext cx="8321040" cy="274320"/>
          </a:xfrm>
          <a:prstGeom prst="rect">
            <a:avLst/>
          </a:prstGeom>
          <a:noFill/>
          <a:ln/>
        </p:spPr>
        <p:txBody>
          <a:bodyPr wrap="square" lIns="0" tIns="0" rIns="0" bIns="0" rtlCol="0" anchor="ctr"/>
          <a:lstStyle/>
          <a:p>
            <a:pPr indent="0" marL="0">
              <a:buNone/>
            </a:pPr>
            <a:r>
              <a:rPr lang="en-US" sz="1200" i="1" dirty="0">
                <a:solidFill>
                  <a:srgbClr val="5C6B63"/>
                </a:solidFill>
                <a:latin typeface="Open Sans" pitchFamily="34" charset="0"/>
                <a:ea typeface="Open Sans" pitchFamily="34" charset="-122"/>
                <a:cs typeface="Open Sans" pitchFamily="34" charset="-120"/>
              </a:rPr>
              <a:t>Page sections 9 and 10. A tool's output becomes a recommendation only when tied to a finding: a prescription needs a diagnosis.</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8A4E8F"/>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6949440" cy="566928"/>
          </a:xfrm>
          <a:prstGeom prst="rect">
            <a:avLst/>
          </a:prstGeom>
          <a:noFill/>
          <a:ln/>
        </p:spPr>
        <p:txBody>
          <a:bodyPr wrap="square" lIns="0" tIns="0" rIns="0" bIns="0" rtlCol="0" anchor="t"/>
          <a:lstStyle/>
          <a:p>
            <a:pPr indent="0" marL="0">
              <a:buNone/>
            </a:pPr>
            <a:r>
              <a:rPr lang="en-US" sz="2400" b="1" dirty="0">
                <a:solidFill>
                  <a:srgbClr val="FFFFFF"/>
                </a:solidFill>
                <a:latin typeface="Open Sans" pitchFamily="34" charset="0"/>
                <a:ea typeface="Open Sans" pitchFamily="34" charset="-122"/>
                <a:cs typeface="Open Sans" pitchFamily="34" charset="-120"/>
              </a:rPr>
              <a:t>The lab: read the records, rebuild the incident</a:t>
            </a:r>
            <a:endParaRPr lang="en-US" sz="2400" dirty="0"/>
          </a:p>
        </p:txBody>
      </p:sp>
      <p:pic>
        <p:nvPicPr>
          <p:cNvPr id="5" name="Image 0" descr="preencoded.png">    </p:cNvPr>
          <p:cNvPicPr>
            <a:picLocks noChangeAspect="1"/>
          </p:cNvPicPr>
          <p:nvPr/>
        </p:nvPicPr>
        <p:blipFill>
          <a:blip r:embed="rId1"/>
          <a:stretch>
            <a:fillRect/>
          </a:stretch>
        </p:blipFill>
        <p:spPr>
          <a:xfrm>
            <a:off x="8001000" y="566928"/>
            <a:ext cx="731520" cy="731520"/>
          </a:xfrm>
          <a:prstGeom prst="rect">
            <a:avLst/>
          </a:prstGeom>
        </p:spPr>
      </p:pic>
      <p:sp>
        <p:nvSpPr>
          <p:cNvPr id="6" name="Shape 3"/>
          <p:cNvSpPr/>
          <p:nvPr/>
        </p:nvSpPr>
        <p:spPr>
          <a:xfrm>
            <a:off x="411480" y="1463040"/>
            <a:ext cx="3749040" cy="3246120"/>
          </a:xfrm>
          <a:prstGeom prst="rect">
            <a:avLst/>
          </a:prstGeom>
          <a:solidFill>
            <a:srgbClr val="31423B"/>
          </a:solidFill>
          <a:ln/>
        </p:spPr>
      </p:sp>
      <p:sp>
        <p:nvSpPr>
          <p:cNvPr id="7" name="Text 4"/>
          <p:cNvSpPr/>
          <p:nvPr/>
        </p:nvSpPr>
        <p:spPr>
          <a:xfrm>
            <a:off x="548640" y="1463040"/>
            <a:ext cx="3474720" cy="3246120"/>
          </a:xfrm>
          <a:prstGeom prst="rect">
            <a:avLst/>
          </a:prstGeom>
          <a:noFill/>
          <a:ln/>
        </p:spPr>
        <p:txBody>
          <a:bodyPr wrap="square" lIns="0" tIns="0" rIns="0" bIns="0" rtlCol="0" anchor="ctr"/>
          <a:lstStyle/>
          <a:p>
            <a:pPr indent="0" marL="0">
              <a:spcAft>
                <a:spcPts val="700"/>
              </a:spcAft>
              <a:buNone/>
            </a:pPr>
            <a:r>
              <a:rPr lang="en-US" sz="1800" b="1" dirty="0">
                <a:solidFill>
                  <a:srgbClr val="FFFFFF"/>
                </a:solidFill>
                <a:latin typeface="Open Sans" pitchFamily="34" charset="0"/>
                <a:ea typeface="Open Sans" pitchFamily="34" charset="-122"/>
                <a:cs typeface="Open Sans" pitchFamily="34" charset="-120"/>
              </a:rPr>
              <a:t>Coursework evidence: the rules</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Read only from work/ and sealed folders</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Never delete a row</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Log every request to AWS first</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Mask account and key IDs</a:t>
            </a:r>
            <a:endParaRPr lang="en-US" sz="1500" dirty="0"/>
          </a:p>
          <a:p>
            <a:pPr indent="0" marL="0">
              <a:spcAft>
                <a:spcPts val="700"/>
              </a:spcAft>
              <a:buNone/>
            </a:pPr>
            <a:r>
              <a:rPr lang="en-US" sz="1500" b="1" dirty="0">
                <a:solidFill>
                  <a:srgbClr val="FFFFFF"/>
                </a:solidFill>
                <a:latin typeface="Open Sans" pitchFamily="34" charset="0"/>
                <a:ea typeface="Open Sans" pitchFamily="34" charset="-122"/>
                <a:cs typeface="Open Sans" pitchFamily="34" charset="-120"/>
              </a:rPr>
              <a:t>Your own words</a:t>
            </a:r>
            <a:endParaRPr lang="en-US" sz="1500" dirty="0"/>
          </a:p>
        </p:txBody>
      </p:sp>
      <p:sp>
        <p:nvSpPr>
          <p:cNvPr id="8" name="Shape 5"/>
          <p:cNvSpPr/>
          <p:nvPr/>
        </p:nvSpPr>
        <p:spPr>
          <a:xfrm>
            <a:off x="4297680" y="1463040"/>
            <a:ext cx="4434840" cy="3246120"/>
          </a:xfrm>
          <a:prstGeom prst="rect">
            <a:avLst/>
          </a:prstGeom>
          <a:solidFill>
            <a:srgbClr val="31423B"/>
          </a:solidFill>
          <a:ln/>
        </p:spPr>
      </p:sp>
      <p:sp>
        <p:nvSpPr>
          <p:cNvPr id="9" name="Text 6"/>
          <p:cNvSpPr/>
          <p:nvPr/>
        </p:nvSpPr>
        <p:spPr>
          <a:xfrm>
            <a:off x="4434840" y="1463040"/>
            <a:ext cx="4160520" cy="3246120"/>
          </a:xfrm>
          <a:prstGeom prst="rect">
            <a:avLst/>
          </a:prstGeom>
          <a:noFill/>
          <a:ln/>
        </p:spPr>
        <p:txBody>
          <a:bodyPr wrap="square" lIns="0" tIns="0" rIns="0" bIns="0" rtlCol="0" anchor="ctr"/>
          <a:lstStyle/>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A  Manifests, working copy, c3?</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B  CloudTrail into rows</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C  Access logs into rows</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D  Join; a reason for every lonely row</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E  Tag your own requests</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F  Identity, ranges, networks</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G  Timeline; test against your log</a:t>
            </a:r>
            <a:endParaRPr lang="en-US" sz="1300" dirty="0"/>
          </a:p>
          <a:p>
            <a:pPr indent="0" marL="0">
              <a:spcAft>
                <a:spcPts val="500"/>
              </a:spcAft>
              <a:buNone/>
            </a:pPr>
            <a:r>
              <a:rPr lang="en-US" sz="1300" b="1" dirty="0">
                <a:solidFill>
                  <a:srgbClr val="FFFFFF"/>
                </a:solidFill>
                <a:latin typeface="Open Sans" pitchFamily="34" charset="0"/>
                <a:ea typeface="Open Sans" pitchFamily="34" charset="-122"/>
                <a:cs typeface="Open Sans" pitchFamily="34" charset="-120"/>
              </a:rPr>
              <a:t>H  Template: timeline, one recommendation</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6E8472"/>
          </a:solidFill>
          <a:ln/>
        </p:spPr>
      </p:sp>
      <p:sp>
        <p:nvSpPr>
          <p:cNvPr id="3" name="Shape 1"/>
          <p:cNvSpPr/>
          <p:nvPr/>
        </p:nvSpPr>
        <p:spPr>
          <a:xfrm>
            <a:off x="731520" y="566928"/>
            <a:ext cx="502920" cy="45720"/>
          </a:xfrm>
          <a:prstGeom prst="rect">
            <a:avLst/>
          </a:prstGeom>
          <a:solidFill>
            <a:srgbClr val="FFFFFF"/>
          </a:solidFill>
          <a:ln/>
        </p:spPr>
      </p:sp>
      <p:sp>
        <p:nvSpPr>
          <p:cNvPr id="4" name="Text 2"/>
          <p:cNvSpPr/>
          <p:nvPr/>
        </p:nvSpPr>
        <p:spPr>
          <a:xfrm>
            <a:off x="731520" y="768096"/>
            <a:ext cx="7690104" cy="640080"/>
          </a:xfrm>
          <a:prstGeom prst="rect">
            <a:avLst/>
          </a:prstGeom>
          <a:noFill/>
          <a:ln/>
        </p:spPr>
        <p:txBody>
          <a:bodyPr wrap="square" lIns="0" tIns="0" rIns="0" bIns="0" rtlCol="0" anchor="t"/>
          <a:lstStyle/>
          <a:p>
            <a:pPr indent="0" marL="0">
              <a:buNone/>
            </a:pPr>
            <a:r>
              <a:rPr lang="en-US" sz="3600" b="1" dirty="0">
                <a:solidFill>
                  <a:srgbClr val="FFFFFF"/>
                </a:solidFill>
                <a:latin typeface="Open Sans" pitchFamily="34" charset="0"/>
                <a:ea typeface="Open Sans" pitchFamily="34" charset="-122"/>
                <a:cs typeface="Open Sans" pitchFamily="34" charset="-120"/>
              </a:rPr>
              <a:t>Discuss</a:t>
            </a:r>
            <a:endParaRPr lang="en-US" sz="3600" dirty="0"/>
          </a:p>
        </p:txBody>
      </p:sp>
      <p:sp>
        <p:nvSpPr>
          <p:cNvPr id="5" name="Shape 3"/>
          <p:cNvSpPr/>
          <p:nvPr/>
        </p:nvSpPr>
        <p:spPr>
          <a:xfrm>
            <a:off x="1097280" y="1737360"/>
            <a:ext cx="6949440" cy="2468880"/>
          </a:xfrm>
          <a:prstGeom prst="rect">
            <a:avLst/>
          </a:prstGeom>
          <a:solidFill>
            <a:srgbClr val="FFFFFF"/>
          </a:solidFill>
          <a:ln/>
        </p:spPr>
      </p:sp>
      <p:sp>
        <p:nvSpPr>
          <p:cNvPr id="6" name="Text 4"/>
          <p:cNvSpPr/>
          <p:nvPr/>
        </p:nvSpPr>
        <p:spPr>
          <a:xfrm>
            <a:off x="1280160" y="1737360"/>
            <a:ext cx="6583680" cy="2468880"/>
          </a:xfrm>
          <a:prstGeom prst="rect">
            <a:avLst/>
          </a:prstGeom>
          <a:noFill/>
          <a:ln/>
        </p:spPr>
        <p:txBody>
          <a:bodyPr wrap="square" lIns="0" tIns="0" rIns="0" bIns="0" rtlCol="0" anchor="ctr"/>
          <a:lstStyle/>
          <a:p>
            <a:pPr indent="0" marL="0">
              <a:buNone/>
            </a:pPr>
            <a:r>
              <a:rPr lang="en-US" sz="1700" b="1" dirty="0">
                <a:solidFill>
                  <a:srgbClr val="31423B"/>
                </a:solidFill>
                <a:latin typeface="Open Sans" pitchFamily="34" charset="0"/>
                <a:ea typeface="Open Sans" pitchFamily="34" charset="-122"/>
                <a:cs typeface="Open Sans" pitchFamily="34" charset="-120"/>
              </a:rPr>
              <a:t>Two analysts read the same records. One writes "the suspect downloaded the file"; the other writes "the IAM user downloaded the file from an address on AWS's network". Which sentence would you defend in front of a stranger, and what would it take to defend the other?</a:t>
            </a:r>
            <a:endParaRPr lang="en-US" sz="17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6035040" y="0"/>
            <a:ext cx="3108960" cy="5143500"/>
          </a:xfrm>
          <a:prstGeom prst="rect">
            <a:avLst/>
          </a:prstGeom>
          <a:solidFill>
            <a:srgbClr val="6E8472"/>
          </a:solidFill>
          <a:ln/>
        </p:spPr>
      </p:sp>
      <p:pic>
        <p:nvPicPr>
          <p:cNvPr id="3" name="Image 0" descr="preencoded.png">    </p:cNvPr>
          <p:cNvPicPr>
            <a:picLocks noChangeAspect="1"/>
          </p:cNvPicPr>
          <p:nvPr/>
        </p:nvPicPr>
        <p:blipFill>
          <a:blip r:embed="rId1"/>
          <a:stretch>
            <a:fillRect/>
          </a:stretch>
        </p:blipFill>
        <p:spPr>
          <a:xfrm>
            <a:off x="6583680" y="1554480"/>
            <a:ext cx="2011680" cy="2011680"/>
          </a:xfrm>
          <a:prstGeom prst="rect">
            <a:avLst/>
          </a:prstGeom>
        </p:spPr>
      </p:pic>
      <p:sp>
        <p:nvSpPr>
          <p:cNvPr id="4" name="Text 1"/>
          <p:cNvSpPr/>
          <p:nvPr/>
        </p:nvSpPr>
        <p:spPr>
          <a:xfrm>
            <a:off x="384048" y="1097280"/>
            <a:ext cx="5303520" cy="868680"/>
          </a:xfrm>
          <a:prstGeom prst="rect">
            <a:avLst/>
          </a:prstGeom>
          <a:noFill/>
          <a:ln/>
        </p:spPr>
        <p:txBody>
          <a:bodyPr wrap="square" lIns="0" tIns="0" rIns="0" bIns="0" rtlCol="0" anchor="ctr"/>
          <a:lstStyle/>
          <a:p>
            <a:pPr indent="0" marL="0">
              <a:buNone/>
            </a:pPr>
            <a:r>
              <a:rPr lang="en-US" sz="4800" b="1" dirty="0">
                <a:solidFill>
                  <a:srgbClr val="31423B"/>
                </a:solidFill>
                <a:latin typeface="Open Sans" pitchFamily="34" charset="0"/>
                <a:ea typeface="Open Sans" pitchFamily="34" charset="-122"/>
                <a:cs typeface="Open Sans" pitchFamily="34" charset="-120"/>
              </a:rPr>
              <a:t>Questions &amp;</a:t>
            </a:r>
            <a:endParaRPr lang="en-US" sz="4800" dirty="0"/>
          </a:p>
        </p:txBody>
      </p:sp>
      <p:sp>
        <p:nvSpPr>
          <p:cNvPr id="5" name="Text 2"/>
          <p:cNvSpPr/>
          <p:nvPr/>
        </p:nvSpPr>
        <p:spPr>
          <a:xfrm>
            <a:off x="384048" y="1938528"/>
            <a:ext cx="5303520" cy="868680"/>
          </a:xfrm>
          <a:prstGeom prst="rect">
            <a:avLst/>
          </a:prstGeom>
          <a:noFill/>
          <a:ln/>
        </p:spPr>
        <p:txBody>
          <a:bodyPr wrap="square" lIns="0" tIns="0" rIns="0" bIns="0" rtlCol="0" anchor="ctr"/>
          <a:lstStyle/>
          <a:p>
            <a:pPr indent="0" marL="0">
              <a:buNone/>
            </a:pPr>
            <a:r>
              <a:rPr lang="en-US" sz="4800" b="1" dirty="0">
                <a:solidFill>
                  <a:srgbClr val="6E8472"/>
                </a:solidFill>
                <a:latin typeface="Open Sans" pitchFamily="34" charset="0"/>
                <a:ea typeface="Open Sans" pitchFamily="34" charset="-122"/>
                <a:cs typeface="Open Sans" pitchFamily="34" charset="-120"/>
              </a:rPr>
              <a:t>Discussion</a:t>
            </a:r>
            <a:endParaRPr lang="en-US" sz="4800" dirty="0"/>
          </a:p>
        </p:txBody>
      </p:sp>
      <p:sp>
        <p:nvSpPr>
          <p:cNvPr id="6" name="Shape 3"/>
          <p:cNvSpPr/>
          <p:nvPr/>
        </p:nvSpPr>
        <p:spPr>
          <a:xfrm>
            <a:off x="384048" y="2852928"/>
            <a:ext cx="749808" cy="73152"/>
          </a:xfrm>
          <a:prstGeom prst="rect">
            <a:avLst/>
          </a:prstGeom>
          <a:solidFill>
            <a:srgbClr val="6E8472"/>
          </a:solidFill>
          <a:ln/>
        </p:spPr>
      </p:sp>
      <p:sp>
        <p:nvSpPr>
          <p:cNvPr id="7" name="Shape 4"/>
          <p:cNvSpPr/>
          <p:nvPr/>
        </p:nvSpPr>
        <p:spPr>
          <a:xfrm>
            <a:off x="1188720" y="2852928"/>
            <a:ext cx="384048" cy="73152"/>
          </a:xfrm>
          <a:prstGeom prst="rect">
            <a:avLst/>
          </a:prstGeom>
          <a:solidFill>
            <a:srgbClr val="8A4E8F"/>
          </a:solidFill>
          <a:ln/>
        </p:spPr>
      </p:sp>
      <p:sp>
        <p:nvSpPr>
          <p:cNvPr id="8" name="Text 5"/>
          <p:cNvSpPr/>
          <p:nvPr/>
        </p:nvSpPr>
        <p:spPr>
          <a:xfrm>
            <a:off x="384048" y="3035808"/>
            <a:ext cx="5394960" cy="1691640"/>
          </a:xfrm>
          <a:prstGeom prst="rect">
            <a:avLst/>
          </a:prstGeom>
          <a:noFill/>
          <a:ln/>
        </p:spPr>
        <p:txBody>
          <a:bodyPr wrap="square" lIns="0" tIns="0" rIns="0" bIns="0" rtlCol="0" anchor="t"/>
          <a:lstStyle/>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Read each field for its question</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Join by request ID; give every lonely row a reason</a:t>
            </a:r>
            <a:endParaRPr lang="en-US" sz="1300" dirty="0"/>
          </a:p>
          <a:p>
            <a:pPr marL="342900" indent="-342900">
              <a:spcAft>
                <a:spcPts val="300"/>
              </a:spcAft>
              <a:buSzPct val="100000"/>
              <a:buChar char="•"/>
            </a:pPr>
            <a:r>
              <a:rPr lang="en-US" sz="1300" b="1" dirty="0">
                <a:solidFill>
                  <a:srgbClr val="31423B"/>
                </a:solidFill>
                <a:latin typeface="Open Sans" pitchFamily="34" charset="0"/>
                <a:ea typeface="Open Sans" pitchFamily="34" charset="-122"/>
                <a:cs typeface="Open Sans" pitchFamily="34" charset="-120"/>
              </a:rPr>
              <a:t>Tag your own requests; delete nothing</a:t>
            </a:r>
            <a:endParaRPr lang="en-US" sz="1300" dirty="0"/>
          </a:p>
          <a:p>
            <a:pPr marL="342900" indent="-342900">
              <a:spcAft>
                <a:spcPts val="800"/>
              </a:spcAft>
              <a:buSzPct val="100000"/>
              <a:buChar char="•"/>
            </a:pPr>
            <a:r>
              <a:rPr lang="en-US" sz="1300" b="1" dirty="0">
                <a:solidFill>
                  <a:srgbClr val="31423B"/>
                </a:solidFill>
                <a:latin typeface="Open Sans" pitchFamily="34" charset="0"/>
                <a:ea typeface="Open Sans" pitchFamily="34" charset="-122"/>
                <a:cs typeface="Open Sans" pitchFamily="34" charset="-120"/>
              </a:rPr>
              <a:t>Firm where records agree; state every gap</a:t>
            </a:r>
            <a:endParaRPr lang="en-US" sz="1300" dirty="0"/>
          </a:p>
          <a:p>
            <a:pPr indent="0" marL="0">
              <a:spcAft>
                <a:spcPts val="300"/>
              </a:spcAft>
              <a:buNone/>
            </a:pPr>
            <a:r>
              <a:rPr lang="en-US" sz="1300" i="1" dirty="0">
                <a:solidFill>
                  <a:srgbClr val="5C6B63"/>
                </a:solidFill>
                <a:latin typeface="Open Sans" pitchFamily="34" charset="0"/>
                <a:ea typeface="Open Sans" pitchFamily="34" charset="-122"/>
                <a:cs typeface="Open Sans" pitchFamily="34" charset="-120"/>
              </a:rPr>
              <a:t>Next: Session 14, Internet-based forensics.</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4"/>
        </a:solidFill>
      </p:bgPr>
    </p:bg>
    <p:spTree>
      <p:nvGrpSpPr>
        <p:cNvPr id="1" name=""/>
        <p:cNvGrpSpPr/>
        <p:nvPr/>
      </p:nvGrpSpPr>
      <p:grpSpPr>
        <a:xfrm>
          <a:off x="0" y="0"/>
          <a:ext cx="0" cy="0"/>
          <a:chOff x="0" y="0"/>
          <a:chExt cx="0" cy="0"/>
        </a:xfrm>
      </p:grpSpPr>
      <p:sp>
        <p:nvSpPr>
          <p:cNvPr id="2" name="Shape 0"/>
          <p:cNvSpPr/>
          <p:nvPr/>
        </p:nvSpPr>
        <p:spPr>
          <a:xfrm>
            <a:off x="0" y="0"/>
            <a:ext cx="9144000" cy="484632"/>
          </a:xfrm>
          <a:prstGeom prst="rect">
            <a:avLst/>
          </a:prstGeom>
          <a:solidFill>
            <a:srgbClr val="E8F0EA"/>
          </a:solidFill>
          <a:ln/>
        </p:spPr>
      </p:sp>
      <p:sp>
        <p:nvSpPr>
          <p:cNvPr id="3" name="Text 1"/>
          <p:cNvSpPr/>
          <p:nvPr/>
        </p:nvSpPr>
        <p:spPr>
          <a:xfrm>
            <a:off x="411480" y="566928"/>
            <a:ext cx="8321040" cy="512064"/>
          </a:xfrm>
          <a:prstGeom prst="rect">
            <a:avLst/>
          </a:prstGeom>
          <a:noFill/>
          <a:ln/>
        </p:spPr>
        <p:txBody>
          <a:bodyPr wrap="square" lIns="0" tIns="0" rIns="0" bIns="0" rtlCol="0" anchor="ctr"/>
          <a:lstStyle/>
          <a:p>
            <a:pPr indent="0" marL="0">
              <a:buNone/>
            </a:pPr>
            <a:r>
              <a:rPr lang="en-US" sz="2400" b="1" dirty="0">
                <a:solidFill>
                  <a:srgbClr val="31423B"/>
                </a:solidFill>
                <a:latin typeface="Open Sans" pitchFamily="34" charset="0"/>
                <a:ea typeface="Open Sans" pitchFamily="34" charset="-122"/>
                <a:cs typeface="Open Sans" pitchFamily="34" charset="-120"/>
              </a:rPr>
              <a:t>Disclaimer &amp; Copyrights</a:t>
            </a:r>
            <a:endParaRPr lang="en-US" sz="2400" dirty="0"/>
          </a:p>
        </p:txBody>
      </p:sp>
      <p:sp>
        <p:nvSpPr>
          <p:cNvPr id="4" name="Shape 2"/>
          <p:cNvSpPr/>
          <p:nvPr/>
        </p:nvSpPr>
        <p:spPr>
          <a:xfrm>
            <a:off x="411480" y="1124712"/>
            <a:ext cx="502920" cy="64008"/>
          </a:xfrm>
          <a:prstGeom prst="rect">
            <a:avLst/>
          </a:prstGeom>
          <a:solidFill>
            <a:srgbClr val="6E8472"/>
          </a:solidFill>
          <a:ln/>
        </p:spPr>
      </p:sp>
      <p:sp>
        <p:nvSpPr>
          <p:cNvPr id="5" name="Shape 3"/>
          <p:cNvSpPr/>
          <p:nvPr/>
        </p:nvSpPr>
        <p:spPr>
          <a:xfrm>
            <a:off x="960120" y="1124712"/>
            <a:ext cx="256032" cy="64008"/>
          </a:xfrm>
          <a:prstGeom prst="rect">
            <a:avLst/>
          </a:prstGeom>
          <a:solidFill>
            <a:srgbClr val="8A4E8F"/>
          </a:solidFill>
          <a:ln/>
        </p:spPr>
      </p:sp>
      <p:sp>
        <p:nvSpPr>
          <p:cNvPr id="6" name="Text 4"/>
          <p:cNvSpPr/>
          <p:nvPr/>
        </p:nvSpPr>
        <p:spPr>
          <a:xfrm>
            <a:off x="731520" y="1417320"/>
            <a:ext cx="7863840" cy="2331720"/>
          </a:xfrm>
          <a:prstGeom prst="rect">
            <a:avLst/>
          </a:prstGeom>
          <a:noFill/>
          <a:ln/>
        </p:spPr>
        <p:txBody>
          <a:bodyPr wrap="square" lIns="0" tIns="0" rIns="0" bIns="0" rtlCol="0" anchor="t"/>
          <a:lstStyle/>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The information presented in this presentation is intended for general informational purposes only. It is not meant to be comprehensive or to constitute professional advice. Any reliance you place on such information is strictly at your own risk. While I strive to keep the information accurate and up-to-date, I make no representations or warranties of any kind, express or implied, about the completeness, accuracy, reliability, suitability or availability concerning the content within this presentation.</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This presentation may include references or links to third-party websites or content. I do not endorse the views expressed or the information provided on such external sites. I am not responsible for the content of any linked site or any link contained in a linked site.</a:t>
            </a:r>
            <a:endParaRPr lang="en-US" sz="1200" dirty="0"/>
          </a:p>
          <a:p>
            <a:pPr indent="0" marL="0">
              <a:spcAft>
                <a:spcPts val="1000"/>
              </a:spcAft>
              <a:buNone/>
            </a:pPr>
            <a:r>
              <a:rPr lang="en-US" sz="1200" dirty="0">
                <a:solidFill>
                  <a:srgbClr val="31423B"/>
                </a:solidFill>
                <a:latin typeface="Open Sans" pitchFamily="34" charset="0"/>
                <a:ea typeface="Open Sans" pitchFamily="34" charset="-122"/>
                <a:cs typeface="Open Sans" pitchFamily="34" charset="-120"/>
              </a:rPr>
              <a:t>Any action you take upon the information presented in this presentation is strictly at your own discretion. I will not be liable for any losses or damages in connection with the use of this information.</a:t>
            </a:r>
            <a:endParaRPr lang="en-US" sz="1200" dirty="0"/>
          </a:p>
          <a:p>
            <a:pPr indent="0" marL="0">
              <a:buNone/>
            </a:pPr>
            <a:r>
              <a:rPr lang="en-US" sz="1200" dirty="0">
                <a:solidFill>
                  <a:srgbClr val="31423B"/>
                </a:solidFill>
                <a:latin typeface="Open Sans" pitchFamily="34" charset="0"/>
                <a:ea typeface="Open Sans" pitchFamily="34" charset="-122"/>
                <a:cs typeface="Open Sans" pitchFamily="34" charset="-120"/>
              </a:rPr>
              <a:t>This disclaimer is subject to change without notice.</a:t>
            </a:r>
            <a:endParaRPr lang="en-US" sz="1200" dirty="0"/>
          </a:p>
        </p:txBody>
      </p:sp>
      <p:sp>
        <p:nvSpPr>
          <p:cNvPr id="7" name="Shape 5"/>
          <p:cNvSpPr/>
          <p:nvPr/>
        </p:nvSpPr>
        <p:spPr>
          <a:xfrm>
            <a:off x="731520" y="3931920"/>
            <a:ext cx="54864" cy="621792"/>
          </a:xfrm>
          <a:prstGeom prst="rect">
            <a:avLst/>
          </a:prstGeom>
          <a:solidFill>
            <a:srgbClr val="E8F0EA"/>
          </a:solidFill>
          <a:ln/>
        </p:spPr>
      </p:sp>
      <p:sp>
        <p:nvSpPr>
          <p:cNvPr id="8" name="Text 6"/>
          <p:cNvSpPr/>
          <p:nvPr/>
        </p:nvSpPr>
        <p:spPr>
          <a:xfrm>
            <a:off x="859536" y="3931920"/>
            <a:ext cx="7735824" cy="621792"/>
          </a:xfrm>
          <a:prstGeom prst="rect">
            <a:avLst/>
          </a:prstGeom>
          <a:noFill/>
          <a:ln/>
        </p:spPr>
        <p:txBody>
          <a:bodyPr wrap="square" lIns="0" tIns="0" rIns="0" bIns="0" rtlCol="0" anchor="t"/>
          <a:lstStyle/>
          <a:p>
            <a:pPr indent="0" marL="0">
              <a:buNone/>
            </a:pPr>
            <a:r>
              <a:rPr lang="en-US" sz="1100" dirty="0">
                <a:solidFill>
                  <a:srgbClr val="5C6B63"/>
                </a:solidFill>
                <a:latin typeface="Open Sans" pitchFamily="34" charset="0"/>
                <a:ea typeface="Open Sans" pitchFamily="34" charset="-122"/>
                <a:cs typeface="Open Sans" pitchFamily="34" charset="-120"/>
              </a:rPr>
              <a:t>@ Images and artworks used in this presentation are used for general informational purposes only. It may contain copyrighted material, the use of which may not have been specifically authorised by the copyright owner. This material is available in an effort to explain issues relevant to the topic. This should constitute a 'fair use' of any such copyrighted material.</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National Institute of Business Management (NIBM)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NB6018CEM S13 - Cloud Log Analysis and Timeline Reconstruction</dc:title>
  <dc:subject>PptxGenJS Presentation</dc:subject>
  <dc:creator>Niranga Dharmaratna</dc:creator>
  <cp:lastModifiedBy>Niranga Dharmaratna</cp:lastModifiedBy>
  <cp:revision>1</cp:revision>
  <dcterms:created xsi:type="dcterms:W3CDTF">2026-10-15T11:59:16Z</dcterms:created>
  <dcterms:modified xsi:type="dcterms:W3CDTF">2026-10-15T11:59:16Z</dcterms:modified>
</cp:coreProperties>
</file>